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93995" y="1531404"/>
            <a:ext cx="2404008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87345" y="2329611"/>
            <a:ext cx="6617309" cy="317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039" y="6180632"/>
            <a:ext cx="1042035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4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9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5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4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4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398" y="805497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  <a:latin typeface="微软雅黑"/>
                <a:cs typeface="微软雅黑"/>
              </a:rPr>
              <a:t>国家中小学课程资源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31782" y="2226487"/>
            <a:ext cx="652843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微软雅黑"/>
                <a:cs typeface="微软雅黑"/>
              </a:rPr>
              <a:t>带电粒子在匀强磁场中的运动（二</a:t>
            </a:r>
            <a:r>
              <a:rPr dirty="0" sz="3200" spc="5" b="1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32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34705" y="3569668"/>
          <a:ext cx="8091805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0575"/>
                <a:gridCol w="1343025"/>
                <a:gridCol w="3418204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315"/>
                        </a:lnSpc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主讲人：张晓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羽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85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校：北京市第四中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7512" y="1512824"/>
            <a:ext cx="815276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385622"/>
                </a:solidFill>
                <a:latin typeface="微软雅黑"/>
                <a:cs typeface="微软雅黑"/>
              </a:rPr>
              <a:t>带电粒子在匀强磁场中的运动（二</a:t>
            </a:r>
            <a:r>
              <a:rPr dirty="0" sz="4000" spc="-5">
                <a:solidFill>
                  <a:srgbClr val="385622"/>
                </a:solidFill>
                <a:latin typeface="微软雅黑"/>
                <a:cs typeface="微软雅黑"/>
              </a:rPr>
              <a:t>）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36367" y="3181426"/>
            <a:ext cx="2517775" cy="1046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100"/>
              </a:spcBef>
              <a:tabLst>
                <a:tab pos="726440" algn="l"/>
              </a:tabLst>
            </a:pP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年	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级：高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二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主讲人：张晓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羽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56757" y="3181426"/>
            <a:ext cx="3769360" cy="1046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10">
              <a:lnSpc>
                <a:spcPct val="119600"/>
              </a:lnSpc>
              <a:spcBef>
                <a:spcPts val="100"/>
              </a:spcBef>
              <a:tabLst>
                <a:tab pos="547370" algn="l"/>
              </a:tabLst>
            </a:pP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学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	</a:t>
            </a:r>
            <a:r>
              <a:rPr dirty="0" sz="2800" spc="-675" b="1">
                <a:solidFill>
                  <a:srgbClr val="385622"/>
                </a:solidFill>
                <a:latin typeface="华文楷体"/>
                <a:cs typeface="华文楷体"/>
              </a:rPr>
              <a:t> 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） 学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solidFill>
                  <a:srgbClr val="385622"/>
                </a:solidFill>
                <a:latin typeface="华文楷体"/>
                <a:cs typeface="华文楷体"/>
              </a:rPr>
              <a:t>校：北京市第四中</a:t>
            </a:r>
            <a:r>
              <a:rPr dirty="0" sz="2800" spc="-10" b="1">
                <a:solidFill>
                  <a:srgbClr val="385622"/>
                </a:solidFill>
                <a:latin typeface="华文楷体"/>
                <a:cs typeface="华文楷体"/>
              </a:rPr>
              <a:t>学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67455" y="2482595"/>
            <a:ext cx="5459095" cy="1047115"/>
          </a:xfrm>
          <a:custGeom>
            <a:avLst/>
            <a:gdLst/>
            <a:ahLst/>
            <a:cxnLst/>
            <a:rect l="l" t="t" r="r" b="b"/>
            <a:pathLst>
              <a:path w="5459095" h="1047114">
                <a:moveTo>
                  <a:pt x="5283708" y="1046988"/>
                </a:moveTo>
                <a:lnTo>
                  <a:pt x="173736" y="1046988"/>
                </a:lnTo>
                <a:lnTo>
                  <a:pt x="127449" y="1040520"/>
                </a:lnTo>
                <a:lnTo>
                  <a:pt x="85851" y="1022770"/>
                </a:lnTo>
                <a:lnTo>
                  <a:pt x="50625" y="995376"/>
                </a:lnTo>
                <a:lnTo>
                  <a:pt x="23452" y="959978"/>
                </a:lnTo>
                <a:lnTo>
                  <a:pt x="6016" y="918216"/>
                </a:lnTo>
                <a:lnTo>
                  <a:pt x="0" y="871727"/>
                </a:lnTo>
                <a:lnTo>
                  <a:pt x="0" y="173735"/>
                </a:lnTo>
                <a:lnTo>
                  <a:pt x="6016" y="127587"/>
                </a:lnTo>
                <a:lnTo>
                  <a:pt x="23452" y="86072"/>
                </a:lnTo>
                <a:lnTo>
                  <a:pt x="50625" y="50873"/>
                </a:lnTo>
                <a:lnTo>
                  <a:pt x="85852" y="23672"/>
                </a:lnTo>
                <a:lnTo>
                  <a:pt x="127449" y="6154"/>
                </a:lnTo>
                <a:lnTo>
                  <a:pt x="173736" y="0"/>
                </a:lnTo>
                <a:lnTo>
                  <a:pt x="5283708" y="0"/>
                </a:lnTo>
                <a:lnTo>
                  <a:pt x="5330122" y="6154"/>
                </a:lnTo>
                <a:lnTo>
                  <a:pt x="5371843" y="23672"/>
                </a:lnTo>
                <a:lnTo>
                  <a:pt x="5407228" y="50873"/>
                </a:lnTo>
                <a:lnTo>
                  <a:pt x="5434637" y="86072"/>
                </a:lnTo>
                <a:lnTo>
                  <a:pt x="5452431" y="127587"/>
                </a:lnTo>
                <a:lnTo>
                  <a:pt x="5458968" y="173735"/>
                </a:lnTo>
                <a:lnTo>
                  <a:pt x="5458968" y="871727"/>
                </a:lnTo>
                <a:lnTo>
                  <a:pt x="5452431" y="918216"/>
                </a:lnTo>
                <a:lnTo>
                  <a:pt x="5434637" y="959978"/>
                </a:lnTo>
                <a:lnTo>
                  <a:pt x="5407228" y="995376"/>
                </a:lnTo>
                <a:lnTo>
                  <a:pt x="5371843" y="1022770"/>
                </a:lnTo>
                <a:lnTo>
                  <a:pt x="5330122" y="1040520"/>
                </a:lnTo>
                <a:lnTo>
                  <a:pt x="5283708" y="1046988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651760" y="2229611"/>
            <a:ext cx="1498600" cy="1525905"/>
          </a:xfrm>
          <a:custGeom>
            <a:avLst/>
            <a:gdLst/>
            <a:ahLst/>
            <a:cxnLst/>
            <a:rect l="l" t="t" r="r" b="b"/>
            <a:pathLst>
              <a:path w="1498600" h="1525904">
                <a:moveTo>
                  <a:pt x="726948" y="1525524"/>
                </a:moveTo>
                <a:lnTo>
                  <a:pt x="0" y="909827"/>
                </a:lnTo>
                <a:lnTo>
                  <a:pt x="769619" y="0"/>
                </a:lnTo>
                <a:lnTo>
                  <a:pt x="1498091" y="614171"/>
                </a:lnTo>
                <a:lnTo>
                  <a:pt x="726948" y="1525524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26507" y="1476324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黑体"/>
                <a:cs typeface="黑体"/>
              </a:rPr>
              <a:t>知识回顾</a:t>
            </a:r>
          </a:p>
        </p:txBody>
      </p:sp>
      <p:sp>
        <p:nvSpPr>
          <p:cNvPr id="5" name="object 5"/>
          <p:cNvSpPr/>
          <p:nvPr/>
        </p:nvSpPr>
        <p:spPr>
          <a:xfrm>
            <a:off x="3261359" y="4248911"/>
            <a:ext cx="5465445" cy="1036319"/>
          </a:xfrm>
          <a:custGeom>
            <a:avLst/>
            <a:gdLst/>
            <a:ahLst/>
            <a:cxnLst/>
            <a:rect l="l" t="t" r="r" b="b"/>
            <a:pathLst>
              <a:path w="5465445" h="1036320">
                <a:moveTo>
                  <a:pt x="5291328" y="1036320"/>
                </a:moveTo>
                <a:lnTo>
                  <a:pt x="172212" y="1036320"/>
                </a:lnTo>
                <a:lnTo>
                  <a:pt x="126332" y="1030032"/>
                </a:lnTo>
                <a:lnTo>
                  <a:pt x="85112" y="1012568"/>
                </a:lnTo>
                <a:lnTo>
                  <a:pt x="50211" y="985585"/>
                </a:lnTo>
                <a:lnTo>
                  <a:pt x="23286" y="950741"/>
                </a:lnTo>
                <a:lnTo>
                  <a:pt x="5996" y="909696"/>
                </a:lnTo>
                <a:lnTo>
                  <a:pt x="0" y="864108"/>
                </a:lnTo>
                <a:lnTo>
                  <a:pt x="0" y="172212"/>
                </a:lnTo>
                <a:lnTo>
                  <a:pt x="5996" y="126490"/>
                </a:lnTo>
                <a:lnTo>
                  <a:pt x="23286" y="85363"/>
                </a:lnTo>
                <a:lnTo>
                  <a:pt x="50211" y="50492"/>
                </a:lnTo>
                <a:lnTo>
                  <a:pt x="85112" y="23534"/>
                </a:lnTo>
                <a:lnTo>
                  <a:pt x="126332" y="6150"/>
                </a:lnTo>
                <a:lnTo>
                  <a:pt x="172212" y="0"/>
                </a:lnTo>
                <a:lnTo>
                  <a:pt x="5291328" y="0"/>
                </a:lnTo>
                <a:lnTo>
                  <a:pt x="5337374" y="6150"/>
                </a:lnTo>
                <a:lnTo>
                  <a:pt x="5378740" y="23534"/>
                </a:lnTo>
                <a:lnTo>
                  <a:pt x="5413809" y="50492"/>
                </a:lnTo>
                <a:lnTo>
                  <a:pt x="5440965" y="85363"/>
                </a:lnTo>
                <a:lnTo>
                  <a:pt x="5458588" y="126490"/>
                </a:lnTo>
                <a:lnTo>
                  <a:pt x="5465064" y="172212"/>
                </a:lnTo>
                <a:lnTo>
                  <a:pt x="5465064" y="864108"/>
                </a:lnTo>
                <a:lnTo>
                  <a:pt x="5458588" y="909696"/>
                </a:lnTo>
                <a:lnTo>
                  <a:pt x="5440965" y="950741"/>
                </a:lnTo>
                <a:lnTo>
                  <a:pt x="5413809" y="985585"/>
                </a:lnTo>
                <a:lnTo>
                  <a:pt x="5378740" y="1012568"/>
                </a:lnTo>
                <a:lnTo>
                  <a:pt x="5337374" y="1030032"/>
                </a:lnTo>
                <a:lnTo>
                  <a:pt x="5291328" y="103632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50235" y="3994403"/>
            <a:ext cx="1490980" cy="1518285"/>
          </a:xfrm>
          <a:custGeom>
            <a:avLst/>
            <a:gdLst/>
            <a:ahLst/>
            <a:cxnLst/>
            <a:rect l="l" t="t" r="r" b="b"/>
            <a:pathLst>
              <a:path w="1490979" h="1518285">
                <a:moveTo>
                  <a:pt x="726948" y="1517904"/>
                </a:moveTo>
                <a:lnTo>
                  <a:pt x="0" y="900684"/>
                </a:lnTo>
                <a:lnTo>
                  <a:pt x="762000" y="0"/>
                </a:lnTo>
                <a:lnTo>
                  <a:pt x="1490472" y="615696"/>
                </a:lnTo>
                <a:lnTo>
                  <a:pt x="726948" y="1517904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339693" y="2689542"/>
            <a:ext cx="47618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851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一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带电粒子在匀强磁场中的运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55809" y="4375378"/>
            <a:ext cx="514223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81050" marR="5080" indent="-768350">
              <a:lnSpc>
                <a:spcPct val="100000"/>
              </a:lnSpc>
              <a:spcBef>
                <a:spcPts val="100"/>
              </a:spcBef>
              <a:tabLst>
                <a:tab pos="85344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二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	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带电粒子在磁场中做圆周运动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的 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半径和周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期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74235" y="3979354"/>
            <a:ext cx="1661160" cy="1518285"/>
          </a:xfrm>
          <a:custGeom>
            <a:avLst/>
            <a:gdLst/>
            <a:ahLst/>
            <a:cxnLst/>
            <a:rect l="l" t="t" r="r" b="b"/>
            <a:pathLst>
              <a:path w="1661160" h="1518285">
                <a:moveTo>
                  <a:pt x="0" y="1517713"/>
                </a:moveTo>
                <a:lnTo>
                  <a:pt x="1661160" y="1517713"/>
                </a:lnTo>
                <a:lnTo>
                  <a:pt x="1661160" y="0"/>
                </a:lnTo>
                <a:lnTo>
                  <a:pt x="0" y="0"/>
                </a:lnTo>
                <a:lnTo>
                  <a:pt x="0" y="1517713"/>
                </a:lnTo>
                <a:close/>
              </a:path>
            </a:pathLst>
          </a:custGeom>
          <a:solidFill>
            <a:srgbClr val="D2DE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35396" y="3979354"/>
            <a:ext cx="1740535" cy="1518285"/>
          </a:xfrm>
          <a:custGeom>
            <a:avLst/>
            <a:gdLst/>
            <a:ahLst/>
            <a:cxnLst/>
            <a:rect l="l" t="t" r="r" b="b"/>
            <a:pathLst>
              <a:path w="1740534" h="1518285">
                <a:moveTo>
                  <a:pt x="0" y="1517713"/>
                </a:moveTo>
                <a:lnTo>
                  <a:pt x="1740407" y="1517713"/>
                </a:lnTo>
                <a:lnTo>
                  <a:pt x="1740407" y="0"/>
                </a:lnTo>
                <a:lnTo>
                  <a:pt x="0" y="0"/>
                </a:lnTo>
                <a:lnTo>
                  <a:pt x="0" y="1517713"/>
                </a:lnTo>
                <a:close/>
              </a:path>
            </a:pathLst>
          </a:custGeom>
          <a:solidFill>
            <a:srgbClr val="D2DE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575804" y="3979354"/>
            <a:ext cx="1861185" cy="1518285"/>
          </a:xfrm>
          <a:custGeom>
            <a:avLst/>
            <a:gdLst/>
            <a:ahLst/>
            <a:cxnLst/>
            <a:rect l="l" t="t" r="r" b="b"/>
            <a:pathLst>
              <a:path w="1861184" h="1518285">
                <a:moveTo>
                  <a:pt x="0" y="1517713"/>
                </a:moveTo>
                <a:lnTo>
                  <a:pt x="1860803" y="1517713"/>
                </a:lnTo>
                <a:lnTo>
                  <a:pt x="1860803" y="0"/>
                </a:lnTo>
                <a:lnTo>
                  <a:pt x="0" y="0"/>
                </a:lnTo>
                <a:lnTo>
                  <a:pt x="0" y="1517713"/>
                </a:lnTo>
                <a:close/>
              </a:path>
            </a:pathLst>
          </a:custGeom>
          <a:solidFill>
            <a:srgbClr val="D2DEEE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704134" y="2715704"/>
          <a:ext cx="6745605" cy="2787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3040"/>
                <a:gridCol w="1662430"/>
                <a:gridCol w="1740535"/>
                <a:gridCol w="1860550"/>
              </a:tblGrid>
              <a:tr h="1238249">
                <a:tc>
                  <a:txBody>
                    <a:bodyPr/>
                    <a:lstStyle/>
                    <a:p>
                      <a:pPr marL="90805" marR="14351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spc="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电子速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度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方向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与 </a:t>
                      </a:r>
                      <a:r>
                        <a:rPr dirty="0" sz="2400" spc="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磁场方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向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95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474980">
                        <a:lnSpc>
                          <a:spcPct val="10000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垂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直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245110">
                        <a:lnSpc>
                          <a:spcPct val="10000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平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行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245110">
                        <a:lnSpc>
                          <a:spcPct val="10000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成角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1536700">
                <a:tc>
                  <a:txBody>
                    <a:bodyPr/>
                    <a:lstStyle/>
                    <a:p>
                      <a:pPr marL="90805" marR="1454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400" i="1">
                          <a:latin typeface="华文楷体"/>
                          <a:cs typeface="华文楷体"/>
                        </a:rPr>
                        <a:t>电子运动 轨迹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95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4361688" y="4012691"/>
            <a:ext cx="1274064" cy="13700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25896" y="4151376"/>
            <a:ext cx="1418844" cy="10927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828788" y="4085844"/>
            <a:ext cx="1350263" cy="12740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35096" y="1746504"/>
            <a:ext cx="5459095" cy="647700"/>
          </a:xfrm>
          <a:custGeom>
            <a:avLst/>
            <a:gdLst/>
            <a:ahLst/>
            <a:cxnLst/>
            <a:rect l="l" t="t" r="r" b="b"/>
            <a:pathLst>
              <a:path w="5459095" h="647700">
                <a:moveTo>
                  <a:pt x="5350763" y="647700"/>
                </a:moveTo>
                <a:lnTo>
                  <a:pt x="108203" y="647700"/>
                </a:lnTo>
                <a:lnTo>
                  <a:pt x="66292" y="638965"/>
                </a:lnTo>
                <a:lnTo>
                  <a:pt x="31999" y="615734"/>
                </a:lnTo>
                <a:lnTo>
                  <a:pt x="8757" y="581434"/>
                </a:lnTo>
                <a:lnTo>
                  <a:pt x="0" y="539496"/>
                </a:lnTo>
                <a:lnTo>
                  <a:pt x="0" y="108204"/>
                </a:lnTo>
                <a:lnTo>
                  <a:pt x="8757" y="66249"/>
                </a:lnTo>
                <a:lnTo>
                  <a:pt x="31999" y="31942"/>
                </a:lnTo>
                <a:lnTo>
                  <a:pt x="66292" y="8714"/>
                </a:lnTo>
                <a:lnTo>
                  <a:pt x="108203" y="0"/>
                </a:lnTo>
                <a:lnTo>
                  <a:pt x="5350763" y="0"/>
                </a:lnTo>
                <a:lnTo>
                  <a:pt x="5393116" y="8714"/>
                </a:lnTo>
                <a:lnTo>
                  <a:pt x="5427554" y="31942"/>
                </a:lnTo>
                <a:lnTo>
                  <a:pt x="5450647" y="66249"/>
                </a:lnTo>
                <a:lnTo>
                  <a:pt x="5458968" y="108204"/>
                </a:lnTo>
                <a:lnTo>
                  <a:pt x="5458968" y="539496"/>
                </a:lnTo>
                <a:lnTo>
                  <a:pt x="5450647" y="581434"/>
                </a:lnTo>
                <a:lnTo>
                  <a:pt x="5427554" y="615734"/>
                </a:lnTo>
                <a:lnTo>
                  <a:pt x="5393116" y="638965"/>
                </a:lnTo>
                <a:lnTo>
                  <a:pt x="5350763" y="64770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67227" y="1472183"/>
            <a:ext cx="1203960" cy="1178560"/>
          </a:xfrm>
          <a:custGeom>
            <a:avLst/>
            <a:gdLst/>
            <a:ahLst/>
            <a:cxnLst/>
            <a:rect l="l" t="t" r="r" b="b"/>
            <a:pathLst>
              <a:path w="1203960" h="1178560">
                <a:moveTo>
                  <a:pt x="728472" y="1178052"/>
                </a:moveTo>
                <a:lnTo>
                  <a:pt x="0" y="562355"/>
                </a:lnTo>
                <a:lnTo>
                  <a:pt x="477012" y="0"/>
                </a:lnTo>
                <a:lnTo>
                  <a:pt x="1203960" y="615695"/>
                </a:lnTo>
                <a:lnTo>
                  <a:pt x="728472" y="1178052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508337" y="1848611"/>
            <a:ext cx="47618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8510" algn="l"/>
              </a:tabLst>
            </a:pPr>
            <a:r>
              <a:rPr dirty="0" sz="2400" spc="-5">
                <a:solidFill>
                  <a:srgbClr val="FFFFFF"/>
                </a:solidFill>
                <a:latin typeface="华文楷体"/>
                <a:cs typeface="华文楷体"/>
              </a:rPr>
              <a:t>一	</a:t>
            </a:r>
            <a:r>
              <a:rPr dirty="0" sz="2400">
                <a:solidFill>
                  <a:srgbClr val="FFFFFF"/>
                </a:solidFill>
                <a:latin typeface="华文楷体"/>
                <a:cs typeface="华文楷体"/>
              </a:rPr>
              <a:t>带电粒子在匀强磁场中的运</a:t>
            </a:r>
            <a:r>
              <a:rPr dirty="0" sz="2400" spc="-5">
                <a:solidFill>
                  <a:srgbClr val="FFFFFF"/>
                </a:solidFill>
                <a:latin typeface="华文楷体"/>
                <a:cs typeface="华文楷体"/>
              </a:rPr>
              <a:t>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1453" y="3008693"/>
            <a:ext cx="2768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洛伦兹力提供向心力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767008" y="3839603"/>
            <a:ext cx="244475" cy="0"/>
          </a:xfrm>
          <a:custGeom>
            <a:avLst/>
            <a:gdLst/>
            <a:ahLst/>
            <a:cxnLst/>
            <a:rect l="l" t="t" r="r" b="b"/>
            <a:pathLst>
              <a:path w="244475" h="0">
                <a:moveTo>
                  <a:pt x="0" y="0"/>
                </a:moveTo>
                <a:lnTo>
                  <a:pt x="244005" y="0"/>
                </a:lnTo>
              </a:path>
            </a:pathLst>
          </a:custGeom>
          <a:ln w="125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766081" y="3191949"/>
            <a:ext cx="224154" cy="975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215" marR="5080" indent="-57150">
              <a:lnSpc>
                <a:spcPct val="155800"/>
              </a:lnSpc>
              <a:spcBef>
                <a:spcPts val="100"/>
              </a:spcBef>
            </a:pPr>
            <a:r>
              <a:rPr dirty="0" baseline="-25000" sz="3000" spc="127" i="1">
                <a:latin typeface="Times New Roman"/>
                <a:cs typeface="Times New Roman"/>
              </a:rPr>
              <a:t>v</a:t>
            </a:r>
            <a:r>
              <a:rPr dirty="0" sz="1150" spc="5">
                <a:latin typeface="Times New Roman"/>
                <a:cs typeface="Times New Roman"/>
              </a:rPr>
              <a:t>2  </a:t>
            </a:r>
            <a:r>
              <a:rPr dirty="0" sz="2000" spc="10" i="1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6911" y="3637826"/>
            <a:ext cx="85979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10" i="1">
                <a:latin typeface="Times New Roman"/>
                <a:cs typeface="Times New Roman"/>
              </a:rPr>
              <a:t>qvB </a:t>
            </a:r>
            <a:r>
              <a:rPr dirty="0" sz="2000" spc="15">
                <a:latin typeface="Symbol"/>
                <a:cs typeface="Symbol"/>
              </a:rPr>
              <a:t></a:t>
            </a:r>
            <a:r>
              <a:rPr dirty="0" sz="2000" spc="-185">
                <a:latin typeface="Times New Roman"/>
                <a:cs typeface="Times New Roman"/>
              </a:rPr>
              <a:t> </a:t>
            </a:r>
            <a:r>
              <a:rPr dirty="0" sz="2000" spc="25" i="1"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69320" y="4593374"/>
            <a:ext cx="322580" cy="0"/>
          </a:xfrm>
          <a:custGeom>
            <a:avLst/>
            <a:gdLst/>
            <a:ahLst/>
            <a:cxnLst/>
            <a:rect l="l" t="t" r="r" b="b"/>
            <a:pathLst>
              <a:path w="322579" h="0">
                <a:moveTo>
                  <a:pt x="0" y="0"/>
                </a:moveTo>
                <a:lnTo>
                  <a:pt x="322440" y="0"/>
                </a:lnTo>
              </a:path>
            </a:pathLst>
          </a:custGeom>
          <a:ln w="125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82383" y="3006851"/>
            <a:ext cx="1816607" cy="1533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482637" y="3427361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227392" y="3330219"/>
            <a:ext cx="1153896" cy="10992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79876" y="1639823"/>
            <a:ext cx="5465445" cy="1036319"/>
          </a:xfrm>
          <a:custGeom>
            <a:avLst/>
            <a:gdLst/>
            <a:ahLst/>
            <a:cxnLst/>
            <a:rect l="l" t="t" r="r" b="b"/>
            <a:pathLst>
              <a:path w="5465445" h="1036319">
                <a:moveTo>
                  <a:pt x="5292852" y="1036319"/>
                </a:moveTo>
                <a:lnTo>
                  <a:pt x="172212" y="1036319"/>
                </a:lnTo>
                <a:lnTo>
                  <a:pt x="126522" y="1029855"/>
                </a:lnTo>
                <a:lnTo>
                  <a:pt x="85417" y="1012237"/>
                </a:lnTo>
                <a:lnTo>
                  <a:pt x="50553" y="985085"/>
                </a:lnTo>
                <a:lnTo>
                  <a:pt x="23590" y="950013"/>
                </a:lnTo>
                <a:lnTo>
                  <a:pt x="6186" y="908640"/>
                </a:lnTo>
                <a:lnTo>
                  <a:pt x="0" y="862583"/>
                </a:lnTo>
                <a:lnTo>
                  <a:pt x="0" y="172212"/>
                </a:lnTo>
                <a:lnTo>
                  <a:pt x="6186" y="126320"/>
                </a:lnTo>
                <a:lnTo>
                  <a:pt x="23590" y="85092"/>
                </a:lnTo>
                <a:lnTo>
                  <a:pt x="50553" y="50187"/>
                </a:lnTo>
                <a:lnTo>
                  <a:pt x="85417" y="23263"/>
                </a:lnTo>
                <a:lnTo>
                  <a:pt x="126522" y="5981"/>
                </a:lnTo>
                <a:lnTo>
                  <a:pt x="172212" y="0"/>
                </a:lnTo>
                <a:lnTo>
                  <a:pt x="5292852" y="0"/>
                </a:lnTo>
                <a:lnTo>
                  <a:pt x="5338446" y="5981"/>
                </a:lnTo>
                <a:lnTo>
                  <a:pt x="5379497" y="23263"/>
                </a:lnTo>
                <a:lnTo>
                  <a:pt x="5414343" y="50187"/>
                </a:lnTo>
                <a:lnTo>
                  <a:pt x="5441326" y="85092"/>
                </a:lnTo>
                <a:lnTo>
                  <a:pt x="5458786" y="126320"/>
                </a:lnTo>
                <a:lnTo>
                  <a:pt x="5465064" y="172212"/>
                </a:lnTo>
                <a:lnTo>
                  <a:pt x="5465064" y="862583"/>
                </a:lnTo>
                <a:lnTo>
                  <a:pt x="5458786" y="908640"/>
                </a:lnTo>
                <a:lnTo>
                  <a:pt x="5441326" y="950013"/>
                </a:lnTo>
                <a:lnTo>
                  <a:pt x="5414343" y="985085"/>
                </a:lnTo>
                <a:lnTo>
                  <a:pt x="5379497" y="1012237"/>
                </a:lnTo>
                <a:lnTo>
                  <a:pt x="5338446" y="1029855"/>
                </a:lnTo>
                <a:lnTo>
                  <a:pt x="5292852" y="1036319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68751" y="1385316"/>
            <a:ext cx="1490980" cy="1516380"/>
          </a:xfrm>
          <a:custGeom>
            <a:avLst/>
            <a:gdLst/>
            <a:ahLst/>
            <a:cxnLst/>
            <a:rect l="l" t="t" r="r" b="b"/>
            <a:pathLst>
              <a:path w="1490979" h="1516380">
                <a:moveTo>
                  <a:pt x="728472" y="1516380"/>
                </a:moveTo>
                <a:lnTo>
                  <a:pt x="0" y="900684"/>
                </a:lnTo>
                <a:lnTo>
                  <a:pt x="762000" y="0"/>
                </a:lnTo>
                <a:lnTo>
                  <a:pt x="1490472" y="615696"/>
                </a:lnTo>
                <a:lnTo>
                  <a:pt x="728472" y="151638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674783" y="1700580"/>
            <a:ext cx="514223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81050" marR="5080" indent="-768350">
              <a:lnSpc>
                <a:spcPct val="100000"/>
              </a:lnSpc>
              <a:spcBef>
                <a:spcPts val="100"/>
              </a:spcBef>
              <a:tabLst>
                <a:tab pos="853440" algn="l"/>
              </a:tabLst>
            </a:pPr>
            <a:r>
              <a:rPr dirty="0" sz="2400" spc="-5">
                <a:solidFill>
                  <a:srgbClr val="FFFFFF"/>
                </a:solidFill>
                <a:latin typeface="华文楷体"/>
                <a:cs typeface="华文楷体"/>
              </a:rPr>
              <a:t>二</a:t>
            </a:r>
            <a:r>
              <a:rPr dirty="0" sz="2400" spc="-5">
                <a:solidFill>
                  <a:srgbClr val="FFFFFF"/>
                </a:solidFill>
                <a:latin typeface="华文楷体"/>
                <a:cs typeface="华文楷体"/>
              </a:rPr>
              <a:t>		</a:t>
            </a:r>
            <a:r>
              <a:rPr dirty="0" sz="2400">
                <a:solidFill>
                  <a:srgbClr val="FFFFFF"/>
                </a:solidFill>
                <a:latin typeface="华文楷体"/>
                <a:cs typeface="华文楷体"/>
              </a:rPr>
              <a:t>带电粒子在磁场中做圆周运动</a:t>
            </a:r>
            <a:r>
              <a:rPr dirty="0" sz="2400" spc="-5">
                <a:solidFill>
                  <a:srgbClr val="FFFFFF"/>
                </a:solidFill>
                <a:latin typeface="华文楷体"/>
                <a:cs typeface="华文楷体"/>
              </a:rPr>
              <a:t>的 </a:t>
            </a:r>
            <a:r>
              <a:rPr dirty="0" sz="2400">
                <a:solidFill>
                  <a:srgbClr val="FFFFFF"/>
                </a:solidFill>
                <a:latin typeface="华文楷体"/>
                <a:cs typeface="华文楷体"/>
              </a:rPr>
              <a:t>半径和周</a:t>
            </a:r>
            <a:r>
              <a:rPr dirty="0" sz="2400" spc="-5">
                <a:solidFill>
                  <a:srgbClr val="FFFFFF"/>
                </a:solidFill>
                <a:latin typeface="华文楷体"/>
                <a:cs typeface="华文楷体"/>
              </a:rPr>
              <a:t>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22025" y="5422112"/>
            <a:ext cx="472440" cy="0"/>
          </a:xfrm>
          <a:custGeom>
            <a:avLst/>
            <a:gdLst/>
            <a:ahLst/>
            <a:cxnLst/>
            <a:rect l="l" t="t" r="r" b="b"/>
            <a:pathLst>
              <a:path w="472439" h="0">
                <a:moveTo>
                  <a:pt x="0" y="0"/>
                </a:moveTo>
                <a:lnTo>
                  <a:pt x="472439" y="0"/>
                </a:lnTo>
              </a:path>
            </a:pathLst>
          </a:custGeom>
          <a:ln w="1385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091925" y="5422112"/>
            <a:ext cx="551180" cy="0"/>
          </a:xfrm>
          <a:custGeom>
            <a:avLst/>
            <a:gdLst/>
            <a:ahLst/>
            <a:cxnLst/>
            <a:rect l="l" t="t" r="r" b="b"/>
            <a:pathLst>
              <a:path w="551179" h="0">
                <a:moveTo>
                  <a:pt x="0" y="0"/>
                </a:moveTo>
                <a:lnTo>
                  <a:pt x="551179" y="0"/>
                </a:lnTo>
              </a:path>
            </a:pathLst>
          </a:custGeom>
          <a:ln w="1385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832504" y="4175310"/>
            <a:ext cx="1804670" cy="160464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530"/>
              </a:spcBef>
            </a:pPr>
            <a:r>
              <a:rPr dirty="0" baseline="-34722" sz="3000" spc="-7" i="1">
                <a:latin typeface="Times New Roman"/>
                <a:cs typeface="Times New Roman"/>
              </a:rPr>
              <a:t>r </a:t>
            </a:r>
            <a:r>
              <a:rPr dirty="0" baseline="-34722" sz="3000" spc="-7">
                <a:latin typeface="Symbol"/>
                <a:cs typeface="Symbol"/>
              </a:rPr>
              <a:t></a:t>
            </a:r>
            <a:r>
              <a:rPr dirty="0" baseline="-34722" sz="3000" spc="104">
                <a:latin typeface="Times New Roman"/>
                <a:cs typeface="Times New Roman"/>
              </a:rPr>
              <a:t> </a:t>
            </a:r>
            <a:r>
              <a:rPr dirty="0" sz="2000" spc="-15" i="1">
                <a:latin typeface="Times New Roman"/>
                <a:cs typeface="Times New Roman"/>
              </a:rPr>
              <a:t>mv</a:t>
            </a:r>
            <a:endParaRPr sz="2000">
              <a:latin typeface="Times New Roman"/>
              <a:cs typeface="Times New Roman"/>
            </a:endParaRPr>
          </a:p>
          <a:p>
            <a:pPr marL="457834">
              <a:lnSpc>
                <a:spcPct val="100000"/>
              </a:lnSpc>
              <a:spcBef>
                <a:spcPts val="434"/>
              </a:spcBef>
            </a:pPr>
            <a:r>
              <a:rPr dirty="0" sz="2000" spc="-10" i="1">
                <a:latin typeface="Times New Roman"/>
                <a:cs typeface="Times New Roman"/>
              </a:rPr>
              <a:t>qB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baseline="-36175" sz="3225" spc="30" i="1">
                <a:latin typeface="Times New Roman"/>
                <a:cs typeface="Times New Roman"/>
              </a:rPr>
              <a:t>T  </a:t>
            </a:r>
            <a:r>
              <a:rPr dirty="0" baseline="-36175" sz="3225" spc="30">
                <a:latin typeface="Symbol"/>
                <a:cs typeface="Symbol"/>
              </a:rPr>
              <a:t></a:t>
            </a:r>
            <a:r>
              <a:rPr dirty="0" baseline="-36175" sz="3225" spc="30">
                <a:latin typeface="Times New Roman"/>
                <a:cs typeface="Times New Roman"/>
              </a:rPr>
              <a:t> </a:t>
            </a:r>
            <a:r>
              <a:rPr dirty="0" sz="2150" spc="-240">
                <a:latin typeface="Times New Roman"/>
                <a:cs typeface="Times New Roman"/>
              </a:rPr>
              <a:t>2</a:t>
            </a:r>
            <a:r>
              <a:rPr dirty="0" sz="2300" spc="-240" i="1">
                <a:latin typeface="Symbol"/>
                <a:cs typeface="Symbol"/>
              </a:rPr>
              <a:t></a:t>
            </a:r>
            <a:r>
              <a:rPr dirty="0" sz="2150" spc="-240" i="1">
                <a:latin typeface="Times New Roman"/>
                <a:cs typeface="Times New Roman"/>
              </a:rPr>
              <a:t>r   </a:t>
            </a:r>
            <a:r>
              <a:rPr dirty="0" baseline="-36175" sz="3225" spc="30">
                <a:latin typeface="Symbol"/>
                <a:cs typeface="Symbol"/>
              </a:rPr>
              <a:t></a:t>
            </a:r>
            <a:r>
              <a:rPr dirty="0" baseline="-36175" sz="3225" spc="-382">
                <a:latin typeface="Times New Roman"/>
                <a:cs typeface="Times New Roman"/>
              </a:rPr>
              <a:t> </a:t>
            </a:r>
            <a:r>
              <a:rPr dirty="0" sz="2150" spc="-235">
                <a:latin typeface="Times New Roman"/>
                <a:cs typeface="Times New Roman"/>
              </a:rPr>
              <a:t>2</a:t>
            </a:r>
            <a:r>
              <a:rPr dirty="0" sz="2300" spc="-235" i="1">
                <a:latin typeface="Symbol"/>
                <a:cs typeface="Symbol"/>
              </a:rPr>
              <a:t></a:t>
            </a:r>
            <a:r>
              <a:rPr dirty="0" sz="2150" spc="-235" i="1">
                <a:latin typeface="Times New Roman"/>
                <a:cs typeface="Times New Roman"/>
              </a:rPr>
              <a:t>m</a:t>
            </a:r>
            <a:endParaRPr sz="2150">
              <a:latin typeface="Times New Roman"/>
              <a:cs typeface="Times New Roman"/>
            </a:endParaRPr>
          </a:p>
          <a:p>
            <a:pPr marL="662305">
              <a:lnSpc>
                <a:spcPct val="100000"/>
              </a:lnSpc>
              <a:spcBef>
                <a:spcPts val="500"/>
              </a:spcBef>
              <a:tabLst>
                <a:tab pos="1374140" algn="l"/>
              </a:tabLst>
            </a:pPr>
            <a:r>
              <a:rPr dirty="0" sz="2150" spc="15" i="1">
                <a:latin typeface="Times New Roman"/>
                <a:cs typeface="Times New Roman"/>
              </a:rPr>
              <a:t>v	</a:t>
            </a:r>
            <a:r>
              <a:rPr dirty="0" sz="2150" spc="20" i="1">
                <a:latin typeface="Times New Roman"/>
                <a:cs typeface="Times New Roman"/>
              </a:rPr>
              <a:t>qB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94451" y="1533778"/>
            <a:ext cx="977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黑体"/>
                <a:cs typeface="黑体"/>
              </a:rPr>
              <a:t>例题1</a:t>
            </a:r>
          </a:p>
        </p:txBody>
      </p:sp>
      <p:sp>
        <p:nvSpPr>
          <p:cNvPr id="3" name="object 3"/>
          <p:cNvSpPr/>
          <p:nvPr/>
        </p:nvSpPr>
        <p:spPr>
          <a:xfrm>
            <a:off x="1961388" y="1601724"/>
            <a:ext cx="1522476" cy="9281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62171" y="1711451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61815" y="1933955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253280" y="2180513"/>
            <a:ext cx="4732655" cy="0"/>
          </a:xfrm>
          <a:custGeom>
            <a:avLst/>
            <a:gdLst/>
            <a:ahLst/>
            <a:cxnLst/>
            <a:rect l="l" t="t" r="r" b="b"/>
            <a:pathLst>
              <a:path w="4732655" h="0">
                <a:moveTo>
                  <a:pt x="0" y="0"/>
                </a:moveTo>
                <a:lnTo>
                  <a:pt x="4732426" y="0"/>
                </a:lnTo>
              </a:path>
            </a:pathLst>
          </a:custGeom>
          <a:ln w="12700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34793" y="2649410"/>
            <a:ext cx="6883400" cy="220408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ct val="97800"/>
              </a:lnSpc>
              <a:spcBef>
                <a:spcPts val="160"/>
              </a:spcBef>
              <a:tabLst>
                <a:tab pos="1664970" algn="l"/>
              </a:tabLst>
            </a:pPr>
            <a:r>
              <a:rPr dirty="0" baseline="3472" sz="3600" i="1">
                <a:latin typeface="华文楷体"/>
                <a:cs typeface="华文楷体"/>
              </a:rPr>
              <a:t>一个质量</a:t>
            </a:r>
            <a:r>
              <a:rPr dirty="0" baseline="3472" sz="3600" spc="89" i="1">
                <a:latin typeface="华文楷体"/>
                <a:cs typeface="华文楷体"/>
              </a:rPr>
              <a:t>为</a:t>
            </a:r>
            <a:r>
              <a:rPr dirty="0" sz="2050" spc="25">
                <a:latin typeface="Times New Roman"/>
                <a:cs typeface="Times New Roman"/>
              </a:rPr>
              <a:t>1.67</a:t>
            </a:r>
            <a:r>
              <a:rPr dirty="0" sz="2050" spc="-325">
                <a:latin typeface="Times New Roman"/>
                <a:cs typeface="Times New Roman"/>
              </a:rPr>
              <a:t> </a:t>
            </a:r>
            <a:r>
              <a:rPr dirty="0" sz="2050" spc="30">
                <a:latin typeface="Symbol"/>
                <a:cs typeface="Symbol"/>
              </a:rPr>
              <a:t></a:t>
            </a:r>
            <a:r>
              <a:rPr dirty="0" sz="2050" spc="30">
                <a:latin typeface="Times New Roman"/>
                <a:cs typeface="Times New Roman"/>
              </a:rPr>
              <a:t>10</a:t>
            </a:r>
            <a:r>
              <a:rPr dirty="0" baseline="43981" sz="1800" spc="44">
                <a:latin typeface="Symbol"/>
                <a:cs typeface="Symbol"/>
              </a:rPr>
              <a:t></a:t>
            </a:r>
            <a:r>
              <a:rPr dirty="0" baseline="43981" sz="1800" spc="44">
                <a:latin typeface="Times New Roman"/>
                <a:cs typeface="Times New Roman"/>
              </a:rPr>
              <a:t>27</a:t>
            </a:r>
            <a:r>
              <a:rPr dirty="0" baseline="43981" sz="1800" spc="89">
                <a:latin typeface="Times New Roman"/>
                <a:cs typeface="Times New Roman"/>
              </a:rPr>
              <a:t> </a:t>
            </a:r>
            <a:r>
              <a:rPr dirty="0" sz="2050" spc="30">
                <a:latin typeface="Times New Roman"/>
                <a:cs typeface="Times New Roman"/>
              </a:rPr>
              <a:t>kg</a:t>
            </a:r>
            <a:r>
              <a:rPr dirty="0" sz="2050" spc="415">
                <a:latin typeface="Times New Roman"/>
                <a:cs typeface="Times New Roman"/>
              </a:rPr>
              <a:t> </a:t>
            </a:r>
            <a:r>
              <a:rPr dirty="0" baseline="3472" sz="3600" i="1">
                <a:latin typeface="华文楷体"/>
                <a:cs typeface="华文楷体"/>
              </a:rPr>
              <a:t>、电荷量为</a:t>
            </a:r>
            <a:r>
              <a:rPr dirty="0" baseline="3472" sz="3600" spc="120" i="1">
                <a:latin typeface="华文楷体"/>
                <a:cs typeface="华文楷体"/>
              </a:rPr>
              <a:t> </a:t>
            </a:r>
            <a:r>
              <a:rPr dirty="0" sz="2100" spc="-15">
                <a:latin typeface="Times New Roman"/>
                <a:cs typeface="Times New Roman"/>
              </a:rPr>
              <a:t>1.6</a:t>
            </a:r>
            <a:r>
              <a:rPr dirty="0" sz="2100" spc="-315">
                <a:latin typeface="Times New Roman"/>
                <a:cs typeface="Times New Roman"/>
              </a:rPr>
              <a:t> </a:t>
            </a:r>
            <a:r>
              <a:rPr dirty="0" sz="2100" spc="10">
                <a:latin typeface="Symbol"/>
                <a:cs typeface="Symbol"/>
              </a:rPr>
              <a:t></a:t>
            </a:r>
            <a:r>
              <a:rPr dirty="0" sz="2100" spc="10">
                <a:latin typeface="Times New Roman"/>
                <a:cs typeface="Times New Roman"/>
              </a:rPr>
              <a:t>10</a:t>
            </a:r>
            <a:r>
              <a:rPr dirty="0" baseline="43981" sz="1800" spc="15">
                <a:latin typeface="Symbol"/>
                <a:cs typeface="Symbol"/>
              </a:rPr>
              <a:t></a:t>
            </a:r>
            <a:r>
              <a:rPr dirty="0" baseline="43981" sz="1800" spc="15">
                <a:latin typeface="Times New Roman"/>
                <a:cs typeface="Times New Roman"/>
              </a:rPr>
              <a:t>19</a:t>
            </a:r>
            <a:r>
              <a:rPr dirty="0" baseline="43981" sz="1800" spc="-187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Times New Roman"/>
                <a:cs typeface="Times New Roman"/>
              </a:rPr>
              <a:t>C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baseline="3472" sz="3600" i="1">
                <a:latin typeface="华文楷体"/>
                <a:cs typeface="华文楷体"/>
              </a:rPr>
              <a:t>的带 </a:t>
            </a:r>
            <a:r>
              <a:rPr dirty="0" sz="2400" i="1">
                <a:latin typeface="华文楷体"/>
                <a:cs typeface="华文楷体"/>
              </a:rPr>
              <a:t>电粒子，以	</a:t>
            </a:r>
            <a:r>
              <a:rPr dirty="0" sz="2250" spc="55">
                <a:latin typeface="Times New Roman"/>
                <a:cs typeface="Times New Roman"/>
              </a:rPr>
              <a:t>5</a:t>
            </a:r>
            <a:r>
              <a:rPr dirty="0" sz="2250" spc="55">
                <a:latin typeface="Symbol"/>
                <a:cs typeface="Symbol"/>
              </a:rPr>
              <a:t></a:t>
            </a:r>
            <a:r>
              <a:rPr dirty="0" sz="2250" spc="55">
                <a:latin typeface="Times New Roman"/>
                <a:cs typeface="Times New Roman"/>
              </a:rPr>
              <a:t>10</a:t>
            </a:r>
            <a:r>
              <a:rPr dirty="0" baseline="42735" sz="1950" spc="82">
                <a:latin typeface="Times New Roman"/>
                <a:cs typeface="Times New Roman"/>
              </a:rPr>
              <a:t>5</a:t>
            </a:r>
            <a:r>
              <a:rPr dirty="0" baseline="42735" sz="1950" spc="-104">
                <a:latin typeface="Times New Roman"/>
                <a:cs typeface="Times New Roman"/>
              </a:rPr>
              <a:t> </a:t>
            </a:r>
            <a:r>
              <a:rPr dirty="0" sz="2250" spc="-10">
                <a:latin typeface="Times New Roman"/>
                <a:cs typeface="Times New Roman"/>
              </a:rPr>
              <a:t>m/s</a:t>
            </a:r>
            <a:r>
              <a:rPr dirty="0" sz="2250" spc="90">
                <a:latin typeface="Times New Roman"/>
                <a:cs typeface="Times New Roman"/>
              </a:rPr>
              <a:t> </a:t>
            </a:r>
            <a:r>
              <a:rPr dirty="0" sz="2400" i="1">
                <a:latin typeface="华文楷体"/>
                <a:cs typeface="华文楷体"/>
              </a:rPr>
              <a:t>的初速度沿与磁场垂直的方向 射入磁感应强度为</a:t>
            </a:r>
            <a:r>
              <a:rPr dirty="0" sz="2400" spc="-5">
                <a:latin typeface="Times New Roman"/>
                <a:cs typeface="Times New Roman"/>
              </a:rPr>
              <a:t>0.2T</a:t>
            </a:r>
            <a:r>
              <a:rPr dirty="0" sz="2400" i="1">
                <a:latin typeface="华文楷体"/>
                <a:cs typeface="华文楷体"/>
              </a:rPr>
              <a:t>的匀强磁场。求：</a:t>
            </a:r>
            <a:endParaRPr sz="2400">
              <a:latin typeface="华文楷体"/>
              <a:cs typeface="华文楷体"/>
            </a:endParaRPr>
          </a:p>
          <a:p>
            <a:pPr marL="775335" indent="-762635">
              <a:lnSpc>
                <a:spcPct val="100000"/>
              </a:lnSpc>
              <a:buSzPct val="95833"/>
              <a:buAutoNum type="arabicPlain"/>
              <a:tabLst>
                <a:tab pos="775335" algn="l"/>
              </a:tabLst>
            </a:pPr>
            <a:r>
              <a:rPr dirty="0" sz="2400" i="1">
                <a:latin typeface="华文楷体"/>
                <a:cs typeface="华文楷体"/>
              </a:rPr>
              <a:t>粒子所受的重力和洛伦兹力的大小之比；</a:t>
            </a:r>
            <a:endParaRPr sz="2400">
              <a:latin typeface="华文楷体"/>
              <a:cs typeface="华文楷体"/>
            </a:endParaRPr>
          </a:p>
          <a:p>
            <a:pPr marL="775335" indent="-762635">
              <a:lnSpc>
                <a:spcPct val="100000"/>
              </a:lnSpc>
              <a:buSzPct val="95833"/>
              <a:buAutoNum type="arabicPlain"/>
              <a:tabLst>
                <a:tab pos="775335" algn="l"/>
              </a:tabLst>
            </a:pPr>
            <a:r>
              <a:rPr dirty="0" sz="2400" i="1">
                <a:latin typeface="华文楷体"/>
                <a:cs typeface="华文楷体"/>
              </a:rPr>
              <a:t>粒子在磁场中运动的轨道半径；</a:t>
            </a:r>
            <a:endParaRPr sz="2400">
              <a:latin typeface="华文楷体"/>
              <a:cs typeface="华文楷体"/>
            </a:endParaRPr>
          </a:p>
          <a:p>
            <a:pPr marL="775335" indent="-762635">
              <a:lnSpc>
                <a:spcPct val="100000"/>
              </a:lnSpc>
              <a:buSzPct val="95833"/>
              <a:buAutoNum type="arabicPlain"/>
              <a:tabLst>
                <a:tab pos="775335" algn="l"/>
              </a:tabLst>
            </a:pPr>
            <a:r>
              <a:rPr dirty="0" sz="2400" i="1">
                <a:latin typeface="华文楷体"/>
                <a:cs typeface="华文楷体"/>
              </a:rPr>
              <a:t>粒子做匀速圆周运动的周期。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2327" y="1400555"/>
            <a:ext cx="1522476" cy="9281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59310" y="4587036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 h="0">
                <a:moveTo>
                  <a:pt x="0" y="0"/>
                </a:moveTo>
                <a:lnTo>
                  <a:pt x="197243" y="0"/>
                </a:lnTo>
              </a:path>
            </a:pathLst>
          </a:custGeom>
          <a:ln w="1151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304940" y="4587036"/>
            <a:ext cx="1036955" cy="0"/>
          </a:xfrm>
          <a:custGeom>
            <a:avLst/>
            <a:gdLst/>
            <a:ahLst/>
            <a:cxnLst/>
            <a:rect l="l" t="t" r="r" b="b"/>
            <a:pathLst>
              <a:path w="1036954" h="0">
                <a:moveTo>
                  <a:pt x="0" y="0"/>
                </a:moveTo>
                <a:lnTo>
                  <a:pt x="1036739" y="0"/>
                </a:lnTo>
              </a:path>
            </a:pathLst>
          </a:custGeom>
          <a:ln w="1151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346237" y="4396600"/>
            <a:ext cx="233045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Symbol"/>
                <a:cs typeface="Symbol"/>
              </a:rPr>
              <a:t></a:t>
            </a:r>
            <a:r>
              <a:rPr dirty="0" sz="1050" spc="5">
                <a:latin typeface="Times New Roman"/>
                <a:cs typeface="Times New Roman"/>
              </a:rPr>
              <a:t>1</a:t>
            </a:r>
            <a:r>
              <a:rPr dirty="0" sz="1050" spc="-5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91069" y="4403636"/>
            <a:ext cx="972819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latin typeface="Symbol"/>
                <a:cs typeface="Symbol"/>
              </a:rPr>
              <a:t></a:t>
            </a:r>
            <a:r>
              <a:rPr dirty="0" sz="1800" spc="-260">
                <a:latin typeface="Times New Roman"/>
                <a:cs typeface="Times New Roman"/>
              </a:rPr>
              <a:t> </a:t>
            </a:r>
            <a:r>
              <a:rPr dirty="0" sz="1800" spc="35">
                <a:latin typeface="Times New Roman"/>
                <a:cs typeface="Times New Roman"/>
              </a:rPr>
              <a:t>1.03</a:t>
            </a:r>
            <a:r>
              <a:rPr dirty="0" sz="1800" spc="35">
                <a:latin typeface="Symbol"/>
                <a:cs typeface="Symbol"/>
              </a:rPr>
              <a:t></a:t>
            </a:r>
            <a:r>
              <a:rPr dirty="0" sz="1800" spc="35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70618" y="4295216"/>
            <a:ext cx="4349115" cy="58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2580"/>
              </a:lnSpc>
              <a:spcBef>
                <a:spcPts val="100"/>
              </a:spcBef>
              <a:tabLst>
                <a:tab pos="2884805" algn="l"/>
              </a:tabLst>
            </a:pPr>
            <a:r>
              <a:rPr dirty="0" sz="2400" i="1">
                <a:latin typeface="华文楷体"/>
                <a:cs typeface="华文楷体"/>
              </a:rPr>
              <a:t>重力与洛伦兹力之比	</a:t>
            </a:r>
            <a:r>
              <a:rPr dirty="0" baseline="27777" sz="2700" i="1">
                <a:latin typeface="Times New Roman"/>
                <a:cs typeface="Times New Roman"/>
              </a:rPr>
              <a:t>G </a:t>
            </a:r>
            <a:r>
              <a:rPr dirty="0" baseline="-7716" sz="2700">
                <a:latin typeface="Symbol"/>
                <a:cs typeface="Symbol"/>
              </a:rPr>
              <a:t></a:t>
            </a:r>
            <a:r>
              <a:rPr dirty="0" baseline="-7716" sz="2700">
                <a:latin typeface="Times New Roman"/>
                <a:cs typeface="Times New Roman"/>
              </a:rPr>
              <a:t> </a:t>
            </a:r>
            <a:r>
              <a:rPr dirty="0" baseline="27777" sz="2700" spc="15">
                <a:latin typeface="Times New Roman"/>
                <a:cs typeface="Times New Roman"/>
              </a:rPr>
              <a:t>1.64</a:t>
            </a:r>
            <a:r>
              <a:rPr dirty="0" baseline="27777" sz="2700" spc="-284">
                <a:latin typeface="Times New Roman"/>
                <a:cs typeface="Times New Roman"/>
              </a:rPr>
              <a:t> </a:t>
            </a:r>
            <a:r>
              <a:rPr dirty="0" baseline="27777" sz="2700" spc="37">
                <a:latin typeface="Symbol"/>
                <a:cs typeface="Symbol"/>
              </a:rPr>
              <a:t></a:t>
            </a:r>
            <a:r>
              <a:rPr dirty="0" baseline="27777" sz="2700" spc="37">
                <a:latin typeface="Times New Roman"/>
                <a:cs typeface="Times New Roman"/>
              </a:rPr>
              <a:t>10</a:t>
            </a:r>
            <a:r>
              <a:rPr dirty="0" baseline="89947" sz="1575" spc="37">
                <a:latin typeface="Symbol"/>
                <a:cs typeface="Symbol"/>
              </a:rPr>
              <a:t></a:t>
            </a:r>
            <a:r>
              <a:rPr dirty="0" baseline="89947" sz="1575" spc="37">
                <a:latin typeface="Times New Roman"/>
                <a:cs typeface="Times New Roman"/>
              </a:rPr>
              <a:t>26</a:t>
            </a:r>
            <a:endParaRPr baseline="89947" sz="1575">
              <a:latin typeface="Times New Roman"/>
              <a:cs typeface="Times New Roman"/>
            </a:endParaRPr>
          </a:p>
          <a:p>
            <a:pPr algn="r" marR="63500">
              <a:lnSpc>
                <a:spcPts val="1860"/>
              </a:lnSpc>
              <a:tabLst>
                <a:tab pos="470534" algn="l"/>
              </a:tabLst>
            </a:pPr>
            <a:r>
              <a:rPr dirty="0" sz="1800" i="1">
                <a:latin typeface="Times New Roman"/>
                <a:cs typeface="Times New Roman"/>
              </a:rPr>
              <a:t>F	</a:t>
            </a:r>
            <a:r>
              <a:rPr dirty="0" sz="1800" spc="5">
                <a:latin typeface="Times New Roman"/>
                <a:cs typeface="Times New Roman"/>
              </a:rPr>
              <a:t>1.6</a:t>
            </a:r>
            <a:r>
              <a:rPr dirty="0" sz="1800" spc="-345">
                <a:latin typeface="Times New Roman"/>
                <a:cs typeface="Times New Roman"/>
              </a:rPr>
              <a:t> </a:t>
            </a:r>
            <a:r>
              <a:rPr dirty="0" sz="1800" spc="25">
                <a:latin typeface="Symbol"/>
                <a:cs typeface="Symbol"/>
              </a:rPr>
              <a:t></a:t>
            </a:r>
            <a:r>
              <a:rPr dirty="0" sz="1800" spc="25">
                <a:latin typeface="Times New Roman"/>
                <a:cs typeface="Times New Roman"/>
              </a:rPr>
              <a:t>10</a:t>
            </a:r>
            <a:r>
              <a:rPr dirty="0" baseline="42328" sz="1575" spc="37">
                <a:latin typeface="Symbol"/>
                <a:cs typeface="Symbol"/>
              </a:rPr>
              <a:t></a:t>
            </a:r>
            <a:r>
              <a:rPr dirty="0" baseline="42328" sz="1575" spc="37">
                <a:latin typeface="Times New Roman"/>
                <a:cs typeface="Times New Roman"/>
              </a:rPr>
              <a:t>14</a:t>
            </a:r>
            <a:endParaRPr baseline="42328" sz="157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0618" y="4968163"/>
            <a:ext cx="58166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可见，带电粒子在磁场中运动时，洛伦兹力 远大于重力，重力作用的影响可以忽略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03903" y="1562100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03547" y="1784604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249737" y="1903806"/>
            <a:ext cx="4732655" cy="0"/>
          </a:xfrm>
          <a:custGeom>
            <a:avLst/>
            <a:gdLst/>
            <a:ahLst/>
            <a:cxnLst/>
            <a:rect l="l" t="t" r="r" b="b"/>
            <a:pathLst>
              <a:path w="4732655" h="0">
                <a:moveTo>
                  <a:pt x="0" y="0"/>
                </a:moveTo>
                <a:lnTo>
                  <a:pt x="4732426" y="0"/>
                </a:lnTo>
              </a:path>
            </a:pathLst>
          </a:custGeom>
          <a:ln w="12700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585498" y="1371968"/>
            <a:ext cx="977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黑体"/>
                <a:cs typeface="黑体"/>
              </a:rPr>
              <a:t>例题1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852508" y="2267977"/>
            <a:ext cx="5307330" cy="1894839"/>
          </a:xfrm>
          <a:prstGeom prst="rect">
            <a:avLst/>
          </a:prstGeom>
        </p:spPr>
        <p:txBody>
          <a:bodyPr wrap="square" lIns="0" tIns="173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2400" i="1">
                <a:latin typeface="华文楷体"/>
                <a:cs typeface="华文楷体"/>
              </a:rPr>
              <a:t>解：（</a:t>
            </a:r>
            <a:r>
              <a:rPr dirty="0" sz="2400">
                <a:latin typeface="Times New Roman"/>
                <a:cs typeface="Times New Roman"/>
              </a:rPr>
              <a:t>1</a:t>
            </a:r>
            <a:r>
              <a:rPr dirty="0" sz="2400" i="1">
                <a:latin typeface="华文楷体"/>
                <a:cs typeface="华文楷体"/>
              </a:rPr>
              <a:t>）粒子所受重力</a:t>
            </a:r>
            <a:endParaRPr sz="2400">
              <a:latin typeface="华文楷体"/>
              <a:cs typeface="华文楷体"/>
            </a:endParaRPr>
          </a:p>
          <a:p>
            <a:pPr marL="691515">
              <a:lnSpc>
                <a:spcPct val="100000"/>
              </a:lnSpc>
              <a:spcBef>
                <a:spcPts val="965"/>
              </a:spcBef>
            </a:pPr>
            <a:r>
              <a:rPr dirty="0" sz="1850" spc="-5" i="1">
                <a:latin typeface="Times New Roman"/>
                <a:cs typeface="Times New Roman"/>
              </a:rPr>
              <a:t>G</a:t>
            </a:r>
            <a:r>
              <a:rPr dirty="0" sz="1850" spc="15" i="1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-40">
                <a:latin typeface="Times New Roman"/>
                <a:cs typeface="Times New Roman"/>
              </a:rPr>
              <a:t> </a:t>
            </a:r>
            <a:r>
              <a:rPr dirty="0" sz="1850" spc="-10" i="1">
                <a:latin typeface="Times New Roman"/>
                <a:cs typeface="Times New Roman"/>
              </a:rPr>
              <a:t>mg</a:t>
            </a:r>
            <a:r>
              <a:rPr dirty="0" sz="1850" spc="80" i="1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-235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Times New Roman"/>
                <a:cs typeface="Times New Roman"/>
              </a:rPr>
              <a:t>1.67</a:t>
            </a:r>
            <a:r>
              <a:rPr dirty="0" sz="1850" spc="-260">
                <a:latin typeface="Times New Roman"/>
                <a:cs typeface="Times New Roman"/>
              </a:rPr>
              <a:t> </a:t>
            </a:r>
            <a:r>
              <a:rPr dirty="0" sz="1850" spc="15">
                <a:latin typeface="Symbol"/>
                <a:cs typeface="Symbol"/>
              </a:rPr>
              <a:t></a:t>
            </a:r>
            <a:r>
              <a:rPr dirty="0" sz="1850" spc="15">
                <a:latin typeface="Times New Roman"/>
                <a:cs typeface="Times New Roman"/>
              </a:rPr>
              <a:t>10</a:t>
            </a:r>
            <a:r>
              <a:rPr dirty="0" baseline="42328" sz="1575" spc="22">
                <a:latin typeface="Symbol"/>
                <a:cs typeface="Symbol"/>
              </a:rPr>
              <a:t></a:t>
            </a:r>
            <a:r>
              <a:rPr dirty="0" baseline="42328" sz="1575" spc="22">
                <a:latin typeface="Times New Roman"/>
                <a:cs typeface="Times New Roman"/>
              </a:rPr>
              <a:t>27</a:t>
            </a:r>
            <a:r>
              <a:rPr dirty="0" baseline="42328" sz="1575" spc="195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</a:t>
            </a:r>
            <a:r>
              <a:rPr dirty="0" sz="1850" spc="-270">
                <a:latin typeface="Times New Roman"/>
                <a:cs typeface="Times New Roman"/>
              </a:rPr>
              <a:t> </a:t>
            </a:r>
            <a:r>
              <a:rPr dirty="0" sz="1850" spc="10">
                <a:latin typeface="Times New Roman"/>
                <a:cs typeface="Times New Roman"/>
              </a:rPr>
              <a:t>9.8N</a:t>
            </a:r>
            <a:r>
              <a:rPr dirty="0" sz="1850" spc="-10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-240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Times New Roman"/>
                <a:cs typeface="Times New Roman"/>
              </a:rPr>
              <a:t>1.64</a:t>
            </a:r>
            <a:r>
              <a:rPr dirty="0" sz="1850" spc="-290">
                <a:latin typeface="Times New Roman"/>
                <a:cs typeface="Times New Roman"/>
              </a:rPr>
              <a:t> </a:t>
            </a:r>
            <a:r>
              <a:rPr dirty="0" sz="1850" spc="15">
                <a:latin typeface="Symbol"/>
                <a:cs typeface="Symbol"/>
              </a:rPr>
              <a:t></a:t>
            </a:r>
            <a:r>
              <a:rPr dirty="0" sz="1850" spc="15">
                <a:latin typeface="Times New Roman"/>
                <a:cs typeface="Times New Roman"/>
              </a:rPr>
              <a:t>10</a:t>
            </a:r>
            <a:r>
              <a:rPr dirty="0" baseline="42328" sz="1575" spc="22">
                <a:latin typeface="Symbol"/>
                <a:cs typeface="Symbol"/>
              </a:rPr>
              <a:t></a:t>
            </a:r>
            <a:r>
              <a:rPr dirty="0" baseline="42328" sz="1575" spc="22">
                <a:latin typeface="Times New Roman"/>
                <a:cs typeface="Times New Roman"/>
              </a:rPr>
              <a:t>26</a:t>
            </a:r>
            <a:r>
              <a:rPr dirty="0" baseline="42328" sz="1575" spc="44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Times New Roman"/>
                <a:cs typeface="Times New Roman"/>
              </a:rPr>
              <a:t>N</a:t>
            </a:r>
            <a:endParaRPr sz="1850">
              <a:latin typeface="Times New Roman"/>
              <a:cs typeface="Times New Roman"/>
            </a:endParaRPr>
          </a:p>
          <a:p>
            <a:pPr marL="130810">
              <a:lnSpc>
                <a:spcPct val="100000"/>
              </a:lnSpc>
              <a:spcBef>
                <a:spcPts val="969"/>
              </a:spcBef>
            </a:pPr>
            <a:r>
              <a:rPr dirty="0" sz="2400" i="1">
                <a:latin typeface="华文楷体"/>
                <a:cs typeface="华文楷体"/>
              </a:rPr>
              <a:t>所受洛伦兹力</a:t>
            </a:r>
            <a:endParaRPr sz="2400">
              <a:latin typeface="华文楷体"/>
              <a:cs typeface="华文楷体"/>
            </a:endParaRPr>
          </a:p>
          <a:p>
            <a:pPr marL="636905">
              <a:lnSpc>
                <a:spcPct val="100000"/>
              </a:lnSpc>
              <a:spcBef>
                <a:spcPts val="1370"/>
              </a:spcBef>
            </a:pPr>
            <a:r>
              <a:rPr dirty="0" sz="1800" spc="25" i="1">
                <a:latin typeface="Times New Roman"/>
                <a:cs typeface="Times New Roman"/>
              </a:rPr>
              <a:t>F</a:t>
            </a:r>
            <a:r>
              <a:rPr dirty="0" sz="1800" spc="145" i="1">
                <a:latin typeface="Times New Roman"/>
                <a:cs typeface="Times New Roman"/>
              </a:rPr>
              <a:t> </a:t>
            </a:r>
            <a:r>
              <a:rPr dirty="0" sz="1800" spc="20">
                <a:latin typeface="Symbol"/>
                <a:cs typeface="Symbol"/>
              </a:rPr>
              <a:t>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15" i="1">
                <a:latin typeface="Times New Roman"/>
                <a:cs typeface="Times New Roman"/>
              </a:rPr>
              <a:t>qvB</a:t>
            </a:r>
            <a:r>
              <a:rPr dirty="0" sz="1800" spc="5" i="1">
                <a:latin typeface="Times New Roman"/>
                <a:cs typeface="Times New Roman"/>
              </a:rPr>
              <a:t> </a:t>
            </a:r>
            <a:r>
              <a:rPr dirty="0" sz="1800" spc="20">
                <a:latin typeface="Symbol"/>
                <a:cs typeface="Symbol"/>
              </a:rPr>
              <a:t></a:t>
            </a:r>
            <a:r>
              <a:rPr dirty="0" sz="1800" spc="-225">
                <a:latin typeface="Times New Roman"/>
                <a:cs typeface="Times New Roman"/>
              </a:rPr>
              <a:t> </a:t>
            </a:r>
            <a:r>
              <a:rPr dirty="0" sz="1800" spc="15">
                <a:latin typeface="Times New Roman"/>
                <a:cs typeface="Times New Roman"/>
              </a:rPr>
              <a:t>1.6</a:t>
            </a:r>
            <a:r>
              <a:rPr dirty="0" sz="1800" spc="-285">
                <a:latin typeface="Times New Roman"/>
                <a:cs typeface="Times New Roman"/>
              </a:rPr>
              <a:t> </a:t>
            </a:r>
            <a:r>
              <a:rPr dirty="0" sz="1800" spc="30">
                <a:latin typeface="Symbol"/>
                <a:cs typeface="Symbol"/>
              </a:rPr>
              <a:t></a:t>
            </a:r>
            <a:r>
              <a:rPr dirty="0" sz="1800" spc="30">
                <a:latin typeface="Times New Roman"/>
                <a:cs typeface="Times New Roman"/>
              </a:rPr>
              <a:t>10</a:t>
            </a:r>
            <a:r>
              <a:rPr dirty="0" baseline="42328" sz="1575" spc="44">
                <a:latin typeface="Symbol"/>
                <a:cs typeface="Symbol"/>
              </a:rPr>
              <a:t></a:t>
            </a:r>
            <a:r>
              <a:rPr dirty="0" baseline="42328" sz="1575" spc="44">
                <a:latin typeface="Times New Roman"/>
                <a:cs typeface="Times New Roman"/>
              </a:rPr>
              <a:t>19</a:t>
            </a:r>
            <a:r>
              <a:rPr dirty="0" baseline="42328" sz="1575" spc="172">
                <a:latin typeface="Times New Roman"/>
                <a:cs typeface="Times New Roman"/>
              </a:rPr>
              <a:t> </a:t>
            </a:r>
            <a:r>
              <a:rPr dirty="0" sz="1800" spc="20">
                <a:latin typeface="Symbol"/>
                <a:cs typeface="Symbol"/>
              </a:rPr>
              <a:t></a:t>
            </a:r>
            <a:r>
              <a:rPr dirty="0" sz="1800" spc="-254">
                <a:latin typeface="Times New Roman"/>
                <a:cs typeface="Times New Roman"/>
              </a:rPr>
              <a:t> </a:t>
            </a:r>
            <a:r>
              <a:rPr dirty="0" sz="1800" spc="60">
                <a:latin typeface="Times New Roman"/>
                <a:cs typeface="Times New Roman"/>
              </a:rPr>
              <a:t>5</a:t>
            </a:r>
            <a:r>
              <a:rPr dirty="0" sz="1800" spc="60">
                <a:latin typeface="Symbol"/>
                <a:cs typeface="Symbol"/>
              </a:rPr>
              <a:t></a:t>
            </a:r>
            <a:r>
              <a:rPr dirty="0" sz="1800" spc="60">
                <a:latin typeface="Times New Roman"/>
                <a:cs typeface="Times New Roman"/>
              </a:rPr>
              <a:t>10</a:t>
            </a:r>
            <a:r>
              <a:rPr dirty="0" baseline="42328" sz="1575" spc="89">
                <a:latin typeface="Times New Roman"/>
                <a:cs typeface="Times New Roman"/>
              </a:rPr>
              <a:t>5</a:t>
            </a:r>
            <a:r>
              <a:rPr dirty="0" baseline="42328" sz="1575" spc="142">
                <a:latin typeface="Times New Roman"/>
                <a:cs typeface="Times New Roman"/>
              </a:rPr>
              <a:t> </a:t>
            </a:r>
            <a:r>
              <a:rPr dirty="0" sz="1800" spc="20">
                <a:latin typeface="Symbol"/>
                <a:cs typeface="Symbol"/>
              </a:rPr>
              <a:t></a:t>
            </a:r>
            <a:r>
              <a:rPr dirty="0" sz="1800" spc="-225">
                <a:latin typeface="Times New Roman"/>
                <a:cs typeface="Times New Roman"/>
              </a:rPr>
              <a:t> </a:t>
            </a:r>
            <a:r>
              <a:rPr dirty="0" sz="1800" spc="40">
                <a:latin typeface="Times New Roman"/>
                <a:cs typeface="Times New Roman"/>
              </a:rPr>
              <a:t>0.2N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 spc="20">
                <a:latin typeface="Symbol"/>
                <a:cs typeface="Symbol"/>
              </a:rPr>
              <a:t></a:t>
            </a:r>
            <a:r>
              <a:rPr dirty="0" sz="1800" spc="-225">
                <a:latin typeface="Times New Roman"/>
                <a:cs typeface="Times New Roman"/>
              </a:rPr>
              <a:t> </a:t>
            </a:r>
            <a:r>
              <a:rPr dirty="0" sz="1800" spc="15">
                <a:latin typeface="Times New Roman"/>
                <a:cs typeface="Times New Roman"/>
              </a:rPr>
              <a:t>1.6</a:t>
            </a:r>
            <a:r>
              <a:rPr dirty="0" sz="1800" spc="-285">
                <a:latin typeface="Times New Roman"/>
                <a:cs typeface="Times New Roman"/>
              </a:rPr>
              <a:t> </a:t>
            </a:r>
            <a:r>
              <a:rPr dirty="0" sz="1800" spc="30">
                <a:latin typeface="Symbol"/>
                <a:cs typeface="Symbol"/>
              </a:rPr>
              <a:t></a:t>
            </a:r>
            <a:r>
              <a:rPr dirty="0" sz="1800" spc="30">
                <a:latin typeface="Times New Roman"/>
                <a:cs typeface="Times New Roman"/>
              </a:rPr>
              <a:t>10</a:t>
            </a:r>
            <a:r>
              <a:rPr dirty="0" baseline="42328" sz="1575" spc="44">
                <a:latin typeface="Symbol"/>
                <a:cs typeface="Symbol"/>
              </a:rPr>
              <a:t></a:t>
            </a:r>
            <a:r>
              <a:rPr dirty="0" baseline="42328" sz="1575" spc="44">
                <a:latin typeface="Times New Roman"/>
                <a:cs typeface="Times New Roman"/>
              </a:rPr>
              <a:t>14 </a:t>
            </a:r>
            <a:r>
              <a:rPr dirty="0" sz="1800" spc="3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26087" y="1376654"/>
            <a:ext cx="977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黑体"/>
                <a:cs typeface="黑体"/>
              </a:rPr>
              <a:t>例题1</a:t>
            </a:r>
          </a:p>
        </p:txBody>
      </p:sp>
      <p:sp>
        <p:nvSpPr>
          <p:cNvPr id="3" name="object 3"/>
          <p:cNvSpPr/>
          <p:nvPr/>
        </p:nvSpPr>
        <p:spPr>
          <a:xfrm>
            <a:off x="3803903" y="1565147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2" y="0"/>
                </a:lnTo>
                <a:lnTo>
                  <a:pt x="362712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003547" y="178917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249445" y="1957158"/>
            <a:ext cx="4732655" cy="0"/>
          </a:xfrm>
          <a:custGeom>
            <a:avLst/>
            <a:gdLst/>
            <a:ahLst/>
            <a:cxnLst/>
            <a:rect l="l" t="t" r="r" b="b"/>
            <a:pathLst>
              <a:path w="4732655" h="0">
                <a:moveTo>
                  <a:pt x="0" y="0"/>
                </a:moveTo>
                <a:lnTo>
                  <a:pt x="4732426" y="0"/>
                </a:lnTo>
              </a:path>
            </a:pathLst>
          </a:custGeom>
          <a:ln w="12700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352855" y="2234196"/>
            <a:ext cx="94996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5" i="1">
                <a:latin typeface="Times New Roman"/>
                <a:cs typeface="Times New Roman"/>
              </a:rPr>
              <a:t>F </a:t>
            </a:r>
            <a:r>
              <a:rPr dirty="0" sz="2200" spc="10">
                <a:latin typeface="Symbol"/>
                <a:cs typeface="Symbol"/>
              </a:rPr>
              <a:t></a:t>
            </a:r>
            <a:r>
              <a:rPr dirty="0" sz="2200" spc="50">
                <a:latin typeface="Times New Roman"/>
                <a:cs typeface="Times New Roman"/>
              </a:rPr>
              <a:t> </a:t>
            </a:r>
            <a:r>
              <a:rPr dirty="0" sz="2200" spc="5" i="1">
                <a:latin typeface="Times New Roman"/>
                <a:cs typeface="Times New Roman"/>
              </a:rPr>
              <a:t>qvB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97683" y="2034730"/>
            <a:ext cx="4445000" cy="1127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23265" marR="5080" indent="-711200">
              <a:lnSpc>
                <a:spcPct val="150700"/>
              </a:lnSpc>
              <a:spcBef>
                <a:spcPts val="95"/>
              </a:spcBef>
            </a:pPr>
            <a:r>
              <a:rPr dirty="0" sz="2400" i="1">
                <a:latin typeface="华文楷体"/>
                <a:cs typeface="华文楷体"/>
              </a:rPr>
              <a:t>（</a:t>
            </a:r>
            <a:r>
              <a:rPr dirty="0" sz="2400">
                <a:latin typeface="Times New Roman"/>
                <a:cs typeface="Times New Roman"/>
              </a:rPr>
              <a:t>2</a:t>
            </a:r>
            <a:r>
              <a:rPr dirty="0" sz="2400" i="1">
                <a:latin typeface="华文楷体"/>
                <a:cs typeface="华文楷体"/>
              </a:rPr>
              <a:t>）带电粒子所受的洛伦兹力为 洛伦兹力提供向心力，因此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142605" y="3057398"/>
            <a:ext cx="231775" cy="0"/>
          </a:xfrm>
          <a:custGeom>
            <a:avLst/>
            <a:gdLst/>
            <a:ahLst/>
            <a:cxnLst/>
            <a:rect l="l" t="t" r="r" b="b"/>
            <a:pathLst>
              <a:path w="231775" h="0">
                <a:moveTo>
                  <a:pt x="0" y="0"/>
                </a:moveTo>
                <a:lnTo>
                  <a:pt x="231267" y="0"/>
                </a:lnTo>
              </a:path>
            </a:pathLst>
          </a:custGeom>
          <a:ln w="117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141055" y="2609392"/>
            <a:ext cx="212090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baseline="-25525" sz="2775" spc="142" i="1">
                <a:latin typeface="Times New Roman"/>
                <a:cs typeface="Times New Roman"/>
              </a:rPr>
              <a:t>v</a:t>
            </a:r>
            <a:r>
              <a:rPr dirty="0" sz="1050" spc="15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95005" y="3051619"/>
            <a:ext cx="118745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10" i="1">
                <a:latin typeface="Times New Roman"/>
                <a:cs typeface="Times New Roman"/>
              </a:rPr>
              <a:t>r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07745" y="2865805"/>
            <a:ext cx="814069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10" i="1">
                <a:latin typeface="Times New Roman"/>
                <a:cs typeface="Times New Roman"/>
              </a:rPr>
              <a:t>qvB </a:t>
            </a:r>
            <a:r>
              <a:rPr dirty="0" sz="1850" spc="15">
                <a:latin typeface="Symbol"/>
                <a:cs typeface="Symbol"/>
              </a:rPr>
              <a:t></a:t>
            </a:r>
            <a:r>
              <a:rPr dirty="0" sz="1850" spc="-120">
                <a:latin typeface="Times New Roman"/>
                <a:cs typeface="Times New Roman"/>
              </a:rPr>
              <a:t> </a:t>
            </a:r>
            <a:r>
              <a:rPr dirty="0" sz="1850" spc="20" i="1">
                <a:latin typeface="Times New Roman"/>
                <a:cs typeface="Times New Roman"/>
              </a:rPr>
              <a:t>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08298" y="3325977"/>
            <a:ext cx="520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由此得到粒子在磁场中运动的轨道半径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84027" y="4192866"/>
            <a:ext cx="300990" cy="0"/>
          </a:xfrm>
          <a:custGeom>
            <a:avLst/>
            <a:gdLst/>
            <a:ahLst/>
            <a:cxnLst/>
            <a:rect l="l" t="t" r="r" b="b"/>
            <a:pathLst>
              <a:path w="300989" h="0">
                <a:moveTo>
                  <a:pt x="0" y="0"/>
                </a:moveTo>
                <a:lnTo>
                  <a:pt x="300634" y="0"/>
                </a:lnTo>
              </a:path>
            </a:pathLst>
          </a:custGeom>
          <a:ln w="115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733962" y="4192866"/>
            <a:ext cx="1822450" cy="0"/>
          </a:xfrm>
          <a:custGeom>
            <a:avLst/>
            <a:gdLst/>
            <a:ahLst/>
            <a:cxnLst/>
            <a:rect l="l" t="t" r="r" b="b"/>
            <a:pathLst>
              <a:path w="1822450" h="0">
                <a:moveTo>
                  <a:pt x="0" y="0"/>
                </a:moveTo>
                <a:lnTo>
                  <a:pt x="1822132" y="0"/>
                </a:lnTo>
              </a:path>
            </a:pathLst>
          </a:custGeom>
          <a:ln w="115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683589" y="3999115"/>
            <a:ext cx="135255" cy="187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20">
                <a:latin typeface="Times New Roman"/>
                <a:cs typeface="Times New Roman"/>
              </a:rPr>
              <a:t>-</a:t>
            </a:r>
            <a:r>
              <a:rPr dirty="0" sz="1050" spc="5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85996" y="3857701"/>
            <a:ext cx="234886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36575" algn="l"/>
              </a:tabLst>
            </a:pPr>
            <a:r>
              <a:rPr dirty="0" sz="1850" spc="-10" i="1">
                <a:latin typeface="Times New Roman"/>
                <a:cs typeface="Times New Roman"/>
              </a:rPr>
              <a:t>mv	</a:t>
            </a:r>
            <a:r>
              <a:rPr dirty="0" sz="1850" spc="-5">
                <a:latin typeface="Times New Roman"/>
                <a:cs typeface="Times New Roman"/>
              </a:rPr>
              <a:t>1.67</a:t>
            </a:r>
            <a:r>
              <a:rPr dirty="0" sz="1850" spc="-270">
                <a:latin typeface="Times New Roman"/>
                <a:cs typeface="Times New Roman"/>
              </a:rPr>
              <a:t> </a:t>
            </a:r>
            <a:r>
              <a:rPr dirty="0" sz="1850" spc="15">
                <a:latin typeface="Symbol"/>
                <a:cs typeface="Symbol"/>
              </a:rPr>
              <a:t></a:t>
            </a:r>
            <a:r>
              <a:rPr dirty="0" sz="1850" spc="15">
                <a:latin typeface="Times New Roman"/>
                <a:cs typeface="Times New Roman"/>
              </a:rPr>
              <a:t>10</a:t>
            </a:r>
            <a:r>
              <a:rPr dirty="0" baseline="44973" sz="1575" spc="22">
                <a:latin typeface="Symbol"/>
                <a:cs typeface="Symbol"/>
              </a:rPr>
              <a:t></a:t>
            </a:r>
            <a:r>
              <a:rPr dirty="0" baseline="44973" sz="1575" spc="22">
                <a:latin typeface="Times New Roman"/>
                <a:cs typeface="Times New Roman"/>
              </a:rPr>
              <a:t>27</a:t>
            </a:r>
            <a:r>
              <a:rPr dirty="0" baseline="44973" sz="1575" spc="150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</a:t>
            </a:r>
            <a:r>
              <a:rPr dirty="0" sz="1850" spc="-290">
                <a:latin typeface="Times New Roman"/>
                <a:cs typeface="Times New Roman"/>
              </a:rPr>
              <a:t> </a:t>
            </a:r>
            <a:r>
              <a:rPr dirty="0" sz="1850" spc="40">
                <a:latin typeface="Times New Roman"/>
                <a:cs typeface="Times New Roman"/>
              </a:rPr>
              <a:t>5</a:t>
            </a:r>
            <a:r>
              <a:rPr dirty="0" sz="1850" spc="40">
                <a:latin typeface="Symbol"/>
                <a:cs typeface="Symbol"/>
              </a:rPr>
              <a:t></a:t>
            </a:r>
            <a:r>
              <a:rPr dirty="0" sz="1850" spc="40">
                <a:latin typeface="Times New Roman"/>
                <a:cs typeface="Times New Roman"/>
              </a:rPr>
              <a:t>10</a:t>
            </a:r>
            <a:r>
              <a:rPr dirty="0" baseline="44973" sz="1575" spc="60">
                <a:latin typeface="Times New Roman"/>
                <a:cs typeface="Times New Roman"/>
              </a:rPr>
              <a:t>5</a:t>
            </a:r>
            <a:endParaRPr baseline="44973" sz="1575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26700" y="4005198"/>
            <a:ext cx="4183379" cy="4895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830"/>
              </a:lnSpc>
              <a:spcBef>
                <a:spcPts val="90"/>
              </a:spcBef>
              <a:tabLst>
                <a:tab pos="718820" algn="l"/>
                <a:tab pos="2769235" algn="l"/>
              </a:tabLst>
            </a:pPr>
            <a:r>
              <a:rPr dirty="0" sz="1850" spc="-5" i="1">
                <a:latin typeface="Times New Roman"/>
                <a:cs typeface="Times New Roman"/>
              </a:rPr>
              <a:t>r</a:t>
            </a:r>
            <a:r>
              <a:rPr dirty="0" sz="1850" spc="60" i="1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-5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-5">
                <a:latin typeface="Times New Roman"/>
                <a:cs typeface="Times New Roman"/>
              </a:rPr>
              <a:t>	</a:t>
            </a:r>
            <a:r>
              <a:rPr dirty="0" sz="1850">
                <a:latin typeface="Times New Roman"/>
                <a:cs typeface="Times New Roman"/>
              </a:rPr>
              <a:t>m=2.61</a:t>
            </a:r>
            <a:r>
              <a:rPr dirty="0" sz="1850">
                <a:latin typeface="Symbol"/>
                <a:cs typeface="Symbol"/>
              </a:rPr>
              <a:t></a:t>
            </a:r>
            <a:r>
              <a:rPr dirty="0" sz="1850">
                <a:latin typeface="Times New Roman"/>
                <a:cs typeface="Times New Roman"/>
              </a:rPr>
              <a:t>10</a:t>
            </a:r>
            <a:r>
              <a:rPr dirty="0" sz="1850" spc="45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m</a:t>
            </a:r>
            <a:endParaRPr sz="1850">
              <a:latin typeface="Times New Roman"/>
              <a:cs typeface="Times New Roman"/>
            </a:endParaRPr>
          </a:p>
          <a:p>
            <a:pPr marL="377190">
              <a:lnSpc>
                <a:spcPts val="1830"/>
              </a:lnSpc>
              <a:tabLst>
                <a:tab pos="1109345" algn="l"/>
              </a:tabLst>
            </a:pPr>
            <a:r>
              <a:rPr dirty="0" sz="1850" spc="-5" i="1">
                <a:latin typeface="Times New Roman"/>
                <a:cs typeface="Times New Roman"/>
              </a:rPr>
              <a:t>qB	</a:t>
            </a:r>
            <a:r>
              <a:rPr dirty="0" sz="1850" spc="-5">
                <a:latin typeface="Times New Roman"/>
                <a:cs typeface="Times New Roman"/>
              </a:rPr>
              <a:t>1.6</a:t>
            </a:r>
            <a:r>
              <a:rPr dirty="0" sz="1850" spc="-290">
                <a:latin typeface="Times New Roman"/>
                <a:cs typeface="Times New Roman"/>
              </a:rPr>
              <a:t> </a:t>
            </a:r>
            <a:r>
              <a:rPr dirty="0" sz="1850" spc="15">
                <a:latin typeface="Symbol"/>
                <a:cs typeface="Symbol"/>
              </a:rPr>
              <a:t></a:t>
            </a:r>
            <a:r>
              <a:rPr dirty="0" sz="1850" spc="15">
                <a:latin typeface="Times New Roman"/>
                <a:cs typeface="Times New Roman"/>
              </a:rPr>
              <a:t>10</a:t>
            </a:r>
            <a:r>
              <a:rPr dirty="0" baseline="44973" sz="1575" spc="22">
                <a:latin typeface="Symbol"/>
                <a:cs typeface="Symbol"/>
              </a:rPr>
              <a:t></a:t>
            </a:r>
            <a:r>
              <a:rPr dirty="0" baseline="44973" sz="1575" spc="22">
                <a:latin typeface="Times New Roman"/>
                <a:cs typeface="Times New Roman"/>
              </a:rPr>
              <a:t>19</a:t>
            </a:r>
            <a:r>
              <a:rPr dirty="0" baseline="44973" sz="1575" spc="157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</a:t>
            </a:r>
            <a:r>
              <a:rPr dirty="0" sz="1850" spc="-245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Times New Roman"/>
                <a:cs typeface="Times New Roman"/>
              </a:rPr>
              <a:t>0.2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97683" y="4545622"/>
            <a:ext cx="444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（</a:t>
            </a:r>
            <a:r>
              <a:rPr dirty="0" sz="2400">
                <a:latin typeface="Times New Roman"/>
                <a:cs typeface="Times New Roman"/>
              </a:rPr>
              <a:t>3</a:t>
            </a:r>
            <a:r>
              <a:rPr dirty="0" sz="2400" i="1">
                <a:latin typeface="华文楷体"/>
                <a:cs typeface="华文楷体"/>
              </a:rPr>
              <a:t>）粒子做匀速圆周运动的周期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893578" y="5515343"/>
            <a:ext cx="396240" cy="0"/>
          </a:xfrm>
          <a:custGeom>
            <a:avLst/>
            <a:gdLst/>
            <a:ahLst/>
            <a:cxnLst/>
            <a:rect l="l" t="t" r="r" b="b"/>
            <a:pathLst>
              <a:path w="396239" h="0">
                <a:moveTo>
                  <a:pt x="0" y="0"/>
                </a:moveTo>
                <a:lnTo>
                  <a:pt x="395858" y="0"/>
                </a:lnTo>
              </a:path>
            </a:pathLst>
          </a:custGeom>
          <a:ln w="116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538675" y="5515343"/>
            <a:ext cx="462280" cy="0"/>
          </a:xfrm>
          <a:custGeom>
            <a:avLst/>
            <a:gdLst/>
            <a:ahLst/>
            <a:cxnLst/>
            <a:rect l="l" t="t" r="r" b="b"/>
            <a:pathLst>
              <a:path w="462279" h="0">
                <a:moveTo>
                  <a:pt x="0" y="0"/>
                </a:moveTo>
                <a:lnTo>
                  <a:pt x="461822" y="0"/>
                </a:lnTo>
              </a:path>
            </a:pathLst>
          </a:custGeom>
          <a:ln w="116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249735" y="5515343"/>
            <a:ext cx="1933575" cy="0"/>
          </a:xfrm>
          <a:custGeom>
            <a:avLst/>
            <a:gdLst/>
            <a:ahLst/>
            <a:cxnLst/>
            <a:rect l="l" t="t" r="r" b="b"/>
            <a:pathLst>
              <a:path w="1933575" h="0">
                <a:moveTo>
                  <a:pt x="0" y="0"/>
                </a:moveTo>
                <a:lnTo>
                  <a:pt x="1933448" y="0"/>
                </a:lnTo>
              </a:path>
            </a:pathLst>
          </a:custGeom>
          <a:ln w="116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8235251" y="5321477"/>
            <a:ext cx="167005" cy="187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>
                <a:latin typeface="Symbol"/>
                <a:cs typeface="Symbol"/>
              </a:rPr>
              <a:t></a:t>
            </a:r>
            <a:r>
              <a:rPr dirty="0" sz="1050" spc="5">
                <a:latin typeface="Times New Roman"/>
                <a:cs typeface="Times New Roman"/>
              </a:rPr>
              <a:t>7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95547" y="5167274"/>
            <a:ext cx="3264535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55955" algn="l"/>
                <a:tab pos="1365885" algn="l"/>
              </a:tabLst>
            </a:pPr>
            <a:r>
              <a:rPr dirty="0" sz="1850" spc="-215">
                <a:latin typeface="Times New Roman"/>
                <a:cs typeface="Times New Roman"/>
              </a:rPr>
              <a:t>2</a:t>
            </a:r>
            <a:r>
              <a:rPr dirty="0" sz="1950" spc="-215" i="1">
                <a:latin typeface="Symbol"/>
                <a:cs typeface="Symbol"/>
              </a:rPr>
              <a:t></a:t>
            </a:r>
            <a:r>
              <a:rPr dirty="0" sz="1850" spc="-215" i="1">
                <a:latin typeface="Times New Roman"/>
                <a:cs typeface="Times New Roman"/>
              </a:rPr>
              <a:t>r	</a:t>
            </a:r>
            <a:r>
              <a:rPr dirty="0" sz="1850" spc="-220">
                <a:latin typeface="Times New Roman"/>
                <a:cs typeface="Times New Roman"/>
              </a:rPr>
              <a:t>2</a:t>
            </a:r>
            <a:r>
              <a:rPr dirty="0" sz="1950" spc="-220" i="1">
                <a:latin typeface="Symbol"/>
                <a:cs typeface="Symbol"/>
              </a:rPr>
              <a:t></a:t>
            </a:r>
            <a:r>
              <a:rPr dirty="0" sz="1850" spc="-220" i="1">
                <a:latin typeface="Times New Roman"/>
                <a:cs typeface="Times New Roman"/>
              </a:rPr>
              <a:t>m	</a:t>
            </a:r>
            <a:r>
              <a:rPr dirty="0" sz="1850" spc="-5">
                <a:latin typeface="Times New Roman"/>
                <a:cs typeface="Times New Roman"/>
              </a:rPr>
              <a:t>2</a:t>
            </a:r>
            <a:r>
              <a:rPr dirty="0" sz="1850" spc="-285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</a:t>
            </a:r>
            <a:r>
              <a:rPr dirty="0" sz="1850" spc="-305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Times New Roman"/>
                <a:cs typeface="Times New Roman"/>
              </a:rPr>
              <a:t>3.14</a:t>
            </a:r>
            <a:r>
              <a:rPr dirty="0" sz="1850" spc="-280">
                <a:latin typeface="Times New Roman"/>
                <a:cs typeface="Times New Roman"/>
              </a:rPr>
              <a:t> </a:t>
            </a:r>
            <a:r>
              <a:rPr dirty="0" sz="1850">
                <a:latin typeface="Symbol"/>
                <a:cs typeface="Symbol"/>
              </a:rPr>
              <a:t></a:t>
            </a:r>
            <a:r>
              <a:rPr dirty="0" sz="1850">
                <a:latin typeface="Times New Roman"/>
                <a:cs typeface="Times New Roman"/>
              </a:rPr>
              <a:t>1.67</a:t>
            </a:r>
            <a:r>
              <a:rPr dirty="0" sz="1850" spc="-260">
                <a:latin typeface="Times New Roman"/>
                <a:cs typeface="Times New Roman"/>
              </a:rPr>
              <a:t> </a:t>
            </a:r>
            <a:r>
              <a:rPr dirty="0" sz="1850" spc="20">
                <a:latin typeface="Symbol"/>
                <a:cs typeface="Symbol"/>
              </a:rPr>
              <a:t></a:t>
            </a:r>
            <a:r>
              <a:rPr dirty="0" sz="1850" spc="20">
                <a:latin typeface="Times New Roman"/>
                <a:cs typeface="Times New Roman"/>
              </a:rPr>
              <a:t>10</a:t>
            </a:r>
            <a:r>
              <a:rPr dirty="0" baseline="44973" sz="1575" spc="30">
                <a:latin typeface="Symbol"/>
                <a:cs typeface="Symbol"/>
              </a:rPr>
              <a:t></a:t>
            </a:r>
            <a:r>
              <a:rPr dirty="0" baseline="44973" sz="1575" spc="30">
                <a:latin typeface="Times New Roman"/>
                <a:cs typeface="Times New Roman"/>
              </a:rPr>
              <a:t>27</a:t>
            </a:r>
            <a:endParaRPr baseline="44973" sz="1575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81361" y="5327853"/>
            <a:ext cx="1720214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68680" algn="l"/>
                <a:tab pos="1577975" algn="l"/>
              </a:tabLst>
            </a:pPr>
            <a:r>
              <a:rPr dirty="0" sz="1850" spc="-5" i="1">
                <a:latin typeface="Times New Roman"/>
                <a:cs typeface="Times New Roman"/>
              </a:rPr>
              <a:t>T</a:t>
            </a:r>
            <a:r>
              <a:rPr dirty="0" sz="1850" spc="185" i="1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Symbol"/>
                <a:cs typeface="Symbol"/>
              </a:rPr>
              <a:t>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03465" y="5327853"/>
            <a:ext cx="131254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08405" algn="l"/>
              </a:tabLst>
            </a:pPr>
            <a:r>
              <a:rPr dirty="0" sz="1850" spc="-5">
                <a:latin typeface="Times New Roman"/>
                <a:cs typeface="Times New Roman"/>
              </a:rPr>
              <a:t>s</a:t>
            </a:r>
            <a:r>
              <a:rPr dirty="0" sz="1850" spc="20">
                <a:latin typeface="Times New Roman"/>
                <a:cs typeface="Times New Roman"/>
              </a:rPr>
              <a:t>=</a:t>
            </a:r>
            <a:r>
              <a:rPr dirty="0" sz="1850" spc="-5">
                <a:latin typeface="Times New Roman"/>
                <a:cs typeface="Times New Roman"/>
              </a:rPr>
              <a:t>3.2</a:t>
            </a:r>
            <a:r>
              <a:rPr dirty="0" sz="1850" spc="80">
                <a:latin typeface="Times New Roman"/>
                <a:cs typeface="Times New Roman"/>
              </a:rPr>
              <a:t>8</a:t>
            </a:r>
            <a:r>
              <a:rPr dirty="0" sz="1850" spc="105">
                <a:latin typeface="Symbol"/>
                <a:cs typeface="Symbol"/>
              </a:rPr>
              <a:t></a:t>
            </a:r>
            <a:r>
              <a:rPr dirty="0" sz="1850" spc="-5">
                <a:latin typeface="Times New Roman"/>
                <a:cs typeface="Times New Roman"/>
              </a:rPr>
              <a:t>10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Times New Roman"/>
                <a:cs typeface="Times New Roman"/>
              </a:rPr>
              <a:t>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25658" y="5511203"/>
            <a:ext cx="2891790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12140" algn="l"/>
                <a:tab pos="1481455" algn="l"/>
              </a:tabLst>
            </a:pPr>
            <a:r>
              <a:rPr dirty="0" sz="1850" spc="-5" i="1">
                <a:latin typeface="Times New Roman"/>
                <a:cs typeface="Times New Roman"/>
              </a:rPr>
              <a:t>v	qB	</a:t>
            </a:r>
            <a:r>
              <a:rPr dirty="0" sz="1850" spc="-5">
                <a:latin typeface="Times New Roman"/>
                <a:cs typeface="Times New Roman"/>
              </a:rPr>
              <a:t>1.6</a:t>
            </a:r>
            <a:r>
              <a:rPr dirty="0" sz="1850" spc="-300">
                <a:latin typeface="Times New Roman"/>
                <a:cs typeface="Times New Roman"/>
              </a:rPr>
              <a:t> </a:t>
            </a:r>
            <a:r>
              <a:rPr dirty="0" sz="1850" spc="15">
                <a:latin typeface="Symbol"/>
                <a:cs typeface="Symbol"/>
              </a:rPr>
              <a:t></a:t>
            </a:r>
            <a:r>
              <a:rPr dirty="0" sz="1850" spc="15">
                <a:latin typeface="Times New Roman"/>
                <a:cs typeface="Times New Roman"/>
              </a:rPr>
              <a:t>10</a:t>
            </a:r>
            <a:r>
              <a:rPr dirty="0" baseline="44973" sz="1575" spc="22">
                <a:latin typeface="Symbol"/>
                <a:cs typeface="Symbol"/>
              </a:rPr>
              <a:t></a:t>
            </a:r>
            <a:r>
              <a:rPr dirty="0" baseline="44973" sz="1575" spc="22">
                <a:latin typeface="Times New Roman"/>
                <a:cs typeface="Times New Roman"/>
              </a:rPr>
              <a:t>19</a:t>
            </a:r>
            <a:r>
              <a:rPr dirty="0" baseline="44973" sz="1575" spc="112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</a:t>
            </a:r>
            <a:r>
              <a:rPr dirty="0" sz="1850" spc="-265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Times New Roman"/>
                <a:cs typeface="Times New Roman"/>
              </a:rPr>
              <a:t>0.2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644139" y="1325880"/>
            <a:ext cx="955548" cy="5821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1520" y="1462938"/>
            <a:ext cx="977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黑体"/>
                <a:cs typeface="黑体"/>
              </a:rPr>
              <a:t>例题2</a:t>
            </a:r>
          </a:p>
        </p:txBody>
      </p:sp>
      <p:sp>
        <p:nvSpPr>
          <p:cNvPr id="3" name="object 3"/>
          <p:cNvSpPr/>
          <p:nvPr/>
        </p:nvSpPr>
        <p:spPr>
          <a:xfrm>
            <a:off x="2394204" y="1363980"/>
            <a:ext cx="1095756" cy="667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34155" y="1630679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33800" y="1853183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912209" y="1970112"/>
            <a:ext cx="4732655" cy="0"/>
          </a:xfrm>
          <a:custGeom>
            <a:avLst/>
            <a:gdLst/>
            <a:ahLst/>
            <a:cxnLst/>
            <a:rect l="l" t="t" r="r" b="b"/>
            <a:pathLst>
              <a:path w="4732655" h="0">
                <a:moveTo>
                  <a:pt x="0" y="0"/>
                </a:moveTo>
                <a:lnTo>
                  <a:pt x="4732426" y="0"/>
                </a:lnTo>
              </a:path>
            </a:pathLst>
          </a:custGeom>
          <a:ln w="12700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538983" y="2965704"/>
            <a:ext cx="3662172" cy="29977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83877" y="3866007"/>
            <a:ext cx="2003920" cy="2031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178769" y="3505276"/>
            <a:ext cx="220979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dirty="0" baseline="-17094" sz="1950" spc="-7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baseline="-17094" sz="19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43007" y="3993476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2552" y="4133812"/>
            <a:ext cx="10795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17821" y="3534638"/>
            <a:ext cx="5137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2777" sz="3000" spc="-7" b="1" i="1">
                <a:solidFill>
                  <a:srgbClr val="1684AC"/>
                </a:solidFill>
                <a:latin typeface="Times New Roman"/>
                <a:cs typeface="Times New Roman"/>
              </a:rPr>
              <a:t>v</a:t>
            </a:r>
            <a:r>
              <a:rPr dirty="0" baseline="-12820" sz="1950" spc="-7" b="1">
                <a:solidFill>
                  <a:srgbClr val="1684AC"/>
                </a:solidFill>
                <a:latin typeface="Times New Roman"/>
                <a:cs typeface="Times New Roman"/>
              </a:rPr>
              <a:t>2</a:t>
            </a:r>
            <a:r>
              <a:rPr dirty="0" baseline="-12820" sz="1950" spc="67" b="1">
                <a:solidFill>
                  <a:srgbClr val="1684AC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 i="1">
                <a:solidFill>
                  <a:srgbClr val="BE9000"/>
                </a:solidFill>
                <a:latin typeface="Times New Roman"/>
                <a:cs typeface="Times New Roman"/>
              </a:rPr>
              <a:t>v</a:t>
            </a:r>
            <a:r>
              <a:rPr dirty="0" baseline="-17094" sz="1950" spc="-7" b="1">
                <a:solidFill>
                  <a:srgbClr val="BE9000"/>
                </a:solidFill>
                <a:latin typeface="Times New Roman"/>
                <a:cs typeface="Times New Roman"/>
              </a:rPr>
              <a:t>3</a:t>
            </a:r>
            <a:endParaRPr baseline="-17094" sz="1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07434" y="4328579"/>
            <a:ext cx="291465" cy="62484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080" indent="13970">
              <a:lnSpc>
                <a:spcPts val="2310"/>
              </a:lnSpc>
              <a:spcBef>
                <a:spcPts val="254"/>
              </a:spcBef>
            </a:pPr>
            <a:r>
              <a:rPr dirty="0" sz="2000" spc="-5" b="1" i="1">
                <a:solidFill>
                  <a:srgbClr val="1684AC"/>
                </a:solidFill>
                <a:latin typeface="Times New Roman"/>
                <a:cs typeface="Times New Roman"/>
              </a:rPr>
              <a:t>F</a:t>
            </a:r>
            <a:r>
              <a:rPr dirty="0" baseline="-17094" sz="1950" spc="-7" b="1">
                <a:solidFill>
                  <a:srgbClr val="1684AC"/>
                </a:solidFill>
                <a:latin typeface="Times New Roman"/>
                <a:cs typeface="Times New Roman"/>
              </a:rPr>
              <a:t>2  </a:t>
            </a:r>
            <a:r>
              <a:rPr dirty="0" sz="2000" spc="-5" b="1" i="1">
                <a:solidFill>
                  <a:srgbClr val="BE9000"/>
                </a:solidFill>
                <a:latin typeface="Times New Roman"/>
                <a:cs typeface="Times New Roman"/>
              </a:rPr>
              <a:t>F</a:t>
            </a:r>
            <a:r>
              <a:rPr dirty="0" baseline="-17094" sz="1950" spc="-7" b="1">
                <a:solidFill>
                  <a:srgbClr val="BE9000"/>
                </a:solidFill>
                <a:latin typeface="Times New Roman"/>
                <a:cs typeface="Times New Roman"/>
              </a:rPr>
              <a:t>3</a:t>
            </a:r>
            <a:endParaRPr baseline="-17094" sz="1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119797" y="3402520"/>
            <a:ext cx="347345" cy="0"/>
          </a:xfrm>
          <a:custGeom>
            <a:avLst/>
            <a:gdLst/>
            <a:ahLst/>
            <a:cxnLst/>
            <a:rect l="l" t="t" r="r" b="b"/>
            <a:pathLst>
              <a:path w="347345" h="0">
                <a:moveTo>
                  <a:pt x="0" y="0"/>
                </a:moveTo>
                <a:lnTo>
                  <a:pt x="346989" y="0"/>
                </a:lnTo>
              </a:path>
            </a:pathLst>
          </a:custGeom>
          <a:ln w="134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406700" y="2039162"/>
            <a:ext cx="6630034" cy="132842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51435">
              <a:lnSpc>
                <a:spcPct val="99400"/>
              </a:lnSpc>
              <a:spcBef>
                <a:spcPts val="120"/>
              </a:spcBef>
            </a:pPr>
            <a:r>
              <a:rPr dirty="0" sz="2000" spc="-5" i="1">
                <a:latin typeface="华文楷体"/>
                <a:cs typeface="华文楷体"/>
              </a:rPr>
              <a:t>（1）</a:t>
            </a:r>
            <a:r>
              <a:rPr dirty="0" sz="2000" i="1">
                <a:latin typeface="华文楷体"/>
                <a:cs typeface="华文楷体"/>
              </a:rPr>
              <a:t>若电子以不同的速率</a:t>
            </a:r>
            <a:r>
              <a:rPr dirty="0" sz="2000" spc="-5" i="1">
                <a:latin typeface="Times New Roman"/>
                <a:cs typeface="Times New Roman"/>
              </a:rPr>
              <a:t>v</a:t>
            </a:r>
            <a:r>
              <a:rPr dirty="0" baseline="-17094" sz="1950" spc="-7">
                <a:latin typeface="Times New Roman"/>
                <a:cs typeface="Times New Roman"/>
              </a:rPr>
              <a:t>1</a:t>
            </a:r>
            <a:r>
              <a:rPr dirty="0" sz="2000" spc="-5">
                <a:latin typeface="Times New Roman"/>
                <a:cs typeface="Times New Roman"/>
              </a:rPr>
              <a:t>&lt;</a:t>
            </a:r>
            <a:r>
              <a:rPr dirty="0" sz="2000" spc="-5" i="1">
                <a:latin typeface="Times New Roman"/>
                <a:cs typeface="Times New Roman"/>
              </a:rPr>
              <a:t>v</a:t>
            </a:r>
            <a:r>
              <a:rPr dirty="0" baseline="-17094" sz="1950" spc="-7">
                <a:latin typeface="Times New Roman"/>
                <a:cs typeface="Times New Roman"/>
              </a:rPr>
              <a:t>2</a:t>
            </a:r>
            <a:r>
              <a:rPr dirty="0" sz="2000" spc="-5">
                <a:latin typeface="Times New Roman"/>
                <a:cs typeface="Times New Roman"/>
              </a:rPr>
              <a:t>&lt;</a:t>
            </a:r>
            <a:r>
              <a:rPr dirty="0" sz="2000" spc="-5" i="1">
                <a:latin typeface="Times New Roman"/>
                <a:cs typeface="Times New Roman"/>
              </a:rPr>
              <a:t>v</a:t>
            </a:r>
            <a:r>
              <a:rPr dirty="0" baseline="-17094" sz="1950" spc="-7">
                <a:latin typeface="Times New Roman"/>
                <a:cs typeface="Times New Roman"/>
              </a:rPr>
              <a:t>3</a:t>
            </a:r>
            <a:r>
              <a:rPr dirty="0" sz="2000" i="1">
                <a:latin typeface="华文楷体"/>
                <a:cs typeface="华文楷体"/>
              </a:rPr>
              <a:t>沿</a:t>
            </a:r>
            <a:r>
              <a:rPr dirty="0" sz="2000" i="1">
                <a:latin typeface="Times New Roman"/>
                <a:cs typeface="Times New Roman"/>
              </a:rPr>
              <a:t>x</a:t>
            </a:r>
            <a:r>
              <a:rPr dirty="0" sz="2000" i="1">
                <a:latin typeface="华文楷体"/>
                <a:cs typeface="华文楷体"/>
              </a:rPr>
              <a:t>轴正方向从坐标原</a:t>
            </a:r>
            <a:r>
              <a:rPr dirty="0" sz="2000" spc="5" i="1">
                <a:latin typeface="华文楷体"/>
                <a:cs typeface="华文楷体"/>
              </a:rPr>
              <a:t>点 </a:t>
            </a:r>
            <a:r>
              <a:rPr dirty="0" sz="2000" i="1">
                <a:latin typeface="华文楷体"/>
                <a:cs typeface="华文楷体"/>
              </a:rPr>
              <a:t>出发，垂直进入磁场，请画出电子的轨迹图；试分析电子</a:t>
            </a:r>
            <a:r>
              <a:rPr dirty="0" sz="2000" i="1">
                <a:latin typeface="华文楷体"/>
                <a:cs typeface="华文楷体"/>
              </a:rPr>
              <a:t>的 </a:t>
            </a:r>
            <a:r>
              <a:rPr dirty="0" sz="2000" i="1">
                <a:latin typeface="华文楷体"/>
                <a:cs typeface="华文楷体"/>
              </a:rPr>
              <a:t>半径之比和周期之比</a:t>
            </a:r>
            <a:r>
              <a:rPr dirty="0" sz="2000" spc="5" i="1">
                <a:latin typeface="华文楷体"/>
                <a:cs typeface="华文楷体"/>
              </a:rPr>
              <a:t>。</a:t>
            </a:r>
            <a:endParaRPr sz="2000">
              <a:latin typeface="华文楷体"/>
              <a:cs typeface="华文楷体"/>
            </a:endParaRPr>
          </a:p>
          <a:p>
            <a:pPr marL="4314825">
              <a:lnSpc>
                <a:spcPct val="100000"/>
              </a:lnSpc>
              <a:spcBef>
                <a:spcPts val="500"/>
              </a:spcBef>
            </a:pPr>
            <a:r>
              <a:rPr dirty="0" baseline="-34883" sz="3225" i="1">
                <a:latin typeface="Times New Roman"/>
                <a:cs typeface="Times New Roman"/>
              </a:rPr>
              <a:t>r </a:t>
            </a:r>
            <a:r>
              <a:rPr dirty="0" baseline="-34883" sz="3225">
                <a:latin typeface="Symbol"/>
                <a:cs typeface="Symbol"/>
              </a:rPr>
              <a:t></a:t>
            </a:r>
            <a:r>
              <a:rPr dirty="0" baseline="-34883" sz="3225" spc="232">
                <a:latin typeface="Times New Roman"/>
                <a:cs typeface="Times New Roman"/>
              </a:rPr>
              <a:t> </a:t>
            </a:r>
            <a:r>
              <a:rPr dirty="0" sz="2150" spc="-5" i="1">
                <a:latin typeface="Times New Roman"/>
                <a:cs typeface="Times New Roman"/>
              </a:rPr>
              <a:t>mv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22617" y="4759172"/>
            <a:ext cx="518795" cy="0"/>
          </a:xfrm>
          <a:custGeom>
            <a:avLst/>
            <a:gdLst/>
            <a:ahLst/>
            <a:cxnLst/>
            <a:rect l="l" t="t" r="r" b="b"/>
            <a:pathLst>
              <a:path w="518795" h="0">
                <a:moveTo>
                  <a:pt x="0" y="0"/>
                </a:moveTo>
                <a:lnTo>
                  <a:pt x="518185" y="0"/>
                </a:lnTo>
              </a:path>
            </a:pathLst>
          </a:custGeom>
          <a:ln w="130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709384" y="3287125"/>
            <a:ext cx="2068195" cy="144081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algn="ctr" marR="893444">
              <a:lnSpc>
                <a:spcPct val="100000"/>
              </a:lnSpc>
              <a:spcBef>
                <a:spcPts val="965"/>
              </a:spcBef>
            </a:pPr>
            <a:r>
              <a:rPr dirty="0" sz="2150" spc="-10" i="1">
                <a:latin typeface="Times New Roman"/>
                <a:cs typeface="Times New Roman"/>
              </a:rPr>
              <a:t>eB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2150" spc="-175" i="1">
                <a:latin typeface="Times New Roman"/>
                <a:cs typeface="Times New Roman"/>
              </a:rPr>
              <a:t>r</a:t>
            </a:r>
            <a:r>
              <a:rPr dirty="0" baseline="-24444" sz="1875" spc="-262">
                <a:latin typeface="Times New Roman"/>
                <a:cs typeface="Times New Roman"/>
              </a:rPr>
              <a:t>1 </a:t>
            </a:r>
            <a:r>
              <a:rPr dirty="0" sz="2150">
                <a:latin typeface="Times New Roman"/>
                <a:cs typeface="Times New Roman"/>
              </a:rPr>
              <a:t>: </a:t>
            </a:r>
            <a:r>
              <a:rPr dirty="0" sz="2150" spc="-110" i="1">
                <a:latin typeface="Times New Roman"/>
                <a:cs typeface="Times New Roman"/>
              </a:rPr>
              <a:t>r</a:t>
            </a:r>
            <a:r>
              <a:rPr dirty="0" baseline="-24444" sz="1875" spc="-165">
                <a:latin typeface="Times New Roman"/>
                <a:cs typeface="Times New Roman"/>
              </a:rPr>
              <a:t>2 </a:t>
            </a:r>
            <a:r>
              <a:rPr dirty="0" sz="2150">
                <a:latin typeface="Times New Roman"/>
                <a:cs typeface="Times New Roman"/>
              </a:rPr>
              <a:t>: </a:t>
            </a:r>
            <a:r>
              <a:rPr dirty="0" sz="2150" spc="-130" i="1">
                <a:latin typeface="Times New Roman"/>
                <a:cs typeface="Times New Roman"/>
              </a:rPr>
              <a:t>r</a:t>
            </a:r>
            <a:r>
              <a:rPr dirty="0" baseline="-24444" sz="1875" spc="-195">
                <a:latin typeface="Times New Roman"/>
                <a:cs typeface="Times New Roman"/>
              </a:rPr>
              <a:t>3 </a:t>
            </a:r>
            <a:r>
              <a:rPr dirty="0" sz="2150">
                <a:latin typeface="Symbol"/>
                <a:cs typeface="Symbol"/>
              </a:rPr>
              <a:t></a:t>
            </a:r>
            <a:r>
              <a:rPr dirty="0" sz="2150">
                <a:latin typeface="Times New Roman"/>
                <a:cs typeface="Times New Roman"/>
              </a:rPr>
              <a:t> </a:t>
            </a:r>
            <a:r>
              <a:rPr dirty="0" sz="2150" spc="-85" i="1">
                <a:latin typeface="Times New Roman"/>
                <a:cs typeface="Times New Roman"/>
              </a:rPr>
              <a:t>v</a:t>
            </a:r>
            <a:r>
              <a:rPr dirty="0" baseline="-24444" sz="1875" spc="-127">
                <a:latin typeface="Times New Roman"/>
                <a:cs typeface="Times New Roman"/>
              </a:rPr>
              <a:t>1 </a:t>
            </a:r>
            <a:r>
              <a:rPr dirty="0" sz="2150">
                <a:latin typeface="Times New Roman"/>
                <a:cs typeface="Times New Roman"/>
              </a:rPr>
              <a:t>: </a:t>
            </a:r>
            <a:r>
              <a:rPr dirty="0" sz="2150" spc="-15" i="1">
                <a:latin typeface="Times New Roman"/>
                <a:cs typeface="Times New Roman"/>
              </a:rPr>
              <a:t>v</a:t>
            </a:r>
            <a:r>
              <a:rPr dirty="0" baseline="-24444" sz="1875" spc="-22">
                <a:latin typeface="Times New Roman"/>
                <a:cs typeface="Times New Roman"/>
              </a:rPr>
              <a:t>2 </a:t>
            </a:r>
            <a:r>
              <a:rPr dirty="0" sz="2150">
                <a:latin typeface="Times New Roman"/>
                <a:cs typeface="Times New Roman"/>
              </a:rPr>
              <a:t>:</a:t>
            </a:r>
            <a:r>
              <a:rPr dirty="0" sz="2150" spc="-235">
                <a:latin typeface="Times New Roman"/>
                <a:cs typeface="Times New Roman"/>
              </a:rPr>
              <a:t> </a:t>
            </a:r>
            <a:r>
              <a:rPr dirty="0" sz="2150" spc="-35" i="1">
                <a:latin typeface="Times New Roman"/>
                <a:cs typeface="Times New Roman"/>
              </a:rPr>
              <a:t>v</a:t>
            </a:r>
            <a:r>
              <a:rPr dirty="0" baseline="-24444" sz="1875" spc="-52">
                <a:latin typeface="Times New Roman"/>
                <a:cs typeface="Times New Roman"/>
              </a:rPr>
              <a:t>3</a:t>
            </a:r>
            <a:endParaRPr baseline="-24444" sz="1875">
              <a:latin typeface="Times New Roman"/>
              <a:cs typeface="Times New Roman"/>
            </a:endParaRPr>
          </a:p>
          <a:p>
            <a:pPr marL="64769">
              <a:lnSpc>
                <a:spcPct val="100000"/>
              </a:lnSpc>
              <a:spcBef>
                <a:spcPts val="1660"/>
              </a:spcBef>
            </a:pPr>
            <a:r>
              <a:rPr dirty="0" baseline="-35230" sz="3075" spc="15" i="1">
                <a:latin typeface="Times New Roman"/>
                <a:cs typeface="Times New Roman"/>
              </a:rPr>
              <a:t>T </a:t>
            </a:r>
            <a:r>
              <a:rPr dirty="0" baseline="-35230" sz="3075" spc="15">
                <a:latin typeface="Symbol"/>
                <a:cs typeface="Symbol"/>
              </a:rPr>
              <a:t></a:t>
            </a:r>
            <a:r>
              <a:rPr dirty="0" baseline="-35230" sz="3075" spc="-307">
                <a:latin typeface="Times New Roman"/>
                <a:cs typeface="Times New Roman"/>
              </a:rPr>
              <a:t> </a:t>
            </a:r>
            <a:r>
              <a:rPr dirty="0" sz="2050" spc="-225">
                <a:latin typeface="Times New Roman"/>
                <a:cs typeface="Times New Roman"/>
              </a:rPr>
              <a:t>2</a:t>
            </a:r>
            <a:r>
              <a:rPr dirty="0" sz="2150" spc="-225" i="1">
                <a:latin typeface="Symbol"/>
                <a:cs typeface="Symbol"/>
              </a:rPr>
              <a:t></a:t>
            </a:r>
            <a:r>
              <a:rPr dirty="0" sz="2050" spc="-225" i="1">
                <a:latin typeface="Times New Roman"/>
                <a:cs typeface="Times New Roman"/>
              </a:rPr>
              <a:t>m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762356" y="4755794"/>
            <a:ext cx="1870710" cy="87756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579120">
              <a:lnSpc>
                <a:spcPct val="100000"/>
              </a:lnSpc>
              <a:spcBef>
                <a:spcPts val="120"/>
              </a:spcBef>
            </a:pPr>
            <a:r>
              <a:rPr dirty="0" sz="2050" i="1">
                <a:latin typeface="Times New Roman"/>
                <a:cs typeface="Times New Roman"/>
              </a:rPr>
              <a:t>eB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dirty="0" sz="2150" spc="-135" i="1">
                <a:latin typeface="Times New Roman"/>
                <a:cs typeface="Times New Roman"/>
              </a:rPr>
              <a:t>T</a:t>
            </a:r>
            <a:r>
              <a:rPr dirty="0" baseline="-24444" sz="1875" spc="-202">
                <a:latin typeface="Times New Roman"/>
                <a:cs typeface="Times New Roman"/>
              </a:rPr>
              <a:t>1</a:t>
            </a:r>
            <a:r>
              <a:rPr dirty="0" baseline="-24444" sz="1875" spc="-97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:</a:t>
            </a:r>
            <a:r>
              <a:rPr dirty="0" sz="2150" spc="-320">
                <a:latin typeface="Times New Roman"/>
                <a:cs typeface="Times New Roman"/>
              </a:rPr>
              <a:t> </a:t>
            </a:r>
            <a:r>
              <a:rPr dirty="0" sz="2150" spc="-70" i="1">
                <a:latin typeface="Times New Roman"/>
                <a:cs typeface="Times New Roman"/>
              </a:rPr>
              <a:t>T</a:t>
            </a:r>
            <a:r>
              <a:rPr dirty="0" baseline="-24444" sz="1875" spc="-104">
                <a:latin typeface="Times New Roman"/>
                <a:cs typeface="Times New Roman"/>
              </a:rPr>
              <a:t>2</a:t>
            </a:r>
            <a:r>
              <a:rPr dirty="0" baseline="-24444" sz="1875" spc="-52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:</a:t>
            </a:r>
            <a:r>
              <a:rPr dirty="0" sz="2150" spc="-320">
                <a:latin typeface="Times New Roman"/>
                <a:cs typeface="Times New Roman"/>
              </a:rPr>
              <a:t> </a:t>
            </a:r>
            <a:r>
              <a:rPr dirty="0" sz="2150" spc="-90" i="1">
                <a:latin typeface="Times New Roman"/>
                <a:cs typeface="Times New Roman"/>
              </a:rPr>
              <a:t>T</a:t>
            </a:r>
            <a:r>
              <a:rPr dirty="0" baseline="-24444" sz="1875" spc="-135">
                <a:latin typeface="Times New Roman"/>
                <a:cs typeface="Times New Roman"/>
              </a:rPr>
              <a:t>3</a:t>
            </a:r>
            <a:r>
              <a:rPr dirty="0" baseline="-24444" sz="1875" spc="97">
                <a:latin typeface="Times New Roman"/>
                <a:cs typeface="Times New Roman"/>
              </a:rPr>
              <a:t> </a:t>
            </a:r>
            <a:r>
              <a:rPr dirty="0" sz="2150">
                <a:latin typeface="Symbol"/>
                <a:cs typeface="Symbol"/>
              </a:rPr>
              <a:t></a:t>
            </a:r>
            <a:r>
              <a:rPr dirty="0" sz="2150" spc="-235">
                <a:latin typeface="Times New Roman"/>
                <a:cs typeface="Times New Roman"/>
              </a:rPr>
              <a:t> </a:t>
            </a:r>
            <a:r>
              <a:rPr dirty="0" sz="2150" spc="90">
                <a:latin typeface="Times New Roman"/>
                <a:cs typeface="Times New Roman"/>
              </a:rPr>
              <a:t>1:1:1</a:t>
            </a:r>
            <a:endParaRPr sz="2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31364" y="2822448"/>
            <a:ext cx="3459479" cy="30038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01741" y="1457896"/>
            <a:ext cx="977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黑体"/>
                <a:cs typeface="黑体"/>
              </a:rPr>
              <a:t>例题2</a:t>
            </a:r>
          </a:p>
        </p:txBody>
      </p:sp>
      <p:sp>
        <p:nvSpPr>
          <p:cNvPr id="4" name="object 4"/>
          <p:cNvSpPr/>
          <p:nvPr/>
        </p:nvSpPr>
        <p:spPr>
          <a:xfrm>
            <a:off x="2452116" y="1414272"/>
            <a:ext cx="1053083" cy="6416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51503" y="165201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49623" y="1874520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123969" y="2019935"/>
            <a:ext cx="4732655" cy="0"/>
          </a:xfrm>
          <a:custGeom>
            <a:avLst/>
            <a:gdLst/>
            <a:ahLst/>
            <a:cxnLst/>
            <a:rect l="l" t="t" r="r" b="b"/>
            <a:pathLst>
              <a:path w="4732655" h="0">
                <a:moveTo>
                  <a:pt x="0" y="0"/>
                </a:moveTo>
                <a:lnTo>
                  <a:pt x="4732426" y="0"/>
                </a:lnTo>
              </a:path>
            </a:pathLst>
          </a:custGeom>
          <a:ln w="12700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31197" y="2933077"/>
            <a:ext cx="2081199" cy="27546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261561" y="3955160"/>
            <a:ext cx="13843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21658" y="4457356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08334" y="4257294"/>
            <a:ext cx="195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solidFill>
                  <a:srgbClr val="1684AC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32822" y="4218444"/>
            <a:ext cx="13843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solidFill>
                  <a:srgbClr val="BE9000"/>
                </a:solidFill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51173" y="3602710"/>
            <a:ext cx="195580" cy="575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165"/>
              </a:lnSpc>
              <a:spcBef>
                <a:spcPts val="105"/>
              </a:spcBef>
            </a:pPr>
            <a:r>
              <a:rPr dirty="0" sz="2000" b="1" i="1">
                <a:solidFill>
                  <a:srgbClr val="BE9000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  <a:p>
            <a:pPr marL="66040">
              <a:lnSpc>
                <a:spcPts val="2165"/>
              </a:lnSpc>
            </a:pPr>
            <a:r>
              <a:rPr dirty="0" sz="2000" b="1" i="1">
                <a:solidFill>
                  <a:srgbClr val="1684AC"/>
                </a:solidFill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180833" y="3184347"/>
            <a:ext cx="347345" cy="0"/>
          </a:xfrm>
          <a:custGeom>
            <a:avLst/>
            <a:gdLst/>
            <a:ahLst/>
            <a:cxnLst/>
            <a:rect l="l" t="t" r="r" b="b"/>
            <a:pathLst>
              <a:path w="347345" h="0">
                <a:moveTo>
                  <a:pt x="0" y="0"/>
                </a:moveTo>
                <a:lnTo>
                  <a:pt x="346989" y="0"/>
                </a:lnTo>
              </a:path>
            </a:pathLst>
          </a:custGeom>
          <a:ln w="134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567482" y="2123567"/>
            <a:ext cx="6630034" cy="10261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51435">
              <a:lnSpc>
                <a:spcPct val="100000"/>
              </a:lnSpc>
              <a:spcBef>
                <a:spcPts val="105"/>
              </a:spcBef>
            </a:pPr>
            <a:r>
              <a:rPr dirty="0" sz="2000" spc="-5" i="1">
                <a:latin typeface="华文楷体"/>
                <a:cs typeface="华文楷体"/>
              </a:rPr>
              <a:t>（2）</a:t>
            </a:r>
            <a:r>
              <a:rPr dirty="0" sz="2000" i="1">
                <a:latin typeface="华文楷体"/>
                <a:cs typeface="华文楷体"/>
              </a:rPr>
              <a:t>电子以大小相等的速率沿不同的方向从坐标原点垂</a:t>
            </a:r>
            <a:r>
              <a:rPr dirty="0" sz="2000" spc="5" i="1">
                <a:latin typeface="华文楷体"/>
                <a:cs typeface="华文楷体"/>
              </a:rPr>
              <a:t>直 </a:t>
            </a:r>
            <a:r>
              <a:rPr dirty="0" sz="2000" i="1">
                <a:latin typeface="华文楷体"/>
                <a:cs typeface="华文楷体"/>
              </a:rPr>
              <a:t>进入磁场，请画出轨迹图；试分析电子的半径和周期之比</a:t>
            </a:r>
            <a:r>
              <a:rPr dirty="0" sz="2000" spc="5" i="1">
                <a:latin typeface="华文楷体"/>
                <a:cs typeface="华文楷体"/>
              </a:rPr>
              <a:t>。</a:t>
            </a:r>
            <a:endParaRPr sz="2000">
              <a:latin typeface="华文楷体"/>
              <a:cs typeface="华文楷体"/>
            </a:endParaRPr>
          </a:p>
          <a:p>
            <a:pPr marL="4215130">
              <a:lnSpc>
                <a:spcPct val="100000"/>
              </a:lnSpc>
              <a:spcBef>
                <a:spcPts val="490"/>
              </a:spcBef>
            </a:pPr>
            <a:r>
              <a:rPr dirty="0" baseline="-34883" sz="3225" i="1">
                <a:latin typeface="Times New Roman"/>
                <a:cs typeface="Times New Roman"/>
              </a:rPr>
              <a:t>r </a:t>
            </a:r>
            <a:r>
              <a:rPr dirty="0" baseline="-34883" sz="3225">
                <a:latin typeface="Symbol"/>
                <a:cs typeface="Symbol"/>
              </a:rPr>
              <a:t></a:t>
            </a:r>
            <a:r>
              <a:rPr dirty="0" baseline="-34883" sz="3225" spc="232">
                <a:latin typeface="Times New Roman"/>
                <a:cs typeface="Times New Roman"/>
              </a:rPr>
              <a:t> </a:t>
            </a:r>
            <a:r>
              <a:rPr dirty="0" sz="2150" spc="-5" i="1">
                <a:latin typeface="Times New Roman"/>
                <a:cs typeface="Times New Roman"/>
              </a:rPr>
              <a:t>mv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736613" y="3179102"/>
            <a:ext cx="1736725" cy="686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3709">
              <a:lnSpc>
                <a:spcPct val="100000"/>
              </a:lnSpc>
              <a:spcBef>
                <a:spcPts val="100"/>
              </a:spcBef>
            </a:pPr>
            <a:r>
              <a:rPr dirty="0" sz="2150" spc="-10" i="1">
                <a:latin typeface="Times New Roman"/>
                <a:cs typeface="Times New Roman"/>
              </a:rPr>
              <a:t>eB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2150" spc="-175" i="1">
                <a:latin typeface="Times New Roman"/>
                <a:cs typeface="Times New Roman"/>
              </a:rPr>
              <a:t>r</a:t>
            </a:r>
            <a:r>
              <a:rPr dirty="0" baseline="-24444" sz="1875" spc="-262">
                <a:latin typeface="Times New Roman"/>
                <a:cs typeface="Times New Roman"/>
              </a:rPr>
              <a:t>1 </a:t>
            </a:r>
            <a:r>
              <a:rPr dirty="0" sz="2150">
                <a:latin typeface="Times New Roman"/>
                <a:cs typeface="Times New Roman"/>
              </a:rPr>
              <a:t>: </a:t>
            </a:r>
            <a:r>
              <a:rPr dirty="0" sz="2150" spc="-110" i="1">
                <a:latin typeface="Times New Roman"/>
                <a:cs typeface="Times New Roman"/>
              </a:rPr>
              <a:t>r</a:t>
            </a:r>
            <a:r>
              <a:rPr dirty="0" baseline="-24444" sz="1875" spc="-165">
                <a:latin typeface="Times New Roman"/>
                <a:cs typeface="Times New Roman"/>
              </a:rPr>
              <a:t>2 </a:t>
            </a:r>
            <a:r>
              <a:rPr dirty="0" sz="2150">
                <a:latin typeface="Times New Roman"/>
                <a:cs typeface="Times New Roman"/>
              </a:rPr>
              <a:t>: </a:t>
            </a:r>
            <a:r>
              <a:rPr dirty="0" sz="2150" spc="-130" i="1">
                <a:latin typeface="Times New Roman"/>
                <a:cs typeface="Times New Roman"/>
              </a:rPr>
              <a:t>r</a:t>
            </a:r>
            <a:r>
              <a:rPr dirty="0" baseline="-24444" sz="1875" spc="-195">
                <a:latin typeface="Times New Roman"/>
                <a:cs typeface="Times New Roman"/>
              </a:rPr>
              <a:t>3 </a:t>
            </a:r>
            <a:r>
              <a:rPr dirty="0" sz="2150">
                <a:latin typeface="Symbol"/>
                <a:cs typeface="Symbol"/>
              </a:rPr>
              <a:t></a:t>
            </a:r>
            <a:r>
              <a:rPr dirty="0" sz="2150" spc="-440">
                <a:latin typeface="Times New Roman"/>
                <a:cs typeface="Times New Roman"/>
              </a:rPr>
              <a:t> </a:t>
            </a:r>
            <a:r>
              <a:rPr dirty="0" sz="2150" spc="90">
                <a:latin typeface="Times New Roman"/>
                <a:cs typeface="Times New Roman"/>
              </a:rPr>
              <a:t>1:1:1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90397" y="3867739"/>
            <a:ext cx="1871345" cy="115951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baseline="-35230" sz="3075" spc="15" i="1">
                <a:latin typeface="Times New Roman"/>
                <a:cs typeface="Times New Roman"/>
              </a:rPr>
              <a:t>T </a:t>
            </a:r>
            <a:r>
              <a:rPr dirty="0" baseline="-35230" sz="3075" spc="15">
                <a:latin typeface="Symbol"/>
                <a:cs typeface="Symbol"/>
              </a:rPr>
              <a:t></a:t>
            </a:r>
            <a:r>
              <a:rPr dirty="0" baseline="-35230" sz="3075" spc="352">
                <a:latin typeface="Times New Roman"/>
                <a:cs typeface="Times New Roman"/>
              </a:rPr>
              <a:t> </a:t>
            </a:r>
            <a:r>
              <a:rPr dirty="0" u="heavy" sz="2050" spc="-2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heavy" sz="2150" spc="-225" i="1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</a:t>
            </a:r>
            <a:r>
              <a:rPr dirty="0" u="heavy" sz="2050" spc="-22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endParaRPr sz="2050">
              <a:latin typeface="Times New Roman"/>
              <a:cs typeface="Times New Roman"/>
            </a:endParaRPr>
          </a:p>
          <a:p>
            <a:pPr marL="579755">
              <a:lnSpc>
                <a:spcPct val="100000"/>
              </a:lnSpc>
              <a:spcBef>
                <a:spcPts val="450"/>
              </a:spcBef>
            </a:pPr>
            <a:r>
              <a:rPr dirty="0" sz="2050" i="1">
                <a:latin typeface="Times New Roman"/>
                <a:cs typeface="Times New Roman"/>
              </a:rPr>
              <a:t>eB</a:t>
            </a:r>
            <a:endParaRPr sz="20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375"/>
              </a:spcBef>
            </a:pPr>
            <a:r>
              <a:rPr dirty="0" sz="2150" spc="-135" i="1">
                <a:latin typeface="Times New Roman"/>
                <a:cs typeface="Times New Roman"/>
              </a:rPr>
              <a:t>T</a:t>
            </a:r>
            <a:r>
              <a:rPr dirty="0" baseline="-24444" sz="1875" spc="-202">
                <a:latin typeface="Times New Roman"/>
                <a:cs typeface="Times New Roman"/>
              </a:rPr>
              <a:t>1</a:t>
            </a:r>
            <a:r>
              <a:rPr dirty="0" baseline="-24444" sz="1875" spc="-97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:</a:t>
            </a:r>
            <a:r>
              <a:rPr dirty="0" sz="2150" spc="-320">
                <a:latin typeface="Times New Roman"/>
                <a:cs typeface="Times New Roman"/>
              </a:rPr>
              <a:t> </a:t>
            </a:r>
            <a:r>
              <a:rPr dirty="0" sz="2150" spc="-70" i="1">
                <a:latin typeface="Times New Roman"/>
                <a:cs typeface="Times New Roman"/>
              </a:rPr>
              <a:t>T</a:t>
            </a:r>
            <a:r>
              <a:rPr dirty="0" baseline="-24444" sz="1875" spc="-104">
                <a:latin typeface="Times New Roman"/>
                <a:cs typeface="Times New Roman"/>
              </a:rPr>
              <a:t>2</a:t>
            </a:r>
            <a:r>
              <a:rPr dirty="0" baseline="-24444" sz="1875" spc="-52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:</a:t>
            </a:r>
            <a:r>
              <a:rPr dirty="0" sz="2150" spc="-320">
                <a:latin typeface="Times New Roman"/>
                <a:cs typeface="Times New Roman"/>
              </a:rPr>
              <a:t> </a:t>
            </a:r>
            <a:r>
              <a:rPr dirty="0" sz="2150" spc="-90" i="1">
                <a:latin typeface="Times New Roman"/>
                <a:cs typeface="Times New Roman"/>
              </a:rPr>
              <a:t>T</a:t>
            </a:r>
            <a:r>
              <a:rPr dirty="0" baseline="-24444" sz="1875" spc="-135">
                <a:latin typeface="Times New Roman"/>
                <a:cs typeface="Times New Roman"/>
              </a:rPr>
              <a:t>3</a:t>
            </a:r>
            <a:r>
              <a:rPr dirty="0" baseline="-24444" sz="1875" spc="97">
                <a:latin typeface="Times New Roman"/>
                <a:cs typeface="Times New Roman"/>
              </a:rPr>
              <a:t> </a:t>
            </a:r>
            <a:r>
              <a:rPr dirty="0" sz="2150">
                <a:latin typeface="Symbol"/>
                <a:cs typeface="Symbol"/>
              </a:rPr>
              <a:t></a:t>
            </a:r>
            <a:r>
              <a:rPr dirty="0" sz="2150" spc="-235">
                <a:latin typeface="Times New Roman"/>
                <a:cs typeface="Times New Roman"/>
              </a:rPr>
              <a:t> </a:t>
            </a:r>
            <a:r>
              <a:rPr dirty="0" sz="2150" spc="90">
                <a:latin typeface="Times New Roman"/>
                <a:cs typeface="Times New Roman"/>
              </a:rPr>
              <a:t>1:1:1</a:t>
            </a:r>
            <a:endParaRPr sz="2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3689" y="1515109"/>
            <a:ext cx="977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黑体"/>
                <a:cs typeface="黑体"/>
              </a:rPr>
              <a:t>例题3</a:t>
            </a:r>
          </a:p>
        </p:txBody>
      </p:sp>
      <p:sp>
        <p:nvSpPr>
          <p:cNvPr id="3" name="object 3"/>
          <p:cNvSpPr/>
          <p:nvPr/>
        </p:nvSpPr>
        <p:spPr>
          <a:xfrm>
            <a:off x="1949195" y="1421891"/>
            <a:ext cx="1522476" cy="9281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48811" y="1796795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2" y="0"/>
                </a:lnTo>
                <a:lnTo>
                  <a:pt x="362712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46932" y="2020823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68571" y="2124303"/>
            <a:ext cx="4732655" cy="0"/>
          </a:xfrm>
          <a:custGeom>
            <a:avLst/>
            <a:gdLst/>
            <a:ahLst/>
            <a:cxnLst/>
            <a:rect l="l" t="t" r="r" b="b"/>
            <a:pathLst>
              <a:path w="4732655" h="0">
                <a:moveTo>
                  <a:pt x="0" y="0"/>
                </a:moveTo>
                <a:lnTo>
                  <a:pt x="4732426" y="0"/>
                </a:lnTo>
              </a:path>
            </a:pathLst>
          </a:custGeom>
          <a:ln w="12700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506395" y="2605277"/>
            <a:ext cx="6249035" cy="21602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252729">
              <a:lnSpc>
                <a:spcPct val="99700"/>
              </a:lnSpc>
              <a:spcBef>
                <a:spcPts val="110"/>
              </a:spcBef>
            </a:pPr>
            <a:r>
              <a:rPr dirty="0" sz="2000" i="1">
                <a:latin typeface="华文楷体"/>
                <a:cs typeface="华文楷体"/>
              </a:rPr>
              <a:t>已知氚核的质量约为质子质量的</a:t>
            </a:r>
            <a:r>
              <a:rPr dirty="0" sz="2000" spc="-5">
                <a:latin typeface="Times New Roman"/>
                <a:cs typeface="Times New Roman"/>
              </a:rPr>
              <a:t>3</a:t>
            </a:r>
            <a:r>
              <a:rPr dirty="0" sz="2000" i="1">
                <a:latin typeface="华文楷体"/>
                <a:cs typeface="华文楷体"/>
              </a:rPr>
              <a:t>倍，带正电荷，电</a:t>
            </a:r>
            <a:r>
              <a:rPr dirty="0" sz="2000" i="1">
                <a:latin typeface="华文楷体"/>
                <a:cs typeface="华文楷体"/>
              </a:rPr>
              <a:t>荷 </a:t>
            </a:r>
            <a:r>
              <a:rPr dirty="0" sz="2000" i="1">
                <a:latin typeface="华文楷体"/>
                <a:cs typeface="华文楷体"/>
              </a:rPr>
              <a:t>量为一个元电荷；</a:t>
            </a:r>
            <a:r>
              <a:rPr dirty="0" sz="2000" spc="-5">
                <a:latin typeface="Times New Roman"/>
                <a:cs typeface="Times New Roman"/>
              </a:rPr>
              <a:t>α</a:t>
            </a:r>
            <a:r>
              <a:rPr dirty="0" sz="2000" i="1">
                <a:latin typeface="华文楷体"/>
                <a:cs typeface="华文楷体"/>
              </a:rPr>
              <a:t>粒子即氦原子核，质量约为质子</a:t>
            </a:r>
            <a:r>
              <a:rPr dirty="0" sz="2000" i="1">
                <a:latin typeface="华文楷体"/>
                <a:cs typeface="华文楷体"/>
              </a:rPr>
              <a:t>质 </a:t>
            </a:r>
            <a:r>
              <a:rPr dirty="0" sz="2000" i="1">
                <a:latin typeface="华文楷体"/>
                <a:cs typeface="华文楷体"/>
              </a:rPr>
              <a:t>量的</a:t>
            </a:r>
            <a:r>
              <a:rPr dirty="0" sz="2000" spc="-5">
                <a:latin typeface="Times New Roman"/>
                <a:cs typeface="Times New Roman"/>
              </a:rPr>
              <a:t>4</a:t>
            </a:r>
            <a:r>
              <a:rPr dirty="0" sz="2000" i="1">
                <a:latin typeface="华文楷体"/>
                <a:cs typeface="华文楷体"/>
              </a:rPr>
              <a:t>倍，带正电荷，电荷量为</a:t>
            </a:r>
            <a:r>
              <a:rPr dirty="0" sz="2000" i="1">
                <a:latin typeface="Times New Roman"/>
                <a:cs typeface="Times New Roman"/>
              </a:rPr>
              <a:t>e</a:t>
            </a:r>
            <a:r>
              <a:rPr dirty="0" sz="2000" i="1">
                <a:latin typeface="华文楷体"/>
                <a:cs typeface="华文楷体"/>
              </a:rPr>
              <a:t>的</a:t>
            </a:r>
            <a:r>
              <a:rPr dirty="0" sz="2000" spc="-5">
                <a:latin typeface="Times New Roman"/>
                <a:cs typeface="Times New Roman"/>
              </a:rPr>
              <a:t>2</a:t>
            </a:r>
            <a:r>
              <a:rPr dirty="0" sz="2000" i="1">
                <a:latin typeface="华文楷体"/>
                <a:cs typeface="华文楷体"/>
              </a:rPr>
              <a:t>倍。现在质子、</a:t>
            </a:r>
            <a:r>
              <a:rPr dirty="0" sz="2000" spc="5" i="1">
                <a:latin typeface="华文楷体"/>
                <a:cs typeface="华文楷体"/>
              </a:rPr>
              <a:t>氚 </a:t>
            </a:r>
            <a:r>
              <a:rPr dirty="0" sz="2000" i="1">
                <a:latin typeface="华文楷体"/>
                <a:cs typeface="华文楷体"/>
              </a:rPr>
              <a:t>核和</a:t>
            </a:r>
            <a:r>
              <a:rPr dirty="0" sz="2000" spc="-5">
                <a:latin typeface="Times New Roman"/>
                <a:cs typeface="Times New Roman"/>
              </a:rPr>
              <a:t>α</a:t>
            </a:r>
            <a:r>
              <a:rPr dirty="0" sz="2000" i="1">
                <a:latin typeface="华文楷体"/>
                <a:cs typeface="华文楷体"/>
              </a:rPr>
              <a:t>粒子在同一匀强磁场中做匀速圆周运动。求下</a:t>
            </a:r>
            <a:r>
              <a:rPr dirty="0" sz="2000" i="1">
                <a:latin typeface="华文楷体"/>
                <a:cs typeface="华文楷体"/>
              </a:rPr>
              <a:t>列 </a:t>
            </a:r>
            <a:r>
              <a:rPr dirty="0" sz="2000" i="1">
                <a:latin typeface="华文楷体"/>
                <a:cs typeface="华文楷体"/>
              </a:rPr>
              <a:t>情况中它们运动的半径之比和周期之比</a:t>
            </a:r>
            <a:r>
              <a:rPr dirty="0" sz="2000" spc="5" i="1">
                <a:latin typeface="华文楷体"/>
                <a:cs typeface="华文楷体"/>
              </a:rPr>
              <a:t>：</a:t>
            </a:r>
            <a:endParaRPr sz="2000">
              <a:latin typeface="华文楷体"/>
              <a:cs typeface="华文楷体"/>
            </a:endParaRPr>
          </a:p>
          <a:p>
            <a:pPr algn="just" marL="648970" indent="-636270">
              <a:lnSpc>
                <a:spcPct val="100000"/>
              </a:lnSpc>
              <a:spcBef>
                <a:spcPts val="30"/>
              </a:spcBef>
              <a:buSzPct val="95000"/>
              <a:buAutoNum type="arabicPlain"/>
              <a:tabLst>
                <a:tab pos="648970" algn="l"/>
              </a:tabLst>
            </a:pPr>
            <a:r>
              <a:rPr dirty="0" sz="2000" i="1">
                <a:latin typeface="华文楷体"/>
                <a:cs typeface="华文楷体"/>
              </a:rPr>
              <a:t>它们的速度大小相等</a:t>
            </a:r>
            <a:r>
              <a:rPr dirty="0" sz="2000" spc="5" i="1">
                <a:latin typeface="华文楷体"/>
                <a:cs typeface="华文楷体"/>
              </a:rPr>
              <a:t>；</a:t>
            </a:r>
            <a:endParaRPr sz="2000">
              <a:latin typeface="华文楷体"/>
              <a:cs typeface="华文楷体"/>
            </a:endParaRPr>
          </a:p>
          <a:p>
            <a:pPr algn="just" marL="648970" indent="-636270">
              <a:lnSpc>
                <a:spcPct val="100000"/>
              </a:lnSpc>
              <a:buSzPct val="95000"/>
              <a:buAutoNum type="arabicPlain"/>
              <a:tabLst>
                <a:tab pos="648970" algn="l"/>
              </a:tabLst>
            </a:pPr>
            <a:r>
              <a:rPr dirty="0" sz="2000" i="1">
                <a:latin typeface="华文楷体"/>
                <a:cs typeface="华文楷体"/>
              </a:rPr>
              <a:t>它们由静止经过相同的加速电场加速后进入磁场</a:t>
            </a:r>
            <a:r>
              <a:rPr dirty="0" sz="2000" spc="5" i="1">
                <a:latin typeface="华文楷体"/>
                <a:cs typeface="华文楷体"/>
              </a:rPr>
              <a:t>。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99582" y="1508671"/>
            <a:ext cx="977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黑体"/>
                <a:cs typeface="黑体"/>
              </a:rPr>
              <a:t>例题3</a:t>
            </a:r>
          </a:p>
        </p:txBody>
      </p:sp>
      <p:sp>
        <p:nvSpPr>
          <p:cNvPr id="3" name="object 3"/>
          <p:cNvSpPr/>
          <p:nvPr/>
        </p:nvSpPr>
        <p:spPr>
          <a:xfrm>
            <a:off x="2590800" y="1527047"/>
            <a:ext cx="1156715" cy="705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46576" y="1871472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46220" y="2095500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222419" y="2106155"/>
            <a:ext cx="4732655" cy="0"/>
          </a:xfrm>
          <a:custGeom>
            <a:avLst/>
            <a:gdLst/>
            <a:ahLst/>
            <a:cxnLst/>
            <a:rect l="l" t="t" r="r" b="b"/>
            <a:pathLst>
              <a:path w="4732655" h="0">
                <a:moveTo>
                  <a:pt x="0" y="0"/>
                </a:moveTo>
                <a:lnTo>
                  <a:pt x="4732426" y="0"/>
                </a:lnTo>
              </a:path>
            </a:pathLst>
          </a:custGeom>
          <a:ln w="12700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332837" y="2501353"/>
            <a:ext cx="688403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解：带电粒子在匀强磁场中做圆周运动，洛伦兹力提供向心</a:t>
            </a:r>
            <a:r>
              <a:rPr dirty="0" sz="2000" spc="5" i="1">
                <a:latin typeface="华文楷体"/>
                <a:cs typeface="华文楷体"/>
              </a:rPr>
              <a:t>力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87939" y="3324885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 h="0">
                <a:moveTo>
                  <a:pt x="0" y="0"/>
                </a:moveTo>
                <a:lnTo>
                  <a:pt x="227761" y="0"/>
                </a:lnTo>
              </a:path>
            </a:pathLst>
          </a:custGeom>
          <a:ln w="115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286224" y="2884614"/>
            <a:ext cx="20891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-25525" sz="2775" spc="127" i="1">
                <a:latin typeface="Times New Roman"/>
                <a:cs typeface="Times New Roman"/>
              </a:rPr>
              <a:t>v</a:t>
            </a:r>
            <a:r>
              <a:rPr dirty="0" sz="1050" spc="5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65538" y="3137293"/>
            <a:ext cx="990600" cy="4895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830"/>
              </a:lnSpc>
              <a:spcBef>
                <a:spcPts val="90"/>
              </a:spcBef>
            </a:pPr>
            <a:r>
              <a:rPr dirty="0" sz="1850" spc="-10" i="1">
                <a:latin typeface="Times New Roman"/>
                <a:cs typeface="Times New Roman"/>
              </a:rPr>
              <a:t>qvB 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-65">
                <a:latin typeface="Times New Roman"/>
                <a:cs typeface="Times New Roman"/>
              </a:rPr>
              <a:t> </a:t>
            </a:r>
            <a:r>
              <a:rPr dirty="0" sz="1850" spc="-5" i="1">
                <a:latin typeface="Times New Roman"/>
                <a:cs typeface="Times New Roman"/>
              </a:rPr>
              <a:t>m</a:t>
            </a:r>
            <a:endParaRPr sz="1850">
              <a:latin typeface="Times New Roman"/>
              <a:cs typeface="Times New Roman"/>
            </a:endParaRPr>
          </a:p>
          <a:p>
            <a:pPr algn="r" marR="5080">
              <a:lnSpc>
                <a:spcPts val="1830"/>
              </a:lnSpc>
            </a:pPr>
            <a:r>
              <a:rPr dirty="0" sz="1850" spc="-5" i="1">
                <a:latin typeface="Times New Roman"/>
                <a:cs typeface="Times New Roman"/>
              </a:rPr>
              <a:t>r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03099" y="3338486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 h="0">
                <a:moveTo>
                  <a:pt x="0" y="0"/>
                </a:moveTo>
                <a:lnTo>
                  <a:pt x="300278" y="0"/>
                </a:lnTo>
              </a:path>
            </a:pathLst>
          </a:custGeom>
          <a:ln w="115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705043" y="3003372"/>
            <a:ext cx="29781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15" i="1">
                <a:latin typeface="Times New Roman"/>
                <a:cs typeface="Times New Roman"/>
              </a:rPr>
              <a:t>m</a:t>
            </a:r>
            <a:r>
              <a:rPr dirty="0" sz="1850" spc="-5" i="1">
                <a:latin typeface="Times New Roman"/>
                <a:cs typeface="Times New Roman"/>
              </a:rPr>
              <a:t>v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46179" y="3150780"/>
            <a:ext cx="650240" cy="4895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830"/>
              </a:lnSpc>
              <a:spcBef>
                <a:spcPts val="90"/>
              </a:spcBef>
            </a:pPr>
            <a:r>
              <a:rPr dirty="0" sz="1850" spc="-5" i="1">
                <a:latin typeface="Times New Roman"/>
                <a:cs typeface="Times New Roman"/>
              </a:rPr>
              <a:t>r</a:t>
            </a:r>
            <a:r>
              <a:rPr dirty="0" sz="1850" spc="40" i="1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</a:t>
            </a:r>
            <a:endParaRPr sz="1850">
              <a:latin typeface="Symbol"/>
              <a:cs typeface="Symbol"/>
            </a:endParaRPr>
          </a:p>
          <a:p>
            <a:pPr marL="376555">
              <a:lnSpc>
                <a:spcPts val="1830"/>
              </a:lnSpc>
            </a:pPr>
            <a:r>
              <a:rPr dirty="0" sz="1850" spc="-5" i="1">
                <a:latin typeface="Times New Roman"/>
                <a:cs typeface="Times New Roman"/>
              </a:rPr>
              <a:t>qB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26142" y="3726954"/>
            <a:ext cx="3201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1</a:t>
            </a:r>
            <a:r>
              <a:rPr dirty="0" sz="2000" i="1">
                <a:latin typeface="华文楷体"/>
                <a:cs typeface="华文楷体"/>
              </a:rPr>
              <a:t>）它们的速度大小相等</a:t>
            </a:r>
            <a:r>
              <a:rPr dirty="0" sz="2000" spc="5" i="1">
                <a:latin typeface="华文楷体"/>
                <a:cs typeface="华文楷体"/>
              </a:rPr>
              <a:t>时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95583" y="4523613"/>
            <a:ext cx="479425" cy="0"/>
          </a:xfrm>
          <a:custGeom>
            <a:avLst/>
            <a:gdLst/>
            <a:ahLst/>
            <a:cxnLst/>
            <a:rect l="l" t="t" r="r" b="b"/>
            <a:pathLst>
              <a:path w="479425" h="0">
                <a:moveTo>
                  <a:pt x="0" y="0"/>
                </a:moveTo>
                <a:lnTo>
                  <a:pt x="478967" y="0"/>
                </a:lnTo>
              </a:path>
            </a:pathLst>
          </a:custGeom>
          <a:ln w="115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524652" y="4523613"/>
            <a:ext cx="585470" cy="0"/>
          </a:xfrm>
          <a:custGeom>
            <a:avLst/>
            <a:gdLst/>
            <a:ahLst/>
            <a:cxnLst/>
            <a:rect l="l" t="t" r="r" b="b"/>
            <a:pathLst>
              <a:path w="585470" h="0">
                <a:moveTo>
                  <a:pt x="0" y="0"/>
                </a:moveTo>
                <a:lnTo>
                  <a:pt x="585139" y="0"/>
                </a:lnTo>
              </a:path>
            </a:pathLst>
          </a:custGeom>
          <a:ln w="115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259880" y="4523613"/>
            <a:ext cx="600075" cy="0"/>
          </a:xfrm>
          <a:custGeom>
            <a:avLst/>
            <a:gdLst/>
            <a:ahLst/>
            <a:cxnLst/>
            <a:rect l="l" t="t" r="r" b="b"/>
            <a:pathLst>
              <a:path w="600075" h="0">
                <a:moveTo>
                  <a:pt x="0" y="0"/>
                </a:moveTo>
                <a:lnTo>
                  <a:pt x="599782" y="0"/>
                </a:lnTo>
              </a:path>
            </a:pathLst>
          </a:custGeom>
          <a:ln w="115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897526" y="4169041"/>
            <a:ext cx="167830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34365" algn="l"/>
                <a:tab pos="1376045" algn="l"/>
              </a:tabLst>
            </a:pPr>
            <a:r>
              <a:rPr dirty="0" sz="1850" spc="-5" i="1">
                <a:latin typeface="Times New Roman"/>
                <a:cs typeface="Times New Roman"/>
              </a:rPr>
              <a:t>m</a:t>
            </a:r>
            <a:r>
              <a:rPr dirty="0" sz="1850" spc="-5" i="1">
                <a:latin typeface="Times New Roman"/>
                <a:cs typeface="Times New Roman"/>
              </a:rPr>
              <a:t>	</a:t>
            </a:r>
            <a:r>
              <a:rPr dirty="0" sz="1850" spc="-40">
                <a:latin typeface="Times New Roman"/>
                <a:cs typeface="Times New Roman"/>
              </a:rPr>
              <a:t>3</a:t>
            </a:r>
            <a:r>
              <a:rPr dirty="0" sz="1850" spc="-5" i="1">
                <a:latin typeface="Times New Roman"/>
                <a:cs typeface="Times New Roman"/>
              </a:rPr>
              <a:t>m</a:t>
            </a:r>
            <a:r>
              <a:rPr dirty="0" sz="1850" i="1">
                <a:latin typeface="Times New Roman"/>
                <a:cs typeface="Times New Roman"/>
              </a:rPr>
              <a:t>	</a:t>
            </a:r>
            <a:r>
              <a:rPr dirty="0" sz="1850" spc="15">
                <a:latin typeface="Times New Roman"/>
                <a:cs typeface="Times New Roman"/>
              </a:rPr>
              <a:t>4</a:t>
            </a:r>
            <a:r>
              <a:rPr dirty="0" sz="1850" spc="-5" i="1">
                <a:latin typeface="Times New Roman"/>
                <a:cs typeface="Times New Roman"/>
              </a:rPr>
              <a:t>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70818" y="4518583"/>
            <a:ext cx="161353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94055" algn="l"/>
                <a:tab pos="1380490" algn="l"/>
              </a:tabLst>
            </a:pPr>
            <a:r>
              <a:rPr dirty="0" sz="1850" spc="-5" i="1">
                <a:latin typeface="Times New Roman"/>
                <a:cs typeface="Times New Roman"/>
              </a:rPr>
              <a:t>e</a:t>
            </a:r>
            <a:r>
              <a:rPr dirty="0" sz="1850" spc="-5" i="1">
                <a:latin typeface="Times New Roman"/>
                <a:cs typeface="Times New Roman"/>
              </a:rPr>
              <a:t>	</a:t>
            </a:r>
            <a:r>
              <a:rPr dirty="0" sz="1850" spc="-5" i="1">
                <a:latin typeface="Times New Roman"/>
                <a:cs typeface="Times New Roman"/>
              </a:rPr>
              <a:t>e</a:t>
            </a:r>
            <a:r>
              <a:rPr dirty="0" sz="1850" spc="-5" i="1">
                <a:latin typeface="Times New Roman"/>
                <a:cs typeface="Times New Roman"/>
              </a:rPr>
              <a:t>	</a:t>
            </a:r>
            <a:r>
              <a:rPr dirty="0" sz="1850" spc="-15">
                <a:latin typeface="Times New Roman"/>
                <a:cs typeface="Times New Roman"/>
              </a:rPr>
              <a:t>2</a:t>
            </a:r>
            <a:r>
              <a:rPr dirty="0" sz="1850" spc="-5" i="1">
                <a:latin typeface="Times New Roman"/>
                <a:cs typeface="Times New Roman"/>
              </a:rPr>
              <a:t>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06881" y="4487616"/>
            <a:ext cx="166370" cy="1968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-25" i="1">
                <a:latin typeface="Symbol"/>
                <a:cs typeface="Symbol"/>
              </a:rPr>
              <a:t></a:t>
            </a:r>
            <a:endParaRPr sz="11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55274" y="4335894"/>
            <a:ext cx="495300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3060" algn="l"/>
              </a:tabLst>
            </a:pPr>
            <a:r>
              <a:rPr dirty="0" sz="1850" spc="-5">
                <a:latin typeface="Times New Roman"/>
                <a:cs typeface="Times New Roman"/>
              </a:rPr>
              <a:t>:</a:t>
            </a:r>
            <a:r>
              <a:rPr dirty="0" sz="1850" spc="-175">
                <a:latin typeface="Times New Roman"/>
                <a:cs typeface="Times New Roman"/>
              </a:rPr>
              <a:t> </a:t>
            </a:r>
            <a:r>
              <a:rPr dirty="0" sz="1850" spc="-5" i="1">
                <a:latin typeface="Times New Roman"/>
                <a:cs typeface="Times New Roman"/>
              </a:rPr>
              <a:t>r</a:t>
            </a:r>
            <a:r>
              <a:rPr dirty="0" sz="1850" i="1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Symbol"/>
                <a:cs typeface="Symbol"/>
              </a:rPr>
              <a:t>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04396" y="4335894"/>
            <a:ext cx="227393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46760" algn="l"/>
                <a:tab pos="1515110" algn="l"/>
              </a:tabLst>
            </a:pPr>
            <a:r>
              <a:rPr dirty="0" sz="1850" spc="-5">
                <a:latin typeface="Times New Roman"/>
                <a:cs typeface="Times New Roman"/>
              </a:rPr>
              <a:t>:	:	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-265">
                <a:latin typeface="Times New Roman"/>
                <a:cs typeface="Times New Roman"/>
              </a:rPr>
              <a:t> </a:t>
            </a:r>
            <a:r>
              <a:rPr dirty="0" sz="1850" spc="50">
                <a:latin typeface="Times New Roman"/>
                <a:cs typeface="Times New Roman"/>
              </a:rPr>
              <a:t>1:</a:t>
            </a:r>
            <a:r>
              <a:rPr dirty="0" sz="1850" spc="-250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Times New Roman"/>
                <a:cs typeface="Times New Roman"/>
              </a:rPr>
              <a:t>3</a:t>
            </a:r>
            <a:r>
              <a:rPr dirty="0" sz="1850" spc="-280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Times New Roman"/>
                <a:cs typeface="Times New Roman"/>
              </a:rPr>
              <a:t>:</a:t>
            </a:r>
            <a:r>
              <a:rPr dirty="0" sz="1850" spc="-190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57394" y="4334789"/>
            <a:ext cx="296545" cy="187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15">
                <a:latin typeface="宋体"/>
                <a:cs typeface="宋体"/>
              </a:rPr>
              <a:t>质子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92622" y="4334789"/>
            <a:ext cx="296545" cy="187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15">
                <a:latin typeface="宋体"/>
                <a:cs typeface="宋体"/>
              </a:rPr>
              <a:t>质子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42493" y="4334789"/>
            <a:ext cx="296545" cy="187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15">
                <a:latin typeface="宋体"/>
                <a:cs typeface="宋体"/>
              </a:rPr>
              <a:t>质子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65512" y="4404715"/>
            <a:ext cx="858519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16516" sz="2775" spc="-322" i="1">
                <a:latin typeface="Times New Roman"/>
                <a:cs typeface="Times New Roman"/>
              </a:rPr>
              <a:t>r</a:t>
            </a:r>
            <a:r>
              <a:rPr dirty="0" sz="1050" spc="15">
                <a:latin typeface="宋体"/>
                <a:cs typeface="宋体"/>
              </a:rPr>
              <a:t>质子</a:t>
            </a:r>
            <a:r>
              <a:rPr dirty="0" sz="1050" spc="-110">
                <a:latin typeface="宋体"/>
                <a:cs typeface="宋体"/>
              </a:rPr>
              <a:t> </a:t>
            </a:r>
            <a:r>
              <a:rPr dirty="0" baseline="16516" sz="2775" spc="-7">
                <a:latin typeface="Times New Roman"/>
                <a:cs typeface="Times New Roman"/>
              </a:rPr>
              <a:t>:</a:t>
            </a:r>
            <a:r>
              <a:rPr dirty="0" baseline="16516" sz="2775" spc="-307">
                <a:latin typeface="Times New Roman"/>
                <a:cs typeface="Times New Roman"/>
              </a:rPr>
              <a:t> </a:t>
            </a:r>
            <a:r>
              <a:rPr dirty="0" baseline="16516" sz="2775" spc="-315" i="1">
                <a:latin typeface="Times New Roman"/>
                <a:cs typeface="Times New Roman"/>
              </a:rPr>
              <a:t>r</a:t>
            </a:r>
            <a:r>
              <a:rPr dirty="0" sz="1050" spc="15">
                <a:latin typeface="宋体"/>
                <a:cs typeface="宋体"/>
              </a:rPr>
              <a:t>氚核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231443" y="3359073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 h="0">
                <a:moveTo>
                  <a:pt x="0" y="0"/>
                </a:moveTo>
                <a:lnTo>
                  <a:pt x="396240" y="0"/>
                </a:lnTo>
              </a:path>
            </a:pathLst>
          </a:custGeom>
          <a:ln w="116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877175" y="3359073"/>
            <a:ext cx="462280" cy="0"/>
          </a:xfrm>
          <a:custGeom>
            <a:avLst/>
            <a:gdLst/>
            <a:ahLst/>
            <a:cxnLst/>
            <a:rect l="l" t="t" r="r" b="b"/>
            <a:pathLst>
              <a:path w="462279" h="0">
                <a:moveTo>
                  <a:pt x="0" y="0"/>
                </a:moveTo>
                <a:lnTo>
                  <a:pt x="462279" y="0"/>
                </a:lnTo>
              </a:path>
            </a:pathLst>
          </a:custGeom>
          <a:ln w="116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363662" y="3354590"/>
            <a:ext cx="88582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12140" algn="l"/>
              </a:tabLst>
            </a:pPr>
            <a:r>
              <a:rPr dirty="0" sz="1850" spc="-5" i="1">
                <a:latin typeface="Times New Roman"/>
                <a:cs typeface="Times New Roman"/>
              </a:rPr>
              <a:t>v</a:t>
            </a:r>
            <a:r>
              <a:rPr dirty="0" sz="1850" spc="-5" i="1">
                <a:latin typeface="Times New Roman"/>
                <a:cs typeface="Times New Roman"/>
              </a:rPr>
              <a:t>	</a:t>
            </a:r>
            <a:r>
              <a:rPr dirty="0" sz="1850" spc="-5" i="1">
                <a:latin typeface="Times New Roman"/>
                <a:cs typeface="Times New Roman"/>
              </a:rPr>
              <a:t>qB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33424" y="3011131"/>
            <a:ext cx="1106170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55955" algn="l"/>
              </a:tabLst>
            </a:pPr>
            <a:r>
              <a:rPr dirty="0" sz="1850" spc="-215">
                <a:latin typeface="Times New Roman"/>
                <a:cs typeface="Times New Roman"/>
              </a:rPr>
              <a:t>2</a:t>
            </a:r>
            <a:r>
              <a:rPr dirty="0" sz="1950" spc="-215" i="1">
                <a:latin typeface="Symbol"/>
                <a:cs typeface="Symbol"/>
              </a:rPr>
              <a:t></a:t>
            </a:r>
            <a:r>
              <a:rPr dirty="0" sz="1850" spc="-215" i="1">
                <a:latin typeface="Times New Roman"/>
                <a:cs typeface="Times New Roman"/>
              </a:rPr>
              <a:t>r	</a:t>
            </a:r>
            <a:r>
              <a:rPr dirty="0" sz="1850" spc="-220">
                <a:latin typeface="Times New Roman"/>
                <a:cs typeface="Times New Roman"/>
              </a:rPr>
              <a:t>2</a:t>
            </a:r>
            <a:r>
              <a:rPr dirty="0" sz="1950" spc="-220" i="1">
                <a:latin typeface="Symbol"/>
                <a:cs typeface="Symbol"/>
              </a:rPr>
              <a:t></a:t>
            </a:r>
            <a:r>
              <a:rPr dirty="0" sz="1850" spc="-220" i="1">
                <a:latin typeface="Times New Roman"/>
                <a:cs typeface="Times New Roman"/>
              </a:rPr>
              <a:t>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18833" y="3171494"/>
            <a:ext cx="367030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 i="1">
                <a:latin typeface="Times New Roman"/>
                <a:cs typeface="Times New Roman"/>
              </a:rPr>
              <a:t>T</a:t>
            </a:r>
            <a:r>
              <a:rPr dirty="0" sz="1850" spc="100" i="1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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675371" y="3171494"/>
            <a:ext cx="15430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>
                <a:latin typeface="Symbol"/>
                <a:cs typeface="Symbol"/>
              </a:rPr>
              <a:t>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996383" y="5290058"/>
            <a:ext cx="479425" cy="0"/>
          </a:xfrm>
          <a:custGeom>
            <a:avLst/>
            <a:gdLst/>
            <a:ahLst/>
            <a:cxnLst/>
            <a:rect l="l" t="t" r="r" b="b"/>
            <a:pathLst>
              <a:path w="479425" h="0">
                <a:moveTo>
                  <a:pt x="0" y="0"/>
                </a:moveTo>
                <a:lnTo>
                  <a:pt x="479005" y="0"/>
                </a:lnTo>
              </a:path>
            </a:pathLst>
          </a:custGeom>
          <a:ln w="115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625490" y="5290058"/>
            <a:ext cx="585470" cy="0"/>
          </a:xfrm>
          <a:custGeom>
            <a:avLst/>
            <a:gdLst/>
            <a:ahLst/>
            <a:cxnLst/>
            <a:rect l="l" t="t" r="r" b="b"/>
            <a:pathLst>
              <a:path w="585470" h="0">
                <a:moveTo>
                  <a:pt x="0" y="0"/>
                </a:moveTo>
                <a:lnTo>
                  <a:pt x="585177" y="0"/>
                </a:lnTo>
              </a:path>
            </a:pathLst>
          </a:custGeom>
          <a:ln w="115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360782" y="5290058"/>
            <a:ext cx="600075" cy="0"/>
          </a:xfrm>
          <a:custGeom>
            <a:avLst/>
            <a:gdLst/>
            <a:ahLst/>
            <a:cxnLst/>
            <a:rect l="l" t="t" r="r" b="b"/>
            <a:pathLst>
              <a:path w="600075" h="0">
                <a:moveTo>
                  <a:pt x="0" y="0"/>
                </a:moveTo>
                <a:lnTo>
                  <a:pt x="599820" y="0"/>
                </a:lnTo>
              </a:path>
            </a:pathLst>
          </a:custGeom>
          <a:ln w="115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422394" y="5102339"/>
            <a:ext cx="243204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>
                <a:latin typeface="Times New Roman"/>
                <a:cs typeface="Times New Roman"/>
              </a:rPr>
              <a:t>:</a:t>
            </a:r>
            <a:r>
              <a:rPr dirty="0" sz="1850" spc="-350">
                <a:latin typeface="Times New Roman"/>
                <a:cs typeface="Times New Roman"/>
              </a:rPr>
              <a:t> </a:t>
            </a:r>
            <a:r>
              <a:rPr dirty="0" sz="1850" spc="-5" i="1">
                <a:latin typeface="Times New Roman"/>
                <a:cs typeface="Times New Roman"/>
              </a:rPr>
              <a:t>T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4607655" y="5254061"/>
            <a:ext cx="166370" cy="1968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-25" i="1">
                <a:latin typeface="Symbol"/>
                <a:cs typeface="Symbol"/>
              </a:rPr>
              <a:t></a:t>
            </a:r>
            <a:endParaRPr sz="110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007974" y="5102339"/>
            <a:ext cx="770890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-265">
                <a:latin typeface="Times New Roman"/>
                <a:cs typeface="Times New Roman"/>
              </a:rPr>
              <a:t> </a:t>
            </a:r>
            <a:r>
              <a:rPr dirty="0" sz="1850" spc="50">
                <a:latin typeface="Times New Roman"/>
                <a:cs typeface="Times New Roman"/>
              </a:rPr>
              <a:t>1:</a:t>
            </a:r>
            <a:r>
              <a:rPr dirty="0" sz="1850" spc="-250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Times New Roman"/>
                <a:cs typeface="Times New Roman"/>
              </a:rPr>
              <a:t>3</a:t>
            </a:r>
            <a:r>
              <a:rPr dirty="0" sz="1850" spc="-280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Times New Roman"/>
                <a:cs typeface="Times New Roman"/>
              </a:rPr>
              <a:t>:</a:t>
            </a:r>
            <a:r>
              <a:rPr dirty="0" sz="1850" spc="-190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796955" y="5002466"/>
            <a:ext cx="2143125" cy="5892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-24024" sz="2775" spc="-7">
                <a:latin typeface="Symbol"/>
                <a:cs typeface="Symbol"/>
              </a:rPr>
              <a:t></a:t>
            </a:r>
            <a:r>
              <a:rPr dirty="0" baseline="-24024" sz="2775" spc="135">
                <a:latin typeface="Times New Roman"/>
                <a:cs typeface="Times New Roman"/>
              </a:rPr>
              <a:t> </a:t>
            </a:r>
            <a:r>
              <a:rPr dirty="0" baseline="16516" sz="2775" spc="-120" i="1">
                <a:latin typeface="Times New Roman"/>
                <a:cs typeface="Times New Roman"/>
              </a:rPr>
              <a:t>m</a:t>
            </a:r>
            <a:r>
              <a:rPr dirty="0" sz="1050" spc="15">
                <a:latin typeface="宋体"/>
                <a:cs typeface="宋体"/>
              </a:rPr>
              <a:t>质子</a:t>
            </a:r>
            <a:r>
              <a:rPr dirty="0" sz="1050" spc="55">
                <a:latin typeface="宋体"/>
                <a:cs typeface="宋体"/>
              </a:rPr>
              <a:t> </a:t>
            </a:r>
            <a:r>
              <a:rPr dirty="0" baseline="-24024" sz="2775" spc="-7">
                <a:latin typeface="Times New Roman"/>
                <a:cs typeface="Times New Roman"/>
              </a:rPr>
              <a:t>:</a:t>
            </a:r>
            <a:r>
              <a:rPr dirty="0" baseline="-24024" sz="2775" spc="-120">
                <a:latin typeface="Times New Roman"/>
                <a:cs typeface="Times New Roman"/>
              </a:rPr>
              <a:t> </a:t>
            </a:r>
            <a:r>
              <a:rPr dirty="0" baseline="16516" sz="2775" spc="-89">
                <a:latin typeface="Times New Roman"/>
                <a:cs typeface="Times New Roman"/>
              </a:rPr>
              <a:t>3</a:t>
            </a:r>
            <a:r>
              <a:rPr dirty="0" baseline="16516" sz="2775" spc="-89" i="1">
                <a:latin typeface="Times New Roman"/>
                <a:cs typeface="Times New Roman"/>
              </a:rPr>
              <a:t>m</a:t>
            </a:r>
            <a:r>
              <a:rPr dirty="0" sz="1050" spc="15">
                <a:latin typeface="宋体"/>
                <a:cs typeface="宋体"/>
              </a:rPr>
              <a:t>质子</a:t>
            </a:r>
            <a:r>
              <a:rPr dirty="0" sz="1050" spc="50">
                <a:latin typeface="宋体"/>
                <a:cs typeface="宋体"/>
              </a:rPr>
              <a:t> </a:t>
            </a:r>
            <a:r>
              <a:rPr dirty="0" baseline="-24024" sz="2775" spc="-7">
                <a:latin typeface="Times New Roman"/>
                <a:cs typeface="Times New Roman"/>
              </a:rPr>
              <a:t>:</a:t>
            </a:r>
            <a:r>
              <a:rPr dirty="0" baseline="-24024" sz="2775" spc="-44">
                <a:latin typeface="Times New Roman"/>
                <a:cs typeface="Times New Roman"/>
              </a:rPr>
              <a:t> </a:t>
            </a:r>
            <a:r>
              <a:rPr dirty="0" baseline="16516" sz="2775" spc="-44">
                <a:latin typeface="Times New Roman"/>
                <a:cs typeface="Times New Roman"/>
              </a:rPr>
              <a:t>4</a:t>
            </a:r>
            <a:r>
              <a:rPr dirty="0" baseline="16516" sz="2775" spc="-44" i="1">
                <a:latin typeface="Times New Roman"/>
                <a:cs typeface="Times New Roman"/>
              </a:rPr>
              <a:t>m</a:t>
            </a:r>
            <a:r>
              <a:rPr dirty="0" sz="1050" spc="15">
                <a:latin typeface="宋体"/>
                <a:cs typeface="宋体"/>
              </a:rPr>
              <a:t>质子</a:t>
            </a:r>
            <a:endParaRPr sz="1050">
              <a:latin typeface="宋体"/>
              <a:cs typeface="宋体"/>
            </a:endParaRPr>
          </a:p>
          <a:p>
            <a:pPr marL="387350">
              <a:lnSpc>
                <a:spcPct val="100000"/>
              </a:lnSpc>
              <a:spcBef>
                <a:spcPts val="5"/>
              </a:spcBef>
              <a:tabLst>
                <a:tab pos="1068705" algn="l"/>
                <a:tab pos="1755139" algn="l"/>
              </a:tabLst>
            </a:pPr>
            <a:r>
              <a:rPr dirty="0" sz="1850" spc="-5" i="1">
                <a:latin typeface="Times New Roman"/>
                <a:cs typeface="Times New Roman"/>
              </a:rPr>
              <a:t>e	e	</a:t>
            </a:r>
            <a:r>
              <a:rPr dirty="0" sz="1850" spc="-15">
                <a:latin typeface="Times New Roman"/>
                <a:cs typeface="Times New Roman"/>
              </a:rPr>
              <a:t>2</a:t>
            </a:r>
            <a:r>
              <a:rPr dirty="0" sz="1850" spc="-15" i="1">
                <a:latin typeface="Times New Roman"/>
                <a:cs typeface="Times New Roman"/>
              </a:rPr>
              <a:t>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50869" y="5171147"/>
            <a:ext cx="94043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16516" sz="2775" spc="-217" i="1">
                <a:latin typeface="Times New Roman"/>
                <a:cs typeface="Times New Roman"/>
              </a:rPr>
              <a:t>T</a:t>
            </a:r>
            <a:r>
              <a:rPr dirty="0" sz="1050" spc="15">
                <a:latin typeface="宋体"/>
                <a:cs typeface="宋体"/>
              </a:rPr>
              <a:t>质子</a:t>
            </a:r>
            <a:r>
              <a:rPr dirty="0" sz="1050" spc="-120">
                <a:latin typeface="宋体"/>
                <a:cs typeface="宋体"/>
              </a:rPr>
              <a:t> </a:t>
            </a:r>
            <a:r>
              <a:rPr dirty="0" baseline="16516" sz="2775" spc="-7">
                <a:latin typeface="Times New Roman"/>
                <a:cs typeface="Times New Roman"/>
              </a:rPr>
              <a:t>:</a:t>
            </a:r>
            <a:r>
              <a:rPr dirty="0" baseline="16516" sz="2775" spc="-465">
                <a:latin typeface="Times New Roman"/>
                <a:cs typeface="Times New Roman"/>
              </a:rPr>
              <a:t> </a:t>
            </a:r>
            <a:r>
              <a:rPr dirty="0" baseline="16516" sz="2775" spc="-209" i="1">
                <a:latin typeface="Times New Roman"/>
                <a:cs typeface="Times New Roman"/>
              </a:rPr>
              <a:t>T</a:t>
            </a:r>
            <a:r>
              <a:rPr dirty="0" sz="1050" spc="15">
                <a:latin typeface="宋体"/>
                <a:cs typeface="宋体"/>
              </a:rPr>
              <a:t>氚核</a:t>
            </a:r>
            <a:endParaRPr sz="105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5979" y="1867217"/>
            <a:ext cx="977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黑体"/>
                <a:cs typeface="黑体"/>
              </a:rPr>
              <a:t>例题3</a:t>
            </a:r>
          </a:p>
        </p:txBody>
      </p:sp>
      <p:sp>
        <p:nvSpPr>
          <p:cNvPr id="3" name="object 3"/>
          <p:cNvSpPr/>
          <p:nvPr/>
        </p:nvSpPr>
        <p:spPr>
          <a:xfrm>
            <a:off x="2191511" y="1773935"/>
            <a:ext cx="1522476" cy="9281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91128" y="2148839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2" y="0"/>
                </a:lnTo>
                <a:lnTo>
                  <a:pt x="362712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89247" y="2372867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10862" y="2476411"/>
            <a:ext cx="4732655" cy="0"/>
          </a:xfrm>
          <a:custGeom>
            <a:avLst/>
            <a:gdLst/>
            <a:ahLst/>
            <a:cxnLst/>
            <a:rect l="l" t="t" r="r" b="b"/>
            <a:pathLst>
              <a:path w="4732655" h="0">
                <a:moveTo>
                  <a:pt x="0" y="0"/>
                </a:moveTo>
                <a:lnTo>
                  <a:pt x="4732426" y="0"/>
                </a:lnTo>
              </a:path>
            </a:pathLst>
          </a:custGeom>
          <a:ln w="12700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748673" y="2957385"/>
            <a:ext cx="6249035" cy="21602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252729">
              <a:lnSpc>
                <a:spcPct val="99700"/>
              </a:lnSpc>
              <a:spcBef>
                <a:spcPts val="110"/>
              </a:spcBef>
            </a:pPr>
            <a:r>
              <a:rPr dirty="0" sz="2000" i="1">
                <a:latin typeface="华文楷体"/>
                <a:cs typeface="华文楷体"/>
              </a:rPr>
              <a:t>已知氚核的质量约为质子质量的</a:t>
            </a:r>
            <a:r>
              <a:rPr dirty="0" sz="2000" spc="-5">
                <a:latin typeface="Times New Roman"/>
                <a:cs typeface="Times New Roman"/>
              </a:rPr>
              <a:t>3</a:t>
            </a:r>
            <a:r>
              <a:rPr dirty="0" sz="2000" i="1">
                <a:latin typeface="华文楷体"/>
                <a:cs typeface="华文楷体"/>
              </a:rPr>
              <a:t>倍，带正电荷，电</a:t>
            </a:r>
            <a:r>
              <a:rPr dirty="0" sz="2000" i="1">
                <a:latin typeface="华文楷体"/>
                <a:cs typeface="华文楷体"/>
              </a:rPr>
              <a:t>荷 </a:t>
            </a:r>
            <a:r>
              <a:rPr dirty="0" sz="2000" i="1">
                <a:latin typeface="华文楷体"/>
                <a:cs typeface="华文楷体"/>
              </a:rPr>
              <a:t>量为一个元电荷；</a:t>
            </a:r>
            <a:r>
              <a:rPr dirty="0" sz="2000" spc="-5">
                <a:latin typeface="Times New Roman"/>
                <a:cs typeface="Times New Roman"/>
              </a:rPr>
              <a:t>α</a:t>
            </a:r>
            <a:r>
              <a:rPr dirty="0" sz="2000" i="1">
                <a:latin typeface="华文楷体"/>
                <a:cs typeface="华文楷体"/>
              </a:rPr>
              <a:t>粒子即氦原子核，质量约为质子</a:t>
            </a:r>
            <a:r>
              <a:rPr dirty="0" sz="2000" i="1">
                <a:latin typeface="华文楷体"/>
                <a:cs typeface="华文楷体"/>
              </a:rPr>
              <a:t>质 </a:t>
            </a:r>
            <a:r>
              <a:rPr dirty="0" sz="2000" i="1">
                <a:latin typeface="华文楷体"/>
                <a:cs typeface="华文楷体"/>
              </a:rPr>
              <a:t>量的</a:t>
            </a:r>
            <a:r>
              <a:rPr dirty="0" sz="2000" spc="-5">
                <a:latin typeface="Times New Roman"/>
                <a:cs typeface="Times New Roman"/>
              </a:rPr>
              <a:t>4</a:t>
            </a:r>
            <a:r>
              <a:rPr dirty="0" sz="2000" i="1">
                <a:latin typeface="华文楷体"/>
                <a:cs typeface="华文楷体"/>
              </a:rPr>
              <a:t>倍，带正电荷，电荷量为</a:t>
            </a:r>
            <a:r>
              <a:rPr dirty="0" sz="2000" i="1">
                <a:latin typeface="Times New Roman"/>
                <a:cs typeface="Times New Roman"/>
              </a:rPr>
              <a:t>e</a:t>
            </a:r>
            <a:r>
              <a:rPr dirty="0" sz="2000" i="1">
                <a:latin typeface="华文楷体"/>
                <a:cs typeface="华文楷体"/>
              </a:rPr>
              <a:t>的</a:t>
            </a:r>
            <a:r>
              <a:rPr dirty="0" sz="2000" spc="-5">
                <a:latin typeface="Times New Roman"/>
                <a:cs typeface="Times New Roman"/>
              </a:rPr>
              <a:t>2</a:t>
            </a:r>
            <a:r>
              <a:rPr dirty="0" sz="2000" i="1">
                <a:latin typeface="华文楷体"/>
                <a:cs typeface="华文楷体"/>
              </a:rPr>
              <a:t>倍。现在质子、</a:t>
            </a:r>
            <a:r>
              <a:rPr dirty="0" sz="2000" spc="5" i="1">
                <a:latin typeface="华文楷体"/>
                <a:cs typeface="华文楷体"/>
              </a:rPr>
              <a:t>氚 </a:t>
            </a:r>
            <a:r>
              <a:rPr dirty="0" sz="2000" i="1">
                <a:latin typeface="华文楷体"/>
                <a:cs typeface="华文楷体"/>
              </a:rPr>
              <a:t>核和</a:t>
            </a:r>
            <a:r>
              <a:rPr dirty="0" sz="2000" spc="-5">
                <a:latin typeface="Times New Roman"/>
                <a:cs typeface="Times New Roman"/>
              </a:rPr>
              <a:t>α</a:t>
            </a:r>
            <a:r>
              <a:rPr dirty="0" sz="2000" i="1">
                <a:latin typeface="华文楷体"/>
                <a:cs typeface="华文楷体"/>
              </a:rPr>
              <a:t>粒子在同一匀强磁场中做匀速圆周运动。求下</a:t>
            </a:r>
            <a:r>
              <a:rPr dirty="0" sz="2000" i="1">
                <a:latin typeface="华文楷体"/>
                <a:cs typeface="华文楷体"/>
              </a:rPr>
              <a:t>列 </a:t>
            </a:r>
            <a:r>
              <a:rPr dirty="0" sz="2000" i="1">
                <a:latin typeface="华文楷体"/>
                <a:cs typeface="华文楷体"/>
              </a:rPr>
              <a:t>情况中它们运动的半径之比和周期之比</a:t>
            </a:r>
            <a:r>
              <a:rPr dirty="0" sz="2000" spc="5" i="1">
                <a:latin typeface="华文楷体"/>
                <a:cs typeface="华文楷体"/>
              </a:rPr>
              <a:t>：</a:t>
            </a:r>
            <a:endParaRPr sz="2000">
              <a:latin typeface="华文楷体"/>
              <a:cs typeface="华文楷体"/>
            </a:endParaRPr>
          </a:p>
          <a:p>
            <a:pPr algn="just" marL="648970" indent="-636270">
              <a:lnSpc>
                <a:spcPct val="100000"/>
              </a:lnSpc>
              <a:spcBef>
                <a:spcPts val="30"/>
              </a:spcBef>
              <a:buSzPct val="95000"/>
              <a:buAutoNum type="arabicPlain"/>
              <a:tabLst>
                <a:tab pos="648970" algn="l"/>
              </a:tabLst>
            </a:pPr>
            <a:r>
              <a:rPr dirty="0" sz="2000" i="1">
                <a:latin typeface="华文楷体"/>
                <a:cs typeface="华文楷体"/>
              </a:rPr>
              <a:t>它们的速度大小相等</a:t>
            </a:r>
            <a:r>
              <a:rPr dirty="0" sz="2000" spc="5" i="1">
                <a:latin typeface="华文楷体"/>
                <a:cs typeface="华文楷体"/>
              </a:rPr>
              <a:t>；</a:t>
            </a:r>
            <a:endParaRPr sz="2000">
              <a:latin typeface="华文楷体"/>
              <a:cs typeface="华文楷体"/>
            </a:endParaRPr>
          </a:p>
          <a:p>
            <a:pPr algn="just" marL="648970" indent="-636270">
              <a:lnSpc>
                <a:spcPct val="100000"/>
              </a:lnSpc>
              <a:buSzPct val="95000"/>
              <a:buAutoNum type="arabicPlain"/>
              <a:tabLst>
                <a:tab pos="648970" algn="l"/>
              </a:tabLst>
            </a:pPr>
            <a:r>
              <a:rPr dirty="0" sz="2000" i="1">
                <a:latin typeface="华文楷体"/>
                <a:cs typeface="华文楷体"/>
              </a:rPr>
              <a:t>它们由静止经过相同的加速电场加速后进入磁场</a:t>
            </a:r>
            <a:r>
              <a:rPr dirty="0" sz="2000" spc="5" i="1">
                <a:latin typeface="华文楷体"/>
                <a:cs typeface="华文楷体"/>
              </a:rPr>
              <a:t>。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77814" y="1487461"/>
            <a:ext cx="977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黑体"/>
                <a:cs typeface="黑体"/>
              </a:rPr>
              <a:t>例题3</a:t>
            </a:r>
          </a:p>
        </p:txBody>
      </p:sp>
      <p:sp>
        <p:nvSpPr>
          <p:cNvPr id="3" name="object 3"/>
          <p:cNvSpPr/>
          <p:nvPr/>
        </p:nvSpPr>
        <p:spPr>
          <a:xfrm>
            <a:off x="2363723" y="1475232"/>
            <a:ext cx="967739" cy="5897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13759" y="1876044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2" y="0"/>
                </a:lnTo>
                <a:lnTo>
                  <a:pt x="362712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13403" y="2100072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46144" y="2174735"/>
            <a:ext cx="4732655" cy="0"/>
          </a:xfrm>
          <a:custGeom>
            <a:avLst/>
            <a:gdLst/>
            <a:ahLst/>
            <a:cxnLst/>
            <a:rect l="l" t="t" r="r" b="b"/>
            <a:pathLst>
              <a:path w="4732655" h="0">
                <a:moveTo>
                  <a:pt x="0" y="0"/>
                </a:moveTo>
                <a:lnTo>
                  <a:pt x="4732426" y="0"/>
                </a:lnTo>
              </a:path>
            </a:pathLst>
          </a:custGeom>
          <a:ln w="12700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331466" y="2404897"/>
            <a:ext cx="650303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（</a:t>
            </a:r>
            <a:r>
              <a:rPr dirty="0" sz="2000" spc="-5">
                <a:latin typeface="Times New Roman"/>
                <a:cs typeface="Times New Roman"/>
              </a:rPr>
              <a:t>2</a:t>
            </a:r>
            <a:r>
              <a:rPr dirty="0" sz="2000" i="1">
                <a:latin typeface="华文楷体"/>
                <a:cs typeface="华文楷体"/>
              </a:rPr>
              <a:t>）当它们由静止经过相同的加速电场加速后进入磁场</a:t>
            </a:r>
            <a:r>
              <a:rPr dirty="0" sz="2000" spc="5" i="1">
                <a:latin typeface="华文楷体"/>
                <a:cs typeface="华文楷体"/>
              </a:rPr>
              <a:t>时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32487" y="3253181"/>
            <a:ext cx="14287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60415" y="3069780"/>
            <a:ext cx="111442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 i="1">
                <a:latin typeface="Times New Roman"/>
                <a:cs typeface="Times New Roman"/>
              </a:rPr>
              <a:t>qU 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-5">
                <a:latin typeface="Times New Roman"/>
                <a:cs typeface="Times New Roman"/>
              </a:rPr>
              <a:t> </a:t>
            </a:r>
            <a:r>
              <a:rPr dirty="0" u="sng" baseline="34534" sz="2775" spc="-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baseline="34534" sz="2775" spc="-480">
                <a:latin typeface="Times New Roman"/>
                <a:cs typeface="Times New Roman"/>
              </a:rPr>
              <a:t> </a:t>
            </a:r>
            <a:r>
              <a:rPr dirty="0" sz="1850" spc="30" i="1">
                <a:latin typeface="Times New Roman"/>
                <a:cs typeface="Times New Roman"/>
              </a:rPr>
              <a:t>mv</a:t>
            </a:r>
            <a:r>
              <a:rPr dirty="0" baseline="44973" sz="1575" spc="44">
                <a:latin typeface="Times New Roman"/>
                <a:cs typeface="Times New Roman"/>
              </a:rPr>
              <a:t>2</a:t>
            </a:r>
            <a:endParaRPr baseline="44973" sz="157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55535" y="3078479"/>
            <a:ext cx="463550" cy="321945"/>
          </a:xfrm>
          <a:custGeom>
            <a:avLst/>
            <a:gdLst/>
            <a:ahLst/>
            <a:cxnLst/>
            <a:rect l="l" t="t" r="r" b="b"/>
            <a:pathLst>
              <a:path w="463550" h="321945">
                <a:moveTo>
                  <a:pt x="301752" y="321564"/>
                </a:moveTo>
                <a:lnTo>
                  <a:pt x="301752" y="240792"/>
                </a:lnTo>
                <a:lnTo>
                  <a:pt x="0" y="240792"/>
                </a:lnTo>
                <a:lnTo>
                  <a:pt x="0" y="80772"/>
                </a:lnTo>
                <a:lnTo>
                  <a:pt x="301752" y="80772"/>
                </a:lnTo>
                <a:lnTo>
                  <a:pt x="301752" y="0"/>
                </a:lnTo>
                <a:lnTo>
                  <a:pt x="463296" y="161544"/>
                </a:lnTo>
                <a:lnTo>
                  <a:pt x="301752" y="321564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948461" y="3062884"/>
            <a:ext cx="479425" cy="353060"/>
          </a:xfrm>
          <a:custGeom>
            <a:avLst/>
            <a:gdLst/>
            <a:ahLst/>
            <a:cxnLst/>
            <a:rect l="l" t="t" r="r" b="b"/>
            <a:pathLst>
              <a:path w="479425" h="353060">
                <a:moveTo>
                  <a:pt x="302602" y="95884"/>
                </a:moveTo>
                <a:lnTo>
                  <a:pt x="302602" y="0"/>
                </a:lnTo>
                <a:lnTo>
                  <a:pt x="317932" y="15328"/>
                </a:lnTo>
                <a:lnTo>
                  <a:pt x="315302" y="15328"/>
                </a:lnTo>
                <a:lnTo>
                  <a:pt x="304457" y="19811"/>
                </a:lnTo>
                <a:lnTo>
                  <a:pt x="315302" y="30657"/>
                </a:lnTo>
                <a:lnTo>
                  <a:pt x="315302" y="89534"/>
                </a:lnTo>
                <a:lnTo>
                  <a:pt x="308952" y="89534"/>
                </a:lnTo>
                <a:lnTo>
                  <a:pt x="302602" y="95884"/>
                </a:lnTo>
                <a:close/>
              </a:path>
              <a:path w="479425" h="353060">
                <a:moveTo>
                  <a:pt x="315302" y="30657"/>
                </a:moveTo>
                <a:lnTo>
                  <a:pt x="304457" y="19811"/>
                </a:lnTo>
                <a:lnTo>
                  <a:pt x="315302" y="15328"/>
                </a:lnTo>
                <a:lnTo>
                  <a:pt x="315302" y="30657"/>
                </a:lnTo>
                <a:close/>
              </a:path>
              <a:path w="479425" h="353060">
                <a:moveTo>
                  <a:pt x="461105" y="176459"/>
                </a:moveTo>
                <a:lnTo>
                  <a:pt x="315302" y="30657"/>
                </a:lnTo>
                <a:lnTo>
                  <a:pt x="315302" y="15328"/>
                </a:lnTo>
                <a:lnTo>
                  <a:pt x="317932" y="15328"/>
                </a:lnTo>
                <a:lnTo>
                  <a:pt x="474585" y="171970"/>
                </a:lnTo>
                <a:lnTo>
                  <a:pt x="465594" y="171970"/>
                </a:lnTo>
                <a:lnTo>
                  <a:pt x="461105" y="176459"/>
                </a:lnTo>
                <a:close/>
              </a:path>
              <a:path w="479425" h="353060">
                <a:moveTo>
                  <a:pt x="302602" y="263372"/>
                </a:moveTo>
                <a:lnTo>
                  <a:pt x="0" y="263372"/>
                </a:lnTo>
                <a:lnTo>
                  <a:pt x="0" y="89534"/>
                </a:lnTo>
                <a:lnTo>
                  <a:pt x="302602" y="89534"/>
                </a:lnTo>
                <a:lnTo>
                  <a:pt x="302602" y="95884"/>
                </a:lnTo>
                <a:lnTo>
                  <a:pt x="12700" y="95884"/>
                </a:lnTo>
                <a:lnTo>
                  <a:pt x="6350" y="102234"/>
                </a:lnTo>
                <a:lnTo>
                  <a:pt x="12700" y="102234"/>
                </a:lnTo>
                <a:lnTo>
                  <a:pt x="12700" y="250672"/>
                </a:lnTo>
                <a:lnTo>
                  <a:pt x="6350" y="250672"/>
                </a:lnTo>
                <a:lnTo>
                  <a:pt x="12700" y="257022"/>
                </a:lnTo>
                <a:lnTo>
                  <a:pt x="302602" y="257022"/>
                </a:lnTo>
                <a:lnTo>
                  <a:pt x="302602" y="263372"/>
                </a:lnTo>
                <a:close/>
              </a:path>
              <a:path w="479425" h="353060">
                <a:moveTo>
                  <a:pt x="315302" y="102234"/>
                </a:moveTo>
                <a:lnTo>
                  <a:pt x="12700" y="102234"/>
                </a:lnTo>
                <a:lnTo>
                  <a:pt x="12700" y="95884"/>
                </a:lnTo>
                <a:lnTo>
                  <a:pt x="302602" y="95884"/>
                </a:lnTo>
                <a:lnTo>
                  <a:pt x="308952" y="89534"/>
                </a:lnTo>
                <a:lnTo>
                  <a:pt x="315302" y="89534"/>
                </a:lnTo>
                <a:lnTo>
                  <a:pt x="315302" y="102234"/>
                </a:lnTo>
                <a:close/>
              </a:path>
              <a:path w="479425" h="353060">
                <a:moveTo>
                  <a:pt x="12700" y="102234"/>
                </a:moveTo>
                <a:lnTo>
                  <a:pt x="6350" y="102234"/>
                </a:lnTo>
                <a:lnTo>
                  <a:pt x="12700" y="95884"/>
                </a:lnTo>
                <a:lnTo>
                  <a:pt x="12700" y="102234"/>
                </a:lnTo>
                <a:close/>
              </a:path>
              <a:path w="479425" h="353060">
                <a:moveTo>
                  <a:pt x="465594" y="180949"/>
                </a:moveTo>
                <a:lnTo>
                  <a:pt x="461111" y="176453"/>
                </a:lnTo>
                <a:lnTo>
                  <a:pt x="465594" y="171970"/>
                </a:lnTo>
                <a:lnTo>
                  <a:pt x="465594" y="180949"/>
                </a:lnTo>
                <a:close/>
              </a:path>
              <a:path w="479425" h="353060">
                <a:moveTo>
                  <a:pt x="474573" y="180949"/>
                </a:moveTo>
                <a:lnTo>
                  <a:pt x="465594" y="180949"/>
                </a:lnTo>
                <a:lnTo>
                  <a:pt x="465594" y="171970"/>
                </a:lnTo>
                <a:lnTo>
                  <a:pt x="474585" y="171970"/>
                </a:lnTo>
                <a:lnTo>
                  <a:pt x="479063" y="176459"/>
                </a:lnTo>
                <a:lnTo>
                  <a:pt x="474573" y="180949"/>
                </a:lnTo>
                <a:close/>
              </a:path>
              <a:path w="479425" h="353060">
                <a:moveTo>
                  <a:pt x="317931" y="337591"/>
                </a:moveTo>
                <a:lnTo>
                  <a:pt x="315302" y="337591"/>
                </a:lnTo>
                <a:lnTo>
                  <a:pt x="315302" y="322250"/>
                </a:lnTo>
                <a:lnTo>
                  <a:pt x="461105" y="176459"/>
                </a:lnTo>
                <a:lnTo>
                  <a:pt x="465594" y="180949"/>
                </a:lnTo>
                <a:lnTo>
                  <a:pt x="474573" y="180949"/>
                </a:lnTo>
                <a:lnTo>
                  <a:pt x="317931" y="337591"/>
                </a:lnTo>
                <a:close/>
              </a:path>
              <a:path w="479425" h="353060">
                <a:moveTo>
                  <a:pt x="12700" y="257022"/>
                </a:moveTo>
                <a:lnTo>
                  <a:pt x="6350" y="250672"/>
                </a:lnTo>
                <a:lnTo>
                  <a:pt x="12700" y="250672"/>
                </a:lnTo>
                <a:lnTo>
                  <a:pt x="12700" y="257022"/>
                </a:lnTo>
                <a:close/>
              </a:path>
              <a:path w="479425" h="353060">
                <a:moveTo>
                  <a:pt x="315302" y="263372"/>
                </a:moveTo>
                <a:lnTo>
                  <a:pt x="308952" y="263372"/>
                </a:lnTo>
                <a:lnTo>
                  <a:pt x="302602" y="257022"/>
                </a:lnTo>
                <a:lnTo>
                  <a:pt x="12700" y="257022"/>
                </a:lnTo>
                <a:lnTo>
                  <a:pt x="12700" y="250672"/>
                </a:lnTo>
                <a:lnTo>
                  <a:pt x="315302" y="250672"/>
                </a:lnTo>
                <a:lnTo>
                  <a:pt x="315302" y="263372"/>
                </a:lnTo>
                <a:close/>
              </a:path>
              <a:path w="479425" h="353060">
                <a:moveTo>
                  <a:pt x="302602" y="352920"/>
                </a:moveTo>
                <a:lnTo>
                  <a:pt x="302602" y="257022"/>
                </a:lnTo>
                <a:lnTo>
                  <a:pt x="308952" y="263372"/>
                </a:lnTo>
                <a:lnTo>
                  <a:pt x="315302" y="263372"/>
                </a:lnTo>
                <a:lnTo>
                  <a:pt x="315302" y="322250"/>
                </a:lnTo>
                <a:lnTo>
                  <a:pt x="304457" y="333095"/>
                </a:lnTo>
                <a:lnTo>
                  <a:pt x="315302" y="337591"/>
                </a:lnTo>
                <a:lnTo>
                  <a:pt x="317931" y="337591"/>
                </a:lnTo>
                <a:lnTo>
                  <a:pt x="302602" y="352920"/>
                </a:lnTo>
                <a:close/>
              </a:path>
              <a:path w="479425" h="353060">
                <a:moveTo>
                  <a:pt x="315302" y="337591"/>
                </a:moveTo>
                <a:lnTo>
                  <a:pt x="304457" y="333095"/>
                </a:lnTo>
                <a:lnTo>
                  <a:pt x="315302" y="322250"/>
                </a:lnTo>
                <a:lnTo>
                  <a:pt x="315302" y="337591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039163" y="3271875"/>
            <a:ext cx="22860" cy="29209"/>
          </a:xfrm>
          <a:custGeom>
            <a:avLst/>
            <a:gdLst/>
            <a:ahLst/>
            <a:cxnLst/>
            <a:rect l="l" t="t" r="r" b="b"/>
            <a:pathLst>
              <a:path w="22859" h="29210">
                <a:moveTo>
                  <a:pt x="0" y="29197"/>
                </a:moveTo>
                <a:lnTo>
                  <a:pt x="2255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061718" y="3271875"/>
            <a:ext cx="57150" cy="218440"/>
          </a:xfrm>
          <a:custGeom>
            <a:avLst/>
            <a:gdLst/>
            <a:ahLst/>
            <a:cxnLst/>
            <a:rect l="l" t="t" r="r" b="b"/>
            <a:pathLst>
              <a:path w="57150" h="218439">
                <a:moveTo>
                  <a:pt x="0" y="0"/>
                </a:moveTo>
                <a:lnTo>
                  <a:pt x="56705" y="21840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118423" y="2914167"/>
            <a:ext cx="62865" cy="576580"/>
          </a:xfrm>
          <a:custGeom>
            <a:avLst/>
            <a:gdLst/>
            <a:ahLst/>
            <a:cxnLst/>
            <a:rect l="l" t="t" r="r" b="b"/>
            <a:pathLst>
              <a:path w="62865" h="576579">
                <a:moveTo>
                  <a:pt x="0" y="576110"/>
                </a:moveTo>
                <a:lnTo>
                  <a:pt x="6281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181238" y="2914167"/>
            <a:ext cx="492759" cy="0"/>
          </a:xfrm>
          <a:custGeom>
            <a:avLst/>
            <a:gdLst/>
            <a:ahLst/>
            <a:cxnLst/>
            <a:rect l="l" t="t" r="r" b="b"/>
            <a:pathLst>
              <a:path w="492759" h="0">
                <a:moveTo>
                  <a:pt x="0" y="0"/>
                </a:moveTo>
                <a:lnTo>
                  <a:pt x="49267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036115" y="2908693"/>
            <a:ext cx="638175" cy="581660"/>
          </a:xfrm>
          <a:custGeom>
            <a:avLst/>
            <a:gdLst/>
            <a:ahLst/>
            <a:cxnLst/>
            <a:rect l="l" t="t" r="r" b="b"/>
            <a:pathLst>
              <a:path w="638175" h="581660">
                <a:moveTo>
                  <a:pt x="93861" y="531088"/>
                </a:moveTo>
                <a:lnTo>
                  <a:pt x="82308" y="531088"/>
                </a:lnTo>
                <a:lnTo>
                  <a:pt x="140233" y="0"/>
                </a:lnTo>
                <a:lnTo>
                  <a:pt x="637794" y="0"/>
                </a:lnTo>
                <a:lnTo>
                  <a:pt x="637794" y="11556"/>
                </a:lnTo>
                <a:lnTo>
                  <a:pt x="149999" y="11556"/>
                </a:lnTo>
                <a:lnTo>
                  <a:pt x="93861" y="531088"/>
                </a:lnTo>
                <a:close/>
              </a:path>
              <a:path w="638175" h="581660">
                <a:moveTo>
                  <a:pt x="6096" y="394817"/>
                </a:moveTo>
                <a:lnTo>
                  <a:pt x="0" y="389953"/>
                </a:lnTo>
                <a:lnTo>
                  <a:pt x="32308" y="349186"/>
                </a:lnTo>
                <a:lnTo>
                  <a:pt x="40170" y="377786"/>
                </a:lnTo>
                <a:lnTo>
                  <a:pt x="19507" y="377786"/>
                </a:lnTo>
                <a:lnTo>
                  <a:pt x="6096" y="394817"/>
                </a:lnTo>
                <a:close/>
              </a:path>
              <a:path w="638175" h="581660">
                <a:moveTo>
                  <a:pt x="88404" y="581583"/>
                </a:moveTo>
                <a:lnTo>
                  <a:pt x="76822" y="581583"/>
                </a:lnTo>
                <a:lnTo>
                  <a:pt x="19507" y="377786"/>
                </a:lnTo>
                <a:lnTo>
                  <a:pt x="40170" y="377786"/>
                </a:lnTo>
                <a:lnTo>
                  <a:pt x="82308" y="531088"/>
                </a:lnTo>
                <a:lnTo>
                  <a:pt x="93861" y="531088"/>
                </a:lnTo>
                <a:lnTo>
                  <a:pt x="88404" y="5815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196580" y="2843662"/>
            <a:ext cx="432434" cy="685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6900"/>
              </a:lnSpc>
              <a:spcBef>
                <a:spcPts val="100"/>
              </a:spcBef>
            </a:pPr>
            <a:r>
              <a:rPr dirty="0" u="sng" sz="185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1850" spc="-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 </a:t>
            </a:r>
            <a:r>
              <a:rPr dirty="0" sz="1850" spc="-5" i="1">
                <a:latin typeface="Times New Roman"/>
                <a:cs typeface="Times New Roman"/>
              </a:rPr>
              <a:t> </a:t>
            </a:r>
            <a:r>
              <a:rPr dirty="0" sz="1850" spc="-5" i="1">
                <a:latin typeface="Times New Roman"/>
                <a:cs typeface="Times New Roman"/>
              </a:rPr>
              <a:t>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75854" y="3039694"/>
            <a:ext cx="314960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 i="1">
                <a:latin typeface="Times New Roman"/>
                <a:cs typeface="Times New Roman"/>
              </a:rPr>
              <a:t>v</a:t>
            </a:r>
            <a:r>
              <a:rPr dirty="0" sz="1850" spc="-95" i="1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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257916" y="4804752"/>
            <a:ext cx="478790" cy="0"/>
          </a:xfrm>
          <a:custGeom>
            <a:avLst/>
            <a:gdLst/>
            <a:ahLst/>
            <a:cxnLst/>
            <a:rect l="l" t="t" r="r" b="b"/>
            <a:pathLst>
              <a:path w="478789" h="0">
                <a:moveTo>
                  <a:pt x="0" y="0"/>
                </a:moveTo>
                <a:lnTo>
                  <a:pt x="478764" y="0"/>
                </a:lnTo>
              </a:path>
            </a:pathLst>
          </a:custGeom>
          <a:ln w="115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102392" y="4840655"/>
            <a:ext cx="22860" cy="30480"/>
          </a:xfrm>
          <a:custGeom>
            <a:avLst/>
            <a:gdLst/>
            <a:ahLst/>
            <a:cxnLst/>
            <a:rect l="l" t="t" r="r" b="b"/>
            <a:pathLst>
              <a:path w="22860" h="30479">
                <a:moveTo>
                  <a:pt x="0" y="30429"/>
                </a:moveTo>
                <a:lnTo>
                  <a:pt x="2256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124959" y="4840655"/>
            <a:ext cx="57150" cy="227329"/>
          </a:xfrm>
          <a:custGeom>
            <a:avLst/>
            <a:gdLst/>
            <a:ahLst/>
            <a:cxnLst/>
            <a:rect l="l" t="t" r="r" b="b"/>
            <a:pathLst>
              <a:path w="57150" h="227329">
                <a:moveTo>
                  <a:pt x="0" y="0"/>
                </a:moveTo>
                <a:lnTo>
                  <a:pt x="56718" y="2269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181678" y="4471885"/>
            <a:ext cx="62865" cy="596265"/>
          </a:xfrm>
          <a:custGeom>
            <a:avLst/>
            <a:gdLst/>
            <a:ahLst/>
            <a:cxnLst/>
            <a:rect l="l" t="t" r="r" b="b"/>
            <a:pathLst>
              <a:path w="62864" h="596264">
                <a:moveTo>
                  <a:pt x="0" y="595756"/>
                </a:moveTo>
                <a:lnTo>
                  <a:pt x="6282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244505" y="4471885"/>
            <a:ext cx="510540" cy="0"/>
          </a:xfrm>
          <a:custGeom>
            <a:avLst/>
            <a:gdLst/>
            <a:ahLst/>
            <a:cxnLst/>
            <a:rect l="l" t="t" r="r" b="b"/>
            <a:pathLst>
              <a:path w="510539" h="0">
                <a:moveTo>
                  <a:pt x="0" y="0"/>
                </a:moveTo>
                <a:lnTo>
                  <a:pt x="5104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099343" y="4466399"/>
            <a:ext cx="655955" cy="601345"/>
          </a:xfrm>
          <a:custGeom>
            <a:avLst/>
            <a:gdLst/>
            <a:ahLst/>
            <a:cxnLst/>
            <a:rect l="l" t="t" r="r" b="b"/>
            <a:pathLst>
              <a:path w="655954" h="601345">
                <a:moveTo>
                  <a:pt x="93952" y="548906"/>
                </a:moveTo>
                <a:lnTo>
                  <a:pt x="82334" y="548906"/>
                </a:lnTo>
                <a:lnTo>
                  <a:pt x="140271" y="0"/>
                </a:lnTo>
                <a:lnTo>
                  <a:pt x="655637" y="0"/>
                </a:lnTo>
                <a:lnTo>
                  <a:pt x="655637" y="11569"/>
                </a:lnTo>
                <a:lnTo>
                  <a:pt x="150647" y="11569"/>
                </a:lnTo>
                <a:lnTo>
                  <a:pt x="93952" y="548906"/>
                </a:lnTo>
                <a:close/>
              </a:path>
              <a:path w="655954" h="601345">
                <a:moveTo>
                  <a:pt x="6095" y="407123"/>
                </a:moveTo>
                <a:lnTo>
                  <a:pt x="0" y="402856"/>
                </a:lnTo>
                <a:lnTo>
                  <a:pt x="32321" y="360870"/>
                </a:lnTo>
                <a:lnTo>
                  <a:pt x="39604" y="388251"/>
                </a:lnTo>
                <a:lnTo>
                  <a:pt x="18910" y="388251"/>
                </a:lnTo>
                <a:lnTo>
                  <a:pt x="6095" y="407123"/>
                </a:lnTo>
                <a:close/>
              </a:path>
              <a:path w="655954" h="601345">
                <a:moveTo>
                  <a:pt x="88430" y="601243"/>
                </a:moveTo>
                <a:lnTo>
                  <a:pt x="76847" y="601243"/>
                </a:lnTo>
                <a:lnTo>
                  <a:pt x="18910" y="388251"/>
                </a:lnTo>
                <a:lnTo>
                  <a:pt x="39604" y="388251"/>
                </a:lnTo>
                <a:lnTo>
                  <a:pt x="82334" y="548906"/>
                </a:lnTo>
                <a:lnTo>
                  <a:pt x="93952" y="548906"/>
                </a:lnTo>
                <a:lnTo>
                  <a:pt x="88430" y="601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063591" y="4804752"/>
            <a:ext cx="585470" cy="0"/>
          </a:xfrm>
          <a:custGeom>
            <a:avLst/>
            <a:gdLst/>
            <a:ahLst/>
            <a:cxnLst/>
            <a:rect l="l" t="t" r="r" b="b"/>
            <a:pathLst>
              <a:path w="585470" h="0">
                <a:moveTo>
                  <a:pt x="0" y="0"/>
                </a:moveTo>
                <a:lnTo>
                  <a:pt x="584885" y="0"/>
                </a:lnTo>
              </a:path>
            </a:pathLst>
          </a:custGeom>
          <a:ln w="115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908067" y="4840655"/>
            <a:ext cx="22860" cy="30480"/>
          </a:xfrm>
          <a:custGeom>
            <a:avLst/>
            <a:gdLst/>
            <a:ahLst/>
            <a:cxnLst/>
            <a:rect l="l" t="t" r="r" b="b"/>
            <a:pathLst>
              <a:path w="22860" h="30479">
                <a:moveTo>
                  <a:pt x="0" y="30429"/>
                </a:moveTo>
                <a:lnTo>
                  <a:pt x="2256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930635" y="4840655"/>
            <a:ext cx="57150" cy="227329"/>
          </a:xfrm>
          <a:custGeom>
            <a:avLst/>
            <a:gdLst/>
            <a:ahLst/>
            <a:cxnLst/>
            <a:rect l="l" t="t" r="r" b="b"/>
            <a:pathLst>
              <a:path w="57150" h="227329">
                <a:moveTo>
                  <a:pt x="0" y="0"/>
                </a:moveTo>
                <a:lnTo>
                  <a:pt x="56718" y="2269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987353" y="4471885"/>
            <a:ext cx="62865" cy="596265"/>
          </a:xfrm>
          <a:custGeom>
            <a:avLst/>
            <a:gdLst/>
            <a:ahLst/>
            <a:cxnLst/>
            <a:rect l="l" t="t" r="r" b="b"/>
            <a:pathLst>
              <a:path w="62864" h="596264">
                <a:moveTo>
                  <a:pt x="0" y="595756"/>
                </a:moveTo>
                <a:lnTo>
                  <a:pt x="6281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050167" y="4471885"/>
            <a:ext cx="617220" cy="0"/>
          </a:xfrm>
          <a:custGeom>
            <a:avLst/>
            <a:gdLst/>
            <a:ahLst/>
            <a:cxnLst/>
            <a:rect l="l" t="t" r="r" b="b"/>
            <a:pathLst>
              <a:path w="617220" h="0">
                <a:moveTo>
                  <a:pt x="0" y="0"/>
                </a:moveTo>
                <a:lnTo>
                  <a:pt x="61661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905019" y="4466399"/>
            <a:ext cx="762000" cy="601345"/>
          </a:xfrm>
          <a:custGeom>
            <a:avLst/>
            <a:gdLst/>
            <a:ahLst/>
            <a:cxnLst/>
            <a:rect l="l" t="t" r="r" b="b"/>
            <a:pathLst>
              <a:path w="762000" h="601345">
                <a:moveTo>
                  <a:pt x="93951" y="548906"/>
                </a:moveTo>
                <a:lnTo>
                  <a:pt x="82334" y="548906"/>
                </a:lnTo>
                <a:lnTo>
                  <a:pt x="140271" y="0"/>
                </a:lnTo>
                <a:lnTo>
                  <a:pt x="761758" y="0"/>
                </a:lnTo>
                <a:lnTo>
                  <a:pt x="761758" y="11569"/>
                </a:lnTo>
                <a:lnTo>
                  <a:pt x="150634" y="11569"/>
                </a:lnTo>
                <a:lnTo>
                  <a:pt x="93951" y="548906"/>
                </a:lnTo>
                <a:close/>
              </a:path>
              <a:path w="762000" h="601345">
                <a:moveTo>
                  <a:pt x="6096" y="407123"/>
                </a:moveTo>
                <a:lnTo>
                  <a:pt x="0" y="402856"/>
                </a:lnTo>
                <a:lnTo>
                  <a:pt x="32321" y="360870"/>
                </a:lnTo>
                <a:lnTo>
                  <a:pt x="39604" y="388251"/>
                </a:lnTo>
                <a:lnTo>
                  <a:pt x="18897" y="388251"/>
                </a:lnTo>
                <a:lnTo>
                  <a:pt x="6096" y="407123"/>
                </a:lnTo>
                <a:close/>
              </a:path>
              <a:path w="762000" h="601345">
                <a:moveTo>
                  <a:pt x="88430" y="601243"/>
                </a:moveTo>
                <a:lnTo>
                  <a:pt x="76847" y="601243"/>
                </a:lnTo>
                <a:lnTo>
                  <a:pt x="18897" y="388251"/>
                </a:lnTo>
                <a:lnTo>
                  <a:pt x="39604" y="388251"/>
                </a:lnTo>
                <a:lnTo>
                  <a:pt x="82334" y="548906"/>
                </a:lnTo>
                <a:lnTo>
                  <a:pt x="93951" y="548906"/>
                </a:lnTo>
                <a:lnTo>
                  <a:pt x="88430" y="601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975375" y="4804752"/>
            <a:ext cx="600075" cy="0"/>
          </a:xfrm>
          <a:custGeom>
            <a:avLst/>
            <a:gdLst/>
            <a:ahLst/>
            <a:cxnLst/>
            <a:rect l="l" t="t" r="r" b="b"/>
            <a:pathLst>
              <a:path w="600075" h="0">
                <a:moveTo>
                  <a:pt x="0" y="0"/>
                </a:moveTo>
                <a:lnTo>
                  <a:pt x="599528" y="0"/>
                </a:lnTo>
              </a:path>
            </a:pathLst>
          </a:custGeom>
          <a:ln w="115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819851" y="4840655"/>
            <a:ext cx="22860" cy="30480"/>
          </a:xfrm>
          <a:custGeom>
            <a:avLst/>
            <a:gdLst/>
            <a:ahLst/>
            <a:cxnLst/>
            <a:rect l="l" t="t" r="r" b="b"/>
            <a:pathLst>
              <a:path w="22860" h="30479">
                <a:moveTo>
                  <a:pt x="0" y="30429"/>
                </a:moveTo>
                <a:lnTo>
                  <a:pt x="2256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842418" y="4840655"/>
            <a:ext cx="57150" cy="227329"/>
          </a:xfrm>
          <a:custGeom>
            <a:avLst/>
            <a:gdLst/>
            <a:ahLst/>
            <a:cxnLst/>
            <a:rect l="l" t="t" r="r" b="b"/>
            <a:pathLst>
              <a:path w="57150" h="227329">
                <a:moveTo>
                  <a:pt x="0" y="0"/>
                </a:moveTo>
                <a:lnTo>
                  <a:pt x="56718" y="2269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899137" y="4471885"/>
            <a:ext cx="62865" cy="596265"/>
          </a:xfrm>
          <a:custGeom>
            <a:avLst/>
            <a:gdLst/>
            <a:ahLst/>
            <a:cxnLst/>
            <a:rect l="l" t="t" r="r" b="b"/>
            <a:pathLst>
              <a:path w="62864" h="596264">
                <a:moveTo>
                  <a:pt x="0" y="595756"/>
                </a:moveTo>
                <a:lnTo>
                  <a:pt x="6282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961964" y="4471885"/>
            <a:ext cx="631825" cy="0"/>
          </a:xfrm>
          <a:custGeom>
            <a:avLst/>
            <a:gdLst/>
            <a:ahLst/>
            <a:cxnLst/>
            <a:rect l="l" t="t" r="r" b="b"/>
            <a:pathLst>
              <a:path w="631825" h="0">
                <a:moveTo>
                  <a:pt x="0" y="0"/>
                </a:moveTo>
                <a:lnTo>
                  <a:pt x="63124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816803" y="4466399"/>
            <a:ext cx="776605" cy="601345"/>
          </a:xfrm>
          <a:custGeom>
            <a:avLst/>
            <a:gdLst/>
            <a:ahLst/>
            <a:cxnLst/>
            <a:rect l="l" t="t" r="r" b="b"/>
            <a:pathLst>
              <a:path w="776604" h="601345">
                <a:moveTo>
                  <a:pt x="93963" y="548906"/>
                </a:moveTo>
                <a:lnTo>
                  <a:pt x="82334" y="548906"/>
                </a:lnTo>
                <a:lnTo>
                  <a:pt x="140284" y="0"/>
                </a:lnTo>
                <a:lnTo>
                  <a:pt x="776401" y="0"/>
                </a:lnTo>
                <a:lnTo>
                  <a:pt x="776401" y="11569"/>
                </a:lnTo>
                <a:lnTo>
                  <a:pt x="150647" y="11569"/>
                </a:lnTo>
                <a:lnTo>
                  <a:pt x="93963" y="548906"/>
                </a:lnTo>
                <a:close/>
              </a:path>
              <a:path w="776604" h="601345">
                <a:moveTo>
                  <a:pt x="6108" y="407123"/>
                </a:moveTo>
                <a:lnTo>
                  <a:pt x="0" y="402856"/>
                </a:lnTo>
                <a:lnTo>
                  <a:pt x="32334" y="360870"/>
                </a:lnTo>
                <a:lnTo>
                  <a:pt x="39615" y="388251"/>
                </a:lnTo>
                <a:lnTo>
                  <a:pt x="18910" y="388251"/>
                </a:lnTo>
                <a:lnTo>
                  <a:pt x="6108" y="407123"/>
                </a:lnTo>
                <a:close/>
              </a:path>
              <a:path w="776604" h="601345">
                <a:moveTo>
                  <a:pt x="88442" y="601243"/>
                </a:moveTo>
                <a:lnTo>
                  <a:pt x="76847" y="601243"/>
                </a:lnTo>
                <a:lnTo>
                  <a:pt x="18910" y="388251"/>
                </a:lnTo>
                <a:lnTo>
                  <a:pt x="39615" y="388251"/>
                </a:lnTo>
                <a:lnTo>
                  <a:pt x="82334" y="548906"/>
                </a:lnTo>
                <a:lnTo>
                  <a:pt x="93963" y="548906"/>
                </a:lnTo>
                <a:lnTo>
                  <a:pt x="88442" y="601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052449" y="4791976"/>
            <a:ext cx="24130" cy="13970"/>
          </a:xfrm>
          <a:custGeom>
            <a:avLst/>
            <a:gdLst/>
            <a:ahLst/>
            <a:cxnLst/>
            <a:rect l="l" t="t" r="r" b="b"/>
            <a:pathLst>
              <a:path w="24129" h="13970">
                <a:moveTo>
                  <a:pt x="0" y="13385"/>
                </a:moveTo>
                <a:lnTo>
                  <a:pt x="237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076237" y="4791976"/>
            <a:ext cx="57150" cy="93345"/>
          </a:xfrm>
          <a:custGeom>
            <a:avLst/>
            <a:gdLst/>
            <a:ahLst/>
            <a:cxnLst/>
            <a:rect l="l" t="t" r="r" b="b"/>
            <a:pathLst>
              <a:path w="57150" h="93345">
                <a:moveTo>
                  <a:pt x="0" y="0"/>
                </a:moveTo>
                <a:lnTo>
                  <a:pt x="56718" y="9310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132955" y="4638624"/>
            <a:ext cx="62230" cy="247015"/>
          </a:xfrm>
          <a:custGeom>
            <a:avLst/>
            <a:gdLst/>
            <a:ahLst/>
            <a:cxnLst/>
            <a:rect l="l" t="t" r="r" b="b"/>
            <a:pathLst>
              <a:path w="62229" h="247014">
                <a:moveTo>
                  <a:pt x="0" y="246456"/>
                </a:moveTo>
                <a:lnTo>
                  <a:pt x="6221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195172" y="4638624"/>
            <a:ext cx="120650" cy="0"/>
          </a:xfrm>
          <a:custGeom>
            <a:avLst/>
            <a:gdLst/>
            <a:ahLst/>
            <a:cxnLst/>
            <a:rect l="l" t="t" r="r" b="b"/>
            <a:pathLst>
              <a:path w="120650" h="0">
                <a:moveTo>
                  <a:pt x="0" y="0"/>
                </a:moveTo>
                <a:lnTo>
                  <a:pt x="12014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050620" y="4633150"/>
            <a:ext cx="264795" cy="252095"/>
          </a:xfrm>
          <a:custGeom>
            <a:avLst/>
            <a:gdLst/>
            <a:ahLst/>
            <a:cxnLst/>
            <a:rect l="l" t="t" r="r" b="b"/>
            <a:pathLst>
              <a:path w="264795" h="252095">
                <a:moveTo>
                  <a:pt x="94557" y="227584"/>
                </a:moveTo>
                <a:lnTo>
                  <a:pt x="82943" y="227584"/>
                </a:lnTo>
                <a:lnTo>
                  <a:pt x="140284" y="0"/>
                </a:lnTo>
                <a:lnTo>
                  <a:pt x="264693" y="0"/>
                </a:lnTo>
                <a:lnTo>
                  <a:pt x="264693" y="11557"/>
                </a:lnTo>
                <a:lnTo>
                  <a:pt x="148818" y="11557"/>
                </a:lnTo>
                <a:lnTo>
                  <a:pt x="94557" y="227584"/>
                </a:lnTo>
                <a:close/>
              </a:path>
              <a:path w="264795" h="252095">
                <a:moveTo>
                  <a:pt x="3657" y="175856"/>
                </a:moveTo>
                <a:lnTo>
                  <a:pt x="0" y="169163"/>
                </a:lnTo>
                <a:lnTo>
                  <a:pt x="32321" y="151523"/>
                </a:lnTo>
                <a:lnTo>
                  <a:pt x="42041" y="166128"/>
                </a:lnTo>
                <a:lnTo>
                  <a:pt x="19519" y="166128"/>
                </a:lnTo>
                <a:lnTo>
                  <a:pt x="3657" y="175856"/>
                </a:lnTo>
                <a:close/>
              </a:path>
              <a:path w="264795" h="252095">
                <a:moveTo>
                  <a:pt x="88442" y="251929"/>
                </a:moveTo>
                <a:lnTo>
                  <a:pt x="76847" y="251929"/>
                </a:lnTo>
                <a:lnTo>
                  <a:pt x="19519" y="166128"/>
                </a:lnTo>
                <a:lnTo>
                  <a:pt x="42041" y="166128"/>
                </a:lnTo>
                <a:lnTo>
                  <a:pt x="82943" y="227584"/>
                </a:lnTo>
                <a:lnTo>
                  <a:pt x="94557" y="227584"/>
                </a:lnTo>
                <a:lnTo>
                  <a:pt x="88442" y="2519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467180" y="4790147"/>
            <a:ext cx="24765" cy="13335"/>
          </a:xfrm>
          <a:custGeom>
            <a:avLst/>
            <a:gdLst/>
            <a:ahLst/>
            <a:cxnLst/>
            <a:rect l="l" t="t" r="r" b="b"/>
            <a:pathLst>
              <a:path w="24765" h="13335">
                <a:moveTo>
                  <a:pt x="0" y="12776"/>
                </a:moveTo>
                <a:lnTo>
                  <a:pt x="2439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491577" y="4790147"/>
            <a:ext cx="56515" cy="91440"/>
          </a:xfrm>
          <a:custGeom>
            <a:avLst/>
            <a:gdLst/>
            <a:ahLst/>
            <a:cxnLst/>
            <a:rect l="l" t="t" r="r" b="b"/>
            <a:pathLst>
              <a:path w="56515" h="91439">
                <a:moveTo>
                  <a:pt x="0" y="0"/>
                </a:moveTo>
                <a:lnTo>
                  <a:pt x="56108" y="9128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547686" y="4638624"/>
            <a:ext cx="62230" cy="243204"/>
          </a:xfrm>
          <a:custGeom>
            <a:avLst/>
            <a:gdLst/>
            <a:ahLst/>
            <a:cxnLst/>
            <a:rect l="l" t="t" r="r" b="b"/>
            <a:pathLst>
              <a:path w="62229" h="243204">
                <a:moveTo>
                  <a:pt x="0" y="242811"/>
                </a:moveTo>
                <a:lnTo>
                  <a:pt x="6221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609903" y="4638624"/>
            <a:ext cx="135255" cy="0"/>
          </a:xfrm>
          <a:custGeom>
            <a:avLst/>
            <a:gdLst/>
            <a:ahLst/>
            <a:cxnLst/>
            <a:rect l="l" t="t" r="r" b="b"/>
            <a:pathLst>
              <a:path w="135254" h="0">
                <a:moveTo>
                  <a:pt x="0" y="0"/>
                </a:moveTo>
                <a:lnTo>
                  <a:pt x="1347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465352" y="4633150"/>
            <a:ext cx="279400" cy="248285"/>
          </a:xfrm>
          <a:custGeom>
            <a:avLst/>
            <a:gdLst/>
            <a:ahLst/>
            <a:cxnLst/>
            <a:rect l="l" t="t" r="r" b="b"/>
            <a:pathLst>
              <a:path w="279400" h="248285">
                <a:moveTo>
                  <a:pt x="94640" y="223939"/>
                </a:moveTo>
                <a:lnTo>
                  <a:pt x="82943" y="223939"/>
                </a:lnTo>
                <a:lnTo>
                  <a:pt x="140271" y="0"/>
                </a:lnTo>
                <a:lnTo>
                  <a:pt x="279336" y="0"/>
                </a:lnTo>
                <a:lnTo>
                  <a:pt x="279336" y="11557"/>
                </a:lnTo>
                <a:lnTo>
                  <a:pt x="148818" y="11557"/>
                </a:lnTo>
                <a:lnTo>
                  <a:pt x="94640" y="223939"/>
                </a:lnTo>
                <a:close/>
              </a:path>
              <a:path w="279400" h="248285">
                <a:moveTo>
                  <a:pt x="3657" y="173431"/>
                </a:moveTo>
                <a:lnTo>
                  <a:pt x="0" y="166738"/>
                </a:lnTo>
                <a:lnTo>
                  <a:pt x="32321" y="149085"/>
                </a:lnTo>
                <a:lnTo>
                  <a:pt x="43023" y="164909"/>
                </a:lnTo>
                <a:lnTo>
                  <a:pt x="20129" y="164909"/>
                </a:lnTo>
                <a:lnTo>
                  <a:pt x="3657" y="173431"/>
                </a:lnTo>
                <a:close/>
              </a:path>
              <a:path w="279400" h="248285">
                <a:moveTo>
                  <a:pt x="88430" y="248285"/>
                </a:moveTo>
                <a:lnTo>
                  <a:pt x="76847" y="248285"/>
                </a:lnTo>
                <a:lnTo>
                  <a:pt x="20129" y="164909"/>
                </a:lnTo>
                <a:lnTo>
                  <a:pt x="43023" y="164909"/>
                </a:lnTo>
                <a:lnTo>
                  <a:pt x="82943" y="223939"/>
                </a:lnTo>
                <a:lnTo>
                  <a:pt x="94640" y="223939"/>
                </a:lnTo>
                <a:lnTo>
                  <a:pt x="88430" y="2482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4785359" y="4616996"/>
            <a:ext cx="9080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>
                <a:latin typeface="Times New Roman"/>
                <a:cs typeface="Times New Roman"/>
              </a:rPr>
              <a:t>: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33061" y="4799558"/>
            <a:ext cx="129539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 i="1">
                <a:latin typeface="Times New Roman"/>
                <a:cs typeface="Times New Roman"/>
              </a:rPr>
              <a:t>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291378" y="4799558"/>
            <a:ext cx="129539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 i="1">
                <a:latin typeface="Times New Roman"/>
                <a:cs typeface="Times New Roman"/>
              </a:rPr>
              <a:t>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154191" y="4799558"/>
            <a:ext cx="24574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15">
                <a:latin typeface="Times New Roman"/>
                <a:cs typeface="Times New Roman"/>
              </a:rPr>
              <a:t>2</a:t>
            </a:r>
            <a:r>
              <a:rPr dirty="0" sz="1850" spc="-5" i="1">
                <a:latin typeface="Times New Roman"/>
                <a:cs typeface="Times New Roman"/>
              </a:rPr>
              <a:t>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669857" y="4616996"/>
            <a:ext cx="1384300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07034" algn="l"/>
                <a:tab pos="901700" algn="l"/>
                <a:tab pos="1242695" algn="l"/>
              </a:tabLst>
            </a:pPr>
            <a:r>
              <a:rPr dirty="0" sz="1850" spc="-5" i="1">
                <a:latin typeface="Times New Roman"/>
                <a:cs typeface="Times New Roman"/>
              </a:rPr>
              <a:t>r</a:t>
            </a:r>
            <a:r>
              <a:rPr dirty="0" sz="1850" spc="-5" i="1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Times New Roman"/>
                <a:cs typeface="Times New Roman"/>
              </a:rPr>
              <a:t>:</a:t>
            </a:r>
            <a:r>
              <a:rPr dirty="0" sz="1850" spc="-170">
                <a:latin typeface="Times New Roman"/>
                <a:cs typeface="Times New Roman"/>
              </a:rPr>
              <a:t> </a:t>
            </a:r>
            <a:r>
              <a:rPr dirty="0" sz="1850" spc="-5" i="1">
                <a:latin typeface="Times New Roman"/>
                <a:cs typeface="Times New Roman"/>
              </a:rPr>
              <a:t>r</a:t>
            </a:r>
            <a:r>
              <a:rPr dirty="0" sz="1850" i="1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Times New Roman"/>
                <a:cs typeface="Times New Roman"/>
              </a:rPr>
              <a:t>:</a:t>
            </a:r>
            <a:r>
              <a:rPr dirty="0" sz="1850" spc="-170">
                <a:latin typeface="Times New Roman"/>
                <a:cs typeface="Times New Roman"/>
              </a:rPr>
              <a:t> </a:t>
            </a:r>
            <a:r>
              <a:rPr dirty="0" sz="1850" spc="-5" i="1">
                <a:latin typeface="Times New Roman"/>
                <a:cs typeface="Times New Roman"/>
              </a:rPr>
              <a:t>r</a:t>
            </a:r>
            <a:r>
              <a:rPr dirty="0" sz="1850" i="1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Symbol"/>
                <a:cs typeface="Symbol"/>
              </a:rPr>
              <a:t>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696711" y="4616996"/>
            <a:ext cx="205168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56944" algn="l"/>
                <a:tab pos="1499235" algn="l"/>
                <a:tab pos="1920875" algn="l"/>
              </a:tabLst>
            </a:pPr>
            <a:r>
              <a:rPr dirty="0" sz="1850" spc="-5">
                <a:latin typeface="Times New Roman"/>
                <a:cs typeface="Times New Roman"/>
              </a:rPr>
              <a:t>:</a:t>
            </a:r>
            <a:r>
              <a:rPr dirty="0" sz="1850" spc="-5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-240">
                <a:latin typeface="Times New Roman"/>
                <a:cs typeface="Times New Roman"/>
              </a:rPr>
              <a:t> </a:t>
            </a:r>
            <a:r>
              <a:rPr dirty="0" sz="1850" spc="110">
                <a:latin typeface="Times New Roman"/>
                <a:cs typeface="Times New Roman"/>
              </a:rPr>
              <a:t>1</a:t>
            </a:r>
            <a:r>
              <a:rPr dirty="0" sz="1850" spc="-5">
                <a:latin typeface="Times New Roman"/>
                <a:cs typeface="Times New Roman"/>
              </a:rPr>
              <a:t>: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Times New Roman"/>
                <a:cs typeface="Times New Roman"/>
              </a:rPr>
              <a:t>3</a:t>
            </a:r>
            <a:r>
              <a:rPr dirty="0" sz="1850" spc="-120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Times New Roman"/>
                <a:cs typeface="Times New Roman"/>
              </a:rPr>
              <a:t>: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259859" y="4517199"/>
            <a:ext cx="455930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16516" sz="2775" spc="-120" i="1">
                <a:latin typeface="Times New Roman"/>
                <a:cs typeface="Times New Roman"/>
              </a:rPr>
              <a:t>m</a:t>
            </a:r>
            <a:r>
              <a:rPr dirty="0" sz="1050" spc="15">
                <a:latin typeface="宋体"/>
                <a:cs typeface="宋体"/>
              </a:rPr>
              <a:t>质子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058206" y="4450257"/>
            <a:ext cx="1496060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30910" algn="l"/>
              </a:tabLst>
            </a:pPr>
            <a:r>
              <a:rPr dirty="0" sz="1850" spc="-40">
                <a:latin typeface="Times New Roman"/>
                <a:cs typeface="Times New Roman"/>
              </a:rPr>
              <a:t>3</a:t>
            </a:r>
            <a:r>
              <a:rPr dirty="0" sz="1850" spc="-75" i="1">
                <a:latin typeface="Times New Roman"/>
                <a:cs typeface="Times New Roman"/>
              </a:rPr>
              <a:t>m</a:t>
            </a:r>
            <a:r>
              <a:rPr dirty="0" baseline="-29100" sz="1575" spc="22">
                <a:latin typeface="宋体"/>
                <a:cs typeface="宋体"/>
              </a:rPr>
              <a:t>质子</a:t>
            </a:r>
            <a:r>
              <a:rPr dirty="0" baseline="-29100" sz="1575">
                <a:latin typeface="宋体"/>
                <a:cs typeface="宋体"/>
              </a:rPr>
              <a:t>	</a:t>
            </a:r>
            <a:r>
              <a:rPr dirty="0" sz="1850" spc="20">
                <a:latin typeface="Times New Roman"/>
                <a:cs typeface="Times New Roman"/>
              </a:rPr>
              <a:t>4</a:t>
            </a:r>
            <a:r>
              <a:rPr dirty="0" sz="1850" spc="-75" i="1">
                <a:latin typeface="Times New Roman"/>
                <a:cs typeface="Times New Roman"/>
              </a:rPr>
              <a:t>m</a:t>
            </a:r>
            <a:r>
              <a:rPr dirty="0" baseline="-29100" sz="1575" spc="22">
                <a:latin typeface="宋体"/>
                <a:cs typeface="宋体"/>
              </a:rPr>
              <a:t>质子</a:t>
            </a:r>
            <a:endParaRPr baseline="-29100" sz="1575">
              <a:latin typeface="宋体"/>
              <a:cs typeface="宋体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734513" y="4777201"/>
            <a:ext cx="1142365" cy="1968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09270" algn="l"/>
                <a:tab pos="988694" algn="l"/>
              </a:tabLst>
            </a:pPr>
            <a:r>
              <a:rPr dirty="0" sz="1050" spc="15">
                <a:latin typeface="宋体"/>
                <a:cs typeface="宋体"/>
              </a:rPr>
              <a:t>质子	氚核	</a:t>
            </a:r>
            <a:r>
              <a:rPr dirty="0" baseline="2525" sz="1650" spc="-37" i="1">
                <a:latin typeface="Symbol"/>
                <a:cs typeface="Symbol"/>
              </a:rPr>
              <a:t></a:t>
            </a:r>
            <a:endParaRPr baseline="2525" sz="1650">
              <a:latin typeface="Symbol"/>
              <a:cs typeface="Symbo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909360" y="5564835"/>
            <a:ext cx="479425" cy="0"/>
          </a:xfrm>
          <a:custGeom>
            <a:avLst/>
            <a:gdLst/>
            <a:ahLst/>
            <a:cxnLst/>
            <a:rect l="l" t="t" r="r" b="b"/>
            <a:pathLst>
              <a:path w="479425" h="0">
                <a:moveTo>
                  <a:pt x="0" y="0"/>
                </a:moveTo>
                <a:lnTo>
                  <a:pt x="479005" y="0"/>
                </a:lnTo>
              </a:path>
            </a:pathLst>
          </a:custGeom>
          <a:ln w="115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538468" y="5564835"/>
            <a:ext cx="585470" cy="0"/>
          </a:xfrm>
          <a:custGeom>
            <a:avLst/>
            <a:gdLst/>
            <a:ahLst/>
            <a:cxnLst/>
            <a:rect l="l" t="t" r="r" b="b"/>
            <a:pathLst>
              <a:path w="585470" h="0">
                <a:moveTo>
                  <a:pt x="0" y="0"/>
                </a:moveTo>
                <a:lnTo>
                  <a:pt x="585177" y="0"/>
                </a:lnTo>
              </a:path>
            </a:pathLst>
          </a:custGeom>
          <a:ln w="115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273759" y="5564835"/>
            <a:ext cx="600075" cy="0"/>
          </a:xfrm>
          <a:custGeom>
            <a:avLst/>
            <a:gdLst/>
            <a:ahLst/>
            <a:cxnLst/>
            <a:rect l="l" t="t" r="r" b="b"/>
            <a:pathLst>
              <a:path w="600075" h="0">
                <a:moveTo>
                  <a:pt x="0" y="0"/>
                </a:moveTo>
                <a:lnTo>
                  <a:pt x="599821" y="0"/>
                </a:lnTo>
              </a:path>
            </a:pathLst>
          </a:custGeom>
          <a:ln w="115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5335371" y="5377116"/>
            <a:ext cx="243204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>
                <a:latin typeface="Times New Roman"/>
                <a:cs typeface="Times New Roman"/>
              </a:rPr>
              <a:t>:</a:t>
            </a:r>
            <a:r>
              <a:rPr dirty="0" sz="1850" spc="-350">
                <a:latin typeface="Times New Roman"/>
                <a:cs typeface="Times New Roman"/>
              </a:rPr>
              <a:t> </a:t>
            </a:r>
            <a:r>
              <a:rPr dirty="0" sz="1850" spc="-5" i="1">
                <a:latin typeface="Times New Roman"/>
                <a:cs typeface="Times New Roman"/>
              </a:rPr>
              <a:t>T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520633" y="5528838"/>
            <a:ext cx="166370" cy="1968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-25" i="1">
                <a:latin typeface="Symbol"/>
                <a:cs typeface="Symbol"/>
              </a:rPr>
              <a:t></a:t>
            </a:r>
            <a:endParaRPr sz="1100">
              <a:latin typeface="Symbol"/>
              <a:cs typeface="Symbo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920964" y="5377116"/>
            <a:ext cx="770890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-265">
                <a:latin typeface="Times New Roman"/>
                <a:cs typeface="Times New Roman"/>
              </a:rPr>
              <a:t> </a:t>
            </a:r>
            <a:r>
              <a:rPr dirty="0" sz="1850" spc="50">
                <a:latin typeface="Times New Roman"/>
                <a:cs typeface="Times New Roman"/>
              </a:rPr>
              <a:t>1:</a:t>
            </a:r>
            <a:r>
              <a:rPr dirty="0" sz="1850" spc="-250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Times New Roman"/>
                <a:cs typeface="Times New Roman"/>
              </a:rPr>
              <a:t>3</a:t>
            </a:r>
            <a:r>
              <a:rPr dirty="0" sz="1850" spc="-280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Times New Roman"/>
                <a:cs typeface="Times New Roman"/>
              </a:rPr>
              <a:t>:</a:t>
            </a:r>
            <a:r>
              <a:rPr dirty="0" sz="1850" spc="-190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709945" y="5277243"/>
            <a:ext cx="2143125" cy="5892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-24024" sz="2775" spc="-7">
                <a:latin typeface="Symbol"/>
                <a:cs typeface="Symbol"/>
              </a:rPr>
              <a:t></a:t>
            </a:r>
            <a:r>
              <a:rPr dirty="0" baseline="-24024" sz="2775" spc="135">
                <a:latin typeface="Times New Roman"/>
                <a:cs typeface="Times New Roman"/>
              </a:rPr>
              <a:t> </a:t>
            </a:r>
            <a:r>
              <a:rPr dirty="0" baseline="16516" sz="2775" spc="-120" i="1">
                <a:latin typeface="Times New Roman"/>
                <a:cs typeface="Times New Roman"/>
              </a:rPr>
              <a:t>m</a:t>
            </a:r>
            <a:r>
              <a:rPr dirty="0" sz="1050" spc="15">
                <a:latin typeface="宋体"/>
                <a:cs typeface="宋体"/>
              </a:rPr>
              <a:t>质子</a:t>
            </a:r>
            <a:r>
              <a:rPr dirty="0" sz="1050" spc="55">
                <a:latin typeface="宋体"/>
                <a:cs typeface="宋体"/>
              </a:rPr>
              <a:t> </a:t>
            </a:r>
            <a:r>
              <a:rPr dirty="0" baseline="-24024" sz="2775" spc="-7">
                <a:latin typeface="Times New Roman"/>
                <a:cs typeface="Times New Roman"/>
              </a:rPr>
              <a:t>:</a:t>
            </a:r>
            <a:r>
              <a:rPr dirty="0" baseline="-24024" sz="2775" spc="-120">
                <a:latin typeface="Times New Roman"/>
                <a:cs typeface="Times New Roman"/>
              </a:rPr>
              <a:t> </a:t>
            </a:r>
            <a:r>
              <a:rPr dirty="0" baseline="16516" sz="2775" spc="-89">
                <a:latin typeface="Times New Roman"/>
                <a:cs typeface="Times New Roman"/>
              </a:rPr>
              <a:t>3</a:t>
            </a:r>
            <a:r>
              <a:rPr dirty="0" baseline="16516" sz="2775" spc="-89" i="1">
                <a:latin typeface="Times New Roman"/>
                <a:cs typeface="Times New Roman"/>
              </a:rPr>
              <a:t>m</a:t>
            </a:r>
            <a:r>
              <a:rPr dirty="0" sz="1050" spc="15">
                <a:latin typeface="宋体"/>
                <a:cs typeface="宋体"/>
              </a:rPr>
              <a:t>质子</a:t>
            </a:r>
            <a:r>
              <a:rPr dirty="0" sz="1050" spc="50">
                <a:latin typeface="宋体"/>
                <a:cs typeface="宋体"/>
              </a:rPr>
              <a:t> </a:t>
            </a:r>
            <a:r>
              <a:rPr dirty="0" baseline="-24024" sz="2775" spc="-7">
                <a:latin typeface="Times New Roman"/>
                <a:cs typeface="Times New Roman"/>
              </a:rPr>
              <a:t>:</a:t>
            </a:r>
            <a:r>
              <a:rPr dirty="0" baseline="-24024" sz="2775" spc="-44">
                <a:latin typeface="Times New Roman"/>
                <a:cs typeface="Times New Roman"/>
              </a:rPr>
              <a:t> </a:t>
            </a:r>
            <a:r>
              <a:rPr dirty="0" baseline="16516" sz="2775" spc="-44">
                <a:latin typeface="Times New Roman"/>
                <a:cs typeface="Times New Roman"/>
              </a:rPr>
              <a:t>4</a:t>
            </a:r>
            <a:r>
              <a:rPr dirty="0" baseline="16516" sz="2775" spc="-44" i="1">
                <a:latin typeface="Times New Roman"/>
                <a:cs typeface="Times New Roman"/>
              </a:rPr>
              <a:t>m</a:t>
            </a:r>
            <a:r>
              <a:rPr dirty="0" sz="1050" spc="15">
                <a:latin typeface="宋体"/>
                <a:cs typeface="宋体"/>
              </a:rPr>
              <a:t>质子</a:t>
            </a:r>
            <a:endParaRPr sz="1050">
              <a:latin typeface="宋体"/>
              <a:cs typeface="宋体"/>
            </a:endParaRPr>
          </a:p>
          <a:p>
            <a:pPr marL="387350">
              <a:lnSpc>
                <a:spcPct val="100000"/>
              </a:lnSpc>
              <a:spcBef>
                <a:spcPts val="5"/>
              </a:spcBef>
              <a:tabLst>
                <a:tab pos="1068705" algn="l"/>
                <a:tab pos="1755139" algn="l"/>
              </a:tabLst>
            </a:pPr>
            <a:r>
              <a:rPr dirty="0" sz="1850" spc="-5" i="1">
                <a:latin typeface="Times New Roman"/>
                <a:cs typeface="Times New Roman"/>
              </a:rPr>
              <a:t>e	e	</a:t>
            </a:r>
            <a:r>
              <a:rPr dirty="0" sz="1850" spc="-15">
                <a:latin typeface="Times New Roman"/>
                <a:cs typeface="Times New Roman"/>
              </a:rPr>
              <a:t>2</a:t>
            </a:r>
            <a:r>
              <a:rPr dirty="0" sz="1850" spc="-15" i="1">
                <a:latin typeface="Times New Roman"/>
                <a:cs typeface="Times New Roman"/>
              </a:rPr>
              <a:t>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363846" y="5445924"/>
            <a:ext cx="94043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16516" sz="2775" spc="-217" i="1">
                <a:latin typeface="Times New Roman"/>
                <a:cs typeface="Times New Roman"/>
              </a:rPr>
              <a:t>T</a:t>
            </a:r>
            <a:r>
              <a:rPr dirty="0" sz="1050" spc="15">
                <a:latin typeface="宋体"/>
                <a:cs typeface="宋体"/>
              </a:rPr>
              <a:t>质子</a:t>
            </a:r>
            <a:r>
              <a:rPr dirty="0" sz="1050" spc="-120">
                <a:latin typeface="宋体"/>
                <a:cs typeface="宋体"/>
              </a:rPr>
              <a:t> </a:t>
            </a:r>
            <a:r>
              <a:rPr dirty="0" baseline="16516" sz="2775" spc="-7">
                <a:latin typeface="Times New Roman"/>
                <a:cs typeface="Times New Roman"/>
              </a:rPr>
              <a:t>:</a:t>
            </a:r>
            <a:r>
              <a:rPr dirty="0" baseline="16516" sz="2775" spc="-465">
                <a:latin typeface="Times New Roman"/>
                <a:cs typeface="Times New Roman"/>
              </a:rPr>
              <a:t> </a:t>
            </a:r>
            <a:r>
              <a:rPr dirty="0" baseline="16516" sz="2775" spc="-209" i="1">
                <a:latin typeface="Times New Roman"/>
                <a:cs typeface="Times New Roman"/>
              </a:rPr>
              <a:t>T</a:t>
            </a:r>
            <a:r>
              <a:rPr dirty="0" sz="1050" spc="15">
                <a:latin typeface="宋体"/>
                <a:cs typeface="宋体"/>
              </a:rPr>
              <a:t>氚核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038062" y="4006659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 h="0">
                <a:moveTo>
                  <a:pt x="0" y="0"/>
                </a:moveTo>
                <a:lnTo>
                  <a:pt x="300151" y="0"/>
                </a:lnTo>
              </a:path>
            </a:pathLst>
          </a:custGeom>
          <a:ln w="115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587134" y="4006659"/>
            <a:ext cx="289560" cy="0"/>
          </a:xfrm>
          <a:custGeom>
            <a:avLst/>
            <a:gdLst/>
            <a:ahLst/>
            <a:cxnLst/>
            <a:rect l="l" t="t" r="r" b="b"/>
            <a:pathLst>
              <a:path w="289559" h="0">
                <a:moveTo>
                  <a:pt x="0" y="0"/>
                </a:moveTo>
                <a:lnTo>
                  <a:pt x="289166" y="0"/>
                </a:lnTo>
              </a:path>
            </a:pathLst>
          </a:custGeom>
          <a:ln w="115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078853" y="4006659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 h="0">
                <a:moveTo>
                  <a:pt x="0" y="0"/>
                </a:moveTo>
                <a:lnTo>
                  <a:pt x="461213" y="0"/>
                </a:lnTo>
              </a:path>
            </a:pathLst>
          </a:custGeom>
          <a:ln w="115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923278" y="4051096"/>
            <a:ext cx="22860" cy="29845"/>
          </a:xfrm>
          <a:custGeom>
            <a:avLst/>
            <a:gdLst/>
            <a:ahLst/>
            <a:cxnLst/>
            <a:rect l="l" t="t" r="r" b="b"/>
            <a:pathLst>
              <a:path w="22859" h="29845">
                <a:moveTo>
                  <a:pt x="0" y="29222"/>
                </a:moveTo>
                <a:lnTo>
                  <a:pt x="2258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945858" y="4051096"/>
            <a:ext cx="57150" cy="219075"/>
          </a:xfrm>
          <a:custGeom>
            <a:avLst/>
            <a:gdLst/>
            <a:ahLst/>
            <a:cxnLst/>
            <a:rect l="l" t="t" r="r" b="b"/>
            <a:pathLst>
              <a:path w="57150" h="219075">
                <a:moveTo>
                  <a:pt x="0" y="0"/>
                </a:moveTo>
                <a:lnTo>
                  <a:pt x="56730" y="2185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002589" y="3693172"/>
            <a:ext cx="62865" cy="576580"/>
          </a:xfrm>
          <a:custGeom>
            <a:avLst/>
            <a:gdLst/>
            <a:ahLst/>
            <a:cxnLst/>
            <a:rect l="l" t="t" r="r" b="b"/>
            <a:pathLst>
              <a:path w="62865" h="576579">
                <a:moveTo>
                  <a:pt x="0" y="576465"/>
                </a:moveTo>
                <a:lnTo>
                  <a:pt x="6283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065429" y="3693172"/>
            <a:ext cx="493395" cy="0"/>
          </a:xfrm>
          <a:custGeom>
            <a:avLst/>
            <a:gdLst/>
            <a:ahLst/>
            <a:cxnLst/>
            <a:rect l="l" t="t" r="r" b="b"/>
            <a:pathLst>
              <a:path w="493395" h="0">
                <a:moveTo>
                  <a:pt x="0" y="0"/>
                </a:moveTo>
                <a:lnTo>
                  <a:pt x="49293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920230" y="3687698"/>
            <a:ext cx="638175" cy="582295"/>
          </a:xfrm>
          <a:custGeom>
            <a:avLst/>
            <a:gdLst/>
            <a:ahLst/>
            <a:cxnLst/>
            <a:rect l="l" t="t" r="r" b="b"/>
            <a:pathLst>
              <a:path w="638175" h="582295">
                <a:moveTo>
                  <a:pt x="93914" y="531406"/>
                </a:moveTo>
                <a:lnTo>
                  <a:pt x="82359" y="531406"/>
                </a:lnTo>
                <a:lnTo>
                  <a:pt x="140322" y="0"/>
                </a:lnTo>
                <a:lnTo>
                  <a:pt x="638136" y="0"/>
                </a:lnTo>
                <a:lnTo>
                  <a:pt x="638136" y="11556"/>
                </a:lnTo>
                <a:lnTo>
                  <a:pt x="150075" y="11556"/>
                </a:lnTo>
                <a:lnTo>
                  <a:pt x="93914" y="531406"/>
                </a:lnTo>
                <a:close/>
              </a:path>
              <a:path w="638175" h="582295">
                <a:moveTo>
                  <a:pt x="6096" y="395058"/>
                </a:moveTo>
                <a:lnTo>
                  <a:pt x="0" y="390182"/>
                </a:lnTo>
                <a:lnTo>
                  <a:pt x="32334" y="349402"/>
                </a:lnTo>
                <a:lnTo>
                  <a:pt x="40198" y="378015"/>
                </a:lnTo>
                <a:lnTo>
                  <a:pt x="19519" y="378015"/>
                </a:lnTo>
                <a:lnTo>
                  <a:pt x="6096" y="395058"/>
                </a:lnTo>
                <a:close/>
              </a:path>
              <a:path w="638175" h="582295">
                <a:moveTo>
                  <a:pt x="88455" y="581939"/>
                </a:moveTo>
                <a:lnTo>
                  <a:pt x="76873" y="581939"/>
                </a:lnTo>
                <a:lnTo>
                  <a:pt x="19519" y="378015"/>
                </a:lnTo>
                <a:lnTo>
                  <a:pt x="40198" y="378015"/>
                </a:lnTo>
                <a:lnTo>
                  <a:pt x="82359" y="531406"/>
                </a:lnTo>
                <a:lnTo>
                  <a:pt x="93914" y="531406"/>
                </a:lnTo>
                <a:lnTo>
                  <a:pt x="88455" y="581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827416" y="3846576"/>
            <a:ext cx="24130" cy="13970"/>
          </a:xfrm>
          <a:custGeom>
            <a:avLst/>
            <a:gdLst/>
            <a:ahLst/>
            <a:cxnLst/>
            <a:rect l="l" t="t" r="r" b="b"/>
            <a:pathLst>
              <a:path w="24129" h="13970">
                <a:moveTo>
                  <a:pt x="0" y="13385"/>
                </a:moveTo>
                <a:lnTo>
                  <a:pt x="237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851203" y="3846576"/>
            <a:ext cx="57150" cy="93345"/>
          </a:xfrm>
          <a:custGeom>
            <a:avLst/>
            <a:gdLst/>
            <a:ahLst/>
            <a:cxnLst/>
            <a:rect l="l" t="t" r="r" b="b"/>
            <a:pathLst>
              <a:path w="57150" h="93345">
                <a:moveTo>
                  <a:pt x="0" y="0"/>
                </a:moveTo>
                <a:lnTo>
                  <a:pt x="56730" y="9312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907934" y="3693172"/>
            <a:ext cx="62230" cy="247015"/>
          </a:xfrm>
          <a:custGeom>
            <a:avLst/>
            <a:gdLst/>
            <a:ahLst/>
            <a:cxnLst/>
            <a:rect l="l" t="t" r="r" b="b"/>
            <a:pathLst>
              <a:path w="62229" h="247014">
                <a:moveTo>
                  <a:pt x="0" y="246532"/>
                </a:moveTo>
                <a:lnTo>
                  <a:pt x="6222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970164" y="3693172"/>
            <a:ext cx="318135" cy="0"/>
          </a:xfrm>
          <a:custGeom>
            <a:avLst/>
            <a:gdLst/>
            <a:ahLst/>
            <a:cxnLst/>
            <a:rect l="l" t="t" r="r" b="b"/>
            <a:pathLst>
              <a:path w="318134" h="0">
                <a:moveTo>
                  <a:pt x="0" y="0"/>
                </a:moveTo>
                <a:lnTo>
                  <a:pt x="31785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825587" y="3687698"/>
            <a:ext cx="462915" cy="252095"/>
          </a:xfrm>
          <a:custGeom>
            <a:avLst/>
            <a:gdLst/>
            <a:ahLst/>
            <a:cxnLst/>
            <a:rect l="l" t="t" r="r" b="b"/>
            <a:pathLst>
              <a:path w="462915" h="252095">
                <a:moveTo>
                  <a:pt x="94571" y="227660"/>
                </a:moveTo>
                <a:lnTo>
                  <a:pt x="82969" y="227660"/>
                </a:lnTo>
                <a:lnTo>
                  <a:pt x="140309" y="0"/>
                </a:lnTo>
                <a:lnTo>
                  <a:pt x="462432" y="0"/>
                </a:lnTo>
                <a:lnTo>
                  <a:pt x="462432" y="11556"/>
                </a:lnTo>
                <a:lnTo>
                  <a:pt x="148856" y="11556"/>
                </a:lnTo>
                <a:lnTo>
                  <a:pt x="94571" y="227660"/>
                </a:lnTo>
                <a:close/>
              </a:path>
              <a:path w="462915" h="252095">
                <a:moveTo>
                  <a:pt x="3657" y="175920"/>
                </a:moveTo>
                <a:lnTo>
                  <a:pt x="0" y="169227"/>
                </a:lnTo>
                <a:lnTo>
                  <a:pt x="32321" y="151574"/>
                </a:lnTo>
                <a:lnTo>
                  <a:pt x="42043" y="166179"/>
                </a:lnTo>
                <a:lnTo>
                  <a:pt x="19519" y="166179"/>
                </a:lnTo>
                <a:lnTo>
                  <a:pt x="3657" y="175920"/>
                </a:lnTo>
                <a:close/>
              </a:path>
              <a:path w="462915" h="252095">
                <a:moveTo>
                  <a:pt x="88455" y="252006"/>
                </a:moveTo>
                <a:lnTo>
                  <a:pt x="76860" y="252006"/>
                </a:lnTo>
                <a:lnTo>
                  <a:pt x="19519" y="166179"/>
                </a:lnTo>
                <a:lnTo>
                  <a:pt x="42043" y="166179"/>
                </a:lnTo>
                <a:lnTo>
                  <a:pt x="82969" y="227660"/>
                </a:lnTo>
                <a:lnTo>
                  <a:pt x="94571" y="227660"/>
                </a:lnTo>
                <a:lnTo>
                  <a:pt x="88455" y="252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807273" y="4006659"/>
            <a:ext cx="499109" cy="0"/>
          </a:xfrm>
          <a:custGeom>
            <a:avLst/>
            <a:gdLst/>
            <a:ahLst/>
            <a:cxnLst/>
            <a:rect l="l" t="t" r="r" b="b"/>
            <a:pathLst>
              <a:path w="499109" h="0">
                <a:moveTo>
                  <a:pt x="0" y="0"/>
                </a:moveTo>
                <a:lnTo>
                  <a:pt x="499046" y="0"/>
                </a:lnTo>
              </a:path>
            </a:pathLst>
          </a:custGeom>
          <a:ln w="115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8593048" y="4006659"/>
            <a:ext cx="194310" cy="0"/>
          </a:xfrm>
          <a:custGeom>
            <a:avLst/>
            <a:gdLst/>
            <a:ahLst/>
            <a:cxnLst/>
            <a:rect l="l" t="t" r="r" b="b"/>
            <a:pathLst>
              <a:path w="194309" h="0">
                <a:moveTo>
                  <a:pt x="0" y="0"/>
                </a:moveTo>
                <a:lnTo>
                  <a:pt x="194005" y="0"/>
                </a:lnTo>
              </a:path>
            </a:pathLst>
          </a:custGeom>
          <a:ln w="115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437486" y="4079709"/>
            <a:ext cx="22860" cy="31750"/>
          </a:xfrm>
          <a:custGeom>
            <a:avLst/>
            <a:gdLst/>
            <a:ahLst/>
            <a:cxnLst/>
            <a:rect l="l" t="t" r="r" b="b"/>
            <a:pathLst>
              <a:path w="22859" h="31750">
                <a:moveTo>
                  <a:pt x="0" y="31661"/>
                </a:moveTo>
                <a:lnTo>
                  <a:pt x="2256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8460054" y="4079709"/>
            <a:ext cx="57150" cy="237490"/>
          </a:xfrm>
          <a:custGeom>
            <a:avLst/>
            <a:gdLst/>
            <a:ahLst/>
            <a:cxnLst/>
            <a:rect l="l" t="t" r="r" b="b"/>
            <a:pathLst>
              <a:path w="57150" h="237489">
                <a:moveTo>
                  <a:pt x="0" y="0"/>
                </a:moveTo>
                <a:lnTo>
                  <a:pt x="56743" y="23740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8516797" y="3693172"/>
            <a:ext cx="62865" cy="624205"/>
          </a:xfrm>
          <a:custGeom>
            <a:avLst/>
            <a:gdLst/>
            <a:ahLst/>
            <a:cxnLst/>
            <a:rect l="l" t="t" r="r" b="b"/>
            <a:pathLst>
              <a:path w="62865" h="624204">
                <a:moveTo>
                  <a:pt x="0" y="623938"/>
                </a:moveTo>
                <a:lnTo>
                  <a:pt x="6283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8579637" y="3693172"/>
            <a:ext cx="226060" cy="0"/>
          </a:xfrm>
          <a:custGeom>
            <a:avLst/>
            <a:gdLst/>
            <a:ahLst/>
            <a:cxnLst/>
            <a:rect l="l" t="t" r="r" b="b"/>
            <a:pathLst>
              <a:path w="226059" h="0">
                <a:moveTo>
                  <a:pt x="0" y="0"/>
                </a:moveTo>
                <a:lnTo>
                  <a:pt x="22571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8434438" y="3687698"/>
            <a:ext cx="371475" cy="629920"/>
          </a:xfrm>
          <a:custGeom>
            <a:avLst/>
            <a:gdLst/>
            <a:ahLst/>
            <a:cxnLst/>
            <a:rect l="l" t="t" r="r" b="b"/>
            <a:pathLst>
              <a:path w="371475" h="629920">
                <a:moveTo>
                  <a:pt x="93973" y="574624"/>
                </a:moveTo>
                <a:lnTo>
                  <a:pt x="82359" y="574624"/>
                </a:lnTo>
                <a:lnTo>
                  <a:pt x="140309" y="0"/>
                </a:lnTo>
                <a:lnTo>
                  <a:pt x="370916" y="0"/>
                </a:lnTo>
                <a:lnTo>
                  <a:pt x="370916" y="11556"/>
                </a:lnTo>
                <a:lnTo>
                  <a:pt x="150685" y="11556"/>
                </a:lnTo>
                <a:lnTo>
                  <a:pt x="93973" y="574624"/>
                </a:lnTo>
                <a:close/>
              </a:path>
              <a:path w="371475" h="629920">
                <a:moveTo>
                  <a:pt x="6096" y="426097"/>
                </a:moveTo>
                <a:lnTo>
                  <a:pt x="0" y="421843"/>
                </a:lnTo>
                <a:lnTo>
                  <a:pt x="32334" y="378015"/>
                </a:lnTo>
                <a:lnTo>
                  <a:pt x="39614" y="406628"/>
                </a:lnTo>
                <a:lnTo>
                  <a:pt x="18910" y="406628"/>
                </a:lnTo>
                <a:lnTo>
                  <a:pt x="6096" y="426097"/>
                </a:lnTo>
                <a:close/>
              </a:path>
              <a:path w="371475" h="629920">
                <a:moveTo>
                  <a:pt x="88455" y="629412"/>
                </a:moveTo>
                <a:lnTo>
                  <a:pt x="76860" y="629412"/>
                </a:lnTo>
                <a:lnTo>
                  <a:pt x="18910" y="406628"/>
                </a:lnTo>
                <a:lnTo>
                  <a:pt x="39614" y="406628"/>
                </a:lnTo>
                <a:lnTo>
                  <a:pt x="82359" y="574624"/>
                </a:lnTo>
                <a:lnTo>
                  <a:pt x="93973" y="574624"/>
                </a:lnTo>
                <a:lnTo>
                  <a:pt x="88455" y="6294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6045492" y="4001541"/>
            <a:ext cx="82867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55625" algn="l"/>
              </a:tabLst>
            </a:pPr>
            <a:r>
              <a:rPr dirty="0" sz="1850" spc="-5" i="1">
                <a:latin typeface="Times New Roman"/>
                <a:cs typeface="Times New Roman"/>
              </a:rPr>
              <a:t>qB</a:t>
            </a:r>
            <a:r>
              <a:rPr dirty="0" sz="1850" spc="-5" i="1">
                <a:latin typeface="Times New Roman"/>
                <a:cs typeface="Times New Roman"/>
              </a:rPr>
              <a:t>	</a:t>
            </a:r>
            <a:r>
              <a:rPr dirty="0" sz="1850" spc="-5" i="1">
                <a:latin typeface="Times New Roman"/>
                <a:cs typeface="Times New Roman"/>
              </a:rPr>
              <a:t>qB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080796" y="3622603"/>
            <a:ext cx="1706880" cy="68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4780" marR="5080" indent="-132715">
              <a:lnSpc>
                <a:spcPct val="117000"/>
              </a:lnSpc>
              <a:spcBef>
                <a:spcPts val="100"/>
              </a:spcBef>
              <a:tabLst>
                <a:tab pos="898525" algn="l"/>
                <a:tab pos="1524635" algn="l"/>
                <a:tab pos="1548130" algn="l"/>
              </a:tabLst>
            </a:pPr>
            <a:r>
              <a:rPr dirty="0" sz="1850" spc="15">
                <a:latin typeface="Times New Roman"/>
                <a:cs typeface="Times New Roman"/>
              </a:rPr>
              <a:t>2</a:t>
            </a:r>
            <a:r>
              <a:rPr dirty="0" sz="1850" spc="-5" i="1">
                <a:latin typeface="Times New Roman"/>
                <a:cs typeface="Times New Roman"/>
              </a:rPr>
              <a:t>qU</a:t>
            </a:r>
            <a:r>
              <a:rPr dirty="0" sz="1850" i="1">
                <a:latin typeface="Times New Roman"/>
                <a:cs typeface="Times New Roman"/>
              </a:rPr>
              <a:t> </a:t>
            </a:r>
            <a:r>
              <a:rPr dirty="0" sz="1850" spc="15" i="1">
                <a:latin typeface="Times New Roman"/>
                <a:cs typeface="Times New Roman"/>
              </a:rPr>
              <a:t> </a:t>
            </a:r>
            <a:r>
              <a:rPr dirty="0" baseline="-34534" sz="2775" spc="-7">
                <a:latin typeface="Symbol"/>
                <a:cs typeface="Symbol"/>
              </a:rPr>
              <a:t></a:t>
            </a:r>
            <a:r>
              <a:rPr dirty="0" baseline="-34534" sz="2775">
                <a:latin typeface="Times New Roman"/>
                <a:cs typeface="Times New Roman"/>
              </a:rPr>
              <a:t>	</a:t>
            </a:r>
            <a:r>
              <a:rPr dirty="0" sz="1850" spc="-160">
                <a:latin typeface="Times New Roman"/>
                <a:cs typeface="Times New Roman"/>
              </a:rPr>
              <a:t>2</a:t>
            </a:r>
            <a:r>
              <a:rPr dirty="0" sz="1850" spc="-5" i="1">
                <a:latin typeface="Times New Roman"/>
                <a:cs typeface="Times New Roman"/>
              </a:rPr>
              <a:t>U</a:t>
            </a:r>
            <a:r>
              <a:rPr dirty="0" sz="1850" i="1">
                <a:latin typeface="Times New Roman"/>
                <a:cs typeface="Times New Roman"/>
              </a:rPr>
              <a:t> </a:t>
            </a:r>
            <a:r>
              <a:rPr dirty="0" sz="1850" spc="-185" i="1">
                <a:latin typeface="Times New Roman"/>
                <a:cs typeface="Times New Roman"/>
              </a:rPr>
              <a:t> </a:t>
            </a:r>
            <a:r>
              <a:rPr dirty="0" baseline="-34534" sz="2775" spc="-832">
                <a:latin typeface="Symbol"/>
                <a:cs typeface="Symbol"/>
              </a:rPr>
              <a:t></a:t>
            </a:r>
            <a:r>
              <a:rPr dirty="0" baseline="-34534" sz="2775">
                <a:latin typeface="Times New Roman"/>
                <a:cs typeface="Times New Roman"/>
              </a:rPr>
              <a:t>	</a:t>
            </a:r>
            <a:r>
              <a:rPr dirty="0" sz="1850" spc="-5" i="1">
                <a:latin typeface="Times New Roman"/>
                <a:cs typeface="Times New Roman"/>
              </a:rPr>
              <a:t>m </a:t>
            </a:r>
            <a:r>
              <a:rPr dirty="0" sz="1850" spc="-5" i="1">
                <a:latin typeface="Times New Roman"/>
                <a:cs typeface="Times New Roman"/>
              </a:rPr>
              <a:t> </a:t>
            </a:r>
            <a:r>
              <a:rPr dirty="0" sz="1850" spc="-5" i="1">
                <a:latin typeface="Times New Roman"/>
                <a:cs typeface="Times New Roman"/>
              </a:rPr>
              <a:t>m	B		q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3029496" y="5578005"/>
            <a:ext cx="396240" cy="0"/>
          </a:xfrm>
          <a:custGeom>
            <a:avLst/>
            <a:gdLst/>
            <a:ahLst/>
            <a:cxnLst/>
            <a:rect l="l" t="t" r="r" b="b"/>
            <a:pathLst>
              <a:path w="396239" h="0">
                <a:moveTo>
                  <a:pt x="0" y="0"/>
                </a:moveTo>
                <a:lnTo>
                  <a:pt x="396239" y="0"/>
                </a:lnTo>
              </a:path>
            </a:pathLst>
          </a:custGeom>
          <a:ln w="116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3675227" y="5578005"/>
            <a:ext cx="462280" cy="0"/>
          </a:xfrm>
          <a:custGeom>
            <a:avLst/>
            <a:gdLst/>
            <a:ahLst/>
            <a:cxnLst/>
            <a:rect l="l" t="t" r="r" b="b"/>
            <a:pathLst>
              <a:path w="462279" h="0">
                <a:moveTo>
                  <a:pt x="0" y="0"/>
                </a:moveTo>
                <a:lnTo>
                  <a:pt x="462280" y="0"/>
                </a:lnTo>
              </a:path>
            </a:pathLst>
          </a:custGeom>
          <a:ln w="116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2616898" y="5180126"/>
            <a:ext cx="1520825" cy="69977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baseline="-34534" sz="2775" spc="-7" i="1">
                <a:latin typeface="Times New Roman"/>
                <a:cs typeface="Times New Roman"/>
              </a:rPr>
              <a:t>T  </a:t>
            </a:r>
            <a:r>
              <a:rPr dirty="0" baseline="-34534" sz="2775" spc="-7">
                <a:latin typeface="Symbol"/>
                <a:cs typeface="Symbol"/>
              </a:rPr>
              <a:t></a:t>
            </a:r>
            <a:r>
              <a:rPr dirty="0" baseline="-34534" sz="2775" spc="-7">
                <a:latin typeface="Times New Roman"/>
                <a:cs typeface="Times New Roman"/>
              </a:rPr>
              <a:t> </a:t>
            </a:r>
            <a:r>
              <a:rPr dirty="0" sz="1850" spc="-215">
                <a:latin typeface="Times New Roman"/>
                <a:cs typeface="Times New Roman"/>
              </a:rPr>
              <a:t>2</a:t>
            </a:r>
            <a:r>
              <a:rPr dirty="0" sz="1950" spc="-215" i="1">
                <a:latin typeface="Symbol"/>
                <a:cs typeface="Symbol"/>
              </a:rPr>
              <a:t></a:t>
            </a:r>
            <a:r>
              <a:rPr dirty="0" sz="1850" spc="-215" i="1">
                <a:latin typeface="Times New Roman"/>
                <a:cs typeface="Times New Roman"/>
              </a:rPr>
              <a:t>r   </a:t>
            </a:r>
            <a:r>
              <a:rPr dirty="0" baseline="-34534" sz="2775" spc="-7">
                <a:latin typeface="Symbol"/>
                <a:cs typeface="Symbol"/>
              </a:rPr>
              <a:t></a:t>
            </a:r>
            <a:r>
              <a:rPr dirty="0" baseline="-34534" sz="2775" spc="-330">
                <a:latin typeface="Times New Roman"/>
                <a:cs typeface="Times New Roman"/>
              </a:rPr>
              <a:t> </a:t>
            </a:r>
            <a:r>
              <a:rPr dirty="0" sz="1850" spc="-220">
                <a:latin typeface="Times New Roman"/>
                <a:cs typeface="Times New Roman"/>
              </a:rPr>
              <a:t>2</a:t>
            </a:r>
            <a:r>
              <a:rPr dirty="0" sz="1950" spc="-220" i="1">
                <a:latin typeface="Symbol"/>
                <a:cs typeface="Symbol"/>
              </a:rPr>
              <a:t></a:t>
            </a:r>
            <a:r>
              <a:rPr dirty="0" sz="1850" spc="-220" i="1">
                <a:latin typeface="Times New Roman"/>
                <a:cs typeface="Times New Roman"/>
              </a:rPr>
              <a:t>m</a:t>
            </a:r>
            <a:endParaRPr sz="1850">
              <a:latin typeface="Times New Roman"/>
              <a:cs typeface="Times New Roman"/>
            </a:endParaRPr>
          </a:p>
          <a:p>
            <a:pPr marL="557530">
              <a:lnSpc>
                <a:spcPct val="100000"/>
              </a:lnSpc>
              <a:spcBef>
                <a:spcPts val="365"/>
              </a:spcBef>
              <a:tabLst>
                <a:tab pos="1156970" algn="l"/>
              </a:tabLst>
            </a:pPr>
            <a:r>
              <a:rPr dirty="0" sz="1850" spc="-5" i="1">
                <a:latin typeface="Times New Roman"/>
                <a:cs typeface="Times New Roman"/>
              </a:rPr>
              <a:t>v	qB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89" name="object 89"/>
          <p:cNvSpPr txBox="1"/>
          <p:nvPr/>
        </p:nvSpPr>
        <p:spPr>
          <a:xfrm>
            <a:off x="2500642" y="3105734"/>
            <a:ext cx="2820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在电场中，由动能定理</a:t>
            </a:r>
            <a:r>
              <a:rPr dirty="0" sz="2000" spc="5" i="1">
                <a:latin typeface="华文楷体"/>
                <a:cs typeface="华文楷体"/>
              </a:rPr>
              <a:t>：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529230" y="3807650"/>
            <a:ext cx="430149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在磁场中做匀速圆周运动</a:t>
            </a:r>
            <a:r>
              <a:rPr dirty="0" sz="2000" spc="5" i="1">
                <a:latin typeface="华文楷体"/>
                <a:cs typeface="华文楷体"/>
              </a:rPr>
              <a:t>：</a:t>
            </a:r>
            <a:r>
              <a:rPr dirty="0" sz="2000" spc="285" i="1">
                <a:latin typeface="华文楷体"/>
                <a:cs typeface="华文楷体"/>
              </a:rPr>
              <a:t> </a:t>
            </a:r>
            <a:r>
              <a:rPr dirty="0" baseline="1501" sz="2775" spc="-7" i="1">
                <a:latin typeface="Times New Roman"/>
                <a:cs typeface="Times New Roman"/>
              </a:rPr>
              <a:t>r</a:t>
            </a:r>
            <a:r>
              <a:rPr dirty="0" baseline="1501" sz="2775" spc="67" i="1">
                <a:latin typeface="Times New Roman"/>
                <a:cs typeface="Times New Roman"/>
              </a:rPr>
              <a:t> </a:t>
            </a:r>
            <a:r>
              <a:rPr dirty="0" baseline="1501" sz="2775" spc="-7">
                <a:latin typeface="Symbol"/>
                <a:cs typeface="Symbol"/>
              </a:rPr>
              <a:t></a:t>
            </a:r>
            <a:r>
              <a:rPr dirty="0" baseline="1501" sz="2775" spc="142">
                <a:latin typeface="Times New Roman"/>
                <a:cs typeface="Times New Roman"/>
              </a:rPr>
              <a:t> </a:t>
            </a:r>
            <a:r>
              <a:rPr dirty="0" baseline="37537" sz="2775" spc="-15" i="1">
                <a:latin typeface="Times New Roman"/>
                <a:cs typeface="Times New Roman"/>
              </a:rPr>
              <a:t>mv</a:t>
            </a:r>
            <a:r>
              <a:rPr dirty="0" baseline="37537" sz="2775" spc="157" i="1">
                <a:latin typeface="Times New Roman"/>
                <a:cs typeface="Times New Roman"/>
              </a:rPr>
              <a:t> </a:t>
            </a:r>
            <a:r>
              <a:rPr dirty="0" baseline="1501" sz="2775" spc="-7">
                <a:latin typeface="Symbol"/>
                <a:cs typeface="Symbol"/>
              </a:rPr>
              <a:t></a:t>
            </a:r>
            <a:r>
              <a:rPr dirty="0" baseline="1501" sz="2775" spc="7">
                <a:latin typeface="Times New Roman"/>
                <a:cs typeface="Times New Roman"/>
              </a:rPr>
              <a:t> </a:t>
            </a:r>
            <a:r>
              <a:rPr dirty="0" baseline="37537" sz="2775" spc="-7" i="1">
                <a:latin typeface="Times New Roman"/>
                <a:cs typeface="Times New Roman"/>
              </a:rPr>
              <a:t>m</a:t>
            </a:r>
            <a:endParaRPr baseline="37537" sz="277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2354" y="1385608"/>
            <a:ext cx="193802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小结（一</a:t>
            </a:r>
            <a:r>
              <a:rPr dirty="0" spc="-15"/>
              <a:t>）</a:t>
            </a:r>
          </a:p>
        </p:txBody>
      </p:sp>
      <p:sp>
        <p:nvSpPr>
          <p:cNvPr id="3" name="object 3"/>
          <p:cNvSpPr/>
          <p:nvPr/>
        </p:nvSpPr>
        <p:spPr>
          <a:xfrm>
            <a:off x="3212592" y="1673351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1" y="0"/>
                </a:lnTo>
                <a:lnTo>
                  <a:pt x="362711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10711" y="1897379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57574" y="2042706"/>
            <a:ext cx="4732655" cy="0"/>
          </a:xfrm>
          <a:custGeom>
            <a:avLst/>
            <a:gdLst/>
            <a:ahLst/>
            <a:cxnLst/>
            <a:rect l="l" t="t" r="r" b="b"/>
            <a:pathLst>
              <a:path w="4732655" h="0">
                <a:moveTo>
                  <a:pt x="0" y="0"/>
                </a:moveTo>
                <a:lnTo>
                  <a:pt x="4732426" y="0"/>
                </a:lnTo>
              </a:path>
            </a:pathLst>
          </a:custGeom>
          <a:ln w="12700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647276" y="2233256"/>
            <a:ext cx="6121400" cy="3513454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157480">
              <a:lnSpc>
                <a:spcPts val="2840"/>
              </a:lnSpc>
              <a:spcBef>
                <a:spcPts val="225"/>
              </a:spcBef>
            </a:pPr>
            <a:r>
              <a:rPr dirty="0" sz="2400">
                <a:latin typeface="Times New Roman"/>
                <a:cs typeface="Times New Roman"/>
              </a:rPr>
              <a:t>1</a:t>
            </a:r>
            <a:r>
              <a:rPr dirty="0" sz="2400" i="1">
                <a:latin typeface="华文楷体"/>
                <a:cs typeface="华文楷体"/>
              </a:rPr>
              <a:t>、带电粒子在足够大的匀强磁场中垂直磁感 线方向运动，运动轨迹是一个完整的圆；</a:t>
            </a:r>
            <a:endParaRPr sz="2400">
              <a:latin typeface="华文楷体"/>
              <a:cs typeface="华文楷体"/>
            </a:endParaRPr>
          </a:p>
          <a:p>
            <a:pPr marL="12700" marR="5080">
              <a:lnSpc>
                <a:spcPct val="99300"/>
              </a:lnSpc>
              <a:spcBef>
                <a:spcPts val="2240"/>
              </a:spcBef>
            </a:pPr>
            <a:r>
              <a:rPr dirty="0" sz="2400">
                <a:latin typeface="Times New Roman"/>
                <a:cs typeface="Times New Roman"/>
              </a:rPr>
              <a:t>2</a:t>
            </a:r>
            <a:r>
              <a:rPr dirty="0" sz="2400" i="1">
                <a:latin typeface="华文楷体"/>
                <a:cs typeface="华文楷体"/>
              </a:rPr>
              <a:t>、分析粒子的圆周运动，要从粒子的动力学 规律入手，由洛伦兹力提供向心力，得到相关 物理量间之间的关系；</a:t>
            </a:r>
            <a:endParaRPr sz="2400">
              <a:latin typeface="华文楷体"/>
              <a:cs typeface="华文楷体"/>
            </a:endParaRPr>
          </a:p>
          <a:p>
            <a:pPr algn="just" marL="12700" marR="157480">
              <a:lnSpc>
                <a:spcPct val="99300"/>
              </a:lnSpc>
              <a:spcBef>
                <a:spcPts val="2255"/>
              </a:spcBef>
            </a:pPr>
            <a:r>
              <a:rPr dirty="0" sz="2400">
                <a:latin typeface="Times New Roman"/>
                <a:cs typeface="Times New Roman"/>
              </a:rPr>
              <a:t>3</a:t>
            </a:r>
            <a:r>
              <a:rPr dirty="0" sz="2400" i="1">
                <a:latin typeface="华文楷体"/>
                <a:cs typeface="华文楷体"/>
              </a:rPr>
              <a:t>、带电粒子在磁场中做圆周运动的周期只与 粒子的比荷（电荷量与质量的比值</a:t>
            </a:r>
            <a:r>
              <a:rPr dirty="0" sz="2400" i="1">
                <a:latin typeface="Times New Roman"/>
                <a:cs typeface="Times New Roman"/>
              </a:rPr>
              <a:t>q</a:t>
            </a:r>
            <a:r>
              <a:rPr dirty="0" sz="2400" spc="-5">
                <a:latin typeface="Times New Roman"/>
                <a:cs typeface="Times New Roman"/>
              </a:rPr>
              <a:t>/</a:t>
            </a:r>
            <a:r>
              <a:rPr dirty="0" sz="2400" i="1">
                <a:latin typeface="Times New Roman"/>
                <a:cs typeface="Times New Roman"/>
              </a:rPr>
              <a:t>m</a:t>
            </a:r>
            <a:r>
              <a:rPr dirty="0" sz="2400" i="1">
                <a:latin typeface="华文楷体"/>
                <a:cs typeface="华文楷体"/>
              </a:rPr>
              <a:t>）和磁 感应强度大小有关，与粒子速度大小无关。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72899" y="1461414"/>
            <a:ext cx="977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黑体"/>
                <a:cs typeface="黑体"/>
              </a:rPr>
              <a:t>例题4</a:t>
            </a:r>
          </a:p>
        </p:txBody>
      </p:sp>
      <p:sp>
        <p:nvSpPr>
          <p:cNvPr id="3" name="object 3"/>
          <p:cNvSpPr/>
          <p:nvPr/>
        </p:nvSpPr>
        <p:spPr>
          <a:xfrm>
            <a:off x="2464307" y="1456944"/>
            <a:ext cx="1091183" cy="664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33215" y="1743455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32859" y="1967483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96119" y="2020430"/>
            <a:ext cx="4732655" cy="0"/>
          </a:xfrm>
          <a:custGeom>
            <a:avLst/>
            <a:gdLst/>
            <a:ahLst/>
            <a:cxnLst/>
            <a:rect l="l" t="t" r="r" b="b"/>
            <a:pathLst>
              <a:path w="4732655" h="0">
                <a:moveTo>
                  <a:pt x="0" y="0"/>
                </a:moveTo>
                <a:lnTo>
                  <a:pt x="4732426" y="0"/>
                </a:lnTo>
              </a:path>
            </a:pathLst>
          </a:custGeom>
          <a:ln w="12700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542755" y="2203678"/>
            <a:ext cx="6376035" cy="2160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如图所示，矩形匀强磁场区域</a:t>
            </a:r>
            <a:r>
              <a:rPr dirty="0" sz="2000" spc="-5" i="1">
                <a:latin typeface="Times New Roman"/>
                <a:cs typeface="Times New Roman"/>
              </a:rPr>
              <a:t>ab</a:t>
            </a:r>
            <a:r>
              <a:rPr dirty="0" sz="2000" i="1">
                <a:latin typeface="Times New Roman"/>
                <a:cs typeface="Times New Roman"/>
              </a:rPr>
              <a:t>c</a:t>
            </a:r>
            <a:r>
              <a:rPr dirty="0" sz="2000" spc="-5" i="1">
                <a:latin typeface="Times New Roman"/>
                <a:cs typeface="Times New Roman"/>
              </a:rPr>
              <a:t>d</a:t>
            </a:r>
            <a:r>
              <a:rPr dirty="0" sz="2000" i="1">
                <a:latin typeface="华文楷体"/>
                <a:cs typeface="华文楷体"/>
              </a:rPr>
              <a:t>的长为</a:t>
            </a:r>
            <a:r>
              <a:rPr dirty="0" sz="2000" spc="-5">
                <a:latin typeface="Times New Roman"/>
                <a:cs typeface="Times New Roman"/>
              </a:rPr>
              <a:t>2</a:t>
            </a:r>
            <a:r>
              <a:rPr dirty="0" sz="2000" spc="-5" i="1">
                <a:latin typeface="Times New Roman"/>
                <a:cs typeface="Times New Roman"/>
              </a:rPr>
              <a:t>l</a:t>
            </a:r>
            <a:r>
              <a:rPr dirty="0" sz="2000" i="1">
                <a:latin typeface="华文楷体"/>
                <a:cs typeface="华文楷体"/>
              </a:rPr>
              <a:t>，宽为</a:t>
            </a:r>
            <a:r>
              <a:rPr dirty="0" sz="2000" spc="-5" i="1">
                <a:latin typeface="Times New Roman"/>
                <a:cs typeface="Times New Roman"/>
              </a:rPr>
              <a:t>l</a:t>
            </a:r>
            <a:r>
              <a:rPr dirty="0" sz="2000" i="1">
                <a:latin typeface="华文楷体"/>
                <a:cs typeface="华文楷体"/>
              </a:rPr>
              <a:t>，匀</a:t>
            </a:r>
            <a:r>
              <a:rPr dirty="0" sz="2000" i="1">
                <a:latin typeface="华文楷体"/>
                <a:cs typeface="华文楷体"/>
              </a:rPr>
              <a:t>强 </a:t>
            </a:r>
            <a:r>
              <a:rPr dirty="0" sz="2000" i="1">
                <a:latin typeface="华文楷体"/>
                <a:cs typeface="华文楷体"/>
              </a:rPr>
              <a:t>磁场的磁感应强度为</a:t>
            </a:r>
            <a:r>
              <a:rPr dirty="0" sz="2000" spc="-5" i="1">
                <a:latin typeface="Times New Roman"/>
                <a:cs typeface="Times New Roman"/>
              </a:rPr>
              <a:t>B</a:t>
            </a:r>
            <a:r>
              <a:rPr dirty="0" sz="2000" spc="-5" i="1">
                <a:latin typeface="华文楷体"/>
                <a:cs typeface="华文楷体"/>
              </a:rPr>
              <a:t>，</a:t>
            </a:r>
            <a:r>
              <a:rPr dirty="0" sz="2000" i="1">
                <a:latin typeface="华文楷体"/>
                <a:cs typeface="华文楷体"/>
              </a:rPr>
              <a:t>质量为</a:t>
            </a:r>
            <a:r>
              <a:rPr dirty="0" sz="2000" spc="-5" i="1">
                <a:latin typeface="Times New Roman"/>
                <a:cs typeface="Times New Roman"/>
              </a:rPr>
              <a:t>m</a:t>
            </a:r>
            <a:r>
              <a:rPr dirty="0" sz="2000" spc="-5" i="1">
                <a:latin typeface="华文楷体"/>
                <a:cs typeface="华文楷体"/>
              </a:rPr>
              <a:t>，</a:t>
            </a:r>
            <a:r>
              <a:rPr dirty="0" sz="2000" i="1">
                <a:latin typeface="华文楷体"/>
                <a:cs typeface="华文楷体"/>
              </a:rPr>
              <a:t>电荷量为</a:t>
            </a:r>
            <a:r>
              <a:rPr dirty="0" sz="2000" i="1">
                <a:latin typeface="Times New Roman"/>
                <a:cs typeface="Times New Roman"/>
              </a:rPr>
              <a:t>e</a:t>
            </a:r>
            <a:r>
              <a:rPr dirty="0" sz="2000" i="1">
                <a:latin typeface="华文楷体"/>
                <a:cs typeface="华文楷体"/>
              </a:rPr>
              <a:t>的电子沿</a:t>
            </a:r>
            <a:r>
              <a:rPr dirty="0" sz="2000" spc="5" i="1">
                <a:latin typeface="华文楷体"/>
                <a:cs typeface="华文楷体"/>
              </a:rPr>
              <a:t>着 </a:t>
            </a:r>
            <a:r>
              <a:rPr dirty="0" sz="2000" i="1">
                <a:latin typeface="华文楷体"/>
                <a:cs typeface="华文楷体"/>
              </a:rPr>
              <a:t>矩形磁场的上方边界由</a:t>
            </a:r>
            <a:r>
              <a:rPr dirty="0" sz="2000" spc="-5" i="1">
                <a:latin typeface="Times New Roman"/>
                <a:cs typeface="Times New Roman"/>
              </a:rPr>
              <a:t>a</a:t>
            </a:r>
            <a:r>
              <a:rPr dirty="0" sz="2000" i="1">
                <a:latin typeface="华文楷体"/>
                <a:cs typeface="华文楷体"/>
              </a:rPr>
              <a:t>点射入磁场。试分析</a:t>
            </a:r>
            <a:r>
              <a:rPr dirty="0" sz="2000" spc="5" i="1">
                <a:latin typeface="华文楷体"/>
                <a:cs typeface="华文楷体"/>
              </a:rPr>
              <a:t>：</a:t>
            </a:r>
            <a:endParaRPr sz="2000">
              <a:latin typeface="华文楷体"/>
              <a:cs typeface="华文楷体"/>
            </a:endParaRPr>
          </a:p>
          <a:p>
            <a:pPr algn="just" marL="648970" indent="-636270">
              <a:lnSpc>
                <a:spcPct val="100000"/>
              </a:lnSpc>
              <a:buSzPct val="95000"/>
              <a:buAutoNum type="arabicPlain"/>
              <a:tabLst>
                <a:tab pos="648970" algn="l"/>
              </a:tabLst>
            </a:pPr>
            <a:r>
              <a:rPr dirty="0" sz="2000" i="1">
                <a:latin typeface="华文楷体"/>
                <a:cs typeface="华文楷体"/>
              </a:rPr>
              <a:t>若电子恰好由下方边界</a:t>
            </a:r>
            <a:r>
              <a:rPr dirty="0" sz="2000" i="1">
                <a:latin typeface="Times New Roman"/>
                <a:cs typeface="Times New Roman"/>
              </a:rPr>
              <a:t>c</a:t>
            </a:r>
            <a:r>
              <a:rPr dirty="0" sz="2000" i="1">
                <a:latin typeface="华文楷体"/>
                <a:cs typeface="华文楷体"/>
              </a:rPr>
              <a:t>点穿出磁场，求</a:t>
            </a:r>
            <a:r>
              <a:rPr dirty="0" sz="2000" spc="5" i="1">
                <a:latin typeface="华文楷体"/>
                <a:cs typeface="华文楷体"/>
              </a:rPr>
              <a:t>：</a:t>
            </a:r>
            <a:endParaRPr sz="2000">
              <a:latin typeface="华文楷体"/>
              <a:cs typeface="华文楷体"/>
            </a:endParaRPr>
          </a:p>
          <a:p>
            <a:pPr marL="680720">
              <a:lnSpc>
                <a:spcPct val="100000"/>
              </a:lnSpc>
            </a:pPr>
            <a:r>
              <a:rPr dirty="0" sz="1800">
                <a:latin typeface="宋体"/>
                <a:cs typeface="宋体"/>
              </a:rPr>
              <a:t>①</a:t>
            </a:r>
            <a:r>
              <a:rPr dirty="0" sz="2000" i="1">
                <a:latin typeface="华文楷体"/>
                <a:cs typeface="华文楷体"/>
              </a:rPr>
              <a:t>电子速率</a:t>
            </a:r>
            <a:r>
              <a:rPr dirty="0" sz="2000" i="1">
                <a:latin typeface="Times New Roman"/>
                <a:cs typeface="Times New Roman"/>
              </a:rPr>
              <a:t>v</a:t>
            </a:r>
            <a:r>
              <a:rPr dirty="0" sz="2000" i="1">
                <a:latin typeface="华文楷体"/>
                <a:cs typeface="华文楷体"/>
              </a:rPr>
              <a:t>；</a:t>
            </a:r>
            <a:r>
              <a:rPr dirty="0" sz="2000" spc="480" i="1">
                <a:latin typeface="华文楷体"/>
                <a:cs typeface="华文楷体"/>
              </a:rPr>
              <a:t> </a:t>
            </a:r>
            <a:r>
              <a:rPr dirty="0" sz="1800">
                <a:latin typeface="宋体"/>
                <a:cs typeface="宋体"/>
              </a:rPr>
              <a:t>②</a:t>
            </a:r>
            <a:r>
              <a:rPr dirty="0" sz="2000" i="1">
                <a:latin typeface="华文楷体"/>
                <a:cs typeface="华文楷体"/>
              </a:rPr>
              <a:t>电子在磁场中的运动时间</a:t>
            </a:r>
            <a:r>
              <a:rPr dirty="0" sz="2000" spc="5" i="1">
                <a:latin typeface="华文楷体"/>
                <a:cs typeface="华文楷体"/>
              </a:rPr>
              <a:t>；</a:t>
            </a:r>
            <a:endParaRPr sz="2000">
              <a:latin typeface="华文楷体"/>
              <a:cs typeface="华文楷体"/>
            </a:endParaRPr>
          </a:p>
          <a:p>
            <a:pPr algn="just" marL="648970" indent="-636270">
              <a:lnSpc>
                <a:spcPct val="100000"/>
              </a:lnSpc>
              <a:buSzPct val="95000"/>
              <a:buAutoNum type="arabicPlain" startAt="2"/>
              <a:tabLst>
                <a:tab pos="648970" algn="l"/>
              </a:tabLst>
            </a:pPr>
            <a:r>
              <a:rPr dirty="0" sz="2000" i="1">
                <a:latin typeface="华文楷体"/>
                <a:cs typeface="华文楷体"/>
              </a:rPr>
              <a:t>若要使电子能从磁场下边界穿出磁场，求</a:t>
            </a:r>
            <a:r>
              <a:rPr dirty="0" sz="2000" spc="5" i="1">
                <a:latin typeface="华文楷体"/>
                <a:cs typeface="华文楷体"/>
              </a:rPr>
              <a:t>：</a:t>
            </a:r>
            <a:endParaRPr sz="2000">
              <a:latin typeface="华文楷体"/>
              <a:cs typeface="华文楷体"/>
            </a:endParaRPr>
          </a:p>
          <a:p>
            <a:pPr marL="710565">
              <a:lnSpc>
                <a:spcPct val="100000"/>
              </a:lnSpc>
            </a:pPr>
            <a:r>
              <a:rPr dirty="0" sz="2000">
                <a:latin typeface="宋体"/>
                <a:cs typeface="宋体"/>
              </a:rPr>
              <a:t>①</a:t>
            </a:r>
            <a:r>
              <a:rPr dirty="0" sz="2000" i="1">
                <a:latin typeface="华文楷体"/>
                <a:cs typeface="华文楷体"/>
              </a:rPr>
              <a:t>电子速率</a:t>
            </a:r>
            <a:r>
              <a:rPr dirty="0" sz="2000" i="1">
                <a:latin typeface="Times New Roman"/>
                <a:cs typeface="Times New Roman"/>
              </a:rPr>
              <a:t>v</a:t>
            </a:r>
            <a:r>
              <a:rPr dirty="0" sz="2000" i="1">
                <a:latin typeface="华文楷体"/>
                <a:cs typeface="华文楷体"/>
              </a:rPr>
              <a:t>的范围；</a:t>
            </a:r>
            <a:r>
              <a:rPr dirty="0" sz="2000">
                <a:latin typeface="宋体"/>
                <a:cs typeface="宋体"/>
              </a:rPr>
              <a:t>②</a:t>
            </a:r>
            <a:r>
              <a:rPr dirty="0" sz="2000" i="1">
                <a:latin typeface="华文楷体"/>
                <a:cs typeface="华文楷体"/>
              </a:rPr>
              <a:t>运动时间</a:t>
            </a:r>
            <a:r>
              <a:rPr dirty="0" sz="2000" spc="-5" i="1">
                <a:latin typeface="Times New Roman"/>
                <a:cs typeface="Times New Roman"/>
              </a:rPr>
              <a:t>t</a:t>
            </a:r>
            <a:r>
              <a:rPr dirty="0" sz="2000" i="1">
                <a:latin typeface="华文楷体"/>
                <a:cs typeface="华文楷体"/>
              </a:rPr>
              <a:t>的取值范围</a:t>
            </a:r>
            <a:r>
              <a:rPr dirty="0" sz="2000" spc="5" i="1">
                <a:latin typeface="华文楷体"/>
                <a:cs typeface="华文楷体"/>
              </a:rPr>
              <a:t>。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21096" y="4443984"/>
            <a:ext cx="2807207" cy="1606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13660" y="2101595"/>
            <a:ext cx="2671572" cy="15285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03938" y="1414653"/>
            <a:ext cx="977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黑体"/>
                <a:cs typeface="黑体"/>
              </a:rPr>
              <a:t>例题4</a:t>
            </a:r>
          </a:p>
        </p:txBody>
      </p:sp>
      <p:sp>
        <p:nvSpPr>
          <p:cNvPr id="4" name="object 4"/>
          <p:cNvSpPr/>
          <p:nvPr/>
        </p:nvSpPr>
        <p:spPr>
          <a:xfrm>
            <a:off x="3133344" y="1435608"/>
            <a:ext cx="946404" cy="576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78223" y="1594103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277867" y="1818132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59566" y="1983739"/>
            <a:ext cx="4732655" cy="0"/>
          </a:xfrm>
          <a:custGeom>
            <a:avLst/>
            <a:gdLst/>
            <a:ahLst/>
            <a:cxnLst/>
            <a:rect l="l" t="t" r="r" b="b"/>
            <a:pathLst>
              <a:path w="4732655" h="0">
                <a:moveTo>
                  <a:pt x="0" y="0"/>
                </a:moveTo>
                <a:lnTo>
                  <a:pt x="4732426" y="0"/>
                </a:lnTo>
              </a:path>
            </a:pathLst>
          </a:custGeom>
          <a:ln w="12700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03918" y="2344153"/>
            <a:ext cx="85725" cy="443865"/>
          </a:xfrm>
          <a:custGeom>
            <a:avLst/>
            <a:gdLst/>
            <a:ahLst/>
            <a:cxnLst/>
            <a:rect l="l" t="t" r="r" b="b"/>
            <a:pathLst>
              <a:path w="85725" h="443864">
                <a:moveTo>
                  <a:pt x="42240" y="400570"/>
                </a:moveTo>
                <a:lnTo>
                  <a:pt x="28158" y="386078"/>
                </a:lnTo>
                <a:lnTo>
                  <a:pt x="33693" y="0"/>
                </a:lnTo>
                <a:lnTo>
                  <a:pt x="62268" y="406"/>
                </a:lnTo>
                <a:lnTo>
                  <a:pt x="56733" y="386487"/>
                </a:lnTo>
                <a:lnTo>
                  <a:pt x="42240" y="400570"/>
                </a:lnTo>
                <a:close/>
              </a:path>
              <a:path w="85725" h="443864">
                <a:moveTo>
                  <a:pt x="41630" y="443433"/>
                </a:moveTo>
                <a:lnTo>
                  <a:pt x="0" y="357098"/>
                </a:lnTo>
                <a:lnTo>
                  <a:pt x="28158" y="386078"/>
                </a:lnTo>
                <a:lnTo>
                  <a:pt x="27800" y="411086"/>
                </a:lnTo>
                <a:lnTo>
                  <a:pt x="56375" y="411492"/>
                </a:lnTo>
                <a:lnTo>
                  <a:pt x="58175" y="411492"/>
                </a:lnTo>
                <a:lnTo>
                  <a:pt x="41630" y="443433"/>
                </a:lnTo>
                <a:close/>
              </a:path>
              <a:path w="85725" h="443864">
                <a:moveTo>
                  <a:pt x="58175" y="411492"/>
                </a:moveTo>
                <a:lnTo>
                  <a:pt x="56375" y="411492"/>
                </a:lnTo>
                <a:lnTo>
                  <a:pt x="56733" y="386487"/>
                </a:lnTo>
                <a:lnTo>
                  <a:pt x="85712" y="358330"/>
                </a:lnTo>
                <a:lnTo>
                  <a:pt x="58175" y="411492"/>
                </a:lnTo>
                <a:close/>
              </a:path>
              <a:path w="85725" h="443864">
                <a:moveTo>
                  <a:pt x="56375" y="411492"/>
                </a:moveTo>
                <a:lnTo>
                  <a:pt x="27800" y="411086"/>
                </a:lnTo>
                <a:lnTo>
                  <a:pt x="28158" y="386078"/>
                </a:lnTo>
                <a:lnTo>
                  <a:pt x="42240" y="400570"/>
                </a:lnTo>
                <a:lnTo>
                  <a:pt x="56531" y="400570"/>
                </a:lnTo>
                <a:lnTo>
                  <a:pt x="56375" y="411492"/>
                </a:lnTo>
                <a:close/>
              </a:path>
              <a:path w="85725" h="443864">
                <a:moveTo>
                  <a:pt x="56531" y="400570"/>
                </a:moveTo>
                <a:lnTo>
                  <a:pt x="42240" y="400570"/>
                </a:lnTo>
                <a:lnTo>
                  <a:pt x="56733" y="386487"/>
                </a:lnTo>
                <a:lnTo>
                  <a:pt x="56531" y="40057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851696" y="23554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51594" y="24443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63" y="0"/>
                </a:lnTo>
                <a:lnTo>
                  <a:pt x="12763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851505" y="25332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51404" y="26221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63" y="0"/>
                </a:lnTo>
                <a:lnTo>
                  <a:pt x="12763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51315" y="27110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51213" y="27999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63" y="0"/>
                </a:lnTo>
                <a:lnTo>
                  <a:pt x="12763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51124" y="28888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51035" y="29777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850934" y="30666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850845" y="31555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850743" y="32444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50654" y="33333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850553" y="34222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63" y="0"/>
                </a:lnTo>
                <a:lnTo>
                  <a:pt x="12763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850464" y="35111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850362" y="36000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63" y="0"/>
                </a:lnTo>
                <a:lnTo>
                  <a:pt x="12763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50273" y="36889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850172" y="37778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63" y="0"/>
                </a:lnTo>
                <a:lnTo>
                  <a:pt x="12763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850083" y="38667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849994" y="39556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849892" y="40445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849803" y="41334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849702" y="42223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849613" y="43112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849511" y="44001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63" y="0"/>
                </a:lnTo>
                <a:lnTo>
                  <a:pt x="12763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849422" y="44890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849321" y="45779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63" y="0"/>
                </a:lnTo>
                <a:lnTo>
                  <a:pt x="12763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849232" y="46668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849143" y="47557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849041" y="48446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848952" y="49335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848851" y="50224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848762" y="51113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848660" y="5200281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63" y="0"/>
                </a:lnTo>
                <a:lnTo>
                  <a:pt x="12763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848571" y="5289181"/>
            <a:ext cx="13335" cy="48895"/>
          </a:xfrm>
          <a:custGeom>
            <a:avLst/>
            <a:gdLst/>
            <a:ahLst/>
            <a:cxnLst/>
            <a:rect l="l" t="t" r="r" b="b"/>
            <a:pathLst>
              <a:path w="13335" h="48895">
                <a:moveTo>
                  <a:pt x="12700" y="48387"/>
                </a:moveTo>
                <a:lnTo>
                  <a:pt x="0" y="48374"/>
                </a:lnTo>
                <a:lnTo>
                  <a:pt x="50" y="0"/>
                </a:lnTo>
                <a:lnTo>
                  <a:pt x="12750" y="12"/>
                </a:lnTo>
                <a:lnTo>
                  <a:pt x="12700" y="4838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836494" y="2352395"/>
            <a:ext cx="2275205" cy="1152525"/>
          </a:xfrm>
          <a:custGeom>
            <a:avLst/>
            <a:gdLst/>
            <a:ahLst/>
            <a:cxnLst/>
            <a:rect l="l" t="t" r="r" b="b"/>
            <a:pathLst>
              <a:path w="2275204" h="1152525">
                <a:moveTo>
                  <a:pt x="45389" y="34162"/>
                </a:moveTo>
                <a:lnTo>
                  <a:pt x="0" y="11353"/>
                </a:lnTo>
                <a:lnTo>
                  <a:pt x="5714" y="0"/>
                </a:lnTo>
                <a:lnTo>
                  <a:pt x="51092" y="22821"/>
                </a:lnTo>
                <a:lnTo>
                  <a:pt x="45389" y="34162"/>
                </a:lnTo>
                <a:close/>
              </a:path>
              <a:path w="2275204" h="1152525">
                <a:moveTo>
                  <a:pt x="124815" y="74104"/>
                </a:moveTo>
                <a:lnTo>
                  <a:pt x="79425" y="51282"/>
                </a:lnTo>
                <a:lnTo>
                  <a:pt x="85140" y="39941"/>
                </a:lnTo>
                <a:lnTo>
                  <a:pt x="130517" y="62750"/>
                </a:lnTo>
                <a:lnTo>
                  <a:pt x="124815" y="74104"/>
                </a:lnTo>
                <a:close/>
              </a:path>
              <a:path w="2275204" h="1152525">
                <a:moveTo>
                  <a:pt x="204241" y="114033"/>
                </a:moveTo>
                <a:lnTo>
                  <a:pt x="158864" y="91211"/>
                </a:lnTo>
                <a:lnTo>
                  <a:pt x="164566" y="79870"/>
                </a:lnTo>
                <a:lnTo>
                  <a:pt x="209943" y="102692"/>
                </a:lnTo>
                <a:lnTo>
                  <a:pt x="204241" y="114033"/>
                </a:lnTo>
                <a:close/>
              </a:path>
              <a:path w="2275204" h="1152525">
                <a:moveTo>
                  <a:pt x="283667" y="153962"/>
                </a:moveTo>
                <a:lnTo>
                  <a:pt x="238290" y="131152"/>
                </a:lnTo>
                <a:lnTo>
                  <a:pt x="243992" y="119799"/>
                </a:lnTo>
                <a:lnTo>
                  <a:pt x="289382" y="142620"/>
                </a:lnTo>
                <a:lnTo>
                  <a:pt x="283667" y="153962"/>
                </a:lnTo>
                <a:close/>
              </a:path>
              <a:path w="2275204" h="1152525">
                <a:moveTo>
                  <a:pt x="363093" y="193903"/>
                </a:moveTo>
                <a:lnTo>
                  <a:pt x="317715" y="171081"/>
                </a:lnTo>
                <a:lnTo>
                  <a:pt x="323418" y="159727"/>
                </a:lnTo>
                <a:lnTo>
                  <a:pt x="368807" y="182549"/>
                </a:lnTo>
                <a:lnTo>
                  <a:pt x="363093" y="193903"/>
                </a:lnTo>
                <a:close/>
              </a:path>
              <a:path w="2275204" h="1152525">
                <a:moveTo>
                  <a:pt x="442531" y="233832"/>
                </a:moveTo>
                <a:lnTo>
                  <a:pt x="397141" y="211010"/>
                </a:lnTo>
                <a:lnTo>
                  <a:pt x="402844" y="199669"/>
                </a:lnTo>
                <a:lnTo>
                  <a:pt x="448233" y="222478"/>
                </a:lnTo>
                <a:lnTo>
                  <a:pt x="442531" y="233832"/>
                </a:lnTo>
                <a:close/>
              </a:path>
              <a:path w="2275204" h="1152525">
                <a:moveTo>
                  <a:pt x="521957" y="273761"/>
                </a:moveTo>
                <a:lnTo>
                  <a:pt x="476567" y="250939"/>
                </a:lnTo>
                <a:lnTo>
                  <a:pt x="482269" y="239598"/>
                </a:lnTo>
                <a:lnTo>
                  <a:pt x="527659" y="262420"/>
                </a:lnTo>
                <a:lnTo>
                  <a:pt x="521957" y="273761"/>
                </a:lnTo>
                <a:close/>
              </a:path>
              <a:path w="2275204" h="1152525">
                <a:moveTo>
                  <a:pt x="601383" y="313689"/>
                </a:moveTo>
                <a:lnTo>
                  <a:pt x="555993" y="290880"/>
                </a:lnTo>
                <a:lnTo>
                  <a:pt x="561695" y="279526"/>
                </a:lnTo>
                <a:lnTo>
                  <a:pt x="607085" y="302348"/>
                </a:lnTo>
                <a:lnTo>
                  <a:pt x="601383" y="313689"/>
                </a:lnTo>
                <a:close/>
              </a:path>
              <a:path w="2275204" h="1152525">
                <a:moveTo>
                  <a:pt x="680808" y="353631"/>
                </a:moveTo>
                <a:lnTo>
                  <a:pt x="635419" y="330809"/>
                </a:lnTo>
                <a:lnTo>
                  <a:pt x="641121" y="319455"/>
                </a:lnTo>
                <a:lnTo>
                  <a:pt x="686511" y="342277"/>
                </a:lnTo>
                <a:lnTo>
                  <a:pt x="680808" y="353631"/>
                </a:lnTo>
                <a:close/>
              </a:path>
              <a:path w="2275204" h="1152525">
                <a:moveTo>
                  <a:pt x="760234" y="393560"/>
                </a:moveTo>
                <a:lnTo>
                  <a:pt x="714844" y="370738"/>
                </a:lnTo>
                <a:lnTo>
                  <a:pt x="720547" y="359397"/>
                </a:lnTo>
                <a:lnTo>
                  <a:pt x="765937" y="382206"/>
                </a:lnTo>
                <a:lnTo>
                  <a:pt x="760234" y="393560"/>
                </a:lnTo>
                <a:close/>
              </a:path>
              <a:path w="2275204" h="1152525">
                <a:moveTo>
                  <a:pt x="839660" y="433489"/>
                </a:moveTo>
                <a:lnTo>
                  <a:pt x="794270" y="410667"/>
                </a:lnTo>
                <a:lnTo>
                  <a:pt x="799973" y="399326"/>
                </a:lnTo>
                <a:lnTo>
                  <a:pt x="845362" y="422147"/>
                </a:lnTo>
                <a:lnTo>
                  <a:pt x="839660" y="433489"/>
                </a:lnTo>
                <a:close/>
              </a:path>
              <a:path w="2275204" h="1152525">
                <a:moveTo>
                  <a:pt x="919086" y="473417"/>
                </a:moveTo>
                <a:lnTo>
                  <a:pt x="873696" y="450608"/>
                </a:lnTo>
                <a:lnTo>
                  <a:pt x="879398" y="439254"/>
                </a:lnTo>
                <a:lnTo>
                  <a:pt x="924788" y="462076"/>
                </a:lnTo>
                <a:lnTo>
                  <a:pt x="919086" y="473417"/>
                </a:lnTo>
                <a:close/>
              </a:path>
              <a:path w="2275204" h="1152525">
                <a:moveTo>
                  <a:pt x="998512" y="513359"/>
                </a:moveTo>
                <a:lnTo>
                  <a:pt x="953122" y="490537"/>
                </a:lnTo>
                <a:lnTo>
                  <a:pt x="958837" y="479183"/>
                </a:lnTo>
                <a:lnTo>
                  <a:pt x="1004214" y="502005"/>
                </a:lnTo>
                <a:lnTo>
                  <a:pt x="998512" y="513359"/>
                </a:lnTo>
                <a:close/>
              </a:path>
              <a:path w="2275204" h="1152525">
                <a:moveTo>
                  <a:pt x="1077937" y="553288"/>
                </a:moveTo>
                <a:lnTo>
                  <a:pt x="1032548" y="530466"/>
                </a:lnTo>
                <a:lnTo>
                  <a:pt x="1038263" y="519125"/>
                </a:lnTo>
                <a:lnTo>
                  <a:pt x="1083640" y="541934"/>
                </a:lnTo>
                <a:lnTo>
                  <a:pt x="1077937" y="553288"/>
                </a:lnTo>
                <a:close/>
              </a:path>
              <a:path w="2275204" h="1152525">
                <a:moveTo>
                  <a:pt x="1157363" y="593216"/>
                </a:moveTo>
                <a:lnTo>
                  <a:pt x="1111986" y="570395"/>
                </a:lnTo>
                <a:lnTo>
                  <a:pt x="1117688" y="559053"/>
                </a:lnTo>
                <a:lnTo>
                  <a:pt x="1163078" y="581875"/>
                </a:lnTo>
                <a:lnTo>
                  <a:pt x="1157363" y="593216"/>
                </a:lnTo>
                <a:close/>
              </a:path>
              <a:path w="2275204" h="1152525">
                <a:moveTo>
                  <a:pt x="1236789" y="633145"/>
                </a:moveTo>
                <a:lnTo>
                  <a:pt x="1191412" y="610336"/>
                </a:lnTo>
                <a:lnTo>
                  <a:pt x="1197114" y="598982"/>
                </a:lnTo>
                <a:lnTo>
                  <a:pt x="1242504" y="621804"/>
                </a:lnTo>
                <a:lnTo>
                  <a:pt x="1236789" y="633145"/>
                </a:lnTo>
                <a:close/>
              </a:path>
              <a:path w="2275204" h="1152525">
                <a:moveTo>
                  <a:pt x="1316227" y="673087"/>
                </a:moveTo>
                <a:lnTo>
                  <a:pt x="1270838" y="650265"/>
                </a:lnTo>
                <a:lnTo>
                  <a:pt x="1276540" y="638924"/>
                </a:lnTo>
                <a:lnTo>
                  <a:pt x="1321930" y="661733"/>
                </a:lnTo>
                <a:lnTo>
                  <a:pt x="1316227" y="673087"/>
                </a:lnTo>
                <a:close/>
              </a:path>
              <a:path w="2275204" h="1152525">
                <a:moveTo>
                  <a:pt x="1395653" y="713016"/>
                </a:moveTo>
                <a:lnTo>
                  <a:pt x="1350264" y="690194"/>
                </a:lnTo>
                <a:lnTo>
                  <a:pt x="1355966" y="678853"/>
                </a:lnTo>
                <a:lnTo>
                  <a:pt x="1401356" y="701662"/>
                </a:lnTo>
                <a:lnTo>
                  <a:pt x="1395653" y="713016"/>
                </a:lnTo>
                <a:close/>
              </a:path>
              <a:path w="2275204" h="1152525">
                <a:moveTo>
                  <a:pt x="1475079" y="752944"/>
                </a:moveTo>
                <a:lnTo>
                  <a:pt x="1429689" y="730122"/>
                </a:lnTo>
                <a:lnTo>
                  <a:pt x="1435392" y="718781"/>
                </a:lnTo>
                <a:lnTo>
                  <a:pt x="1480781" y="741603"/>
                </a:lnTo>
                <a:lnTo>
                  <a:pt x="1475079" y="752944"/>
                </a:lnTo>
                <a:close/>
              </a:path>
              <a:path w="2275204" h="1152525">
                <a:moveTo>
                  <a:pt x="1554505" y="792873"/>
                </a:moveTo>
                <a:lnTo>
                  <a:pt x="1509115" y="770064"/>
                </a:lnTo>
                <a:lnTo>
                  <a:pt x="1514817" y="758710"/>
                </a:lnTo>
                <a:lnTo>
                  <a:pt x="1560207" y="781532"/>
                </a:lnTo>
                <a:lnTo>
                  <a:pt x="1554505" y="792873"/>
                </a:lnTo>
                <a:close/>
              </a:path>
              <a:path w="2275204" h="1152525">
                <a:moveTo>
                  <a:pt x="1633931" y="832815"/>
                </a:moveTo>
                <a:lnTo>
                  <a:pt x="1588541" y="809993"/>
                </a:lnTo>
                <a:lnTo>
                  <a:pt x="1594243" y="798652"/>
                </a:lnTo>
                <a:lnTo>
                  <a:pt x="1639633" y="821461"/>
                </a:lnTo>
                <a:lnTo>
                  <a:pt x="1633931" y="832815"/>
                </a:lnTo>
                <a:close/>
              </a:path>
              <a:path w="2275204" h="1152525">
                <a:moveTo>
                  <a:pt x="1713356" y="872744"/>
                </a:moveTo>
                <a:lnTo>
                  <a:pt x="1667967" y="849922"/>
                </a:lnTo>
                <a:lnTo>
                  <a:pt x="1673669" y="838581"/>
                </a:lnTo>
                <a:lnTo>
                  <a:pt x="1719059" y="861402"/>
                </a:lnTo>
                <a:lnTo>
                  <a:pt x="1713356" y="872744"/>
                </a:lnTo>
                <a:close/>
              </a:path>
              <a:path w="2275204" h="1152525">
                <a:moveTo>
                  <a:pt x="1792782" y="912672"/>
                </a:moveTo>
                <a:lnTo>
                  <a:pt x="1747392" y="889863"/>
                </a:lnTo>
                <a:lnTo>
                  <a:pt x="1753095" y="878509"/>
                </a:lnTo>
                <a:lnTo>
                  <a:pt x="1798485" y="901331"/>
                </a:lnTo>
                <a:lnTo>
                  <a:pt x="1792782" y="912672"/>
                </a:lnTo>
                <a:close/>
              </a:path>
              <a:path w="2275204" h="1152525">
                <a:moveTo>
                  <a:pt x="1872208" y="952614"/>
                </a:moveTo>
                <a:lnTo>
                  <a:pt x="1826818" y="929792"/>
                </a:lnTo>
                <a:lnTo>
                  <a:pt x="1832533" y="918438"/>
                </a:lnTo>
                <a:lnTo>
                  <a:pt x="1877910" y="941260"/>
                </a:lnTo>
                <a:lnTo>
                  <a:pt x="1872208" y="952614"/>
                </a:lnTo>
                <a:close/>
              </a:path>
              <a:path w="2275204" h="1152525">
                <a:moveTo>
                  <a:pt x="1951634" y="992543"/>
                </a:moveTo>
                <a:lnTo>
                  <a:pt x="1906244" y="969721"/>
                </a:lnTo>
                <a:lnTo>
                  <a:pt x="1911959" y="958380"/>
                </a:lnTo>
                <a:lnTo>
                  <a:pt x="1957336" y="981189"/>
                </a:lnTo>
                <a:lnTo>
                  <a:pt x="1951634" y="992543"/>
                </a:lnTo>
                <a:close/>
              </a:path>
              <a:path w="2275204" h="1152525">
                <a:moveTo>
                  <a:pt x="2031060" y="1032471"/>
                </a:moveTo>
                <a:lnTo>
                  <a:pt x="1985683" y="1009650"/>
                </a:lnTo>
                <a:lnTo>
                  <a:pt x="1991385" y="998308"/>
                </a:lnTo>
                <a:lnTo>
                  <a:pt x="2036762" y="1021130"/>
                </a:lnTo>
                <a:lnTo>
                  <a:pt x="2031060" y="1032471"/>
                </a:lnTo>
                <a:close/>
              </a:path>
              <a:path w="2275204" h="1152525">
                <a:moveTo>
                  <a:pt x="2110486" y="1072400"/>
                </a:moveTo>
                <a:lnTo>
                  <a:pt x="2065108" y="1049591"/>
                </a:lnTo>
                <a:lnTo>
                  <a:pt x="2070811" y="1038237"/>
                </a:lnTo>
                <a:lnTo>
                  <a:pt x="2116201" y="1061059"/>
                </a:lnTo>
                <a:lnTo>
                  <a:pt x="2110486" y="1072400"/>
                </a:lnTo>
                <a:close/>
              </a:path>
              <a:path w="2275204" h="1152525">
                <a:moveTo>
                  <a:pt x="2189911" y="1112342"/>
                </a:moveTo>
                <a:lnTo>
                  <a:pt x="2144534" y="1089520"/>
                </a:lnTo>
                <a:lnTo>
                  <a:pt x="2150237" y="1078166"/>
                </a:lnTo>
                <a:lnTo>
                  <a:pt x="2195626" y="1100988"/>
                </a:lnTo>
                <a:lnTo>
                  <a:pt x="2189911" y="1112342"/>
                </a:lnTo>
                <a:close/>
              </a:path>
              <a:path w="2275204" h="1152525">
                <a:moveTo>
                  <a:pt x="2269350" y="1152271"/>
                </a:moveTo>
                <a:lnTo>
                  <a:pt x="2223960" y="1129449"/>
                </a:lnTo>
                <a:lnTo>
                  <a:pt x="2229662" y="1118107"/>
                </a:lnTo>
                <a:lnTo>
                  <a:pt x="2275052" y="1140917"/>
                </a:lnTo>
                <a:lnTo>
                  <a:pt x="2269350" y="115227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845841" y="2328329"/>
            <a:ext cx="2262505" cy="1159510"/>
          </a:xfrm>
          <a:custGeom>
            <a:avLst/>
            <a:gdLst/>
            <a:ahLst/>
            <a:cxnLst/>
            <a:rect l="l" t="t" r="r" b="b"/>
            <a:pathLst>
              <a:path w="2262504" h="1159510">
                <a:moveTo>
                  <a:pt x="5765" y="1158963"/>
                </a:moveTo>
                <a:lnTo>
                  <a:pt x="0" y="1147648"/>
                </a:lnTo>
                <a:lnTo>
                  <a:pt x="45288" y="1124610"/>
                </a:lnTo>
                <a:lnTo>
                  <a:pt x="51041" y="1135926"/>
                </a:lnTo>
                <a:lnTo>
                  <a:pt x="5765" y="1158963"/>
                </a:lnTo>
                <a:close/>
              </a:path>
              <a:path w="2262504" h="1159510">
                <a:moveTo>
                  <a:pt x="85001" y="1118654"/>
                </a:moveTo>
                <a:lnTo>
                  <a:pt x="79248" y="1107338"/>
                </a:lnTo>
                <a:lnTo>
                  <a:pt x="124523" y="1084300"/>
                </a:lnTo>
                <a:lnTo>
                  <a:pt x="130276" y="1095629"/>
                </a:lnTo>
                <a:lnTo>
                  <a:pt x="85001" y="1118654"/>
                </a:lnTo>
                <a:close/>
              </a:path>
              <a:path w="2262504" h="1159510">
                <a:moveTo>
                  <a:pt x="164236" y="1078357"/>
                </a:moveTo>
                <a:lnTo>
                  <a:pt x="158483" y="1067028"/>
                </a:lnTo>
                <a:lnTo>
                  <a:pt x="203758" y="1044003"/>
                </a:lnTo>
                <a:lnTo>
                  <a:pt x="209511" y="1055319"/>
                </a:lnTo>
                <a:lnTo>
                  <a:pt x="164236" y="1078357"/>
                </a:lnTo>
                <a:close/>
              </a:path>
              <a:path w="2262504" h="1159510">
                <a:moveTo>
                  <a:pt x="243471" y="1038047"/>
                </a:moveTo>
                <a:lnTo>
                  <a:pt x="237718" y="1026731"/>
                </a:lnTo>
                <a:lnTo>
                  <a:pt x="282994" y="1003693"/>
                </a:lnTo>
                <a:lnTo>
                  <a:pt x="288759" y="1015022"/>
                </a:lnTo>
                <a:lnTo>
                  <a:pt x="243471" y="1038047"/>
                </a:lnTo>
                <a:close/>
              </a:path>
              <a:path w="2262504" h="1159510">
                <a:moveTo>
                  <a:pt x="322719" y="997737"/>
                </a:moveTo>
                <a:lnTo>
                  <a:pt x="316953" y="986421"/>
                </a:lnTo>
                <a:lnTo>
                  <a:pt x="362242" y="963396"/>
                </a:lnTo>
                <a:lnTo>
                  <a:pt x="367995" y="974712"/>
                </a:lnTo>
                <a:lnTo>
                  <a:pt x="322719" y="997737"/>
                </a:lnTo>
                <a:close/>
              </a:path>
              <a:path w="2262504" h="1159510">
                <a:moveTo>
                  <a:pt x="401955" y="957440"/>
                </a:moveTo>
                <a:lnTo>
                  <a:pt x="396201" y="946124"/>
                </a:lnTo>
                <a:lnTo>
                  <a:pt x="441477" y="923086"/>
                </a:lnTo>
                <a:lnTo>
                  <a:pt x="447230" y="934402"/>
                </a:lnTo>
                <a:lnTo>
                  <a:pt x="401955" y="957440"/>
                </a:lnTo>
                <a:close/>
              </a:path>
              <a:path w="2262504" h="1159510">
                <a:moveTo>
                  <a:pt x="481190" y="917130"/>
                </a:moveTo>
                <a:lnTo>
                  <a:pt x="475437" y="905814"/>
                </a:lnTo>
                <a:lnTo>
                  <a:pt x="520712" y="882777"/>
                </a:lnTo>
                <a:lnTo>
                  <a:pt x="526465" y="894105"/>
                </a:lnTo>
                <a:lnTo>
                  <a:pt x="481190" y="917130"/>
                </a:lnTo>
                <a:close/>
              </a:path>
              <a:path w="2262504" h="1159510">
                <a:moveTo>
                  <a:pt x="560425" y="876833"/>
                </a:moveTo>
                <a:lnTo>
                  <a:pt x="554672" y="865505"/>
                </a:lnTo>
                <a:lnTo>
                  <a:pt x="599948" y="842479"/>
                </a:lnTo>
                <a:lnTo>
                  <a:pt x="605713" y="853795"/>
                </a:lnTo>
                <a:lnTo>
                  <a:pt x="560425" y="876833"/>
                </a:lnTo>
                <a:close/>
              </a:path>
              <a:path w="2262504" h="1159510">
                <a:moveTo>
                  <a:pt x="639673" y="836523"/>
                </a:moveTo>
                <a:lnTo>
                  <a:pt x="633907" y="825207"/>
                </a:lnTo>
                <a:lnTo>
                  <a:pt x="679196" y="802170"/>
                </a:lnTo>
                <a:lnTo>
                  <a:pt x="684949" y="813498"/>
                </a:lnTo>
                <a:lnTo>
                  <a:pt x="639673" y="836523"/>
                </a:lnTo>
                <a:close/>
              </a:path>
              <a:path w="2262504" h="1159510">
                <a:moveTo>
                  <a:pt x="718908" y="796226"/>
                </a:moveTo>
                <a:lnTo>
                  <a:pt x="713155" y="784898"/>
                </a:lnTo>
                <a:lnTo>
                  <a:pt x="758431" y="761873"/>
                </a:lnTo>
                <a:lnTo>
                  <a:pt x="764184" y="773188"/>
                </a:lnTo>
                <a:lnTo>
                  <a:pt x="718908" y="796226"/>
                </a:lnTo>
                <a:close/>
              </a:path>
              <a:path w="2262504" h="1159510">
                <a:moveTo>
                  <a:pt x="798144" y="755916"/>
                </a:moveTo>
                <a:lnTo>
                  <a:pt x="792391" y="744601"/>
                </a:lnTo>
                <a:lnTo>
                  <a:pt x="837666" y="721563"/>
                </a:lnTo>
                <a:lnTo>
                  <a:pt x="843419" y="732878"/>
                </a:lnTo>
                <a:lnTo>
                  <a:pt x="798144" y="755916"/>
                </a:lnTo>
                <a:close/>
              </a:path>
              <a:path w="2262504" h="1159510">
                <a:moveTo>
                  <a:pt x="877379" y="715606"/>
                </a:moveTo>
                <a:lnTo>
                  <a:pt x="871626" y="704291"/>
                </a:lnTo>
                <a:lnTo>
                  <a:pt x="916901" y="681266"/>
                </a:lnTo>
                <a:lnTo>
                  <a:pt x="922667" y="692581"/>
                </a:lnTo>
                <a:lnTo>
                  <a:pt x="877379" y="715606"/>
                </a:lnTo>
                <a:close/>
              </a:path>
              <a:path w="2262504" h="1159510">
                <a:moveTo>
                  <a:pt x="956627" y="675309"/>
                </a:moveTo>
                <a:lnTo>
                  <a:pt x="950861" y="663981"/>
                </a:lnTo>
                <a:lnTo>
                  <a:pt x="996149" y="640956"/>
                </a:lnTo>
                <a:lnTo>
                  <a:pt x="1001902" y="652272"/>
                </a:lnTo>
                <a:lnTo>
                  <a:pt x="956627" y="675309"/>
                </a:lnTo>
                <a:close/>
              </a:path>
              <a:path w="2262504" h="1159510">
                <a:moveTo>
                  <a:pt x="1035862" y="635000"/>
                </a:moveTo>
                <a:lnTo>
                  <a:pt x="1030109" y="623684"/>
                </a:lnTo>
                <a:lnTo>
                  <a:pt x="1075385" y="600646"/>
                </a:lnTo>
                <a:lnTo>
                  <a:pt x="1081138" y="611974"/>
                </a:lnTo>
                <a:lnTo>
                  <a:pt x="1035862" y="635000"/>
                </a:lnTo>
                <a:close/>
              </a:path>
              <a:path w="2262504" h="1159510">
                <a:moveTo>
                  <a:pt x="1115098" y="594702"/>
                </a:moveTo>
                <a:lnTo>
                  <a:pt x="1109345" y="583374"/>
                </a:lnTo>
                <a:lnTo>
                  <a:pt x="1154620" y="560349"/>
                </a:lnTo>
                <a:lnTo>
                  <a:pt x="1160386" y="571665"/>
                </a:lnTo>
                <a:lnTo>
                  <a:pt x="1115098" y="594702"/>
                </a:lnTo>
                <a:close/>
              </a:path>
              <a:path w="2262504" h="1159510">
                <a:moveTo>
                  <a:pt x="1194346" y="554393"/>
                </a:moveTo>
                <a:lnTo>
                  <a:pt x="1188580" y="543077"/>
                </a:lnTo>
                <a:lnTo>
                  <a:pt x="1233855" y="520039"/>
                </a:lnTo>
                <a:lnTo>
                  <a:pt x="1239621" y="531355"/>
                </a:lnTo>
                <a:lnTo>
                  <a:pt x="1194346" y="554393"/>
                </a:lnTo>
                <a:close/>
              </a:path>
              <a:path w="2262504" h="1159510">
                <a:moveTo>
                  <a:pt x="1273581" y="514083"/>
                </a:moveTo>
                <a:lnTo>
                  <a:pt x="1267815" y="502767"/>
                </a:lnTo>
                <a:lnTo>
                  <a:pt x="1313103" y="479742"/>
                </a:lnTo>
                <a:lnTo>
                  <a:pt x="1318856" y="491058"/>
                </a:lnTo>
                <a:lnTo>
                  <a:pt x="1273581" y="514083"/>
                </a:lnTo>
                <a:close/>
              </a:path>
              <a:path w="2262504" h="1159510">
                <a:moveTo>
                  <a:pt x="1352816" y="473786"/>
                </a:moveTo>
                <a:lnTo>
                  <a:pt x="1347063" y="462457"/>
                </a:lnTo>
                <a:lnTo>
                  <a:pt x="1392339" y="439432"/>
                </a:lnTo>
                <a:lnTo>
                  <a:pt x="1398092" y="450748"/>
                </a:lnTo>
                <a:lnTo>
                  <a:pt x="1352816" y="473786"/>
                </a:lnTo>
                <a:close/>
              </a:path>
              <a:path w="2262504" h="1159510">
                <a:moveTo>
                  <a:pt x="1432052" y="433476"/>
                </a:moveTo>
                <a:lnTo>
                  <a:pt x="1426298" y="422160"/>
                </a:lnTo>
                <a:lnTo>
                  <a:pt x="1471574" y="399122"/>
                </a:lnTo>
                <a:lnTo>
                  <a:pt x="1477340" y="410451"/>
                </a:lnTo>
                <a:lnTo>
                  <a:pt x="1432052" y="433476"/>
                </a:lnTo>
                <a:close/>
              </a:path>
              <a:path w="2262504" h="1159510">
                <a:moveTo>
                  <a:pt x="1511300" y="393179"/>
                </a:moveTo>
                <a:lnTo>
                  <a:pt x="1505534" y="381850"/>
                </a:lnTo>
                <a:lnTo>
                  <a:pt x="1550809" y="358825"/>
                </a:lnTo>
                <a:lnTo>
                  <a:pt x="1556575" y="370141"/>
                </a:lnTo>
                <a:lnTo>
                  <a:pt x="1511300" y="393179"/>
                </a:lnTo>
                <a:close/>
              </a:path>
              <a:path w="2262504" h="1159510">
                <a:moveTo>
                  <a:pt x="1590535" y="352869"/>
                </a:moveTo>
                <a:lnTo>
                  <a:pt x="1584769" y="341553"/>
                </a:lnTo>
                <a:lnTo>
                  <a:pt x="1630057" y="318516"/>
                </a:lnTo>
                <a:lnTo>
                  <a:pt x="1635810" y="329844"/>
                </a:lnTo>
                <a:lnTo>
                  <a:pt x="1590535" y="352869"/>
                </a:lnTo>
                <a:close/>
              </a:path>
              <a:path w="2262504" h="1159510">
                <a:moveTo>
                  <a:pt x="1669770" y="312559"/>
                </a:moveTo>
                <a:lnTo>
                  <a:pt x="1664017" y="301244"/>
                </a:lnTo>
                <a:lnTo>
                  <a:pt x="1709293" y="278218"/>
                </a:lnTo>
                <a:lnTo>
                  <a:pt x="1715046" y="289534"/>
                </a:lnTo>
                <a:lnTo>
                  <a:pt x="1669770" y="312559"/>
                </a:lnTo>
                <a:close/>
              </a:path>
              <a:path w="2262504" h="1159510">
                <a:moveTo>
                  <a:pt x="1749005" y="272262"/>
                </a:moveTo>
                <a:lnTo>
                  <a:pt x="1743252" y="260946"/>
                </a:lnTo>
                <a:lnTo>
                  <a:pt x="1788528" y="237909"/>
                </a:lnTo>
                <a:lnTo>
                  <a:pt x="1794294" y="249224"/>
                </a:lnTo>
                <a:lnTo>
                  <a:pt x="1749005" y="272262"/>
                </a:lnTo>
                <a:close/>
              </a:path>
              <a:path w="2262504" h="1159510">
                <a:moveTo>
                  <a:pt x="1828253" y="231952"/>
                </a:moveTo>
                <a:lnTo>
                  <a:pt x="1822488" y="220637"/>
                </a:lnTo>
                <a:lnTo>
                  <a:pt x="1867763" y="197599"/>
                </a:lnTo>
                <a:lnTo>
                  <a:pt x="1873529" y="208927"/>
                </a:lnTo>
                <a:lnTo>
                  <a:pt x="1828253" y="231952"/>
                </a:lnTo>
                <a:close/>
              </a:path>
              <a:path w="2262504" h="1159510">
                <a:moveTo>
                  <a:pt x="1907489" y="191655"/>
                </a:moveTo>
                <a:lnTo>
                  <a:pt x="1901723" y="180327"/>
                </a:lnTo>
                <a:lnTo>
                  <a:pt x="1947011" y="157302"/>
                </a:lnTo>
                <a:lnTo>
                  <a:pt x="1952764" y="168617"/>
                </a:lnTo>
                <a:lnTo>
                  <a:pt x="1907489" y="191655"/>
                </a:lnTo>
                <a:close/>
              </a:path>
              <a:path w="2262504" h="1159510">
                <a:moveTo>
                  <a:pt x="1986724" y="151345"/>
                </a:moveTo>
                <a:lnTo>
                  <a:pt x="1980971" y="140030"/>
                </a:lnTo>
                <a:lnTo>
                  <a:pt x="2026246" y="116992"/>
                </a:lnTo>
                <a:lnTo>
                  <a:pt x="2032000" y="128320"/>
                </a:lnTo>
                <a:lnTo>
                  <a:pt x="1986724" y="151345"/>
                </a:lnTo>
                <a:close/>
              </a:path>
              <a:path w="2262504" h="1159510">
                <a:moveTo>
                  <a:pt x="2065959" y="111036"/>
                </a:moveTo>
                <a:lnTo>
                  <a:pt x="2060206" y="99720"/>
                </a:lnTo>
                <a:lnTo>
                  <a:pt x="2105482" y="76695"/>
                </a:lnTo>
                <a:lnTo>
                  <a:pt x="2111248" y="88011"/>
                </a:lnTo>
                <a:lnTo>
                  <a:pt x="2065959" y="111036"/>
                </a:lnTo>
                <a:close/>
              </a:path>
              <a:path w="2262504" h="1159510">
                <a:moveTo>
                  <a:pt x="2145207" y="70739"/>
                </a:moveTo>
                <a:lnTo>
                  <a:pt x="2139441" y="59423"/>
                </a:lnTo>
                <a:lnTo>
                  <a:pt x="2184717" y="36385"/>
                </a:lnTo>
                <a:lnTo>
                  <a:pt x="2190483" y="47701"/>
                </a:lnTo>
                <a:lnTo>
                  <a:pt x="2145207" y="70739"/>
                </a:lnTo>
                <a:close/>
              </a:path>
              <a:path w="2262504" h="1159510">
                <a:moveTo>
                  <a:pt x="2224443" y="30429"/>
                </a:moveTo>
                <a:lnTo>
                  <a:pt x="2218677" y="19113"/>
                </a:lnTo>
                <a:lnTo>
                  <a:pt x="2256256" y="0"/>
                </a:lnTo>
                <a:lnTo>
                  <a:pt x="2262009" y="11328"/>
                </a:lnTo>
                <a:lnTo>
                  <a:pt x="2224443" y="3042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3851363" y="2622257"/>
            <a:ext cx="211454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 b="1" i="1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dirty="0" baseline="-18518" sz="1350" spc="7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baseline="-18518" sz="13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858058" y="2897377"/>
            <a:ext cx="1124585" cy="2289175"/>
          </a:xfrm>
          <a:custGeom>
            <a:avLst/>
            <a:gdLst/>
            <a:ahLst/>
            <a:cxnLst/>
            <a:rect l="l" t="t" r="r" b="b"/>
            <a:pathLst>
              <a:path w="1124585" h="2289175">
                <a:moveTo>
                  <a:pt x="1102233" y="51231"/>
                </a:moveTo>
                <a:lnTo>
                  <a:pt x="1090815" y="45669"/>
                </a:lnTo>
                <a:lnTo>
                  <a:pt x="1113078" y="0"/>
                </a:lnTo>
                <a:lnTo>
                  <a:pt x="1124496" y="5575"/>
                </a:lnTo>
                <a:lnTo>
                  <a:pt x="1102233" y="51231"/>
                </a:lnTo>
                <a:close/>
              </a:path>
              <a:path w="1124585" h="2289175">
                <a:moveTo>
                  <a:pt x="1063282" y="131140"/>
                </a:moveTo>
                <a:lnTo>
                  <a:pt x="1051864" y="125577"/>
                </a:lnTo>
                <a:lnTo>
                  <a:pt x="1074127" y="79921"/>
                </a:lnTo>
                <a:lnTo>
                  <a:pt x="1085545" y="85483"/>
                </a:lnTo>
                <a:lnTo>
                  <a:pt x="1063282" y="131140"/>
                </a:lnTo>
                <a:close/>
              </a:path>
              <a:path w="1124585" h="2289175">
                <a:moveTo>
                  <a:pt x="1024318" y="211048"/>
                </a:moveTo>
                <a:lnTo>
                  <a:pt x="1012901" y="205486"/>
                </a:lnTo>
                <a:lnTo>
                  <a:pt x="1035164" y="159829"/>
                </a:lnTo>
                <a:lnTo>
                  <a:pt x="1046581" y="165392"/>
                </a:lnTo>
                <a:lnTo>
                  <a:pt x="1024318" y="211048"/>
                </a:lnTo>
                <a:close/>
              </a:path>
              <a:path w="1124585" h="2289175">
                <a:moveTo>
                  <a:pt x="985367" y="290957"/>
                </a:moveTo>
                <a:lnTo>
                  <a:pt x="973950" y="285394"/>
                </a:lnTo>
                <a:lnTo>
                  <a:pt x="996213" y="239737"/>
                </a:lnTo>
                <a:lnTo>
                  <a:pt x="1007618" y="245300"/>
                </a:lnTo>
                <a:lnTo>
                  <a:pt x="985367" y="290957"/>
                </a:lnTo>
                <a:close/>
              </a:path>
              <a:path w="1124585" h="2289175">
                <a:moveTo>
                  <a:pt x="946404" y="370865"/>
                </a:moveTo>
                <a:lnTo>
                  <a:pt x="934986" y="365302"/>
                </a:lnTo>
                <a:lnTo>
                  <a:pt x="957249" y="319646"/>
                </a:lnTo>
                <a:lnTo>
                  <a:pt x="968667" y="325208"/>
                </a:lnTo>
                <a:lnTo>
                  <a:pt x="946404" y="370865"/>
                </a:lnTo>
                <a:close/>
              </a:path>
              <a:path w="1124585" h="2289175">
                <a:moveTo>
                  <a:pt x="907440" y="450786"/>
                </a:moveTo>
                <a:lnTo>
                  <a:pt x="896035" y="445211"/>
                </a:lnTo>
                <a:lnTo>
                  <a:pt x="918286" y="399554"/>
                </a:lnTo>
                <a:lnTo>
                  <a:pt x="929703" y="405117"/>
                </a:lnTo>
                <a:lnTo>
                  <a:pt x="907440" y="450786"/>
                </a:lnTo>
                <a:close/>
              </a:path>
              <a:path w="1124585" h="2289175">
                <a:moveTo>
                  <a:pt x="868489" y="530694"/>
                </a:moveTo>
                <a:lnTo>
                  <a:pt x="857072" y="525119"/>
                </a:lnTo>
                <a:lnTo>
                  <a:pt x="879335" y="479463"/>
                </a:lnTo>
                <a:lnTo>
                  <a:pt x="890752" y="485025"/>
                </a:lnTo>
                <a:lnTo>
                  <a:pt x="868489" y="530694"/>
                </a:lnTo>
                <a:close/>
              </a:path>
              <a:path w="1124585" h="2289175">
                <a:moveTo>
                  <a:pt x="829525" y="610603"/>
                </a:moveTo>
                <a:lnTo>
                  <a:pt x="818121" y="605027"/>
                </a:lnTo>
                <a:lnTo>
                  <a:pt x="840371" y="559371"/>
                </a:lnTo>
                <a:lnTo>
                  <a:pt x="851788" y="564934"/>
                </a:lnTo>
                <a:lnTo>
                  <a:pt x="829525" y="610603"/>
                </a:lnTo>
                <a:close/>
              </a:path>
              <a:path w="1124585" h="2289175">
                <a:moveTo>
                  <a:pt x="790574" y="690511"/>
                </a:moveTo>
                <a:lnTo>
                  <a:pt x="779157" y="684949"/>
                </a:lnTo>
                <a:lnTo>
                  <a:pt x="801420" y="639279"/>
                </a:lnTo>
                <a:lnTo>
                  <a:pt x="812838" y="644842"/>
                </a:lnTo>
                <a:lnTo>
                  <a:pt x="790574" y="690511"/>
                </a:lnTo>
                <a:close/>
              </a:path>
              <a:path w="1124585" h="2289175">
                <a:moveTo>
                  <a:pt x="751611" y="770420"/>
                </a:moveTo>
                <a:lnTo>
                  <a:pt x="740194" y="764857"/>
                </a:lnTo>
                <a:lnTo>
                  <a:pt x="762457" y="719188"/>
                </a:lnTo>
                <a:lnTo>
                  <a:pt x="773874" y="724750"/>
                </a:lnTo>
                <a:lnTo>
                  <a:pt x="751611" y="770420"/>
                </a:lnTo>
                <a:close/>
              </a:path>
              <a:path w="1124585" h="2289175">
                <a:moveTo>
                  <a:pt x="712660" y="850328"/>
                </a:moveTo>
                <a:lnTo>
                  <a:pt x="701243" y="844765"/>
                </a:lnTo>
                <a:lnTo>
                  <a:pt x="723506" y="799096"/>
                </a:lnTo>
                <a:lnTo>
                  <a:pt x="734923" y="804659"/>
                </a:lnTo>
                <a:lnTo>
                  <a:pt x="712660" y="850328"/>
                </a:lnTo>
                <a:close/>
              </a:path>
              <a:path w="1124585" h="2289175">
                <a:moveTo>
                  <a:pt x="673696" y="930236"/>
                </a:moveTo>
                <a:lnTo>
                  <a:pt x="662279" y="924674"/>
                </a:lnTo>
                <a:lnTo>
                  <a:pt x="684542" y="879005"/>
                </a:lnTo>
                <a:lnTo>
                  <a:pt x="695959" y="884580"/>
                </a:lnTo>
                <a:lnTo>
                  <a:pt x="673696" y="930236"/>
                </a:lnTo>
                <a:close/>
              </a:path>
              <a:path w="1124585" h="2289175">
                <a:moveTo>
                  <a:pt x="634745" y="1010145"/>
                </a:moveTo>
                <a:lnTo>
                  <a:pt x="623328" y="1004582"/>
                </a:lnTo>
                <a:lnTo>
                  <a:pt x="645591" y="958913"/>
                </a:lnTo>
                <a:lnTo>
                  <a:pt x="657009" y="964488"/>
                </a:lnTo>
                <a:lnTo>
                  <a:pt x="634745" y="1010145"/>
                </a:lnTo>
                <a:close/>
              </a:path>
              <a:path w="1124585" h="2289175">
                <a:moveTo>
                  <a:pt x="595782" y="1090053"/>
                </a:moveTo>
                <a:lnTo>
                  <a:pt x="584365" y="1084491"/>
                </a:lnTo>
                <a:lnTo>
                  <a:pt x="606628" y="1038821"/>
                </a:lnTo>
                <a:lnTo>
                  <a:pt x="618045" y="1044397"/>
                </a:lnTo>
                <a:lnTo>
                  <a:pt x="595782" y="1090053"/>
                </a:lnTo>
                <a:close/>
              </a:path>
              <a:path w="1124585" h="2289175">
                <a:moveTo>
                  <a:pt x="556831" y="1169962"/>
                </a:moveTo>
                <a:lnTo>
                  <a:pt x="545414" y="1164399"/>
                </a:lnTo>
                <a:lnTo>
                  <a:pt x="567677" y="1118743"/>
                </a:lnTo>
                <a:lnTo>
                  <a:pt x="579094" y="1124305"/>
                </a:lnTo>
                <a:lnTo>
                  <a:pt x="556831" y="1169962"/>
                </a:lnTo>
                <a:close/>
              </a:path>
              <a:path w="1124585" h="2289175">
                <a:moveTo>
                  <a:pt x="517867" y="1249870"/>
                </a:moveTo>
                <a:lnTo>
                  <a:pt x="506450" y="1244307"/>
                </a:lnTo>
                <a:lnTo>
                  <a:pt x="528713" y="1198651"/>
                </a:lnTo>
                <a:lnTo>
                  <a:pt x="540131" y="1204214"/>
                </a:lnTo>
                <a:lnTo>
                  <a:pt x="517867" y="1249870"/>
                </a:lnTo>
                <a:close/>
              </a:path>
              <a:path w="1124585" h="2289175">
                <a:moveTo>
                  <a:pt x="478917" y="1329778"/>
                </a:moveTo>
                <a:lnTo>
                  <a:pt x="467499" y="1324216"/>
                </a:lnTo>
                <a:lnTo>
                  <a:pt x="489762" y="1278559"/>
                </a:lnTo>
                <a:lnTo>
                  <a:pt x="501167" y="1284122"/>
                </a:lnTo>
                <a:lnTo>
                  <a:pt x="478917" y="1329778"/>
                </a:lnTo>
                <a:close/>
              </a:path>
              <a:path w="1124585" h="2289175">
                <a:moveTo>
                  <a:pt x="439953" y="1409687"/>
                </a:moveTo>
                <a:lnTo>
                  <a:pt x="428536" y="1404124"/>
                </a:lnTo>
                <a:lnTo>
                  <a:pt x="450799" y="1358468"/>
                </a:lnTo>
                <a:lnTo>
                  <a:pt x="462216" y="1364030"/>
                </a:lnTo>
                <a:lnTo>
                  <a:pt x="439953" y="1409687"/>
                </a:lnTo>
                <a:close/>
              </a:path>
              <a:path w="1124585" h="2289175">
                <a:moveTo>
                  <a:pt x="400989" y="1489608"/>
                </a:moveTo>
                <a:lnTo>
                  <a:pt x="389585" y="1484033"/>
                </a:lnTo>
                <a:lnTo>
                  <a:pt x="411848" y="1438376"/>
                </a:lnTo>
                <a:lnTo>
                  <a:pt x="423252" y="1443939"/>
                </a:lnTo>
                <a:lnTo>
                  <a:pt x="400989" y="1489608"/>
                </a:lnTo>
                <a:close/>
              </a:path>
              <a:path w="1124585" h="2289175">
                <a:moveTo>
                  <a:pt x="362038" y="1569516"/>
                </a:moveTo>
                <a:lnTo>
                  <a:pt x="350621" y="1563941"/>
                </a:lnTo>
                <a:lnTo>
                  <a:pt x="372884" y="1518285"/>
                </a:lnTo>
                <a:lnTo>
                  <a:pt x="384301" y="1523847"/>
                </a:lnTo>
                <a:lnTo>
                  <a:pt x="362038" y="1569516"/>
                </a:lnTo>
                <a:close/>
              </a:path>
              <a:path w="1124585" h="2289175">
                <a:moveTo>
                  <a:pt x="323075" y="1649425"/>
                </a:moveTo>
                <a:lnTo>
                  <a:pt x="311670" y="1643849"/>
                </a:lnTo>
                <a:lnTo>
                  <a:pt x="333921" y="1598193"/>
                </a:lnTo>
                <a:lnTo>
                  <a:pt x="345338" y="1603756"/>
                </a:lnTo>
                <a:lnTo>
                  <a:pt x="323075" y="1649425"/>
                </a:lnTo>
                <a:close/>
              </a:path>
              <a:path w="1124585" h="2289175">
                <a:moveTo>
                  <a:pt x="284124" y="1729333"/>
                </a:moveTo>
                <a:lnTo>
                  <a:pt x="272707" y="1723771"/>
                </a:lnTo>
                <a:lnTo>
                  <a:pt x="294970" y="1678101"/>
                </a:lnTo>
                <a:lnTo>
                  <a:pt x="306387" y="1683664"/>
                </a:lnTo>
                <a:lnTo>
                  <a:pt x="284124" y="1729333"/>
                </a:lnTo>
                <a:close/>
              </a:path>
              <a:path w="1124585" h="2289175">
                <a:moveTo>
                  <a:pt x="245160" y="1809242"/>
                </a:moveTo>
                <a:lnTo>
                  <a:pt x="233743" y="1803679"/>
                </a:lnTo>
                <a:lnTo>
                  <a:pt x="256006" y="1758010"/>
                </a:lnTo>
                <a:lnTo>
                  <a:pt x="267423" y="1763572"/>
                </a:lnTo>
                <a:lnTo>
                  <a:pt x="245160" y="1809242"/>
                </a:lnTo>
                <a:close/>
              </a:path>
              <a:path w="1124585" h="2289175">
                <a:moveTo>
                  <a:pt x="206209" y="1889150"/>
                </a:moveTo>
                <a:lnTo>
                  <a:pt x="194792" y="1883587"/>
                </a:lnTo>
                <a:lnTo>
                  <a:pt x="217055" y="1837918"/>
                </a:lnTo>
                <a:lnTo>
                  <a:pt x="228472" y="1843481"/>
                </a:lnTo>
                <a:lnTo>
                  <a:pt x="206209" y="1889150"/>
                </a:lnTo>
                <a:close/>
              </a:path>
              <a:path w="1124585" h="2289175">
                <a:moveTo>
                  <a:pt x="167246" y="1969058"/>
                </a:moveTo>
                <a:lnTo>
                  <a:pt x="155828" y="1963496"/>
                </a:lnTo>
                <a:lnTo>
                  <a:pt x="178092" y="1917827"/>
                </a:lnTo>
                <a:lnTo>
                  <a:pt x="189509" y="1923402"/>
                </a:lnTo>
                <a:lnTo>
                  <a:pt x="167246" y="1969058"/>
                </a:lnTo>
                <a:close/>
              </a:path>
              <a:path w="1124585" h="2289175">
                <a:moveTo>
                  <a:pt x="128295" y="2048967"/>
                </a:moveTo>
                <a:lnTo>
                  <a:pt x="116878" y="2043404"/>
                </a:lnTo>
                <a:lnTo>
                  <a:pt x="139141" y="1997735"/>
                </a:lnTo>
                <a:lnTo>
                  <a:pt x="150558" y="2003310"/>
                </a:lnTo>
                <a:lnTo>
                  <a:pt x="128295" y="2048967"/>
                </a:lnTo>
                <a:close/>
              </a:path>
              <a:path w="1124585" h="2289175">
                <a:moveTo>
                  <a:pt x="89331" y="2128875"/>
                </a:moveTo>
                <a:lnTo>
                  <a:pt x="77914" y="2123313"/>
                </a:lnTo>
                <a:lnTo>
                  <a:pt x="100177" y="2077643"/>
                </a:lnTo>
                <a:lnTo>
                  <a:pt x="111594" y="2083219"/>
                </a:lnTo>
                <a:lnTo>
                  <a:pt x="89331" y="2128875"/>
                </a:lnTo>
                <a:close/>
              </a:path>
              <a:path w="1124585" h="2289175">
                <a:moveTo>
                  <a:pt x="50380" y="2208784"/>
                </a:moveTo>
                <a:lnTo>
                  <a:pt x="38963" y="2203221"/>
                </a:lnTo>
                <a:lnTo>
                  <a:pt x="61226" y="2157552"/>
                </a:lnTo>
                <a:lnTo>
                  <a:pt x="72643" y="2163127"/>
                </a:lnTo>
                <a:lnTo>
                  <a:pt x="50380" y="2208784"/>
                </a:lnTo>
                <a:close/>
              </a:path>
              <a:path w="1124585" h="2289175">
                <a:moveTo>
                  <a:pt x="11417" y="2288692"/>
                </a:moveTo>
                <a:lnTo>
                  <a:pt x="0" y="2283129"/>
                </a:lnTo>
                <a:lnTo>
                  <a:pt x="22263" y="2237473"/>
                </a:lnTo>
                <a:lnTo>
                  <a:pt x="33680" y="2243035"/>
                </a:lnTo>
                <a:lnTo>
                  <a:pt x="11417" y="228869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870428" y="3478314"/>
            <a:ext cx="2232025" cy="1722755"/>
          </a:xfrm>
          <a:custGeom>
            <a:avLst/>
            <a:gdLst/>
            <a:ahLst/>
            <a:cxnLst/>
            <a:rect l="l" t="t" r="r" b="b"/>
            <a:pathLst>
              <a:path w="2232025" h="1722754">
                <a:moveTo>
                  <a:pt x="2191486" y="41059"/>
                </a:moveTo>
                <a:lnTo>
                  <a:pt x="2183739" y="30987"/>
                </a:lnTo>
                <a:lnTo>
                  <a:pt x="2223985" y="0"/>
                </a:lnTo>
                <a:lnTo>
                  <a:pt x="2231732" y="10058"/>
                </a:lnTo>
                <a:lnTo>
                  <a:pt x="2191486" y="41059"/>
                </a:lnTo>
                <a:close/>
              </a:path>
              <a:path w="2232025" h="1722754">
                <a:moveTo>
                  <a:pt x="2121039" y="95288"/>
                </a:moveTo>
                <a:lnTo>
                  <a:pt x="2113292" y="85217"/>
                </a:lnTo>
                <a:lnTo>
                  <a:pt x="2153551" y="54229"/>
                </a:lnTo>
                <a:lnTo>
                  <a:pt x="2161298" y="64300"/>
                </a:lnTo>
                <a:lnTo>
                  <a:pt x="2121039" y="95288"/>
                </a:lnTo>
                <a:close/>
              </a:path>
              <a:path w="2232025" h="1722754">
                <a:moveTo>
                  <a:pt x="2050592" y="149517"/>
                </a:moveTo>
                <a:lnTo>
                  <a:pt x="2042845" y="139446"/>
                </a:lnTo>
                <a:lnTo>
                  <a:pt x="2083104" y="108458"/>
                </a:lnTo>
                <a:lnTo>
                  <a:pt x="2090851" y="118529"/>
                </a:lnTo>
                <a:lnTo>
                  <a:pt x="2050592" y="149517"/>
                </a:lnTo>
                <a:close/>
              </a:path>
              <a:path w="2232025" h="1722754">
                <a:moveTo>
                  <a:pt x="1980158" y="203746"/>
                </a:moveTo>
                <a:lnTo>
                  <a:pt x="1972411" y="193687"/>
                </a:lnTo>
                <a:lnTo>
                  <a:pt x="2012657" y="162687"/>
                </a:lnTo>
                <a:lnTo>
                  <a:pt x="2020404" y="172758"/>
                </a:lnTo>
                <a:lnTo>
                  <a:pt x="1980158" y="203746"/>
                </a:lnTo>
                <a:close/>
              </a:path>
              <a:path w="2232025" h="1722754">
                <a:moveTo>
                  <a:pt x="1909711" y="257975"/>
                </a:moveTo>
                <a:lnTo>
                  <a:pt x="1901964" y="247916"/>
                </a:lnTo>
                <a:lnTo>
                  <a:pt x="1942223" y="216928"/>
                </a:lnTo>
                <a:lnTo>
                  <a:pt x="1949970" y="226987"/>
                </a:lnTo>
                <a:lnTo>
                  <a:pt x="1909711" y="257975"/>
                </a:lnTo>
                <a:close/>
              </a:path>
              <a:path w="2232025" h="1722754">
                <a:moveTo>
                  <a:pt x="1839264" y="312204"/>
                </a:moveTo>
                <a:lnTo>
                  <a:pt x="1831517" y="302145"/>
                </a:lnTo>
                <a:lnTo>
                  <a:pt x="1871776" y="271157"/>
                </a:lnTo>
                <a:lnTo>
                  <a:pt x="1879523" y="281216"/>
                </a:lnTo>
                <a:lnTo>
                  <a:pt x="1839264" y="312204"/>
                </a:lnTo>
                <a:close/>
              </a:path>
              <a:path w="2232025" h="1722754">
                <a:moveTo>
                  <a:pt x="1768830" y="366433"/>
                </a:moveTo>
                <a:lnTo>
                  <a:pt x="1761083" y="356374"/>
                </a:lnTo>
                <a:lnTo>
                  <a:pt x="1801329" y="325386"/>
                </a:lnTo>
                <a:lnTo>
                  <a:pt x="1809076" y="335445"/>
                </a:lnTo>
                <a:lnTo>
                  <a:pt x="1768830" y="366433"/>
                </a:lnTo>
                <a:close/>
              </a:path>
              <a:path w="2232025" h="1722754">
                <a:moveTo>
                  <a:pt x="1698383" y="420674"/>
                </a:moveTo>
                <a:lnTo>
                  <a:pt x="1690636" y="410603"/>
                </a:lnTo>
                <a:lnTo>
                  <a:pt x="1730883" y="379615"/>
                </a:lnTo>
                <a:lnTo>
                  <a:pt x="1738630" y="389674"/>
                </a:lnTo>
                <a:lnTo>
                  <a:pt x="1698383" y="420674"/>
                </a:lnTo>
                <a:close/>
              </a:path>
              <a:path w="2232025" h="1722754">
                <a:moveTo>
                  <a:pt x="1627936" y="474903"/>
                </a:moveTo>
                <a:lnTo>
                  <a:pt x="1620189" y="464832"/>
                </a:lnTo>
                <a:lnTo>
                  <a:pt x="1660448" y="433844"/>
                </a:lnTo>
                <a:lnTo>
                  <a:pt x="1668195" y="443915"/>
                </a:lnTo>
                <a:lnTo>
                  <a:pt x="1627936" y="474903"/>
                </a:lnTo>
                <a:close/>
              </a:path>
              <a:path w="2232025" h="1722754">
                <a:moveTo>
                  <a:pt x="1557502" y="529132"/>
                </a:moveTo>
                <a:lnTo>
                  <a:pt x="1549755" y="519061"/>
                </a:lnTo>
                <a:lnTo>
                  <a:pt x="1590001" y="488073"/>
                </a:lnTo>
                <a:lnTo>
                  <a:pt x="1597748" y="498144"/>
                </a:lnTo>
                <a:lnTo>
                  <a:pt x="1557502" y="529132"/>
                </a:lnTo>
                <a:close/>
              </a:path>
              <a:path w="2232025" h="1722754">
                <a:moveTo>
                  <a:pt x="1487055" y="583361"/>
                </a:moveTo>
                <a:lnTo>
                  <a:pt x="1479308" y="573303"/>
                </a:lnTo>
                <a:lnTo>
                  <a:pt x="1519555" y="542302"/>
                </a:lnTo>
                <a:lnTo>
                  <a:pt x="1527302" y="552373"/>
                </a:lnTo>
                <a:lnTo>
                  <a:pt x="1487055" y="583361"/>
                </a:lnTo>
                <a:close/>
              </a:path>
              <a:path w="2232025" h="1722754">
                <a:moveTo>
                  <a:pt x="1416608" y="637590"/>
                </a:moveTo>
                <a:lnTo>
                  <a:pt x="1408861" y="627532"/>
                </a:lnTo>
                <a:lnTo>
                  <a:pt x="1449120" y="596544"/>
                </a:lnTo>
                <a:lnTo>
                  <a:pt x="1456867" y="606602"/>
                </a:lnTo>
                <a:lnTo>
                  <a:pt x="1416608" y="637590"/>
                </a:lnTo>
                <a:close/>
              </a:path>
              <a:path w="2232025" h="1722754">
                <a:moveTo>
                  <a:pt x="1346161" y="691819"/>
                </a:moveTo>
                <a:lnTo>
                  <a:pt x="1338414" y="681761"/>
                </a:lnTo>
                <a:lnTo>
                  <a:pt x="1378673" y="650773"/>
                </a:lnTo>
                <a:lnTo>
                  <a:pt x="1386420" y="660831"/>
                </a:lnTo>
                <a:lnTo>
                  <a:pt x="1346161" y="691819"/>
                </a:lnTo>
                <a:close/>
              </a:path>
              <a:path w="2232025" h="1722754">
                <a:moveTo>
                  <a:pt x="1275727" y="746048"/>
                </a:moveTo>
                <a:lnTo>
                  <a:pt x="1267980" y="735990"/>
                </a:lnTo>
                <a:lnTo>
                  <a:pt x="1308227" y="705002"/>
                </a:lnTo>
                <a:lnTo>
                  <a:pt x="1315973" y="715060"/>
                </a:lnTo>
                <a:lnTo>
                  <a:pt x="1275727" y="746048"/>
                </a:lnTo>
                <a:close/>
              </a:path>
              <a:path w="2232025" h="1722754">
                <a:moveTo>
                  <a:pt x="1205280" y="800277"/>
                </a:moveTo>
                <a:lnTo>
                  <a:pt x="1197533" y="790219"/>
                </a:lnTo>
                <a:lnTo>
                  <a:pt x="1237792" y="759231"/>
                </a:lnTo>
                <a:lnTo>
                  <a:pt x="1245539" y="769289"/>
                </a:lnTo>
                <a:lnTo>
                  <a:pt x="1205280" y="800277"/>
                </a:lnTo>
                <a:close/>
              </a:path>
              <a:path w="2232025" h="1722754">
                <a:moveTo>
                  <a:pt x="1134833" y="854519"/>
                </a:moveTo>
                <a:lnTo>
                  <a:pt x="1127086" y="844448"/>
                </a:lnTo>
                <a:lnTo>
                  <a:pt x="1167345" y="813460"/>
                </a:lnTo>
                <a:lnTo>
                  <a:pt x="1175092" y="823531"/>
                </a:lnTo>
                <a:lnTo>
                  <a:pt x="1134833" y="854519"/>
                </a:lnTo>
                <a:close/>
              </a:path>
              <a:path w="2232025" h="1722754">
                <a:moveTo>
                  <a:pt x="1064399" y="908748"/>
                </a:moveTo>
                <a:lnTo>
                  <a:pt x="1056652" y="898677"/>
                </a:lnTo>
                <a:lnTo>
                  <a:pt x="1096898" y="867689"/>
                </a:lnTo>
                <a:lnTo>
                  <a:pt x="1104645" y="877760"/>
                </a:lnTo>
                <a:lnTo>
                  <a:pt x="1064399" y="908748"/>
                </a:lnTo>
                <a:close/>
              </a:path>
              <a:path w="2232025" h="1722754">
                <a:moveTo>
                  <a:pt x="993952" y="962977"/>
                </a:moveTo>
                <a:lnTo>
                  <a:pt x="986205" y="952906"/>
                </a:lnTo>
                <a:lnTo>
                  <a:pt x="1026452" y="921918"/>
                </a:lnTo>
                <a:lnTo>
                  <a:pt x="1034199" y="931989"/>
                </a:lnTo>
                <a:lnTo>
                  <a:pt x="993952" y="962977"/>
                </a:lnTo>
                <a:close/>
              </a:path>
              <a:path w="2232025" h="1722754">
                <a:moveTo>
                  <a:pt x="923505" y="1017206"/>
                </a:moveTo>
                <a:lnTo>
                  <a:pt x="915758" y="1007148"/>
                </a:lnTo>
                <a:lnTo>
                  <a:pt x="956017" y="976160"/>
                </a:lnTo>
                <a:lnTo>
                  <a:pt x="963764" y="986218"/>
                </a:lnTo>
                <a:lnTo>
                  <a:pt x="923505" y="1017206"/>
                </a:lnTo>
                <a:close/>
              </a:path>
              <a:path w="2232025" h="1722754">
                <a:moveTo>
                  <a:pt x="853058" y="1071435"/>
                </a:moveTo>
                <a:lnTo>
                  <a:pt x="845311" y="1061377"/>
                </a:lnTo>
                <a:lnTo>
                  <a:pt x="885570" y="1030389"/>
                </a:lnTo>
                <a:lnTo>
                  <a:pt x="893318" y="1040447"/>
                </a:lnTo>
                <a:lnTo>
                  <a:pt x="853058" y="1071435"/>
                </a:lnTo>
                <a:close/>
              </a:path>
              <a:path w="2232025" h="1722754">
                <a:moveTo>
                  <a:pt x="782624" y="1125664"/>
                </a:moveTo>
                <a:lnTo>
                  <a:pt x="774877" y="1115606"/>
                </a:lnTo>
                <a:lnTo>
                  <a:pt x="815124" y="1084618"/>
                </a:lnTo>
                <a:lnTo>
                  <a:pt x="822871" y="1094676"/>
                </a:lnTo>
                <a:lnTo>
                  <a:pt x="782624" y="1125664"/>
                </a:lnTo>
                <a:close/>
              </a:path>
              <a:path w="2232025" h="1722754">
                <a:moveTo>
                  <a:pt x="712177" y="1179893"/>
                </a:moveTo>
                <a:lnTo>
                  <a:pt x="704430" y="1169835"/>
                </a:lnTo>
                <a:lnTo>
                  <a:pt x="744689" y="1138847"/>
                </a:lnTo>
                <a:lnTo>
                  <a:pt x="752436" y="1148905"/>
                </a:lnTo>
                <a:lnTo>
                  <a:pt x="712177" y="1179893"/>
                </a:lnTo>
                <a:close/>
              </a:path>
              <a:path w="2232025" h="1722754">
                <a:moveTo>
                  <a:pt x="641731" y="1234135"/>
                </a:moveTo>
                <a:lnTo>
                  <a:pt x="633983" y="1224064"/>
                </a:lnTo>
                <a:lnTo>
                  <a:pt x="674243" y="1193076"/>
                </a:lnTo>
                <a:lnTo>
                  <a:pt x="681990" y="1203134"/>
                </a:lnTo>
                <a:lnTo>
                  <a:pt x="641731" y="1234135"/>
                </a:lnTo>
                <a:close/>
              </a:path>
              <a:path w="2232025" h="1722754">
                <a:moveTo>
                  <a:pt x="571296" y="1288364"/>
                </a:moveTo>
                <a:lnTo>
                  <a:pt x="563549" y="1278293"/>
                </a:lnTo>
                <a:lnTo>
                  <a:pt x="603796" y="1247305"/>
                </a:lnTo>
                <a:lnTo>
                  <a:pt x="611543" y="1257376"/>
                </a:lnTo>
                <a:lnTo>
                  <a:pt x="571296" y="1288364"/>
                </a:lnTo>
                <a:close/>
              </a:path>
              <a:path w="2232025" h="1722754">
                <a:moveTo>
                  <a:pt x="500849" y="1342593"/>
                </a:moveTo>
                <a:lnTo>
                  <a:pt x="493102" y="1332522"/>
                </a:lnTo>
                <a:lnTo>
                  <a:pt x="533349" y="1301534"/>
                </a:lnTo>
                <a:lnTo>
                  <a:pt x="541108" y="1311605"/>
                </a:lnTo>
                <a:lnTo>
                  <a:pt x="500849" y="1342593"/>
                </a:lnTo>
                <a:close/>
              </a:path>
              <a:path w="2232025" h="1722754">
                <a:moveTo>
                  <a:pt x="430403" y="1396822"/>
                </a:moveTo>
                <a:lnTo>
                  <a:pt x="422656" y="1386763"/>
                </a:lnTo>
                <a:lnTo>
                  <a:pt x="462915" y="1355763"/>
                </a:lnTo>
                <a:lnTo>
                  <a:pt x="470661" y="1365834"/>
                </a:lnTo>
                <a:lnTo>
                  <a:pt x="430403" y="1396822"/>
                </a:lnTo>
                <a:close/>
              </a:path>
              <a:path w="2232025" h="1722754">
                <a:moveTo>
                  <a:pt x="359968" y="1451051"/>
                </a:moveTo>
                <a:lnTo>
                  <a:pt x="352221" y="1440992"/>
                </a:lnTo>
                <a:lnTo>
                  <a:pt x="392468" y="1410004"/>
                </a:lnTo>
                <a:lnTo>
                  <a:pt x="400215" y="1420063"/>
                </a:lnTo>
                <a:lnTo>
                  <a:pt x="359968" y="1451051"/>
                </a:lnTo>
                <a:close/>
              </a:path>
              <a:path w="2232025" h="1722754">
                <a:moveTo>
                  <a:pt x="289521" y="1505280"/>
                </a:moveTo>
                <a:lnTo>
                  <a:pt x="281774" y="1495221"/>
                </a:lnTo>
                <a:lnTo>
                  <a:pt x="322021" y="1464233"/>
                </a:lnTo>
                <a:lnTo>
                  <a:pt x="329768" y="1474292"/>
                </a:lnTo>
                <a:lnTo>
                  <a:pt x="289521" y="1505280"/>
                </a:lnTo>
                <a:close/>
              </a:path>
              <a:path w="2232025" h="1722754">
                <a:moveTo>
                  <a:pt x="219075" y="1559509"/>
                </a:moveTo>
                <a:lnTo>
                  <a:pt x="211327" y="1549450"/>
                </a:lnTo>
                <a:lnTo>
                  <a:pt x="251587" y="1518462"/>
                </a:lnTo>
                <a:lnTo>
                  <a:pt x="259333" y="1528521"/>
                </a:lnTo>
                <a:lnTo>
                  <a:pt x="219075" y="1559509"/>
                </a:lnTo>
                <a:close/>
              </a:path>
              <a:path w="2232025" h="1722754">
                <a:moveTo>
                  <a:pt x="148628" y="1613738"/>
                </a:moveTo>
                <a:lnTo>
                  <a:pt x="140881" y="1603679"/>
                </a:lnTo>
                <a:lnTo>
                  <a:pt x="181140" y="1572691"/>
                </a:lnTo>
                <a:lnTo>
                  <a:pt x="188887" y="1582750"/>
                </a:lnTo>
                <a:lnTo>
                  <a:pt x="148628" y="1613738"/>
                </a:lnTo>
                <a:close/>
              </a:path>
              <a:path w="2232025" h="1722754">
                <a:moveTo>
                  <a:pt x="78193" y="1667979"/>
                </a:moveTo>
                <a:lnTo>
                  <a:pt x="70446" y="1657908"/>
                </a:lnTo>
                <a:lnTo>
                  <a:pt x="110693" y="1626920"/>
                </a:lnTo>
                <a:lnTo>
                  <a:pt x="118440" y="1636991"/>
                </a:lnTo>
                <a:lnTo>
                  <a:pt x="78193" y="1667979"/>
                </a:lnTo>
                <a:close/>
              </a:path>
              <a:path w="2232025" h="1722754">
                <a:moveTo>
                  <a:pt x="7746" y="1722208"/>
                </a:moveTo>
                <a:lnTo>
                  <a:pt x="0" y="1712137"/>
                </a:lnTo>
                <a:lnTo>
                  <a:pt x="40258" y="1681149"/>
                </a:lnTo>
                <a:lnTo>
                  <a:pt x="48006" y="1691220"/>
                </a:lnTo>
                <a:lnTo>
                  <a:pt x="7746" y="172220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2576639" y="5001958"/>
            <a:ext cx="1543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 i="1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704909" y="5099748"/>
            <a:ext cx="8318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5" b="1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721489" y="2117140"/>
            <a:ext cx="2947035" cy="16459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解：（</a:t>
            </a:r>
            <a:r>
              <a:rPr dirty="0" sz="2000" spc="-5">
                <a:latin typeface="Times New Roman"/>
                <a:cs typeface="Times New Roman"/>
              </a:rPr>
              <a:t>1</a:t>
            </a:r>
            <a:r>
              <a:rPr dirty="0" sz="2000" i="1">
                <a:latin typeface="华文楷体"/>
                <a:cs typeface="华文楷体"/>
              </a:rPr>
              <a:t>）由几何关系可</a:t>
            </a:r>
            <a:r>
              <a:rPr dirty="0" sz="2000" spc="5" i="1">
                <a:latin typeface="华文楷体"/>
                <a:cs typeface="华文楷体"/>
              </a:rPr>
              <a:t>得</a:t>
            </a:r>
            <a:endParaRPr sz="2000">
              <a:latin typeface="华文楷体"/>
              <a:cs typeface="华文楷体"/>
            </a:endParaRPr>
          </a:p>
          <a:p>
            <a:pPr marL="785495">
              <a:lnSpc>
                <a:spcPct val="100000"/>
              </a:lnSpc>
              <a:spcBef>
                <a:spcPts val="1375"/>
              </a:spcBef>
            </a:pPr>
            <a:r>
              <a:rPr dirty="0" sz="1850" spc="20">
                <a:latin typeface="Times New Roman"/>
                <a:cs typeface="Times New Roman"/>
              </a:rPr>
              <a:t>(</a:t>
            </a:r>
            <a:r>
              <a:rPr dirty="0" sz="1850" spc="20" i="1">
                <a:latin typeface="Times New Roman"/>
                <a:cs typeface="Times New Roman"/>
              </a:rPr>
              <a:t>r</a:t>
            </a:r>
            <a:r>
              <a:rPr dirty="0" sz="1850" spc="-65" i="1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</a:t>
            </a:r>
            <a:r>
              <a:rPr dirty="0" sz="1850" spc="-215">
                <a:latin typeface="Times New Roman"/>
                <a:cs typeface="Times New Roman"/>
              </a:rPr>
              <a:t> </a:t>
            </a:r>
            <a:r>
              <a:rPr dirty="0" sz="1850" spc="60" i="1">
                <a:latin typeface="Times New Roman"/>
                <a:cs typeface="Times New Roman"/>
              </a:rPr>
              <a:t>l</a:t>
            </a:r>
            <a:r>
              <a:rPr dirty="0" sz="1850" spc="60">
                <a:latin typeface="Times New Roman"/>
                <a:cs typeface="Times New Roman"/>
              </a:rPr>
              <a:t>)</a:t>
            </a:r>
            <a:r>
              <a:rPr dirty="0" baseline="42328" sz="1575" spc="89">
                <a:latin typeface="Times New Roman"/>
                <a:cs typeface="Times New Roman"/>
              </a:rPr>
              <a:t>2</a:t>
            </a:r>
            <a:r>
              <a:rPr dirty="0" baseline="42328" sz="1575" spc="330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</a:t>
            </a:r>
            <a:r>
              <a:rPr dirty="0" sz="1850" spc="-150">
                <a:latin typeface="Times New Roman"/>
                <a:cs typeface="Times New Roman"/>
              </a:rPr>
              <a:t> </a:t>
            </a:r>
            <a:r>
              <a:rPr dirty="0" sz="1850" spc="35">
                <a:latin typeface="Times New Roman"/>
                <a:cs typeface="Times New Roman"/>
              </a:rPr>
              <a:t>(2</a:t>
            </a:r>
            <a:r>
              <a:rPr dirty="0" sz="1850" spc="35" i="1">
                <a:latin typeface="Times New Roman"/>
                <a:cs typeface="Times New Roman"/>
              </a:rPr>
              <a:t>l</a:t>
            </a:r>
            <a:r>
              <a:rPr dirty="0" sz="1850" spc="35">
                <a:latin typeface="Times New Roman"/>
                <a:cs typeface="Times New Roman"/>
              </a:rPr>
              <a:t>)</a:t>
            </a:r>
            <a:r>
              <a:rPr dirty="0" baseline="42328" sz="1575" spc="52">
                <a:latin typeface="Times New Roman"/>
                <a:cs typeface="Times New Roman"/>
              </a:rPr>
              <a:t>2</a:t>
            </a:r>
            <a:r>
              <a:rPr dirty="0" baseline="42328" sz="1575" spc="60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-40">
                <a:latin typeface="Times New Roman"/>
                <a:cs typeface="Times New Roman"/>
              </a:rPr>
              <a:t> </a:t>
            </a:r>
            <a:r>
              <a:rPr dirty="0" sz="1850" spc="-5" i="1">
                <a:latin typeface="Times New Roman"/>
                <a:cs typeface="Times New Roman"/>
              </a:rPr>
              <a:t>r</a:t>
            </a:r>
            <a:r>
              <a:rPr dirty="0" sz="1850" spc="-305" i="1">
                <a:latin typeface="Times New Roman"/>
                <a:cs typeface="Times New Roman"/>
              </a:rPr>
              <a:t> </a:t>
            </a:r>
            <a:r>
              <a:rPr dirty="0" baseline="42328" sz="1575" spc="7">
                <a:latin typeface="Times New Roman"/>
                <a:cs typeface="Times New Roman"/>
              </a:rPr>
              <a:t>2</a:t>
            </a:r>
            <a:endParaRPr baseline="42328" sz="1575">
              <a:latin typeface="Times New Roman"/>
              <a:cs typeface="Times New Roman"/>
            </a:endParaRPr>
          </a:p>
          <a:p>
            <a:pPr marL="825500">
              <a:lnSpc>
                <a:spcPct val="100000"/>
              </a:lnSpc>
              <a:spcBef>
                <a:spcPts val="1395"/>
              </a:spcBef>
            </a:pPr>
            <a:r>
              <a:rPr dirty="0" sz="1850" spc="-5" i="1">
                <a:latin typeface="Times New Roman"/>
                <a:cs typeface="Times New Roman"/>
              </a:rPr>
              <a:t>r 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20">
                <a:latin typeface="Times New Roman"/>
                <a:cs typeface="Times New Roman"/>
              </a:rPr>
              <a:t> </a:t>
            </a:r>
            <a:r>
              <a:rPr dirty="0" sz="1850" spc="-20">
                <a:latin typeface="Times New Roman"/>
                <a:cs typeface="Times New Roman"/>
              </a:rPr>
              <a:t>2.5</a:t>
            </a:r>
            <a:r>
              <a:rPr dirty="0" sz="1850" spc="-20" i="1">
                <a:latin typeface="Times New Roman"/>
                <a:cs typeface="Times New Roman"/>
              </a:rPr>
              <a:t>l</a:t>
            </a:r>
            <a:endParaRPr sz="1850">
              <a:latin typeface="Times New Roman"/>
              <a:cs typeface="Times New Roman"/>
            </a:endParaRPr>
          </a:p>
          <a:p>
            <a:pPr marL="427355">
              <a:lnSpc>
                <a:spcPct val="100000"/>
              </a:lnSpc>
              <a:spcBef>
                <a:spcPts val="740"/>
              </a:spcBef>
            </a:pPr>
            <a:r>
              <a:rPr dirty="0" sz="2000" i="1">
                <a:latin typeface="华文楷体"/>
                <a:cs typeface="华文楷体"/>
              </a:rPr>
              <a:t>洛伦兹力提供向心</a:t>
            </a:r>
            <a:r>
              <a:rPr dirty="0" sz="2000" spc="5" i="1">
                <a:latin typeface="华文楷体"/>
                <a:cs typeface="华文楷体"/>
              </a:rPr>
              <a:t>力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7411605" y="4198086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 h="0">
                <a:moveTo>
                  <a:pt x="0" y="0"/>
                </a:moveTo>
                <a:lnTo>
                  <a:pt x="228130" y="0"/>
                </a:lnTo>
              </a:path>
            </a:pathLst>
          </a:custGeom>
          <a:ln w="116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7409916" y="3602931"/>
            <a:ext cx="208915" cy="897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5405" marR="5080" indent="-53340">
              <a:lnSpc>
                <a:spcPct val="154600"/>
              </a:lnSpc>
              <a:spcBef>
                <a:spcPts val="100"/>
              </a:spcBef>
            </a:pPr>
            <a:r>
              <a:rPr dirty="0" baseline="-25525" sz="2775" spc="127" i="1">
                <a:latin typeface="Times New Roman"/>
                <a:cs typeface="Times New Roman"/>
              </a:rPr>
              <a:t>v</a:t>
            </a:r>
            <a:r>
              <a:rPr dirty="0" sz="1050" spc="5">
                <a:latin typeface="Times New Roman"/>
                <a:cs typeface="Times New Roman"/>
              </a:rPr>
              <a:t>2  </a:t>
            </a:r>
            <a:r>
              <a:rPr dirty="0" sz="1850" spc="-5" i="1">
                <a:latin typeface="Times New Roman"/>
                <a:cs typeface="Times New Roman"/>
              </a:rPr>
              <a:t>r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602590" y="4010494"/>
            <a:ext cx="783590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15" i="1">
                <a:latin typeface="Times New Roman"/>
                <a:cs typeface="Times New Roman"/>
              </a:rPr>
              <a:t>evB 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-110">
                <a:latin typeface="Times New Roman"/>
                <a:cs typeface="Times New Roman"/>
              </a:rPr>
              <a:t> </a:t>
            </a:r>
            <a:r>
              <a:rPr dirty="0" sz="1850" spc="-5" i="1">
                <a:latin typeface="Times New Roman"/>
                <a:cs typeface="Times New Roman"/>
              </a:rPr>
              <a:t>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608646" y="4872024"/>
            <a:ext cx="466725" cy="0"/>
          </a:xfrm>
          <a:custGeom>
            <a:avLst/>
            <a:gdLst/>
            <a:ahLst/>
            <a:cxnLst/>
            <a:rect l="l" t="t" r="r" b="b"/>
            <a:pathLst>
              <a:path w="466725" h="0">
                <a:moveTo>
                  <a:pt x="0" y="0"/>
                </a:moveTo>
                <a:lnTo>
                  <a:pt x="466115" y="0"/>
                </a:lnTo>
              </a:path>
            </a:pathLst>
          </a:custGeom>
          <a:ln w="116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7685861" y="4867427"/>
            <a:ext cx="31559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25">
                <a:latin typeface="Times New Roman"/>
                <a:cs typeface="Times New Roman"/>
              </a:rPr>
              <a:t>2</a:t>
            </a:r>
            <a:r>
              <a:rPr dirty="0" sz="1850" spc="-5" i="1">
                <a:latin typeface="Times New Roman"/>
                <a:cs typeface="Times New Roman"/>
              </a:rPr>
              <a:t>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247280" y="4536782"/>
            <a:ext cx="816610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-34534" sz="2775" spc="-7" i="1">
                <a:latin typeface="Times New Roman"/>
                <a:cs typeface="Times New Roman"/>
              </a:rPr>
              <a:t>v </a:t>
            </a:r>
            <a:r>
              <a:rPr dirty="0" baseline="-34534" sz="2775" spc="-7">
                <a:latin typeface="Symbol"/>
                <a:cs typeface="Symbol"/>
              </a:rPr>
              <a:t></a:t>
            </a:r>
            <a:r>
              <a:rPr dirty="0" baseline="-34534" sz="2775" spc="-44">
                <a:latin typeface="Times New Roman"/>
                <a:cs typeface="Times New Roman"/>
              </a:rPr>
              <a:t> </a:t>
            </a:r>
            <a:r>
              <a:rPr dirty="0" sz="1850" spc="5">
                <a:latin typeface="Times New Roman"/>
                <a:cs typeface="Times New Roman"/>
              </a:rPr>
              <a:t>5</a:t>
            </a:r>
            <a:r>
              <a:rPr dirty="0" sz="1850" spc="5" i="1">
                <a:latin typeface="Times New Roman"/>
                <a:cs typeface="Times New Roman"/>
              </a:rPr>
              <a:t>Bel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167869" y="4582160"/>
            <a:ext cx="788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可得</a:t>
            </a:r>
            <a:r>
              <a:rPr dirty="0" sz="2000" spc="5" i="1">
                <a:latin typeface="华文楷体"/>
                <a:cs typeface="华文楷体"/>
              </a:rPr>
              <a:t>：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851861" y="2343543"/>
            <a:ext cx="2254885" cy="1143000"/>
          </a:xfrm>
          <a:custGeom>
            <a:avLst/>
            <a:gdLst/>
            <a:ahLst/>
            <a:cxnLst/>
            <a:rect l="l" t="t" r="r" b="b"/>
            <a:pathLst>
              <a:path w="2254885" h="1143000">
                <a:moveTo>
                  <a:pt x="1140561" y="266700"/>
                </a:moveTo>
                <a:lnTo>
                  <a:pt x="1101191" y="250189"/>
                </a:lnTo>
                <a:lnTo>
                  <a:pt x="1061516" y="234950"/>
                </a:lnTo>
                <a:lnTo>
                  <a:pt x="1021422" y="220980"/>
                </a:lnTo>
                <a:lnTo>
                  <a:pt x="980909" y="205739"/>
                </a:lnTo>
                <a:lnTo>
                  <a:pt x="939990" y="191769"/>
                </a:lnTo>
                <a:lnTo>
                  <a:pt x="898664" y="179069"/>
                </a:lnTo>
                <a:lnTo>
                  <a:pt x="856957" y="166369"/>
                </a:lnTo>
                <a:lnTo>
                  <a:pt x="814857" y="153669"/>
                </a:lnTo>
                <a:lnTo>
                  <a:pt x="772388" y="142239"/>
                </a:lnTo>
                <a:lnTo>
                  <a:pt x="729538" y="130810"/>
                </a:lnTo>
                <a:lnTo>
                  <a:pt x="686333" y="119380"/>
                </a:lnTo>
                <a:lnTo>
                  <a:pt x="664629" y="114300"/>
                </a:lnTo>
                <a:lnTo>
                  <a:pt x="642810" y="109219"/>
                </a:lnTo>
                <a:lnTo>
                  <a:pt x="620890" y="104139"/>
                </a:lnTo>
                <a:lnTo>
                  <a:pt x="598893" y="99060"/>
                </a:lnTo>
                <a:lnTo>
                  <a:pt x="576821" y="93980"/>
                </a:lnTo>
                <a:lnTo>
                  <a:pt x="554647" y="88900"/>
                </a:lnTo>
                <a:lnTo>
                  <a:pt x="532409" y="85089"/>
                </a:lnTo>
                <a:lnTo>
                  <a:pt x="510070" y="80010"/>
                </a:lnTo>
                <a:lnTo>
                  <a:pt x="487667" y="76200"/>
                </a:lnTo>
                <a:lnTo>
                  <a:pt x="465175" y="72389"/>
                </a:lnTo>
                <a:lnTo>
                  <a:pt x="442607" y="68580"/>
                </a:lnTo>
                <a:lnTo>
                  <a:pt x="419950" y="64769"/>
                </a:lnTo>
                <a:lnTo>
                  <a:pt x="397230" y="60960"/>
                </a:lnTo>
                <a:lnTo>
                  <a:pt x="374421" y="57150"/>
                </a:lnTo>
                <a:lnTo>
                  <a:pt x="351548" y="53339"/>
                </a:lnTo>
                <a:lnTo>
                  <a:pt x="328599" y="50800"/>
                </a:lnTo>
                <a:lnTo>
                  <a:pt x="305574" y="46989"/>
                </a:lnTo>
                <a:lnTo>
                  <a:pt x="282473" y="44450"/>
                </a:lnTo>
                <a:lnTo>
                  <a:pt x="259308" y="40639"/>
                </a:lnTo>
                <a:lnTo>
                  <a:pt x="236067" y="38100"/>
                </a:lnTo>
                <a:lnTo>
                  <a:pt x="212763" y="35560"/>
                </a:lnTo>
                <a:lnTo>
                  <a:pt x="189382" y="33019"/>
                </a:lnTo>
                <a:lnTo>
                  <a:pt x="165938" y="30480"/>
                </a:lnTo>
                <a:lnTo>
                  <a:pt x="142417" y="29210"/>
                </a:lnTo>
                <a:lnTo>
                  <a:pt x="118846" y="26669"/>
                </a:lnTo>
                <a:lnTo>
                  <a:pt x="95199" y="24130"/>
                </a:lnTo>
                <a:lnTo>
                  <a:pt x="71488" y="22860"/>
                </a:lnTo>
                <a:lnTo>
                  <a:pt x="47726" y="21589"/>
                </a:lnTo>
                <a:lnTo>
                  <a:pt x="23888" y="20319"/>
                </a:lnTo>
                <a:lnTo>
                  <a:pt x="0" y="17780"/>
                </a:lnTo>
                <a:lnTo>
                  <a:pt x="1079" y="0"/>
                </a:lnTo>
                <a:lnTo>
                  <a:pt x="96723" y="5080"/>
                </a:lnTo>
                <a:lnTo>
                  <a:pt x="144183" y="10160"/>
                </a:lnTo>
                <a:lnTo>
                  <a:pt x="167805" y="11430"/>
                </a:lnTo>
                <a:lnTo>
                  <a:pt x="238290" y="19050"/>
                </a:lnTo>
                <a:lnTo>
                  <a:pt x="261645" y="22860"/>
                </a:lnTo>
                <a:lnTo>
                  <a:pt x="308152" y="27939"/>
                </a:lnTo>
                <a:lnTo>
                  <a:pt x="331292" y="31750"/>
                </a:lnTo>
                <a:lnTo>
                  <a:pt x="354368" y="34289"/>
                </a:lnTo>
                <a:lnTo>
                  <a:pt x="491185" y="57150"/>
                </a:lnTo>
                <a:lnTo>
                  <a:pt x="513714" y="62230"/>
                </a:lnTo>
                <a:lnTo>
                  <a:pt x="536168" y="66039"/>
                </a:lnTo>
                <a:lnTo>
                  <a:pt x="558533" y="71119"/>
                </a:lnTo>
                <a:lnTo>
                  <a:pt x="580809" y="74930"/>
                </a:lnTo>
                <a:lnTo>
                  <a:pt x="690968" y="100330"/>
                </a:lnTo>
                <a:lnTo>
                  <a:pt x="777481" y="123189"/>
                </a:lnTo>
                <a:lnTo>
                  <a:pt x="820191" y="135889"/>
                </a:lnTo>
                <a:lnTo>
                  <a:pt x="862520" y="147319"/>
                </a:lnTo>
                <a:lnTo>
                  <a:pt x="904468" y="161289"/>
                </a:lnTo>
                <a:lnTo>
                  <a:pt x="946035" y="173989"/>
                </a:lnTo>
                <a:lnTo>
                  <a:pt x="1027950" y="201930"/>
                </a:lnTo>
                <a:lnTo>
                  <a:pt x="1108201" y="232410"/>
                </a:lnTo>
                <a:lnTo>
                  <a:pt x="1147686" y="248919"/>
                </a:lnTo>
                <a:lnTo>
                  <a:pt x="1186738" y="264160"/>
                </a:lnTo>
                <a:lnTo>
                  <a:pt x="1189495" y="265430"/>
                </a:lnTo>
                <a:lnTo>
                  <a:pt x="1140434" y="265430"/>
                </a:lnTo>
                <a:lnTo>
                  <a:pt x="1140561" y="266700"/>
                </a:lnTo>
                <a:close/>
              </a:path>
              <a:path w="2254885" h="1143000">
                <a:moveTo>
                  <a:pt x="1402587" y="388619"/>
                </a:moveTo>
                <a:lnTo>
                  <a:pt x="1366443" y="369569"/>
                </a:lnTo>
                <a:lnTo>
                  <a:pt x="1366570" y="369569"/>
                </a:lnTo>
                <a:lnTo>
                  <a:pt x="1329944" y="350519"/>
                </a:lnTo>
                <a:lnTo>
                  <a:pt x="1292961" y="332739"/>
                </a:lnTo>
                <a:lnTo>
                  <a:pt x="1293088" y="332739"/>
                </a:lnTo>
                <a:lnTo>
                  <a:pt x="1255509" y="316230"/>
                </a:lnTo>
                <a:lnTo>
                  <a:pt x="1217612" y="298450"/>
                </a:lnTo>
                <a:lnTo>
                  <a:pt x="1179245" y="281939"/>
                </a:lnTo>
                <a:lnTo>
                  <a:pt x="1140434" y="265430"/>
                </a:lnTo>
                <a:lnTo>
                  <a:pt x="1189495" y="265430"/>
                </a:lnTo>
                <a:lnTo>
                  <a:pt x="1225334" y="281939"/>
                </a:lnTo>
                <a:lnTo>
                  <a:pt x="1263484" y="298450"/>
                </a:lnTo>
                <a:lnTo>
                  <a:pt x="1375156" y="351789"/>
                </a:lnTo>
                <a:lnTo>
                  <a:pt x="1442432" y="387350"/>
                </a:lnTo>
                <a:lnTo>
                  <a:pt x="1402473" y="387350"/>
                </a:lnTo>
                <a:lnTo>
                  <a:pt x="1402587" y="388619"/>
                </a:lnTo>
                <a:close/>
              </a:path>
              <a:path w="2254885" h="1143000">
                <a:moveTo>
                  <a:pt x="1438122" y="407669"/>
                </a:moveTo>
                <a:lnTo>
                  <a:pt x="1402473" y="387350"/>
                </a:lnTo>
                <a:lnTo>
                  <a:pt x="1442432" y="387350"/>
                </a:lnTo>
                <a:lnTo>
                  <a:pt x="1447203" y="389889"/>
                </a:lnTo>
                <a:lnTo>
                  <a:pt x="1475868" y="406400"/>
                </a:lnTo>
                <a:lnTo>
                  <a:pt x="1437995" y="406400"/>
                </a:lnTo>
                <a:lnTo>
                  <a:pt x="1438122" y="407669"/>
                </a:lnTo>
                <a:close/>
              </a:path>
              <a:path w="2254885" h="1143000">
                <a:moveTo>
                  <a:pt x="1507680" y="447039"/>
                </a:moveTo>
                <a:lnTo>
                  <a:pt x="1473034" y="426719"/>
                </a:lnTo>
                <a:lnTo>
                  <a:pt x="1437995" y="406400"/>
                </a:lnTo>
                <a:lnTo>
                  <a:pt x="1475868" y="406400"/>
                </a:lnTo>
                <a:lnTo>
                  <a:pt x="1517256" y="430530"/>
                </a:lnTo>
                <a:lnTo>
                  <a:pt x="1542945" y="445769"/>
                </a:lnTo>
                <a:lnTo>
                  <a:pt x="1507553" y="445769"/>
                </a:lnTo>
                <a:lnTo>
                  <a:pt x="1507680" y="447039"/>
                </a:lnTo>
                <a:close/>
              </a:path>
              <a:path w="2254885" h="1143000">
                <a:moveTo>
                  <a:pt x="1541691" y="467360"/>
                </a:moveTo>
                <a:lnTo>
                  <a:pt x="1507553" y="445769"/>
                </a:lnTo>
                <a:lnTo>
                  <a:pt x="1542945" y="445769"/>
                </a:lnTo>
                <a:lnTo>
                  <a:pt x="1576816" y="466089"/>
                </a:lnTo>
                <a:lnTo>
                  <a:pt x="1541564" y="466089"/>
                </a:lnTo>
                <a:lnTo>
                  <a:pt x="1541691" y="467360"/>
                </a:lnTo>
                <a:close/>
              </a:path>
              <a:path w="2254885" h="1143000">
                <a:moveTo>
                  <a:pt x="2164930" y="1029969"/>
                </a:moveTo>
                <a:lnTo>
                  <a:pt x="2154897" y="1016000"/>
                </a:lnTo>
                <a:lnTo>
                  <a:pt x="2144750" y="1002030"/>
                </a:lnTo>
                <a:lnTo>
                  <a:pt x="2134425" y="988060"/>
                </a:lnTo>
                <a:lnTo>
                  <a:pt x="2123935" y="974089"/>
                </a:lnTo>
                <a:lnTo>
                  <a:pt x="2113267" y="960119"/>
                </a:lnTo>
                <a:lnTo>
                  <a:pt x="2102434" y="946150"/>
                </a:lnTo>
                <a:lnTo>
                  <a:pt x="2091435" y="933450"/>
                </a:lnTo>
                <a:lnTo>
                  <a:pt x="2080272" y="919480"/>
                </a:lnTo>
                <a:lnTo>
                  <a:pt x="2068944" y="906780"/>
                </a:lnTo>
                <a:lnTo>
                  <a:pt x="2057450" y="892810"/>
                </a:lnTo>
                <a:lnTo>
                  <a:pt x="2045779" y="880110"/>
                </a:lnTo>
                <a:lnTo>
                  <a:pt x="2033955" y="866139"/>
                </a:lnTo>
                <a:lnTo>
                  <a:pt x="2021979" y="853439"/>
                </a:lnTo>
                <a:lnTo>
                  <a:pt x="2009825" y="840739"/>
                </a:lnTo>
                <a:lnTo>
                  <a:pt x="1997519" y="826769"/>
                </a:lnTo>
                <a:lnTo>
                  <a:pt x="1985048" y="814069"/>
                </a:lnTo>
                <a:lnTo>
                  <a:pt x="1959622" y="788669"/>
                </a:lnTo>
                <a:lnTo>
                  <a:pt x="1933587" y="763269"/>
                </a:lnTo>
                <a:lnTo>
                  <a:pt x="1906930" y="739139"/>
                </a:lnTo>
                <a:lnTo>
                  <a:pt x="1879663" y="713739"/>
                </a:lnTo>
                <a:lnTo>
                  <a:pt x="1879790" y="713739"/>
                </a:lnTo>
                <a:lnTo>
                  <a:pt x="1851799" y="689610"/>
                </a:lnTo>
                <a:lnTo>
                  <a:pt x="1823338" y="665480"/>
                </a:lnTo>
                <a:lnTo>
                  <a:pt x="1823466" y="665480"/>
                </a:lnTo>
                <a:lnTo>
                  <a:pt x="1794281" y="642619"/>
                </a:lnTo>
                <a:lnTo>
                  <a:pt x="1764652" y="619760"/>
                </a:lnTo>
                <a:lnTo>
                  <a:pt x="1734438" y="596900"/>
                </a:lnTo>
                <a:lnTo>
                  <a:pt x="1734566" y="596900"/>
                </a:lnTo>
                <a:lnTo>
                  <a:pt x="1703666" y="574039"/>
                </a:lnTo>
                <a:lnTo>
                  <a:pt x="1703793" y="574039"/>
                </a:lnTo>
                <a:lnTo>
                  <a:pt x="1672335" y="551180"/>
                </a:lnTo>
                <a:lnTo>
                  <a:pt x="1640446" y="529589"/>
                </a:lnTo>
                <a:lnTo>
                  <a:pt x="1608023" y="508000"/>
                </a:lnTo>
                <a:lnTo>
                  <a:pt x="1575066" y="487680"/>
                </a:lnTo>
                <a:lnTo>
                  <a:pt x="1541564" y="466089"/>
                </a:lnTo>
                <a:lnTo>
                  <a:pt x="1576816" y="466089"/>
                </a:lnTo>
                <a:lnTo>
                  <a:pt x="1618462" y="492760"/>
                </a:lnTo>
                <a:lnTo>
                  <a:pt x="1651139" y="514350"/>
                </a:lnTo>
                <a:lnTo>
                  <a:pt x="1683270" y="535939"/>
                </a:lnTo>
                <a:lnTo>
                  <a:pt x="1714855" y="558800"/>
                </a:lnTo>
                <a:lnTo>
                  <a:pt x="1745881" y="581660"/>
                </a:lnTo>
                <a:lnTo>
                  <a:pt x="1806219" y="627380"/>
                </a:lnTo>
                <a:lnTo>
                  <a:pt x="1864245" y="675639"/>
                </a:lnTo>
                <a:lnTo>
                  <a:pt x="1919871" y="725169"/>
                </a:lnTo>
                <a:lnTo>
                  <a:pt x="1946770" y="749300"/>
                </a:lnTo>
                <a:lnTo>
                  <a:pt x="1973059" y="775969"/>
                </a:lnTo>
                <a:lnTo>
                  <a:pt x="1998700" y="801369"/>
                </a:lnTo>
                <a:lnTo>
                  <a:pt x="2011298" y="814069"/>
                </a:lnTo>
                <a:lnTo>
                  <a:pt x="2023732" y="826769"/>
                </a:lnTo>
                <a:lnTo>
                  <a:pt x="2036000" y="840739"/>
                </a:lnTo>
                <a:lnTo>
                  <a:pt x="2048116" y="853439"/>
                </a:lnTo>
                <a:lnTo>
                  <a:pt x="2060054" y="867410"/>
                </a:lnTo>
                <a:lnTo>
                  <a:pt x="2071839" y="880110"/>
                </a:lnTo>
                <a:lnTo>
                  <a:pt x="2083460" y="894080"/>
                </a:lnTo>
                <a:lnTo>
                  <a:pt x="2117318" y="934719"/>
                </a:lnTo>
                <a:lnTo>
                  <a:pt x="2149652" y="976630"/>
                </a:lnTo>
                <a:lnTo>
                  <a:pt x="2180462" y="1018539"/>
                </a:lnTo>
                <a:lnTo>
                  <a:pt x="2187676" y="1028700"/>
                </a:lnTo>
                <a:lnTo>
                  <a:pt x="2164880" y="1028700"/>
                </a:lnTo>
                <a:lnTo>
                  <a:pt x="2164930" y="1029969"/>
                </a:lnTo>
                <a:close/>
              </a:path>
              <a:path w="2254885" h="1143000">
                <a:moveTo>
                  <a:pt x="2238438" y="1143000"/>
                </a:moveTo>
                <a:lnTo>
                  <a:pt x="2229827" y="1129030"/>
                </a:lnTo>
                <a:lnTo>
                  <a:pt x="2221077" y="1115060"/>
                </a:lnTo>
                <a:lnTo>
                  <a:pt x="2212149" y="1099819"/>
                </a:lnTo>
                <a:lnTo>
                  <a:pt x="2203043" y="1085850"/>
                </a:lnTo>
                <a:lnTo>
                  <a:pt x="2193772" y="1071880"/>
                </a:lnTo>
                <a:lnTo>
                  <a:pt x="2184311" y="1057910"/>
                </a:lnTo>
                <a:lnTo>
                  <a:pt x="2174684" y="1043939"/>
                </a:lnTo>
                <a:lnTo>
                  <a:pt x="2164880" y="1028700"/>
                </a:lnTo>
                <a:lnTo>
                  <a:pt x="2187676" y="1028700"/>
                </a:lnTo>
                <a:lnTo>
                  <a:pt x="2190381" y="1032510"/>
                </a:lnTo>
                <a:lnTo>
                  <a:pt x="2200122" y="1046480"/>
                </a:lnTo>
                <a:lnTo>
                  <a:pt x="2209698" y="1061719"/>
                </a:lnTo>
                <a:lnTo>
                  <a:pt x="2219083" y="1075689"/>
                </a:lnTo>
                <a:lnTo>
                  <a:pt x="2228303" y="1089660"/>
                </a:lnTo>
                <a:lnTo>
                  <a:pt x="2237333" y="1104900"/>
                </a:lnTo>
                <a:lnTo>
                  <a:pt x="2246185" y="1118869"/>
                </a:lnTo>
                <a:lnTo>
                  <a:pt x="2254834" y="1134110"/>
                </a:lnTo>
                <a:lnTo>
                  <a:pt x="2238438" y="11430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2553614" y="2462961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20512" y="1380083"/>
            <a:ext cx="977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黑体"/>
                <a:cs typeface="黑体"/>
              </a:rPr>
              <a:t>例题4</a:t>
            </a:r>
          </a:p>
        </p:txBody>
      </p:sp>
      <p:sp>
        <p:nvSpPr>
          <p:cNvPr id="3" name="object 3"/>
          <p:cNvSpPr/>
          <p:nvPr/>
        </p:nvSpPr>
        <p:spPr>
          <a:xfrm>
            <a:off x="2499360" y="1367027"/>
            <a:ext cx="902208" cy="5501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13759" y="1449324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13403" y="167335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907409" y="1898014"/>
            <a:ext cx="4732655" cy="0"/>
          </a:xfrm>
          <a:custGeom>
            <a:avLst/>
            <a:gdLst/>
            <a:ahLst/>
            <a:cxnLst/>
            <a:rect l="l" t="t" r="r" b="b"/>
            <a:pathLst>
              <a:path w="4732655" h="0">
                <a:moveTo>
                  <a:pt x="0" y="0"/>
                </a:moveTo>
                <a:lnTo>
                  <a:pt x="4732426" y="0"/>
                </a:lnTo>
              </a:path>
            </a:pathLst>
          </a:custGeom>
          <a:ln w="12700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42616" y="1997964"/>
            <a:ext cx="2505456" cy="14218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00578" y="2206129"/>
            <a:ext cx="85725" cy="443865"/>
          </a:xfrm>
          <a:custGeom>
            <a:avLst/>
            <a:gdLst/>
            <a:ahLst/>
            <a:cxnLst/>
            <a:rect l="l" t="t" r="r" b="b"/>
            <a:pathLst>
              <a:path w="85725" h="443864">
                <a:moveTo>
                  <a:pt x="42240" y="400583"/>
                </a:moveTo>
                <a:lnTo>
                  <a:pt x="28158" y="386091"/>
                </a:lnTo>
                <a:lnTo>
                  <a:pt x="33693" y="0"/>
                </a:lnTo>
                <a:lnTo>
                  <a:pt x="62255" y="419"/>
                </a:lnTo>
                <a:lnTo>
                  <a:pt x="56733" y="386497"/>
                </a:lnTo>
                <a:lnTo>
                  <a:pt x="42240" y="400583"/>
                </a:lnTo>
                <a:close/>
              </a:path>
              <a:path w="85725" h="443864">
                <a:moveTo>
                  <a:pt x="41630" y="443433"/>
                </a:moveTo>
                <a:lnTo>
                  <a:pt x="0" y="357111"/>
                </a:lnTo>
                <a:lnTo>
                  <a:pt x="28158" y="386091"/>
                </a:lnTo>
                <a:lnTo>
                  <a:pt x="27800" y="411086"/>
                </a:lnTo>
                <a:lnTo>
                  <a:pt x="56375" y="411505"/>
                </a:lnTo>
                <a:lnTo>
                  <a:pt x="58168" y="411505"/>
                </a:lnTo>
                <a:lnTo>
                  <a:pt x="41630" y="443433"/>
                </a:lnTo>
                <a:close/>
              </a:path>
              <a:path w="85725" h="443864">
                <a:moveTo>
                  <a:pt x="58168" y="411505"/>
                </a:moveTo>
                <a:lnTo>
                  <a:pt x="56375" y="411505"/>
                </a:lnTo>
                <a:lnTo>
                  <a:pt x="56733" y="386497"/>
                </a:lnTo>
                <a:lnTo>
                  <a:pt x="85712" y="358330"/>
                </a:lnTo>
                <a:lnTo>
                  <a:pt x="58168" y="411505"/>
                </a:lnTo>
                <a:close/>
              </a:path>
              <a:path w="85725" h="443864">
                <a:moveTo>
                  <a:pt x="56375" y="411505"/>
                </a:moveTo>
                <a:lnTo>
                  <a:pt x="27800" y="411086"/>
                </a:lnTo>
                <a:lnTo>
                  <a:pt x="28158" y="386091"/>
                </a:lnTo>
                <a:lnTo>
                  <a:pt x="42240" y="400583"/>
                </a:lnTo>
                <a:lnTo>
                  <a:pt x="56531" y="400583"/>
                </a:lnTo>
                <a:lnTo>
                  <a:pt x="56375" y="411505"/>
                </a:lnTo>
                <a:close/>
              </a:path>
              <a:path w="85725" h="443864">
                <a:moveTo>
                  <a:pt x="56531" y="400583"/>
                </a:moveTo>
                <a:lnTo>
                  <a:pt x="42240" y="400583"/>
                </a:lnTo>
                <a:lnTo>
                  <a:pt x="56733" y="386497"/>
                </a:lnTo>
                <a:lnTo>
                  <a:pt x="56531" y="40058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544495" y="2359152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35859" y="32289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835859" y="33178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35859" y="34067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35859" y="34956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35859" y="35845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35859" y="36734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35859" y="37623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835859" y="38512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835859" y="39401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835859" y="40290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35859" y="41179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835859" y="42068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835859" y="42957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835859" y="43846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35859" y="44735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835859" y="45624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835859" y="46513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835859" y="47402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835859" y="48291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835859" y="49180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835859" y="50069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835859" y="50958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835859" y="5184775"/>
            <a:ext cx="12700" cy="50800"/>
          </a:xfrm>
          <a:custGeom>
            <a:avLst/>
            <a:gdLst/>
            <a:ahLst/>
            <a:cxnLst/>
            <a:rect l="l" t="t" r="r" b="b"/>
            <a:pathLst>
              <a:path w="12700" h="50800">
                <a:moveTo>
                  <a:pt x="12700" y="50800"/>
                </a:moveTo>
                <a:lnTo>
                  <a:pt x="0" y="50800"/>
                </a:lnTo>
                <a:lnTo>
                  <a:pt x="0" y="0"/>
                </a:lnTo>
                <a:lnTo>
                  <a:pt x="12700" y="0"/>
                </a:lnTo>
                <a:lnTo>
                  <a:pt x="12700" y="508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839377" y="2200655"/>
            <a:ext cx="2042160" cy="1022985"/>
          </a:xfrm>
          <a:custGeom>
            <a:avLst/>
            <a:gdLst/>
            <a:ahLst/>
            <a:cxnLst/>
            <a:rect l="l" t="t" r="r" b="b"/>
            <a:pathLst>
              <a:path w="2042160" h="1022985">
                <a:moveTo>
                  <a:pt x="45491" y="33972"/>
                </a:moveTo>
                <a:lnTo>
                  <a:pt x="0" y="11366"/>
                </a:lnTo>
                <a:lnTo>
                  <a:pt x="5651" y="0"/>
                </a:lnTo>
                <a:lnTo>
                  <a:pt x="51142" y="22593"/>
                </a:lnTo>
                <a:lnTo>
                  <a:pt x="45491" y="33972"/>
                </a:lnTo>
                <a:close/>
              </a:path>
              <a:path w="2042160" h="1022985">
                <a:moveTo>
                  <a:pt x="125107" y="73520"/>
                </a:moveTo>
                <a:lnTo>
                  <a:pt x="79616" y="50927"/>
                </a:lnTo>
                <a:lnTo>
                  <a:pt x="85267" y="39547"/>
                </a:lnTo>
                <a:lnTo>
                  <a:pt x="130759" y="62153"/>
                </a:lnTo>
                <a:lnTo>
                  <a:pt x="125107" y="73520"/>
                </a:lnTo>
                <a:close/>
              </a:path>
              <a:path w="2042160" h="1022985">
                <a:moveTo>
                  <a:pt x="204724" y="113080"/>
                </a:moveTo>
                <a:lnTo>
                  <a:pt x="159232" y="90474"/>
                </a:lnTo>
                <a:lnTo>
                  <a:pt x="164884" y="79095"/>
                </a:lnTo>
                <a:lnTo>
                  <a:pt x="210375" y="101701"/>
                </a:lnTo>
                <a:lnTo>
                  <a:pt x="204724" y="113080"/>
                </a:lnTo>
                <a:close/>
              </a:path>
              <a:path w="2042160" h="1022985">
                <a:moveTo>
                  <a:pt x="284340" y="152628"/>
                </a:moveTo>
                <a:lnTo>
                  <a:pt x="238848" y="130022"/>
                </a:lnTo>
                <a:lnTo>
                  <a:pt x="244500" y="118656"/>
                </a:lnTo>
                <a:lnTo>
                  <a:pt x="289991" y="141262"/>
                </a:lnTo>
                <a:lnTo>
                  <a:pt x="284340" y="152628"/>
                </a:lnTo>
                <a:close/>
              </a:path>
              <a:path w="2042160" h="1022985">
                <a:moveTo>
                  <a:pt x="363956" y="192176"/>
                </a:moveTo>
                <a:lnTo>
                  <a:pt x="318465" y="169583"/>
                </a:lnTo>
                <a:lnTo>
                  <a:pt x="324116" y="158203"/>
                </a:lnTo>
                <a:lnTo>
                  <a:pt x="369608" y="180809"/>
                </a:lnTo>
                <a:lnTo>
                  <a:pt x="363956" y="192176"/>
                </a:lnTo>
                <a:close/>
              </a:path>
              <a:path w="2042160" h="1022985">
                <a:moveTo>
                  <a:pt x="443572" y="231736"/>
                </a:moveTo>
                <a:lnTo>
                  <a:pt x="398081" y="209130"/>
                </a:lnTo>
                <a:lnTo>
                  <a:pt x="403732" y="197764"/>
                </a:lnTo>
                <a:lnTo>
                  <a:pt x="449224" y="220357"/>
                </a:lnTo>
                <a:lnTo>
                  <a:pt x="443572" y="231736"/>
                </a:lnTo>
                <a:close/>
              </a:path>
              <a:path w="2042160" h="1022985">
                <a:moveTo>
                  <a:pt x="523189" y="271284"/>
                </a:moveTo>
                <a:lnTo>
                  <a:pt x="477697" y="248691"/>
                </a:lnTo>
                <a:lnTo>
                  <a:pt x="483349" y="237312"/>
                </a:lnTo>
                <a:lnTo>
                  <a:pt x="528840" y="259918"/>
                </a:lnTo>
                <a:lnTo>
                  <a:pt x="523189" y="271284"/>
                </a:lnTo>
                <a:close/>
              </a:path>
              <a:path w="2042160" h="1022985">
                <a:moveTo>
                  <a:pt x="602805" y="310845"/>
                </a:moveTo>
                <a:lnTo>
                  <a:pt x="557314" y="288239"/>
                </a:lnTo>
                <a:lnTo>
                  <a:pt x="562965" y="276860"/>
                </a:lnTo>
                <a:lnTo>
                  <a:pt x="608457" y="299466"/>
                </a:lnTo>
                <a:lnTo>
                  <a:pt x="602805" y="310845"/>
                </a:lnTo>
                <a:close/>
              </a:path>
              <a:path w="2042160" h="1022985">
                <a:moveTo>
                  <a:pt x="682421" y="350393"/>
                </a:moveTo>
                <a:lnTo>
                  <a:pt x="636930" y="327787"/>
                </a:lnTo>
                <a:lnTo>
                  <a:pt x="642581" y="316420"/>
                </a:lnTo>
                <a:lnTo>
                  <a:pt x="688073" y="339026"/>
                </a:lnTo>
                <a:lnTo>
                  <a:pt x="682421" y="350393"/>
                </a:lnTo>
                <a:close/>
              </a:path>
              <a:path w="2042160" h="1022985">
                <a:moveTo>
                  <a:pt x="762038" y="389953"/>
                </a:moveTo>
                <a:lnTo>
                  <a:pt x="716546" y="367347"/>
                </a:lnTo>
                <a:lnTo>
                  <a:pt x="722198" y="355968"/>
                </a:lnTo>
                <a:lnTo>
                  <a:pt x="767689" y="378574"/>
                </a:lnTo>
                <a:lnTo>
                  <a:pt x="762038" y="389953"/>
                </a:lnTo>
                <a:close/>
              </a:path>
              <a:path w="2042160" h="1022985">
                <a:moveTo>
                  <a:pt x="841654" y="429501"/>
                </a:moveTo>
                <a:lnTo>
                  <a:pt x="796162" y="406895"/>
                </a:lnTo>
                <a:lnTo>
                  <a:pt x="801814" y="395528"/>
                </a:lnTo>
                <a:lnTo>
                  <a:pt x="847305" y="418122"/>
                </a:lnTo>
                <a:lnTo>
                  <a:pt x="841654" y="429501"/>
                </a:lnTo>
                <a:close/>
              </a:path>
              <a:path w="2042160" h="1022985">
                <a:moveTo>
                  <a:pt x="921270" y="469049"/>
                </a:moveTo>
                <a:lnTo>
                  <a:pt x="875779" y="446455"/>
                </a:lnTo>
                <a:lnTo>
                  <a:pt x="881430" y="435076"/>
                </a:lnTo>
                <a:lnTo>
                  <a:pt x="926922" y="457682"/>
                </a:lnTo>
                <a:lnTo>
                  <a:pt x="921270" y="469049"/>
                </a:lnTo>
                <a:close/>
              </a:path>
              <a:path w="2042160" h="1022985">
                <a:moveTo>
                  <a:pt x="1000886" y="508609"/>
                </a:moveTo>
                <a:lnTo>
                  <a:pt x="955395" y="486003"/>
                </a:lnTo>
                <a:lnTo>
                  <a:pt x="961047" y="474637"/>
                </a:lnTo>
                <a:lnTo>
                  <a:pt x="1006538" y="497230"/>
                </a:lnTo>
                <a:lnTo>
                  <a:pt x="1000886" y="508609"/>
                </a:lnTo>
                <a:close/>
              </a:path>
              <a:path w="2042160" h="1022985">
                <a:moveTo>
                  <a:pt x="1080503" y="548157"/>
                </a:moveTo>
                <a:lnTo>
                  <a:pt x="1035011" y="525564"/>
                </a:lnTo>
                <a:lnTo>
                  <a:pt x="1040663" y="514184"/>
                </a:lnTo>
                <a:lnTo>
                  <a:pt x="1086154" y="536790"/>
                </a:lnTo>
                <a:lnTo>
                  <a:pt x="1080503" y="548157"/>
                </a:lnTo>
                <a:close/>
              </a:path>
              <a:path w="2042160" h="1022985">
                <a:moveTo>
                  <a:pt x="1160119" y="587717"/>
                </a:moveTo>
                <a:lnTo>
                  <a:pt x="1114628" y="565111"/>
                </a:lnTo>
                <a:lnTo>
                  <a:pt x="1120279" y="553732"/>
                </a:lnTo>
                <a:lnTo>
                  <a:pt x="1165771" y="576338"/>
                </a:lnTo>
                <a:lnTo>
                  <a:pt x="1160119" y="587717"/>
                </a:lnTo>
                <a:close/>
              </a:path>
              <a:path w="2042160" h="1022985">
                <a:moveTo>
                  <a:pt x="1239735" y="627265"/>
                </a:moveTo>
                <a:lnTo>
                  <a:pt x="1194244" y="604659"/>
                </a:lnTo>
                <a:lnTo>
                  <a:pt x="1199895" y="593293"/>
                </a:lnTo>
                <a:lnTo>
                  <a:pt x="1245387" y="615886"/>
                </a:lnTo>
                <a:lnTo>
                  <a:pt x="1239735" y="627265"/>
                </a:lnTo>
                <a:close/>
              </a:path>
              <a:path w="2042160" h="1022985">
                <a:moveTo>
                  <a:pt x="1319352" y="666813"/>
                </a:moveTo>
                <a:lnTo>
                  <a:pt x="1273860" y="644220"/>
                </a:lnTo>
                <a:lnTo>
                  <a:pt x="1279512" y="632841"/>
                </a:lnTo>
                <a:lnTo>
                  <a:pt x="1325003" y="655447"/>
                </a:lnTo>
                <a:lnTo>
                  <a:pt x="1319352" y="666813"/>
                </a:lnTo>
                <a:close/>
              </a:path>
              <a:path w="2042160" h="1022985">
                <a:moveTo>
                  <a:pt x="1398968" y="706374"/>
                </a:moveTo>
                <a:lnTo>
                  <a:pt x="1353477" y="683768"/>
                </a:lnTo>
                <a:lnTo>
                  <a:pt x="1359128" y="672401"/>
                </a:lnTo>
                <a:lnTo>
                  <a:pt x="1404620" y="694994"/>
                </a:lnTo>
                <a:lnTo>
                  <a:pt x="1398968" y="706374"/>
                </a:lnTo>
                <a:close/>
              </a:path>
              <a:path w="2042160" h="1022985">
                <a:moveTo>
                  <a:pt x="1478584" y="745921"/>
                </a:moveTo>
                <a:lnTo>
                  <a:pt x="1433093" y="723328"/>
                </a:lnTo>
                <a:lnTo>
                  <a:pt x="1438744" y="711949"/>
                </a:lnTo>
                <a:lnTo>
                  <a:pt x="1484236" y="734555"/>
                </a:lnTo>
                <a:lnTo>
                  <a:pt x="1478584" y="745921"/>
                </a:lnTo>
                <a:close/>
              </a:path>
              <a:path w="2042160" h="1022985">
                <a:moveTo>
                  <a:pt x="1558201" y="785482"/>
                </a:moveTo>
                <a:lnTo>
                  <a:pt x="1512709" y="762876"/>
                </a:lnTo>
                <a:lnTo>
                  <a:pt x="1518361" y="751497"/>
                </a:lnTo>
                <a:lnTo>
                  <a:pt x="1563852" y="774103"/>
                </a:lnTo>
                <a:lnTo>
                  <a:pt x="1558201" y="785482"/>
                </a:lnTo>
                <a:close/>
              </a:path>
              <a:path w="2042160" h="1022985">
                <a:moveTo>
                  <a:pt x="1637817" y="825030"/>
                </a:moveTo>
                <a:lnTo>
                  <a:pt x="1592325" y="802424"/>
                </a:lnTo>
                <a:lnTo>
                  <a:pt x="1597977" y="791057"/>
                </a:lnTo>
                <a:lnTo>
                  <a:pt x="1643468" y="813650"/>
                </a:lnTo>
                <a:lnTo>
                  <a:pt x="1637817" y="825030"/>
                </a:lnTo>
                <a:close/>
              </a:path>
              <a:path w="2042160" h="1022985">
                <a:moveTo>
                  <a:pt x="1717446" y="864577"/>
                </a:moveTo>
                <a:lnTo>
                  <a:pt x="1671942" y="841984"/>
                </a:lnTo>
                <a:lnTo>
                  <a:pt x="1677593" y="830605"/>
                </a:lnTo>
                <a:lnTo>
                  <a:pt x="1723085" y="853211"/>
                </a:lnTo>
                <a:lnTo>
                  <a:pt x="1717446" y="864577"/>
                </a:lnTo>
                <a:close/>
              </a:path>
              <a:path w="2042160" h="1022985">
                <a:moveTo>
                  <a:pt x="1797062" y="904138"/>
                </a:moveTo>
                <a:lnTo>
                  <a:pt x="1751558" y="881532"/>
                </a:lnTo>
                <a:lnTo>
                  <a:pt x="1757210" y="870165"/>
                </a:lnTo>
                <a:lnTo>
                  <a:pt x="1802701" y="892759"/>
                </a:lnTo>
                <a:lnTo>
                  <a:pt x="1797062" y="904138"/>
                </a:lnTo>
                <a:close/>
              </a:path>
              <a:path w="2042160" h="1022985">
                <a:moveTo>
                  <a:pt x="1876679" y="943686"/>
                </a:moveTo>
                <a:lnTo>
                  <a:pt x="1831174" y="921092"/>
                </a:lnTo>
                <a:lnTo>
                  <a:pt x="1836826" y="909713"/>
                </a:lnTo>
                <a:lnTo>
                  <a:pt x="1882317" y="932319"/>
                </a:lnTo>
                <a:lnTo>
                  <a:pt x="1876679" y="943686"/>
                </a:lnTo>
                <a:close/>
              </a:path>
              <a:path w="2042160" h="1022985">
                <a:moveTo>
                  <a:pt x="1956295" y="983246"/>
                </a:moveTo>
                <a:lnTo>
                  <a:pt x="1910791" y="960640"/>
                </a:lnTo>
                <a:lnTo>
                  <a:pt x="1916442" y="949261"/>
                </a:lnTo>
                <a:lnTo>
                  <a:pt x="1961934" y="971867"/>
                </a:lnTo>
                <a:lnTo>
                  <a:pt x="1956295" y="983246"/>
                </a:lnTo>
                <a:close/>
              </a:path>
              <a:path w="2042160" h="1022985">
                <a:moveTo>
                  <a:pt x="2035911" y="1022794"/>
                </a:moveTo>
                <a:lnTo>
                  <a:pt x="1990407" y="1000188"/>
                </a:lnTo>
                <a:lnTo>
                  <a:pt x="1996058" y="988822"/>
                </a:lnTo>
                <a:lnTo>
                  <a:pt x="2041550" y="1011415"/>
                </a:lnTo>
                <a:lnTo>
                  <a:pt x="2035911" y="102279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839377" y="2207094"/>
            <a:ext cx="2042160" cy="1022985"/>
          </a:xfrm>
          <a:custGeom>
            <a:avLst/>
            <a:gdLst/>
            <a:ahLst/>
            <a:cxnLst/>
            <a:rect l="l" t="t" r="r" b="b"/>
            <a:pathLst>
              <a:path w="2042160" h="1022985">
                <a:moveTo>
                  <a:pt x="5651" y="1022807"/>
                </a:moveTo>
                <a:lnTo>
                  <a:pt x="0" y="1011427"/>
                </a:lnTo>
                <a:lnTo>
                  <a:pt x="45491" y="988834"/>
                </a:lnTo>
                <a:lnTo>
                  <a:pt x="51142" y="1000201"/>
                </a:lnTo>
                <a:lnTo>
                  <a:pt x="5651" y="1022807"/>
                </a:lnTo>
                <a:close/>
              </a:path>
              <a:path w="2042160" h="1022985">
                <a:moveTo>
                  <a:pt x="85267" y="983246"/>
                </a:moveTo>
                <a:lnTo>
                  <a:pt x="79616" y="971880"/>
                </a:lnTo>
                <a:lnTo>
                  <a:pt x="125107" y="949274"/>
                </a:lnTo>
                <a:lnTo>
                  <a:pt x="130759" y="960653"/>
                </a:lnTo>
                <a:lnTo>
                  <a:pt x="85267" y="983246"/>
                </a:lnTo>
                <a:close/>
              </a:path>
              <a:path w="2042160" h="1022985">
                <a:moveTo>
                  <a:pt x="164884" y="943698"/>
                </a:moveTo>
                <a:lnTo>
                  <a:pt x="159232" y="932319"/>
                </a:lnTo>
                <a:lnTo>
                  <a:pt x="204724" y="909726"/>
                </a:lnTo>
                <a:lnTo>
                  <a:pt x="210375" y="921092"/>
                </a:lnTo>
                <a:lnTo>
                  <a:pt x="164884" y="943698"/>
                </a:lnTo>
                <a:close/>
              </a:path>
              <a:path w="2042160" h="1022985">
                <a:moveTo>
                  <a:pt x="244500" y="904151"/>
                </a:moveTo>
                <a:lnTo>
                  <a:pt x="238848" y="892771"/>
                </a:lnTo>
                <a:lnTo>
                  <a:pt x="284340" y="870165"/>
                </a:lnTo>
                <a:lnTo>
                  <a:pt x="289991" y="881545"/>
                </a:lnTo>
                <a:lnTo>
                  <a:pt x="244500" y="904151"/>
                </a:lnTo>
                <a:close/>
              </a:path>
              <a:path w="2042160" h="1022985">
                <a:moveTo>
                  <a:pt x="324116" y="864590"/>
                </a:moveTo>
                <a:lnTo>
                  <a:pt x="318465" y="853224"/>
                </a:lnTo>
                <a:lnTo>
                  <a:pt x="363956" y="830618"/>
                </a:lnTo>
                <a:lnTo>
                  <a:pt x="369608" y="841997"/>
                </a:lnTo>
                <a:lnTo>
                  <a:pt x="324116" y="864590"/>
                </a:lnTo>
                <a:close/>
              </a:path>
              <a:path w="2042160" h="1022985">
                <a:moveTo>
                  <a:pt x="403732" y="825042"/>
                </a:moveTo>
                <a:lnTo>
                  <a:pt x="398081" y="813663"/>
                </a:lnTo>
                <a:lnTo>
                  <a:pt x="443572" y="791070"/>
                </a:lnTo>
                <a:lnTo>
                  <a:pt x="449224" y="802436"/>
                </a:lnTo>
                <a:lnTo>
                  <a:pt x="403732" y="825042"/>
                </a:lnTo>
                <a:close/>
              </a:path>
              <a:path w="2042160" h="1022985">
                <a:moveTo>
                  <a:pt x="483349" y="785482"/>
                </a:moveTo>
                <a:lnTo>
                  <a:pt x="477697" y="774115"/>
                </a:lnTo>
                <a:lnTo>
                  <a:pt x="523189" y="751509"/>
                </a:lnTo>
                <a:lnTo>
                  <a:pt x="528840" y="762888"/>
                </a:lnTo>
                <a:lnTo>
                  <a:pt x="483349" y="785482"/>
                </a:lnTo>
                <a:close/>
              </a:path>
              <a:path w="2042160" h="1022985">
                <a:moveTo>
                  <a:pt x="562965" y="745934"/>
                </a:moveTo>
                <a:lnTo>
                  <a:pt x="557314" y="734555"/>
                </a:lnTo>
                <a:lnTo>
                  <a:pt x="602805" y="711961"/>
                </a:lnTo>
                <a:lnTo>
                  <a:pt x="608457" y="723328"/>
                </a:lnTo>
                <a:lnTo>
                  <a:pt x="562965" y="745934"/>
                </a:lnTo>
                <a:close/>
              </a:path>
              <a:path w="2042160" h="1022985">
                <a:moveTo>
                  <a:pt x="642581" y="706386"/>
                </a:moveTo>
                <a:lnTo>
                  <a:pt x="636930" y="695007"/>
                </a:lnTo>
                <a:lnTo>
                  <a:pt x="682421" y="672401"/>
                </a:lnTo>
                <a:lnTo>
                  <a:pt x="688073" y="683780"/>
                </a:lnTo>
                <a:lnTo>
                  <a:pt x="642581" y="706386"/>
                </a:lnTo>
                <a:close/>
              </a:path>
              <a:path w="2042160" h="1022985">
                <a:moveTo>
                  <a:pt x="722198" y="666826"/>
                </a:moveTo>
                <a:lnTo>
                  <a:pt x="716546" y="655459"/>
                </a:lnTo>
                <a:lnTo>
                  <a:pt x="762038" y="632853"/>
                </a:lnTo>
                <a:lnTo>
                  <a:pt x="767689" y="644220"/>
                </a:lnTo>
                <a:lnTo>
                  <a:pt x="722198" y="666826"/>
                </a:lnTo>
                <a:close/>
              </a:path>
              <a:path w="2042160" h="1022985">
                <a:moveTo>
                  <a:pt x="801814" y="627278"/>
                </a:moveTo>
                <a:lnTo>
                  <a:pt x="796162" y="615899"/>
                </a:lnTo>
                <a:lnTo>
                  <a:pt x="841654" y="593293"/>
                </a:lnTo>
                <a:lnTo>
                  <a:pt x="847305" y="604672"/>
                </a:lnTo>
                <a:lnTo>
                  <a:pt x="801814" y="627278"/>
                </a:lnTo>
                <a:close/>
              </a:path>
              <a:path w="2042160" h="1022985">
                <a:moveTo>
                  <a:pt x="881430" y="587717"/>
                </a:moveTo>
                <a:lnTo>
                  <a:pt x="875779" y="576351"/>
                </a:lnTo>
                <a:lnTo>
                  <a:pt x="921270" y="553745"/>
                </a:lnTo>
                <a:lnTo>
                  <a:pt x="926922" y="565124"/>
                </a:lnTo>
                <a:lnTo>
                  <a:pt x="881430" y="587717"/>
                </a:lnTo>
                <a:close/>
              </a:path>
              <a:path w="2042160" h="1022985">
                <a:moveTo>
                  <a:pt x="961047" y="548170"/>
                </a:moveTo>
                <a:lnTo>
                  <a:pt x="955395" y="536790"/>
                </a:lnTo>
                <a:lnTo>
                  <a:pt x="1000886" y="514197"/>
                </a:lnTo>
                <a:lnTo>
                  <a:pt x="1006538" y="525564"/>
                </a:lnTo>
                <a:lnTo>
                  <a:pt x="961047" y="548170"/>
                </a:lnTo>
                <a:close/>
              </a:path>
              <a:path w="2042160" h="1022985">
                <a:moveTo>
                  <a:pt x="1040663" y="508609"/>
                </a:moveTo>
                <a:lnTo>
                  <a:pt x="1035011" y="497243"/>
                </a:lnTo>
                <a:lnTo>
                  <a:pt x="1080503" y="474637"/>
                </a:lnTo>
                <a:lnTo>
                  <a:pt x="1086154" y="486016"/>
                </a:lnTo>
                <a:lnTo>
                  <a:pt x="1040663" y="508609"/>
                </a:lnTo>
                <a:close/>
              </a:path>
              <a:path w="2042160" h="1022985">
                <a:moveTo>
                  <a:pt x="1120279" y="469061"/>
                </a:moveTo>
                <a:lnTo>
                  <a:pt x="1114628" y="457695"/>
                </a:lnTo>
                <a:lnTo>
                  <a:pt x="1160119" y="435089"/>
                </a:lnTo>
                <a:lnTo>
                  <a:pt x="1165771" y="446455"/>
                </a:lnTo>
                <a:lnTo>
                  <a:pt x="1120279" y="469061"/>
                </a:lnTo>
                <a:close/>
              </a:path>
              <a:path w="2042160" h="1022985">
                <a:moveTo>
                  <a:pt x="1199895" y="429513"/>
                </a:moveTo>
                <a:lnTo>
                  <a:pt x="1194244" y="418134"/>
                </a:lnTo>
                <a:lnTo>
                  <a:pt x="1239735" y="395528"/>
                </a:lnTo>
                <a:lnTo>
                  <a:pt x="1245387" y="406907"/>
                </a:lnTo>
                <a:lnTo>
                  <a:pt x="1199895" y="429513"/>
                </a:lnTo>
                <a:close/>
              </a:path>
              <a:path w="2042160" h="1022985">
                <a:moveTo>
                  <a:pt x="1279512" y="389953"/>
                </a:moveTo>
                <a:lnTo>
                  <a:pt x="1273860" y="378586"/>
                </a:lnTo>
                <a:lnTo>
                  <a:pt x="1319352" y="355980"/>
                </a:lnTo>
                <a:lnTo>
                  <a:pt x="1325003" y="367360"/>
                </a:lnTo>
                <a:lnTo>
                  <a:pt x="1279512" y="389953"/>
                </a:lnTo>
                <a:close/>
              </a:path>
              <a:path w="2042160" h="1022985">
                <a:moveTo>
                  <a:pt x="1359128" y="350405"/>
                </a:moveTo>
                <a:lnTo>
                  <a:pt x="1353477" y="339026"/>
                </a:lnTo>
                <a:lnTo>
                  <a:pt x="1398968" y="316433"/>
                </a:lnTo>
                <a:lnTo>
                  <a:pt x="1404620" y="327799"/>
                </a:lnTo>
                <a:lnTo>
                  <a:pt x="1359128" y="350405"/>
                </a:lnTo>
                <a:close/>
              </a:path>
              <a:path w="2042160" h="1022985">
                <a:moveTo>
                  <a:pt x="1438744" y="310845"/>
                </a:moveTo>
                <a:lnTo>
                  <a:pt x="1433093" y="299478"/>
                </a:lnTo>
                <a:lnTo>
                  <a:pt x="1478584" y="276872"/>
                </a:lnTo>
                <a:lnTo>
                  <a:pt x="1484236" y="288251"/>
                </a:lnTo>
                <a:lnTo>
                  <a:pt x="1438744" y="310845"/>
                </a:lnTo>
                <a:close/>
              </a:path>
              <a:path w="2042160" h="1022985">
                <a:moveTo>
                  <a:pt x="1518361" y="271297"/>
                </a:moveTo>
                <a:lnTo>
                  <a:pt x="1512709" y="259918"/>
                </a:lnTo>
                <a:lnTo>
                  <a:pt x="1558201" y="237324"/>
                </a:lnTo>
                <a:lnTo>
                  <a:pt x="1563852" y="248691"/>
                </a:lnTo>
                <a:lnTo>
                  <a:pt x="1518361" y="271297"/>
                </a:lnTo>
                <a:close/>
              </a:path>
              <a:path w="2042160" h="1022985">
                <a:moveTo>
                  <a:pt x="1597977" y="231749"/>
                </a:moveTo>
                <a:lnTo>
                  <a:pt x="1592325" y="220370"/>
                </a:lnTo>
                <a:lnTo>
                  <a:pt x="1637817" y="197764"/>
                </a:lnTo>
                <a:lnTo>
                  <a:pt x="1643468" y="209143"/>
                </a:lnTo>
                <a:lnTo>
                  <a:pt x="1597977" y="231749"/>
                </a:lnTo>
                <a:close/>
              </a:path>
              <a:path w="2042160" h="1022985">
                <a:moveTo>
                  <a:pt x="1677593" y="192189"/>
                </a:moveTo>
                <a:lnTo>
                  <a:pt x="1671942" y="180822"/>
                </a:lnTo>
                <a:lnTo>
                  <a:pt x="1717446" y="158216"/>
                </a:lnTo>
                <a:lnTo>
                  <a:pt x="1723085" y="169595"/>
                </a:lnTo>
                <a:lnTo>
                  <a:pt x="1677593" y="192189"/>
                </a:lnTo>
                <a:close/>
              </a:path>
              <a:path w="2042160" h="1022985">
                <a:moveTo>
                  <a:pt x="1757210" y="152641"/>
                </a:moveTo>
                <a:lnTo>
                  <a:pt x="1751558" y="141262"/>
                </a:lnTo>
                <a:lnTo>
                  <a:pt x="1797062" y="118668"/>
                </a:lnTo>
                <a:lnTo>
                  <a:pt x="1802701" y="130035"/>
                </a:lnTo>
                <a:lnTo>
                  <a:pt x="1757210" y="152641"/>
                </a:lnTo>
                <a:close/>
              </a:path>
              <a:path w="2042160" h="1022985">
                <a:moveTo>
                  <a:pt x="1836826" y="113080"/>
                </a:moveTo>
                <a:lnTo>
                  <a:pt x="1831174" y="101714"/>
                </a:lnTo>
                <a:lnTo>
                  <a:pt x="1876679" y="79108"/>
                </a:lnTo>
                <a:lnTo>
                  <a:pt x="1882317" y="90487"/>
                </a:lnTo>
                <a:lnTo>
                  <a:pt x="1836826" y="113080"/>
                </a:lnTo>
                <a:close/>
              </a:path>
              <a:path w="2042160" h="1022985">
                <a:moveTo>
                  <a:pt x="1916442" y="73532"/>
                </a:moveTo>
                <a:lnTo>
                  <a:pt x="1910791" y="62153"/>
                </a:lnTo>
                <a:lnTo>
                  <a:pt x="1956295" y="39560"/>
                </a:lnTo>
                <a:lnTo>
                  <a:pt x="1961934" y="50926"/>
                </a:lnTo>
                <a:lnTo>
                  <a:pt x="1916442" y="73532"/>
                </a:lnTo>
                <a:close/>
              </a:path>
              <a:path w="2042160" h="1022985">
                <a:moveTo>
                  <a:pt x="1996058" y="33985"/>
                </a:moveTo>
                <a:lnTo>
                  <a:pt x="1990407" y="22605"/>
                </a:lnTo>
                <a:lnTo>
                  <a:pt x="2035911" y="0"/>
                </a:lnTo>
                <a:lnTo>
                  <a:pt x="2041550" y="11379"/>
                </a:lnTo>
                <a:lnTo>
                  <a:pt x="1996058" y="3398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986148" y="2577134"/>
            <a:ext cx="211454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 b="1" i="1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dirty="0" baseline="-18518" sz="1350" spc="7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baseline="-18518" sz="13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852381" y="2701239"/>
            <a:ext cx="1029969" cy="2083435"/>
          </a:xfrm>
          <a:custGeom>
            <a:avLst/>
            <a:gdLst/>
            <a:ahLst/>
            <a:cxnLst/>
            <a:rect l="l" t="t" r="r" b="b"/>
            <a:pathLst>
              <a:path w="1029970" h="2083435">
                <a:moveTo>
                  <a:pt x="1007135" y="51206"/>
                </a:moveTo>
                <a:lnTo>
                  <a:pt x="995730" y="45618"/>
                </a:lnTo>
                <a:lnTo>
                  <a:pt x="1018082" y="0"/>
                </a:lnTo>
                <a:lnTo>
                  <a:pt x="1029487" y="5587"/>
                </a:lnTo>
                <a:lnTo>
                  <a:pt x="1007135" y="51206"/>
                </a:lnTo>
                <a:close/>
              </a:path>
              <a:path w="1029970" h="2083435">
                <a:moveTo>
                  <a:pt x="968019" y="131038"/>
                </a:moveTo>
                <a:lnTo>
                  <a:pt x="956614" y="125450"/>
                </a:lnTo>
                <a:lnTo>
                  <a:pt x="978966" y="79832"/>
                </a:lnTo>
                <a:lnTo>
                  <a:pt x="990371" y="85420"/>
                </a:lnTo>
                <a:lnTo>
                  <a:pt x="968019" y="131038"/>
                </a:lnTo>
                <a:close/>
              </a:path>
              <a:path w="1029970" h="2083435">
                <a:moveTo>
                  <a:pt x="928890" y="210870"/>
                </a:moveTo>
                <a:lnTo>
                  <a:pt x="917486" y="205282"/>
                </a:lnTo>
                <a:lnTo>
                  <a:pt x="939850" y="159664"/>
                </a:lnTo>
                <a:lnTo>
                  <a:pt x="951255" y="165252"/>
                </a:lnTo>
                <a:lnTo>
                  <a:pt x="928890" y="210870"/>
                </a:lnTo>
                <a:close/>
              </a:path>
              <a:path w="1029970" h="2083435">
                <a:moveTo>
                  <a:pt x="889774" y="290690"/>
                </a:moveTo>
                <a:lnTo>
                  <a:pt x="878370" y="285102"/>
                </a:lnTo>
                <a:lnTo>
                  <a:pt x="900722" y="239483"/>
                </a:lnTo>
                <a:lnTo>
                  <a:pt x="912126" y="245071"/>
                </a:lnTo>
                <a:lnTo>
                  <a:pt x="889774" y="290690"/>
                </a:lnTo>
                <a:close/>
              </a:path>
              <a:path w="1029970" h="2083435">
                <a:moveTo>
                  <a:pt x="850658" y="370522"/>
                </a:moveTo>
                <a:lnTo>
                  <a:pt x="839254" y="364934"/>
                </a:lnTo>
                <a:lnTo>
                  <a:pt x="861606" y="319316"/>
                </a:lnTo>
                <a:lnTo>
                  <a:pt x="873010" y="324904"/>
                </a:lnTo>
                <a:lnTo>
                  <a:pt x="850658" y="370522"/>
                </a:lnTo>
                <a:close/>
              </a:path>
              <a:path w="1029970" h="2083435">
                <a:moveTo>
                  <a:pt x="811530" y="450354"/>
                </a:moveTo>
                <a:lnTo>
                  <a:pt x="800125" y="444766"/>
                </a:lnTo>
                <a:lnTo>
                  <a:pt x="822477" y="399148"/>
                </a:lnTo>
                <a:lnTo>
                  <a:pt x="833882" y="404736"/>
                </a:lnTo>
                <a:lnTo>
                  <a:pt x="811530" y="450354"/>
                </a:lnTo>
                <a:close/>
              </a:path>
              <a:path w="1029970" h="2083435">
                <a:moveTo>
                  <a:pt x="772413" y="530186"/>
                </a:moveTo>
                <a:lnTo>
                  <a:pt x="761009" y="524598"/>
                </a:lnTo>
                <a:lnTo>
                  <a:pt x="783361" y="478980"/>
                </a:lnTo>
                <a:lnTo>
                  <a:pt x="794766" y="484568"/>
                </a:lnTo>
                <a:lnTo>
                  <a:pt x="772413" y="530186"/>
                </a:lnTo>
                <a:close/>
              </a:path>
              <a:path w="1029970" h="2083435">
                <a:moveTo>
                  <a:pt x="733285" y="610019"/>
                </a:moveTo>
                <a:lnTo>
                  <a:pt x="721880" y="604431"/>
                </a:lnTo>
                <a:lnTo>
                  <a:pt x="744245" y="558812"/>
                </a:lnTo>
                <a:lnTo>
                  <a:pt x="755649" y="564400"/>
                </a:lnTo>
                <a:lnTo>
                  <a:pt x="733285" y="610019"/>
                </a:lnTo>
                <a:close/>
              </a:path>
              <a:path w="1029970" h="2083435">
                <a:moveTo>
                  <a:pt x="694169" y="689838"/>
                </a:moveTo>
                <a:lnTo>
                  <a:pt x="682764" y="684250"/>
                </a:lnTo>
                <a:lnTo>
                  <a:pt x="705116" y="638632"/>
                </a:lnTo>
                <a:lnTo>
                  <a:pt x="716521" y="644220"/>
                </a:lnTo>
                <a:lnTo>
                  <a:pt x="694169" y="689838"/>
                </a:lnTo>
                <a:close/>
              </a:path>
              <a:path w="1029970" h="2083435">
                <a:moveTo>
                  <a:pt x="655053" y="769670"/>
                </a:moveTo>
                <a:lnTo>
                  <a:pt x="643648" y="764082"/>
                </a:lnTo>
                <a:lnTo>
                  <a:pt x="666000" y="718464"/>
                </a:lnTo>
                <a:lnTo>
                  <a:pt x="677405" y="724052"/>
                </a:lnTo>
                <a:lnTo>
                  <a:pt x="655053" y="769670"/>
                </a:lnTo>
                <a:close/>
              </a:path>
              <a:path w="1029970" h="2083435">
                <a:moveTo>
                  <a:pt x="615924" y="849502"/>
                </a:moveTo>
                <a:lnTo>
                  <a:pt x="604519" y="843914"/>
                </a:lnTo>
                <a:lnTo>
                  <a:pt x="626884" y="798296"/>
                </a:lnTo>
                <a:lnTo>
                  <a:pt x="638289" y="803884"/>
                </a:lnTo>
                <a:lnTo>
                  <a:pt x="615924" y="849502"/>
                </a:lnTo>
                <a:close/>
              </a:path>
              <a:path w="1029970" h="2083435">
                <a:moveTo>
                  <a:pt x="576808" y="929335"/>
                </a:moveTo>
                <a:lnTo>
                  <a:pt x="565404" y="923747"/>
                </a:lnTo>
                <a:lnTo>
                  <a:pt x="587756" y="878128"/>
                </a:lnTo>
                <a:lnTo>
                  <a:pt x="599160" y="883716"/>
                </a:lnTo>
                <a:lnTo>
                  <a:pt x="576808" y="929335"/>
                </a:lnTo>
                <a:close/>
              </a:path>
              <a:path w="1029970" h="2083435">
                <a:moveTo>
                  <a:pt x="537692" y="1009167"/>
                </a:moveTo>
                <a:lnTo>
                  <a:pt x="526287" y="1003579"/>
                </a:lnTo>
                <a:lnTo>
                  <a:pt x="548640" y="957960"/>
                </a:lnTo>
                <a:lnTo>
                  <a:pt x="560044" y="963548"/>
                </a:lnTo>
                <a:lnTo>
                  <a:pt x="537692" y="1009167"/>
                </a:lnTo>
                <a:close/>
              </a:path>
              <a:path w="1029970" h="2083435">
                <a:moveTo>
                  <a:pt x="498563" y="1088986"/>
                </a:moveTo>
                <a:lnTo>
                  <a:pt x="487159" y="1083398"/>
                </a:lnTo>
                <a:lnTo>
                  <a:pt x="509511" y="1037780"/>
                </a:lnTo>
                <a:lnTo>
                  <a:pt x="520915" y="1043381"/>
                </a:lnTo>
                <a:lnTo>
                  <a:pt x="498563" y="1088986"/>
                </a:lnTo>
                <a:close/>
              </a:path>
              <a:path w="1029970" h="2083435">
                <a:moveTo>
                  <a:pt x="459447" y="1168819"/>
                </a:moveTo>
                <a:lnTo>
                  <a:pt x="448043" y="1163231"/>
                </a:lnTo>
                <a:lnTo>
                  <a:pt x="470395" y="1117612"/>
                </a:lnTo>
                <a:lnTo>
                  <a:pt x="481799" y="1123200"/>
                </a:lnTo>
                <a:lnTo>
                  <a:pt x="459447" y="1168819"/>
                </a:lnTo>
                <a:close/>
              </a:path>
              <a:path w="1029970" h="2083435">
                <a:moveTo>
                  <a:pt x="420319" y="1248651"/>
                </a:moveTo>
                <a:lnTo>
                  <a:pt x="408927" y="1243063"/>
                </a:lnTo>
                <a:lnTo>
                  <a:pt x="431279" y="1197444"/>
                </a:lnTo>
                <a:lnTo>
                  <a:pt x="442683" y="1203032"/>
                </a:lnTo>
                <a:lnTo>
                  <a:pt x="420319" y="1248651"/>
                </a:lnTo>
                <a:close/>
              </a:path>
              <a:path w="1029970" h="2083435">
                <a:moveTo>
                  <a:pt x="381203" y="1328483"/>
                </a:moveTo>
                <a:lnTo>
                  <a:pt x="369798" y="1322895"/>
                </a:lnTo>
                <a:lnTo>
                  <a:pt x="392150" y="1277277"/>
                </a:lnTo>
                <a:lnTo>
                  <a:pt x="403555" y="1282865"/>
                </a:lnTo>
                <a:lnTo>
                  <a:pt x="381203" y="1328483"/>
                </a:lnTo>
                <a:close/>
              </a:path>
              <a:path w="1029970" h="2083435">
                <a:moveTo>
                  <a:pt x="342087" y="1408315"/>
                </a:moveTo>
                <a:lnTo>
                  <a:pt x="330682" y="1402727"/>
                </a:lnTo>
                <a:lnTo>
                  <a:pt x="353034" y="1357109"/>
                </a:lnTo>
                <a:lnTo>
                  <a:pt x="364439" y="1362697"/>
                </a:lnTo>
                <a:lnTo>
                  <a:pt x="342087" y="1408315"/>
                </a:lnTo>
                <a:close/>
              </a:path>
              <a:path w="1029970" h="2083435">
                <a:moveTo>
                  <a:pt x="302958" y="1488135"/>
                </a:moveTo>
                <a:lnTo>
                  <a:pt x="291553" y="1482547"/>
                </a:lnTo>
                <a:lnTo>
                  <a:pt x="313918" y="1436928"/>
                </a:lnTo>
                <a:lnTo>
                  <a:pt x="325323" y="1442529"/>
                </a:lnTo>
                <a:lnTo>
                  <a:pt x="302958" y="1488135"/>
                </a:lnTo>
                <a:close/>
              </a:path>
              <a:path w="1029970" h="2083435">
                <a:moveTo>
                  <a:pt x="263842" y="1567967"/>
                </a:moveTo>
                <a:lnTo>
                  <a:pt x="252437" y="1562379"/>
                </a:lnTo>
                <a:lnTo>
                  <a:pt x="274789" y="1516760"/>
                </a:lnTo>
                <a:lnTo>
                  <a:pt x="286194" y="1522348"/>
                </a:lnTo>
                <a:lnTo>
                  <a:pt x="263842" y="1567967"/>
                </a:lnTo>
                <a:close/>
              </a:path>
              <a:path w="1029970" h="2083435">
                <a:moveTo>
                  <a:pt x="224726" y="1647799"/>
                </a:moveTo>
                <a:lnTo>
                  <a:pt x="213321" y="1642211"/>
                </a:lnTo>
                <a:lnTo>
                  <a:pt x="235673" y="1596593"/>
                </a:lnTo>
                <a:lnTo>
                  <a:pt x="247078" y="1602181"/>
                </a:lnTo>
                <a:lnTo>
                  <a:pt x="224726" y="1647799"/>
                </a:lnTo>
                <a:close/>
              </a:path>
              <a:path w="1029970" h="2083435">
                <a:moveTo>
                  <a:pt x="185597" y="1727631"/>
                </a:moveTo>
                <a:lnTo>
                  <a:pt x="174193" y="1722043"/>
                </a:lnTo>
                <a:lnTo>
                  <a:pt x="196545" y="1676425"/>
                </a:lnTo>
                <a:lnTo>
                  <a:pt x="207949" y="1682013"/>
                </a:lnTo>
                <a:lnTo>
                  <a:pt x="185597" y="1727631"/>
                </a:lnTo>
                <a:close/>
              </a:path>
              <a:path w="1029970" h="2083435">
                <a:moveTo>
                  <a:pt x="146481" y="1807464"/>
                </a:moveTo>
                <a:lnTo>
                  <a:pt x="135077" y="1801876"/>
                </a:lnTo>
                <a:lnTo>
                  <a:pt x="157429" y="1756257"/>
                </a:lnTo>
                <a:lnTo>
                  <a:pt x="168833" y="1761845"/>
                </a:lnTo>
                <a:lnTo>
                  <a:pt x="146481" y="1807464"/>
                </a:lnTo>
                <a:close/>
              </a:path>
              <a:path w="1029970" h="2083435">
                <a:moveTo>
                  <a:pt x="107353" y="1887283"/>
                </a:moveTo>
                <a:lnTo>
                  <a:pt x="95961" y="1881695"/>
                </a:lnTo>
                <a:lnTo>
                  <a:pt x="118313" y="1836077"/>
                </a:lnTo>
                <a:lnTo>
                  <a:pt x="129717" y="1841677"/>
                </a:lnTo>
                <a:lnTo>
                  <a:pt x="107353" y="1887283"/>
                </a:lnTo>
                <a:close/>
              </a:path>
              <a:path w="1029970" h="2083435">
                <a:moveTo>
                  <a:pt x="68237" y="1967115"/>
                </a:moveTo>
                <a:lnTo>
                  <a:pt x="56832" y="1961527"/>
                </a:lnTo>
                <a:lnTo>
                  <a:pt x="79184" y="1915909"/>
                </a:lnTo>
                <a:lnTo>
                  <a:pt x="90589" y="1921497"/>
                </a:lnTo>
                <a:lnTo>
                  <a:pt x="68237" y="1967115"/>
                </a:lnTo>
                <a:close/>
              </a:path>
              <a:path w="1029970" h="2083435">
                <a:moveTo>
                  <a:pt x="29121" y="2046947"/>
                </a:moveTo>
                <a:lnTo>
                  <a:pt x="17716" y="2041359"/>
                </a:lnTo>
                <a:lnTo>
                  <a:pt x="40068" y="1995741"/>
                </a:lnTo>
                <a:lnTo>
                  <a:pt x="51473" y="2001329"/>
                </a:lnTo>
                <a:lnTo>
                  <a:pt x="29121" y="2046947"/>
                </a:lnTo>
                <a:close/>
              </a:path>
              <a:path w="1029970" h="2083435">
                <a:moveTo>
                  <a:pt x="11404" y="2083104"/>
                </a:moveTo>
                <a:lnTo>
                  <a:pt x="0" y="2077516"/>
                </a:lnTo>
                <a:lnTo>
                  <a:pt x="952" y="2075573"/>
                </a:lnTo>
                <a:lnTo>
                  <a:pt x="12357" y="2081161"/>
                </a:lnTo>
                <a:lnTo>
                  <a:pt x="11404" y="208310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865081" y="3219157"/>
            <a:ext cx="2030095" cy="1547495"/>
          </a:xfrm>
          <a:custGeom>
            <a:avLst/>
            <a:gdLst/>
            <a:ahLst/>
            <a:cxnLst/>
            <a:rect l="l" t="t" r="r" b="b"/>
            <a:pathLst>
              <a:path w="2030095" h="1547495">
                <a:moveTo>
                  <a:pt x="1989404" y="40855"/>
                </a:moveTo>
                <a:lnTo>
                  <a:pt x="1981720" y="30734"/>
                </a:lnTo>
                <a:lnTo>
                  <a:pt x="2022170" y="0"/>
                </a:lnTo>
                <a:lnTo>
                  <a:pt x="2029853" y="10109"/>
                </a:lnTo>
                <a:lnTo>
                  <a:pt x="1989404" y="40855"/>
                </a:lnTo>
                <a:close/>
              </a:path>
              <a:path w="2030095" h="1547495">
                <a:moveTo>
                  <a:pt x="1918627" y="94653"/>
                </a:moveTo>
                <a:lnTo>
                  <a:pt x="1910943" y="84531"/>
                </a:lnTo>
                <a:lnTo>
                  <a:pt x="1951393" y="53797"/>
                </a:lnTo>
                <a:lnTo>
                  <a:pt x="1959076" y="63906"/>
                </a:lnTo>
                <a:lnTo>
                  <a:pt x="1918627" y="94653"/>
                </a:lnTo>
                <a:close/>
              </a:path>
              <a:path w="2030095" h="1547495">
                <a:moveTo>
                  <a:pt x="1847849" y="148437"/>
                </a:moveTo>
                <a:lnTo>
                  <a:pt x="1840166" y="138328"/>
                </a:lnTo>
                <a:lnTo>
                  <a:pt x="1880616" y="107594"/>
                </a:lnTo>
                <a:lnTo>
                  <a:pt x="1888299" y="117703"/>
                </a:lnTo>
                <a:lnTo>
                  <a:pt x="1847849" y="148437"/>
                </a:lnTo>
                <a:close/>
              </a:path>
              <a:path w="2030095" h="1547495">
                <a:moveTo>
                  <a:pt x="1777085" y="202234"/>
                </a:moveTo>
                <a:lnTo>
                  <a:pt x="1769389" y="192125"/>
                </a:lnTo>
                <a:lnTo>
                  <a:pt x="1809838" y="161391"/>
                </a:lnTo>
                <a:lnTo>
                  <a:pt x="1817522" y="171500"/>
                </a:lnTo>
                <a:lnTo>
                  <a:pt x="1777085" y="202234"/>
                </a:lnTo>
                <a:close/>
              </a:path>
              <a:path w="2030095" h="1547495">
                <a:moveTo>
                  <a:pt x="1706308" y="256032"/>
                </a:moveTo>
                <a:lnTo>
                  <a:pt x="1698612" y="245922"/>
                </a:lnTo>
                <a:lnTo>
                  <a:pt x="1739061" y="215188"/>
                </a:lnTo>
                <a:lnTo>
                  <a:pt x="1746745" y="225298"/>
                </a:lnTo>
                <a:lnTo>
                  <a:pt x="1706308" y="256032"/>
                </a:lnTo>
                <a:close/>
              </a:path>
              <a:path w="2030095" h="1547495">
                <a:moveTo>
                  <a:pt x="1635531" y="309829"/>
                </a:moveTo>
                <a:lnTo>
                  <a:pt x="1627847" y="299720"/>
                </a:lnTo>
                <a:lnTo>
                  <a:pt x="1668284" y="268973"/>
                </a:lnTo>
                <a:lnTo>
                  <a:pt x="1675968" y="279095"/>
                </a:lnTo>
                <a:lnTo>
                  <a:pt x="1635531" y="309829"/>
                </a:lnTo>
                <a:close/>
              </a:path>
              <a:path w="2030095" h="1547495">
                <a:moveTo>
                  <a:pt x="1564754" y="363626"/>
                </a:moveTo>
                <a:lnTo>
                  <a:pt x="1557070" y="353517"/>
                </a:lnTo>
                <a:lnTo>
                  <a:pt x="1597507" y="322770"/>
                </a:lnTo>
                <a:lnTo>
                  <a:pt x="1605191" y="332879"/>
                </a:lnTo>
                <a:lnTo>
                  <a:pt x="1564754" y="363626"/>
                </a:lnTo>
                <a:close/>
              </a:path>
              <a:path w="2030095" h="1547495">
                <a:moveTo>
                  <a:pt x="1493977" y="417423"/>
                </a:moveTo>
                <a:lnTo>
                  <a:pt x="1486293" y="407314"/>
                </a:lnTo>
                <a:lnTo>
                  <a:pt x="1526730" y="376567"/>
                </a:lnTo>
                <a:lnTo>
                  <a:pt x="1534413" y="386676"/>
                </a:lnTo>
                <a:lnTo>
                  <a:pt x="1493977" y="417423"/>
                </a:lnTo>
                <a:close/>
              </a:path>
              <a:path w="2030095" h="1547495">
                <a:moveTo>
                  <a:pt x="1423200" y="471220"/>
                </a:moveTo>
                <a:lnTo>
                  <a:pt x="1415516" y="461111"/>
                </a:lnTo>
                <a:lnTo>
                  <a:pt x="1455953" y="430364"/>
                </a:lnTo>
                <a:lnTo>
                  <a:pt x="1463649" y="440474"/>
                </a:lnTo>
                <a:lnTo>
                  <a:pt x="1423200" y="471220"/>
                </a:lnTo>
                <a:close/>
              </a:path>
              <a:path w="2030095" h="1547495">
                <a:moveTo>
                  <a:pt x="1352422" y="525018"/>
                </a:moveTo>
                <a:lnTo>
                  <a:pt x="1344739" y="514908"/>
                </a:lnTo>
                <a:lnTo>
                  <a:pt x="1385188" y="484162"/>
                </a:lnTo>
                <a:lnTo>
                  <a:pt x="1392872" y="494271"/>
                </a:lnTo>
                <a:lnTo>
                  <a:pt x="1352422" y="525018"/>
                </a:lnTo>
                <a:close/>
              </a:path>
              <a:path w="2030095" h="1547495">
                <a:moveTo>
                  <a:pt x="1281645" y="578815"/>
                </a:moveTo>
                <a:lnTo>
                  <a:pt x="1273962" y="568693"/>
                </a:lnTo>
                <a:lnTo>
                  <a:pt x="1314411" y="537959"/>
                </a:lnTo>
                <a:lnTo>
                  <a:pt x="1322095" y="548068"/>
                </a:lnTo>
                <a:lnTo>
                  <a:pt x="1281645" y="578815"/>
                </a:lnTo>
                <a:close/>
              </a:path>
              <a:path w="2030095" h="1547495">
                <a:moveTo>
                  <a:pt x="1210868" y="632612"/>
                </a:moveTo>
                <a:lnTo>
                  <a:pt x="1203185" y="622490"/>
                </a:lnTo>
                <a:lnTo>
                  <a:pt x="1243634" y="591756"/>
                </a:lnTo>
                <a:lnTo>
                  <a:pt x="1251318" y="601865"/>
                </a:lnTo>
                <a:lnTo>
                  <a:pt x="1210868" y="632612"/>
                </a:lnTo>
                <a:close/>
              </a:path>
              <a:path w="2030095" h="1547495">
                <a:moveTo>
                  <a:pt x="1140091" y="686396"/>
                </a:moveTo>
                <a:lnTo>
                  <a:pt x="1132408" y="676287"/>
                </a:lnTo>
                <a:lnTo>
                  <a:pt x="1172857" y="645553"/>
                </a:lnTo>
                <a:lnTo>
                  <a:pt x="1180541" y="655662"/>
                </a:lnTo>
                <a:lnTo>
                  <a:pt x="1140091" y="686396"/>
                </a:lnTo>
                <a:close/>
              </a:path>
              <a:path w="2030095" h="1547495">
                <a:moveTo>
                  <a:pt x="1069327" y="740194"/>
                </a:moveTo>
                <a:lnTo>
                  <a:pt x="1061631" y="730084"/>
                </a:lnTo>
                <a:lnTo>
                  <a:pt x="1102080" y="699350"/>
                </a:lnTo>
                <a:lnTo>
                  <a:pt x="1109764" y="709460"/>
                </a:lnTo>
                <a:lnTo>
                  <a:pt x="1069327" y="740194"/>
                </a:lnTo>
                <a:close/>
              </a:path>
              <a:path w="2030095" h="1547495">
                <a:moveTo>
                  <a:pt x="998550" y="793991"/>
                </a:moveTo>
                <a:lnTo>
                  <a:pt x="990866" y="783882"/>
                </a:lnTo>
                <a:lnTo>
                  <a:pt x="1031303" y="753148"/>
                </a:lnTo>
                <a:lnTo>
                  <a:pt x="1038986" y="763257"/>
                </a:lnTo>
                <a:lnTo>
                  <a:pt x="998550" y="793991"/>
                </a:lnTo>
                <a:close/>
              </a:path>
              <a:path w="2030095" h="1547495">
                <a:moveTo>
                  <a:pt x="927773" y="847788"/>
                </a:moveTo>
                <a:lnTo>
                  <a:pt x="920089" y="837679"/>
                </a:lnTo>
                <a:lnTo>
                  <a:pt x="960526" y="806932"/>
                </a:lnTo>
                <a:lnTo>
                  <a:pt x="968209" y="817054"/>
                </a:lnTo>
                <a:lnTo>
                  <a:pt x="927773" y="847788"/>
                </a:lnTo>
                <a:close/>
              </a:path>
              <a:path w="2030095" h="1547495">
                <a:moveTo>
                  <a:pt x="856995" y="901585"/>
                </a:moveTo>
                <a:lnTo>
                  <a:pt x="849312" y="891476"/>
                </a:lnTo>
                <a:lnTo>
                  <a:pt x="889749" y="860729"/>
                </a:lnTo>
                <a:lnTo>
                  <a:pt x="897432" y="870839"/>
                </a:lnTo>
                <a:lnTo>
                  <a:pt x="856995" y="901585"/>
                </a:lnTo>
                <a:close/>
              </a:path>
              <a:path w="2030095" h="1547495">
                <a:moveTo>
                  <a:pt x="786218" y="955382"/>
                </a:moveTo>
                <a:lnTo>
                  <a:pt x="778535" y="945273"/>
                </a:lnTo>
                <a:lnTo>
                  <a:pt x="818972" y="914527"/>
                </a:lnTo>
                <a:lnTo>
                  <a:pt x="826655" y="924636"/>
                </a:lnTo>
                <a:lnTo>
                  <a:pt x="786218" y="955382"/>
                </a:lnTo>
                <a:close/>
              </a:path>
              <a:path w="2030095" h="1547495">
                <a:moveTo>
                  <a:pt x="715441" y="1009180"/>
                </a:moveTo>
                <a:lnTo>
                  <a:pt x="707758" y="999070"/>
                </a:lnTo>
                <a:lnTo>
                  <a:pt x="748195" y="968324"/>
                </a:lnTo>
                <a:lnTo>
                  <a:pt x="755891" y="978433"/>
                </a:lnTo>
                <a:lnTo>
                  <a:pt x="715441" y="1009180"/>
                </a:lnTo>
                <a:close/>
              </a:path>
              <a:path w="2030095" h="1547495">
                <a:moveTo>
                  <a:pt x="644664" y="1062977"/>
                </a:moveTo>
                <a:lnTo>
                  <a:pt x="636981" y="1052868"/>
                </a:lnTo>
                <a:lnTo>
                  <a:pt x="677430" y="1022121"/>
                </a:lnTo>
                <a:lnTo>
                  <a:pt x="685114" y="1032230"/>
                </a:lnTo>
                <a:lnTo>
                  <a:pt x="644664" y="1062977"/>
                </a:lnTo>
                <a:close/>
              </a:path>
              <a:path w="2030095" h="1547495">
                <a:moveTo>
                  <a:pt x="573887" y="1116774"/>
                </a:moveTo>
                <a:lnTo>
                  <a:pt x="566204" y="1106652"/>
                </a:lnTo>
                <a:lnTo>
                  <a:pt x="606653" y="1075918"/>
                </a:lnTo>
                <a:lnTo>
                  <a:pt x="614337" y="1086027"/>
                </a:lnTo>
                <a:lnTo>
                  <a:pt x="573887" y="1116774"/>
                </a:lnTo>
                <a:close/>
              </a:path>
              <a:path w="2030095" h="1547495">
                <a:moveTo>
                  <a:pt x="503110" y="1170559"/>
                </a:moveTo>
                <a:lnTo>
                  <a:pt x="495427" y="1160449"/>
                </a:lnTo>
                <a:lnTo>
                  <a:pt x="535876" y="1129715"/>
                </a:lnTo>
                <a:lnTo>
                  <a:pt x="543559" y="1139825"/>
                </a:lnTo>
                <a:lnTo>
                  <a:pt x="503110" y="1170559"/>
                </a:lnTo>
                <a:close/>
              </a:path>
              <a:path w="2030095" h="1547495">
                <a:moveTo>
                  <a:pt x="432346" y="1224356"/>
                </a:moveTo>
                <a:lnTo>
                  <a:pt x="424649" y="1214247"/>
                </a:lnTo>
                <a:lnTo>
                  <a:pt x="465099" y="1183513"/>
                </a:lnTo>
                <a:lnTo>
                  <a:pt x="472782" y="1193622"/>
                </a:lnTo>
                <a:lnTo>
                  <a:pt x="432346" y="1224356"/>
                </a:lnTo>
                <a:close/>
              </a:path>
              <a:path w="2030095" h="1547495">
                <a:moveTo>
                  <a:pt x="361569" y="1278153"/>
                </a:moveTo>
                <a:lnTo>
                  <a:pt x="353872" y="1268044"/>
                </a:lnTo>
                <a:lnTo>
                  <a:pt x="394322" y="1237310"/>
                </a:lnTo>
                <a:lnTo>
                  <a:pt x="402005" y="1247419"/>
                </a:lnTo>
                <a:lnTo>
                  <a:pt x="361569" y="1278153"/>
                </a:lnTo>
                <a:close/>
              </a:path>
              <a:path w="2030095" h="1547495">
                <a:moveTo>
                  <a:pt x="290791" y="1331950"/>
                </a:moveTo>
                <a:lnTo>
                  <a:pt x="283108" y="1321841"/>
                </a:lnTo>
                <a:lnTo>
                  <a:pt x="323545" y="1291107"/>
                </a:lnTo>
                <a:lnTo>
                  <a:pt x="331228" y="1301216"/>
                </a:lnTo>
                <a:lnTo>
                  <a:pt x="290791" y="1331950"/>
                </a:lnTo>
                <a:close/>
              </a:path>
              <a:path w="2030095" h="1547495">
                <a:moveTo>
                  <a:pt x="220014" y="1385747"/>
                </a:moveTo>
                <a:lnTo>
                  <a:pt x="212331" y="1375638"/>
                </a:lnTo>
                <a:lnTo>
                  <a:pt x="252768" y="1344891"/>
                </a:lnTo>
                <a:lnTo>
                  <a:pt x="260451" y="1355013"/>
                </a:lnTo>
                <a:lnTo>
                  <a:pt x="220014" y="1385747"/>
                </a:lnTo>
                <a:close/>
              </a:path>
              <a:path w="2030095" h="1547495">
                <a:moveTo>
                  <a:pt x="149237" y="1439545"/>
                </a:moveTo>
                <a:lnTo>
                  <a:pt x="141554" y="1429435"/>
                </a:lnTo>
                <a:lnTo>
                  <a:pt x="181990" y="1398689"/>
                </a:lnTo>
                <a:lnTo>
                  <a:pt x="189674" y="1408798"/>
                </a:lnTo>
                <a:lnTo>
                  <a:pt x="149237" y="1439545"/>
                </a:lnTo>
                <a:close/>
              </a:path>
              <a:path w="2030095" h="1547495">
                <a:moveTo>
                  <a:pt x="78460" y="1493342"/>
                </a:moveTo>
                <a:lnTo>
                  <a:pt x="70777" y="1483233"/>
                </a:lnTo>
                <a:lnTo>
                  <a:pt x="111213" y="1452486"/>
                </a:lnTo>
                <a:lnTo>
                  <a:pt x="118910" y="1462595"/>
                </a:lnTo>
                <a:lnTo>
                  <a:pt x="78460" y="1493342"/>
                </a:lnTo>
                <a:close/>
              </a:path>
              <a:path w="2030095" h="1547495">
                <a:moveTo>
                  <a:pt x="7683" y="1547139"/>
                </a:moveTo>
                <a:lnTo>
                  <a:pt x="0" y="1537030"/>
                </a:lnTo>
                <a:lnTo>
                  <a:pt x="40449" y="1506283"/>
                </a:lnTo>
                <a:lnTo>
                  <a:pt x="48132" y="1516392"/>
                </a:lnTo>
                <a:lnTo>
                  <a:pt x="7683" y="154713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831757" y="4390440"/>
            <a:ext cx="254635" cy="195580"/>
          </a:xfrm>
          <a:custGeom>
            <a:avLst/>
            <a:gdLst/>
            <a:ahLst/>
            <a:cxnLst/>
            <a:rect l="l" t="t" r="r" b="b"/>
            <a:pathLst>
              <a:path w="254635" h="195579">
                <a:moveTo>
                  <a:pt x="78995" y="20421"/>
                </a:moveTo>
                <a:lnTo>
                  <a:pt x="10134" y="20421"/>
                </a:lnTo>
                <a:lnTo>
                  <a:pt x="0" y="18808"/>
                </a:lnTo>
                <a:lnTo>
                  <a:pt x="2971" y="0"/>
                </a:lnTo>
                <a:lnTo>
                  <a:pt x="13271" y="1625"/>
                </a:lnTo>
                <a:lnTo>
                  <a:pt x="53860" y="11429"/>
                </a:lnTo>
                <a:lnTo>
                  <a:pt x="78995" y="20421"/>
                </a:lnTo>
                <a:close/>
              </a:path>
              <a:path w="254635" h="195579">
                <a:moveTo>
                  <a:pt x="83606" y="22288"/>
                </a:moveTo>
                <a:lnTo>
                  <a:pt x="19862" y="22288"/>
                </a:lnTo>
                <a:lnTo>
                  <a:pt x="9901" y="20384"/>
                </a:lnTo>
                <a:lnTo>
                  <a:pt x="10134" y="20421"/>
                </a:lnTo>
                <a:lnTo>
                  <a:pt x="78995" y="20421"/>
                </a:lnTo>
                <a:lnTo>
                  <a:pt x="82905" y="21983"/>
                </a:lnTo>
                <a:lnTo>
                  <a:pt x="83606" y="22288"/>
                </a:lnTo>
                <a:close/>
              </a:path>
              <a:path w="254635" h="195579">
                <a:moveTo>
                  <a:pt x="88567" y="24447"/>
                </a:moveTo>
                <a:lnTo>
                  <a:pt x="29476" y="24447"/>
                </a:lnTo>
                <a:lnTo>
                  <a:pt x="19717" y="22260"/>
                </a:lnTo>
                <a:lnTo>
                  <a:pt x="19862" y="22288"/>
                </a:lnTo>
                <a:lnTo>
                  <a:pt x="83606" y="22288"/>
                </a:lnTo>
                <a:lnTo>
                  <a:pt x="88567" y="24447"/>
                </a:lnTo>
                <a:close/>
              </a:path>
              <a:path w="254635" h="195579">
                <a:moveTo>
                  <a:pt x="94069" y="26911"/>
                </a:moveTo>
                <a:lnTo>
                  <a:pt x="38976" y="26911"/>
                </a:lnTo>
                <a:lnTo>
                  <a:pt x="29184" y="24384"/>
                </a:lnTo>
                <a:lnTo>
                  <a:pt x="29476" y="24447"/>
                </a:lnTo>
                <a:lnTo>
                  <a:pt x="88567" y="24447"/>
                </a:lnTo>
                <a:lnTo>
                  <a:pt x="92303" y="26073"/>
                </a:lnTo>
                <a:lnTo>
                  <a:pt x="94069" y="26911"/>
                </a:lnTo>
                <a:close/>
              </a:path>
              <a:path w="254635" h="195579">
                <a:moveTo>
                  <a:pt x="99877" y="29667"/>
                </a:moveTo>
                <a:lnTo>
                  <a:pt x="48348" y="29667"/>
                </a:lnTo>
                <a:lnTo>
                  <a:pt x="38707" y="26841"/>
                </a:lnTo>
                <a:lnTo>
                  <a:pt x="38976" y="26911"/>
                </a:lnTo>
                <a:lnTo>
                  <a:pt x="94069" y="26911"/>
                </a:lnTo>
                <a:lnTo>
                  <a:pt x="99877" y="29667"/>
                </a:lnTo>
                <a:close/>
              </a:path>
              <a:path w="254635" h="195579">
                <a:moveTo>
                  <a:pt x="105915" y="32702"/>
                </a:moveTo>
                <a:lnTo>
                  <a:pt x="57607" y="32702"/>
                </a:lnTo>
                <a:lnTo>
                  <a:pt x="48272" y="29644"/>
                </a:lnTo>
                <a:lnTo>
                  <a:pt x="99877" y="29667"/>
                </a:lnTo>
                <a:lnTo>
                  <a:pt x="101536" y="30454"/>
                </a:lnTo>
                <a:lnTo>
                  <a:pt x="105915" y="32702"/>
                </a:lnTo>
                <a:close/>
              </a:path>
              <a:path w="254635" h="195579">
                <a:moveTo>
                  <a:pt x="138762" y="51993"/>
                </a:moveTo>
                <a:lnTo>
                  <a:pt x="101790" y="51993"/>
                </a:lnTo>
                <a:lnTo>
                  <a:pt x="92976" y="47472"/>
                </a:lnTo>
                <a:lnTo>
                  <a:pt x="84277" y="43357"/>
                </a:lnTo>
                <a:lnTo>
                  <a:pt x="75425" y="39497"/>
                </a:lnTo>
                <a:lnTo>
                  <a:pt x="66446" y="35915"/>
                </a:lnTo>
                <a:lnTo>
                  <a:pt x="57315" y="32613"/>
                </a:lnTo>
                <a:lnTo>
                  <a:pt x="57607" y="32702"/>
                </a:lnTo>
                <a:lnTo>
                  <a:pt x="105915" y="32702"/>
                </a:lnTo>
                <a:lnTo>
                  <a:pt x="110616" y="35115"/>
                </a:lnTo>
                <a:lnTo>
                  <a:pt x="119519" y="40030"/>
                </a:lnTo>
                <a:lnTo>
                  <a:pt x="128257" y="45224"/>
                </a:lnTo>
                <a:lnTo>
                  <a:pt x="136817" y="50673"/>
                </a:lnTo>
                <a:lnTo>
                  <a:pt x="138762" y="51993"/>
                </a:lnTo>
                <a:close/>
              </a:path>
              <a:path w="254635" h="195579">
                <a:moveTo>
                  <a:pt x="75704" y="39624"/>
                </a:moveTo>
                <a:lnTo>
                  <a:pt x="75387" y="39497"/>
                </a:lnTo>
                <a:lnTo>
                  <a:pt x="75704" y="39624"/>
                </a:lnTo>
                <a:close/>
              </a:path>
              <a:path w="254635" h="195579">
                <a:moveTo>
                  <a:pt x="145565" y="56629"/>
                </a:moveTo>
                <a:lnTo>
                  <a:pt x="110185" y="56629"/>
                </a:lnTo>
                <a:lnTo>
                  <a:pt x="101599" y="51895"/>
                </a:lnTo>
                <a:lnTo>
                  <a:pt x="101790" y="51993"/>
                </a:lnTo>
                <a:lnTo>
                  <a:pt x="138762" y="51993"/>
                </a:lnTo>
                <a:lnTo>
                  <a:pt x="145199" y="56362"/>
                </a:lnTo>
                <a:lnTo>
                  <a:pt x="145565" y="56629"/>
                </a:lnTo>
                <a:close/>
              </a:path>
              <a:path w="254635" h="195579">
                <a:moveTo>
                  <a:pt x="165663" y="72034"/>
                </a:moveTo>
                <a:lnTo>
                  <a:pt x="134353" y="72034"/>
                </a:lnTo>
                <a:lnTo>
                  <a:pt x="126225" y="66497"/>
                </a:lnTo>
                <a:lnTo>
                  <a:pt x="118160" y="61366"/>
                </a:lnTo>
                <a:lnTo>
                  <a:pt x="109918" y="56489"/>
                </a:lnTo>
                <a:lnTo>
                  <a:pt x="110185" y="56629"/>
                </a:lnTo>
                <a:lnTo>
                  <a:pt x="145565" y="56629"/>
                </a:lnTo>
                <a:lnTo>
                  <a:pt x="153390" y="62318"/>
                </a:lnTo>
                <a:lnTo>
                  <a:pt x="161378" y="68503"/>
                </a:lnTo>
                <a:lnTo>
                  <a:pt x="165663" y="72034"/>
                </a:lnTo>
                <a:close/>
              </a:path>
              <a:path w="254635" h="195579">
                <a:moveTo>
                  <a:pt x="118402" y="61531"/>
                </a:moveTo>
                <a:lnTo>
                  <a:pt x="118124" y="61366"/>
                </a:lnTo>
                <a:lnTo>
                  <a:pt x="118402" y="61531"/>
                </a:lnTo>
                <a:close/>
              </a:path>
              <a:path w="254635" h="195579">
                <a:moveTo>
                  <a:pt x="172272" y="77647"/>
                </a:moveTo>
                <a:lnTo>
                  <a:pt x="142074" y="77647"/>
                </a:lnTo>
                <a:lnTo>
                  <a:pt x="134128" y="71880"/>
                </a:lnTo>
                <a:lnTo>
                  <a:pt x="134353" y="72034"/>
                </a:lnTo>
                <a:lnTo>
                  <a:pt x="165663" y="72034"/>
                </a:lnTo>
                <a:lnTo>
                  <a:pt x="169176" y="74929"/>
                </a:lnTo>
                <a:lnTo>
                  <a:pt x="172272" y="77647"/>
                </a:lnTo>
                <a:close/>
              </a:path>
              <a:path w="254635" h="195579">
                <a:moveTo>
                  <a:pt x="178786" y="83477"/>
                </a:moveTo>
                <a:lnTo>
                  <a:pt x="149605" y="83477"/>
                </a:lnTo>
                <a:lnTo>
                  <a:pt x="141890" y="77514"/>
                </a:lnTo>
                <a:lnTo>
                  <a:pt x="142074" y="77647"/>
                </a:lnTo>
                <a:lnTo>
                  <a:pt x="172272" y="77647"/>
                </a:lnTo>
                <a:lnTo>
                  <a:pt x="176771" y="81597"/>
                </a:lnTo>
                <a:lnTo>
                  <a:pt x="178786" y="83477"/>
                </a:lnTo>
                <a:close/>
              </a:path>
              <a:path w="254635" h="195579">
                <a:moveTo>
                  <a:pt x="185211" y="89535"/>
                </a:moveTo>
                <a:lnTo>
                  <a:pt x="156946" y="89535"/>
                </a:lnTo>
                <a:lnTo>
                  <a:pt x="149399" y="83317"/>
                </a:lnTo>
                <a:lnTo>
                  <a:pt x="149605" y="83477"/>
                </a:lnTo>
                <a:lnTo>
                  <a:pt x="178786" y="83477"/>
                </a:lnTo>
                <a:lnTo>
                  <a:pt x="184150" y="88480"/>
                </a:lnTo>
                <a:lnTo>
                  <a:pt x="185211" y="89535"/>
                </a:lnTo>
                <a:close/>
              </a:path>
              <a:path w="254635" h="195579">
                <a:moveTo>
                  <a:pt x="191529" y="95821"/>
                </a:moveTo>
                <a:lnTo>
                  <a:pt x="164096" y="95821"/>
                </a:lnTo>
                <a:lnTo>
                  <a:pt x="156717" y="89357"/>
                </a:lnTo>
                <a:lnTo>
                  <a:pt x="156946" y="89535"/>
                </a:lnTo>
                <a:lnTo>
                  <a:pt x="185211" y="89535"/>
                </a:lnTo>
                <a:lnTo>
                  <a:pt x="191529" y="95821"/>
                </a:lnTo>
                <a:close/>
              </a:path>
              <a:path w="254635" h="195579">
                <a:moveTo>
                  <a:pt x="203710" y="109016"/>
                </a:moveTo>
                <a:lnTo>
                  <a:pt x="177800" y="109016"/>
                </a:lnTo>
                <a:lnTo>
                  <a:pt x="170840" y="102108"/>
                </a:lnTo>
                <a:lnTo>
                  <a:pt x="163904" y="95653"/>
                </a:lnTo>
                <a:lnTo>
                  <a:pt x="164096" y="95821"/>
                </a:lnTo>
                <a:lnTo>
                  <a:pt x="191529" y="95821"/>
                </a:lnTo>
                <a:lnTo>
                  <a:pt x="198272" y="102920"/>
                </a:lnTo>
                <a:lnTo>
                  <a:pt x="203710" y="109016"/>
                </a:lnTo>
                <a:close/>
              </a:path>
              <a:path w="254635" h="195579">
                <a:moveTo>
                  <a:pt x="215283" y="123024"/>
                </a:moveTo>
                <a:lnTo>
                  <a:pt x="190677" y="123024"/>
                </a:lnTo>
                <a:lnTo>
                  <a:pt x="184150" y="115709"/>
                </a:lnTo>
                <a:lnTo>
                  <a:pt x="177620" y="108838"/>
                </a:lnTo>
                <a:lnTo>
                  <a:pt x="177800" y="109016"/>
                </a:lnTo>
                <a:lnTo>
                  <a:pt x="203710" y="109016"/>
                </a:lnTo>
                <a:lnTo>
                  <a:pt x="204990" y="110451"/>
                </a:lnTo>
                <a:lnTo>
                  <a:pt x="211480" y="118186"/>
                </a:lnTo>
                <a:lnTo>
                  <a:pt x="215283" y="123024"/>
                </a:lnTo>
                <a:close/>
              </a:path>
              <a:path w="254635" h="195579">
                <a:moveTo>
                  <a:pt x="226204" y="137807"/>
                </a:moveTo>
                <a:lnTo>
                  <a:pt x="202679" y="137807"/>
                </a:lnTo>
                <a:lnTo>
                  <a:pt x="196608" y="130098"/>
                </a:lnTo>
                <a:lnTo>
                  <a:pt x="190520" y="122848"/>
                </a:lnTo>
                <a:lnTo>
                  <a:pt x="190677" y="123024"/>
                </a:lnTo>
                <a:lnTo>
                  <a:pt x="215283" y="123024"/>
                </a:lnTo>
                <a:lnTo>
                  <a:pt x="217728" y="126136"/>
                </a:lnTo>
                <a:lnTo>
                  <a:pt x="223748" y="134264"/>
                </a:lnTo>
                <a:lnTo>
                  <a:pt x="226204" y="137807"/>
                </a:lnTo>
                <a:close/>
              </a:path>
              <a:path w="254635" h="195579">
                <a:moveTo>
                  <a:pt x="231390" y="145478"/>
                </a:moveTo>
                <a:lnTo>
                  <a:pt x="208343" y="145478"/>
                </a:lnTo>
                <a:lnTo>
                  <a:pt x="202535" y="137625"/>
                </a:lnTo>
                <a:lnTo>
                  <a:pt x="202679" y="137807"/>
                </a:lnTo>
                <a:lnTo>
                  <a:pt x="226204" y="137807"/>
                </a:lnTo>
                <a:lnTo>
                  <a:pt x="229514" y="142582"/>
                </a:lnTo>
                <a:lnTo>
                  <a:pt x="231390" y="145478"/>
                </a:lnTo>
                <a:close/>
              </a:path>
              <a:path w="254635" h="195579">
                <a:moveTo>
                  <a:pt x="236371" y="153314"/>
                </a:moveTo>
                <a:lnTo>
                  <a:pt x="213766" y="153314"/>
                </a:lnTo>
                <a:lnTo>
                  <a:pt x="208175" y="145251"/>
                </a:lnTo>
                <a:lnTo>
                  <a:pt x="208343" y="145478"/>
                </a:lnTo>
                <a:lnTo>
                  <a:pt x="231390" y="145478"/>
                </a:lnTo>
                <a:lnTo>
                  <a:pt x="235026" y="151091"/>
                </a:lnTo>
                <a:lnTo>
                  <a:pt x="236371" y="153314"/>
                </a:lnTo>
                <a:close/>
              </a:path>
              <a:path w="254635" h="195579">
                <a:moveTo>
                  <a:pt x="241156" y="161328"/>
                </a:moveTo>
                <a:lnTo>
                  <a:pt x="218960" y="161328"/>
                </a:lnTo>
                <a:lnTo>
                  <a:pt x="213633" y="153123"/>
                </a:lnTo>
                <a:lnTo>
                  <a:pt x="213766" y="153314"/>
                </a:lnTo>
                <a:lnTo>
                  <a:pt x="236371" y="153314"/>
                </a:lnTo>
                <a:lnTo>
                  <a:pt x="240283" y="159778"/>
                </a:lnTo>
                <a:lnTo>
                  <a:pt x="241156" y="161328"/>
                </a:lnTo>
                <a:close/>
              </a:path>
              <a:path w="254635" h="195579">
                <a:moveTo>
                  <a:pt x="250097" y="177863"/>
                </a:moveTo>
                <a:lnTo>
                  <a:pt x="228600" y="177863"/>
                </a:lnTo>
                <a:lnTo>
                  <a:pt x="223761" y="169265"/>
                </a:lnTo>
                <a:lnTo>
                  <a:pt x="218865" y="161180"/>
                </a:lnTo>
                <a:lnTo>
                  <a:pt x="218960" y="161328"/>
                </a:lnTo>
                <a:lnTo>
                  <a:pt x="241156" y="161328"/>
                </a:lnTo>
                <a:lnTo>
                  <a:pt x="245275" y="168643"/>
                </a:lnTo>
                <a:lnTo>
                  <a:pt x="250097" y="177863"/>
                </a:lnTo>
                <a:close/>
              </a:path>
              <a:path w="254635" h="195579">
                <a:moveTo>
                  <a:pt x="254208" y="186359"/>
                </a:moveTo>
                <a:lnTo>
                  <a:pt x="233044" y="186359"/>
                </a:lnTo>
                <a:lnTo>
                  <a:pt x="228597" y="177859"/>
                </a:lnTo>
                <a:lnTo>
                  <a:pt x="250097" y="177863"/>
                </a:lnTo>
                <a:lnTo>
                  <a:pt x="254208" y="186359"/>
                </a:lnTo>
                <a:close/>
              </a:path>
              <a:path w="254635" h="195579">
                <a:moveTo>
                  <a:pt x="237235" y="195021"/>
                </a:moveTo>
                <a:lnTo>
                  <a:pt x="232991" y="186257"/>
                </a:lnTo>
                <a:lnTo>
                  <a:pt x="254208" y="186359"/>
                </a:lnTo>
                <a:lnTo>
                  <a:pt x="254380" y="186715"/>
                </a:lnTo>
                <a:lnTo>
                  <a:pt x="237235" y="19502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866885" y="4149437"/>
            <a:ext cx="392430" cy="8108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14"/>
              </a:spcBef>
            </a:pPr>
            <a:r>
              <a:rPr dirty="0" sz="2400" spc="-50" i="1">
                <a:latin typeface="Symbol"/>
                <a:cs typeface="Symbol"/>
              </a:rPr>
              <a:t></a:t>
            </a:r>
            <a:endParaRPr sz="24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dirty="0" sz="1400" b="1" i="1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dirty="0" baseline="-18518" sz="1350" b="1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baseline="-18518" sz="13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924014" y="3237458"/>
            <a:ext cx="462915" cy="0"/>
          </a:xfrm>
          <a:custGeom>
            <a:avLst/>
            <a:gdLst/>
            <a:ahLst/>
            <a:cxnLst/>
            <a:rect l="l" t="t" r="r" b="b"/>
            <a:pathLst>
              <a:path w="462915" h="0">
                <a:moveTo>
                  <a:pt x="0" y="0"/>
                </a:moveTo>
                <a:lnTo>
                  <a:pt x="462876" y="0"/>
                </a:lnTo>
              </a:path>
            </a:pathLst>
          </a:custGeom>
          <a:ln w="11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5442889" y="2168118"/>
            <a:ext cx="3455035" cy="1043305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marL="12700" marR="5080">
              <a:lnSpc>
                <a:spcPts val="2370"/>
              </a:lnSpc>
              <a:spcBef>
                <a:spcPts val="209"/>
              </a:spcBef>
            </a:pPr>
            <a:r>
              <a:rPr dirty="0" sz="2000" i="1">
                <a:latin typeface="华文楷体"/>
                <a:cs typeface="华文楷体"/>
              </a:rPr>
              <a:t>解：（</a:t>
            </a:r>
            <a:r>
              <a:rPr dirty="0" sz="2000" spc="-5">
                <a:latin typeface="Times New Roman"/>
                <a:cs typeface="Times New Roman"/>
              </a:rPr>
              <a:t>2</a:t>
            </a:r>
            <a:r>
              <a:rPr dirty="0" sz="2000" i="1">
                <a:latin typeface="华文楷体"/>
                <a:cs typeface="华文楷体"/>
              </a:rPr>
              <a:t>）电子在匀强磁场中</a:t>
            </a:r>
            <a:r>
              <a:rPr dirty="0" sz="2000" i="1">
                <a:latin typeface="华文楷体"/>
                <a:cs typeface="华文楷体"/>
              </a:rPr>
              <a:t>做 </a:t>
            </a:r>
            <a:r>
              <a:rPr dirty="0" sz="2000" i="1">
                <a:latin typeface="华文楷体"/>
                <a:cs typeface="华文楷体"/>
              </a:rPr>
              <a:t>完整圆周运动的周</a:t>
            </a:r>
            <a:r>
              <a:rPr dirty="0" sz="2000" spc="5" i="1">
                <a:latin typeface="华文楷体"/>
                <a:cs typeface="华文楷体"/>
              </a:rPr>
              <a:t>期</a:t>
            </a:r>
            <a:endParaRPr sz="2000">
              <a:latin typeface="华文楷体"/>
              <a:cs typeface="华文楷体"/>
            </a:endParaRPr>
          </a:p>
          <a:p>
            <a:pPr marL="1080135">
              <a:lnSpc>
                <a:spcPct val="100000"/>
              </a:lnSpc>
              <a:spcBef>
                <a:spcPts val="819"/>
              </a:spcBef>
            </a:pPr>
            <a:r>
              <a:rPr dirty="0" baseline="-34534" sz="2775" spc="-7" i="1">
                <a:latin typeface="Times New Roman"/>
                <a:cs typeface="Times New Roman"/>
              </a:rPr>
              <a:t>T </a:t>
            </a:r>
            <a:r>
              <a:rPr dirty="0" baseline="-34534" sz="2775" spc="-7">
                <a:latin typeface="Symbol"/>
                <a:cs typeface="Symbol"/>
              </a:rPr>
              <a:t></a:t>
            </a:r>
            <a:r>
              <a:rPr dirty="0" baseline="-34534" sz="2775" spc="-232">
                <a:latin typeface="Times New Roman"/>
                <a:cs typeface="Times New Roman"/>
              </a:rPr>
              <a:t> </a:t>
            </a:r>
            <a:r>
              <a:rPr dirty="0" sz="1850" spc="-220">
                <a:latin typeface="Times New Roman"/>
                <a:cs typeface="Times New Roman"/>
              </a:rPr>
              <a:t>2</a:t>
            </a:r>
            <a:r>
              <a:rPr dirty="0" sz="1950" spc="-220" i="1">
                <a:latin typeface="Symbol"/>
                <a:cs typeface="Symbol"/>
              </a:rPr>
              <a:t></a:t>
            </a:r>
            <a:r>
              <a:rPr dirty="0" sz="1850" spc="-220" i="1">
                <a:latin typeface="Times New Roman"/>
                <a:cs typeface="Times New Roman"/>
              </a:rPr>
              <a:t>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850138" y="4572418"/>
            <a:ext cx="294005" cy="0"/>
          </a:xfrm>
          <a:custGeom>
            <a:avLst/>
            <a:gdLst/>
            <a:ahLst/>
            <a:cxnLst/>
            <a:rect l="l" t="t" r="r" b="b"/>
            <a:pathLst>
              <a:path w="294004" h="0">
                <a:moveTo>
                  <a:pt x="0" y="0"/>
                </a:moveTo>
                <a:lnTo>
                  <a:pt x="293547" y="0"/>
                </a:lnTo>
              </a:path>
            </a:pathLst>
          </a:custGeom>
          <a:ln w="11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7154633" y="4384928"/>
            <a:ext cx="156210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 i="1">
                <a:latin typeface="Times New Roman"/>
                <a:cs typeface="Times New Roman"/>
              </a:rPr>
              <a:t>T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882676" y="4224324"/>
            <a:ext cx="243204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-60" i="1">
                <a:latin typeface="Symbol"/>
                <a:cs typeface="Symbol"/>
              </a:rPr>
              <a:t>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518211" y="4384928"/>
            <a:ext cx="28638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 i="1">
                <a:latin typeface="Times New Roman"/>
                <a:cs typeface="Times New Roman"/>
              </a:rPr>
              <a:t>t</a:t>
            </a:r>
            <a:r>
              <a:rPr dirty="0" sz="1850" spc="-15" i="1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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164196" y="5088940"/>
            <a:ext cx="407670" cy="0"/>
          </a:xfrm>
          <a:custGeom>
            <a:avLst/>
            <a:gdLst/>
            <a:ahLst/>
            <a:cxnLst/>
            <a:rect l="l" t="t" r="r" b="b"/>
            <a:pathLst>
              <a:path w="407670" h="0">
                <a:moveTo>
                  <a:pt x="0" y="0"/>
                </a:moveTo>
                <a:lnTo>
                  <a:pt x="407238" y="0"/>
                </a:lnTo>
              </a:path>
            </a:pathLst>
          </a:custGeom>
          <a:ln w="11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820926" y="5088940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 h="0">
                <a:moveTo>
                  <a:pt x="0" y="0"/>
                </a:moveTo>
                <a:lnTo>
                  <a:pt x="139420" y="0"/>
                </a:lnTo>
              </a:path>
            </a:pathLst>
          </a:custGeom>
          <a:ln w="11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6852119" y="4555654"/>
            <a:ext cx="1111885" cy="5041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950"/>
              </a:lnSpc>
              <a:spcBef>
                <a:spcPts val="90"/>
              </a:spcBef>
            </a:pPr>
            <a:r>
              <a:rPr dirty="0" sz="1850" spc="-145">
                <a:latin typeface="Times New Roman"/>
                <a:cs typeface="Times New Roman"/>
              </a:rPr>
              <a:t>2</a:t>
            </a:r>
            <a:r>
              <a:rPr dirty="0" sz="1950" spc="-145" i="1">
                <a:latin typeface="Symbol"/>
                <a:cs typeface="Symbol"/>
              </a:rPr>
              <a:t></a:t>
            </a:r>
            <a:endParaRPr sz="1950">
              <a:latin typeface="Symbol"/>
              <a:cs typeface="Symbol"/>
            </a:endParaRPr>
          </a:p>
          <a:p>
            <a:pPr marL="421640">
              <a:lnSpc>
                <a:spcPts val="1830"/>
              </a:lnSpc>
              <a:tabLst>
                <a:tab pos="981075" algn="l"/>
              </a:tabLst>
            </a:pPr>
            <a:r>
              <a:rPr dirty="0" sz="1850" spc="-35">
                <a:latin typeface="Times New Roman"/>
                <a:cs typeface="Times New Roman"/>
              </a:rPr>
              <a:t>2</a:t>
            </a:r>
            <a:r>
              <a:rPr dirty="0" sz="1850" spc="-5" i="1">
                <a:latin typeface="Times New Roman"/>
                <a:cs typeface="Times New Roman"/>
              </a:rPr>
              <a:t>l</a:t>
            </a:r>
            <a:r>
              <a:rPr dirty="0" sz="1850" i="1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Times New Roman"/>
                <a:cs typeface="Times New Roman"/>
              </a:rPr>
              <a:t>4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454406" y="4888800"/>
            <a:ext cx="664210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10">
                <a:latin typeface="Times New Roman"/>
                <a:cs typeface="Times New Roman"/>
              </a:rPr>
              <a:t>tan</a:t>
            </a:r>
            <a:r>
              <a:rPr dirty="0" sz="1950" spc="-10" i="1">
                <a:latin typeface="Symbol"/>
                <a:cs typeface="Symbol"/>
              </a:rPr>
              <a:t></a:t>
            </a:r>
            <a:r>
              <a:rPr dirty="0" sz="1850" spc="-10">
                <a:latin typeface="Symbol"/>
                <a:cs typeface="Symbol"/>
              </a:rPr>
              <a:t>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619085" y="4901463"/>
            <a:ext cx="15430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>
                <a:latin typeface="Symbol"/>
                <a:cs typeface="Symbol"/>
              </a:rPr>
              <a:t>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166165" y="5084851"/>
            <a:ext cx="79946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9290" algn="l"/>
              </a:tabLst>
            </a:pPr>
            <a:r>
              <a:rPr dirty="0" sz="1850" spc="-5" i="1">
                <a:latin typeface="Times New Roman"/>
                <a:cs typeface="Times New Roman"/>
              </a:rPr>
              <a:t>r</a:t>
            </a:r>
            <a:r>
              <a:rPr dirty="0" sz="1850" spc="-55" i="1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</a:t>
            </a:r>
            <a:r>
              <a:rPr dirty="0" sz="1850" spc="-215">
                <a:latin typeface="Times New Roman"/>
                <a:cs typeface="Times New Roman"/>
              </a:rPr>
              <a:t> </a:t>
            </a:r>
            <a:r>
              <a:rPr dirty="0" sz="1850" spc="-5" i="1">
                <a:latin typeface="Times New Roman"/>
                <a:cs typeface="Times New Roman"/>
              </a:rPr>
              <a:t>l</a:t>
            </a:r>
            <a:r>
              <a:rPr dirty="0" sz="1850" i="1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Times New Roman"/>
                <a:cs typeface="Times New Roman"/>
              </a:rPr>
              <a:t>3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6815353" y="5656110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 h="0">
                <a:moveTo>
                  <a:pt x="0" y="0"/>
                </a:moveTo>
                <a:lnTo>
                  <a:pt x="278815" y="0"/>
                </a:lnTo>
              </a:path>
            </a:pathLst>
          </a:custGeom>
          <a:ln w="11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743532" y="5656110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 h="0">
                <a:moveTo>
                  <a:pt x="0" y="0"/>
                </a:moveTo>
                <a:lnTo>
                  <a:pt x="139407" y="0"/>
                </a:lnTo>
              </a:path>
            </a:pathLst>
          </a:custGeom>
          <a:ln w="11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5442889" y="3202470"/>
            <a:ext cx="3201035" cy="98171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587500">
              <a:lnSpc>
                <a:spcPct val="100000"/>
              </a:lnSpc>
              <a:spcBef>
                <a:spcPts val="335"/>
              </a:spcBef>
            </a:pPr>
            <a:r>
              <a:rPr dirty="0" sz="1850" spc="-15" i="1">
                <a:latin typeface="Times New Roman"/>
                <a:cs typeface="Times New Roman"/>
              </a:rPr>
              <a:t>eB</a:t>
            </a:r>
            <a:endParaRPr sz="18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270"/>
              </a:spcBef>
            </a:pPr>
            <a:r>
              <a:rPr dirty="0" sz="2000" i="1">
                <a:latin typeface="华文楷体"/>
                <a:cs typeface="华文楷体"/>
              </a:rPr>
              <a:t>电子在矩形磁场中沿圆弧从</a:t>
            </a:r>
            <a:r>
              <a:rPr dirty="0" sz="2000" i="1">
                <a:latin typeface="Times New Roman"/>
                <a:cs typeface="Times New Roman"/>
              </a:rPr>
              <a:t>a </a:t>
            </a:r>
            <a:r>
              <a:rPr dirty="0" sz="2000" i="1">
                <a:latin typeface="华文楷体"/>
                <a:cs typeface="华文楷体"/>
              </a:rPr>
              <a:t>点运动到</a:t>
            </a:r>
            <a:r>
              <a:rPr dirty="0" sz="2000">
                <a:latin typeface="Times New Roman"/>
                <a:cs typeface="Times New Roman"/>
              </a:rPr>
              <a:t>c</a:t>
            </a:r>
            <a:r>
              <a:rPr dirty="0" sz="2000" i="1">
                <a:latin typeface="华文楷体"/>
                <a:cs typeface="华文楷体"/>
              </a:rPr>
              <a:t>点的时</a:t>
            </a:r>
            <a:r>
              <a:rPr dirty="0" sz="2000" spc="5" i="1">
                <a:latin typeface="华文楷体"/>
                <a:cs typeface="华文楷体"/>
              </a:rPr>
              <a:t>间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5563971" y="5448820"/>
            <a:ext cx="2324100" cy="5099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995"/>
              </a:lnSpc>
              <a:spcBef>
                <a:spcPts val="105"/>
              </a:spcBef>
              <a:tabLst>
                <a:tab pos="931544" algn="l"/>
              </a:tabLst>
            </a:pPr>
            <a:r>
              <a:rPr dirty="0" sz="2000" i="1">
                <a:latin typeface="华文楷体"/>
                <a:cs typeface="华文楷体"/>
              </a:rPr>
              <a:t>可得</a:t>
            </a:r>
            <a:r>
              <a:rPr dirty="0" sz="2000" spc="5" i="1">
                <a:latin typeface="华文楷体"/>
                <a:cs typeface="华文楷体"/>
              </a:rPr>
              <a:t>：	</a:t>
            </a:r>
            <a:r>
              <a:rPr dirty="0" sz="1850" spc="-5" i="1">
                <a:latin typeface="Times New Roman"/>
                <a:cs typeface="Times New Roman"/>
              </a:rPr>
              <a:t>t 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-5">
                <a:latin typeface="Times New Roman"/>
                <a:cs typeface="Times New Roman"/>
              </a:rPr>
              <a:t>  </a:t>
            </a:r>
            <a:r>
              <a:rPr dirty="0" baseline="34534" sz="2775" spc="-7" i="1">
                <a:latin typeface="Times New Roman"/>
                <a:cs typeface="Times New Roman"/>
              </a:rPr>
              <a:t>m  </a:t>
            </a:r>
            <a:r>
              <a:rPr dirty="0" sz="1850" spc="-15">
                <a:latin typeface="Times New Roman"/>
                <a:cs typeface="Times New Roman"/>
              </a:rPr>
              <a:t>arctan</a:t>
            </a:r>
            <a:r>
              <a:rPr dirty="0" sz="1850" spc="-215">
                <a:latin typeface="Times New Roman"/>
                <a:cs typeface="Times New Roman"/>
              </a:rPr>
              <a:t> </a:t>
            </a:r>
            <a:r>
              <a:rPr dirty="0" baseline="34534" sz="2775" spc="-7">
                <a:latin typeface="Times New Roman"/>
                <a:cs typeface="Times New Roman"/>
              </a:rPr>
              <a:t>4</a:t>
            </a:r>
            <a:endParaRPr baseline="34534" sz="2775">
              <a:latin typeface="Times New Roman"/>
              <a:cs typeface="Times New Roman"/>
            </a:endParaRPr>
          </a:p>
          <a:p>
            <a:pPr marL="1273175">
              <a:lnSpc>
                <a:spcPts val="1814"/>
              </a:lnSpc>
              <a:tabLst>
                <a:tab pos="2193925" algn="l"/>
              </a:tabLst>
            </a:pPr>
            <a:r>
              <a:rPr dirty="0" sz="1850" spc="-10" i="1">
                <a:latin typeface="Times New Roman"/>
                <a:cs typeface="Times New Roman"/>
              </a:rPr>
              <a:t>B</a:t>
            </a:r>
            <a:r>
              <a:rPr dirty="0" sz="1850" spc="-5" i="1">
                <a:latin typeface="Times New Roman"/>
                <a:cs typeface="Times New Roman"/>
              </a:rPr>
              <a:t>e</a:t>
            </a:r>
            <a:r>
              <a:rPr dirty="0" sz="1850" i="1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Times New Roman"/>
                <a:cs typeface="Times New Roman"/>
              </a:rPr>
              <a:t>3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91924" y="1442364"/>
            <a:ext cx="977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黑体"/>
                <a:cs typeface="黑体"/>
              </a:rPr>
              <a:t>例题4</a:t>
            </a:r>
          </a:p>
        </p:txBody>
      </p:sp>
      <p:sp>
        <p:nvSpPr>
          <p:cNvPr id="3" name="object 3"/>
          <p:cNvSpPr/>
          <p:nvPr/>
        </p:nvSpPr>
        <p:spPr>
          <a:xfrm>
            <a:off x="2282951" y="1437132"/>
            <a:ext cx="1091184" cy="664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53384" y="1725167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51503" y="1947672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15144" y="2001380"/>
            <a:ext cx="4732655" cy="0"/>
          </a:xfrm>
          <a:custGeom>
            <a:avLst/>
            <a:gdLst/>
            <a:ahLst/>
            <a:cxnLst/>
            <a:rect l="l" t="t" r="r" b="b"/>
            <a:pathLst>
              <a:path w="4732655" h="0">
                <a:moveTo>
                  <a:pt x="0" y="0"/>
                </a:moveTo>
                <a:lnTo>
                  <a:pt x="4732426" y="0"/>
                </a:lnTo>
              </a:path>
            </a:pathLst>
          </a:custGeom>
          <a:ln w="12700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361780" y="2184628"/>
            <a:ext cx="6376035" cy="2160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如图所示，矩形匀强磁场区域</a:t>
            </a:r>
            <a:r>
              <a:rPr dirty="0" sz="2000" spc="-5" i="1">
                <a:latin typeface="Times New Roman"/>
                <a:cs typeface="Times New Roman"/>
              </a:rPr>
              <a:t>ab</a:t>
            </a:r>
            <a:r>
              <a:rPr dirty="0" sz="2000" i="1">
                <a:latin typeface="Times New Roman"/>
                <a:cs typeface="Times New Roman"/>
              </a:rPr>
              <a:t>c</a:t>
            </a:r>
            <a:r>
              <a:rPr dirty="0" sz="2000" spc="-5" i="1">
                <a:latin typeface="Times New Roman"/>
                <a:cs typeface="Times New Roman"/>
              </a:rPr>
              <a:t>d</a:t>
            </a:r>
            <a:r>
              <a:rPr dirty="0" sz="2000" i="1">
                <a:latin typeface="华文楷体"/>
                <a:cs typeface="华文楷体"/>
              </a:rPr>
              <a:t>的长为</a:t>
            </a:r>
            <a:r>
              <a:rPr dirty="0" sz="2000" spc="-5">
                <a:latin typeface="Times New Roman"/>
                <a:cs typeface="Times New Roman"/>
              </a:rPr>
              <a:t>2</a:t>
            </a:r>
            <a:r>
              <a:rPr dirty="0" sz="2000" spc="-5" i="1">
                <a:latin typeface="Times New Roman"/>
                <a:cs typeface="Times New Roman"/>
              </a:rPr>
              <a:t>l</a:t>
            </a:r>
            <a:r>
              <a:rPr dirty="0" sz="2000" i="1">
                <a:latin typeface="华文楷体"/>
                <a:cs typeface="华文楷体"/>
              </a:rPr>
              <a:t>，宽为</a:t>
            </a:r>
            <a:r>
              <a:rPr dirty="0" sz="2000" spc="-5" i="1">
                <a:latin typeface="Times New Roman"/>
                <a:cs typeface="Times New Roman"/>
              </a:rPr>
              <a:t>l</a:t>
            </a:r>
            <a:r>
              <a:rPr dirty="0" sz="2000" i="1">
                <a:latin typeface="华文楷体"/>
                <a:cs typeface="华文楷体"/>
              </a:rPr>
              <a:t>，匀</a:t>
            </a:r>
            <a:r>
              <a:rPr dirty="0" sz="2000" i="1">
                <a:latin typeface="华文楷体"/>
                <a:cs typeface="华文楷体"/>
              </a:rPr>
              <a:t>强 </a:t>
            </a:r>
            <a:r>
              <a:rPr dirty="0" sz="2000" i="1">
                <a:latin typeface="华文楷体"/>
                <a:cs typeface="华文楷体"/>
              </a:rPr>
              <a:t>磁场的磁感应强度为</a:t>
            </a:r>
            <a:r>
              <a:rPr dirty="0" sz="2000" spc="-5" i="1">
                <a:latin typeface="Times New Roman"/>
                <a:cs typeface="Times New Roman"/>
              </a:rPr>
              <a:t>B</a:t>
            </a:r>
            <a:r>
              <a:rPr dirty="0" sz="2000" spc="-5" i="1">
                <a:latin typeface="华文楷体"/>
                <a:cs typeface="华文楷体"/>
              </a:rPr>
              <a:t>，</a:t>
            </a:r>
            <a:r>
              <a:rPr dirty="0" sz="2000" i="1">
                <a:latin typeface="华文楷体"/>
                <a:cs typeface="华文楷体"/>
              </a:rPr>
              <a:t>质量为</a:t>
            </a:r>
            <a:r>
              <a:rPr dirty="0" sz="2000" spc="-5" i="1">
                <a:latin typeface="Times New Roman"/>
                <a:cs typeface="Times New Roman"/>
              </a:rPr>
              <a:t>m</a:t>
            </a:r>
            <a:r>
              <a:rPr dirty="0" sz="2000" spc="-5" i="1">
                <a:latin typeface="华文楷体"/>
                <a:cs typeface="华文楷体"/>
              </a:rPr>
              <a:t>，</a:t>
            </a:r>
            <a:r>
              <a:rPr dirty="0" sz="2000" i="1">
                <a:latin typeface="华文楷体"/>
                <a:cs typeface="华文楷体"/>
              </a:rPr>
              <a:t>电荷量为</a:t>
            </a:r>
            <a:r>
              <a:rPr dirty="0" sz="2000" i="1">
                <a:latin typeface="Times New Roman"/>
                <a:cs typeface="Times New Roman"/>
              </a:rPr>
              <a:t>e</a:t>
            </a:r>
            <a:r>
              <a:rPr dirty="0" sz="2000" i="1">
                <a:latin typeface="华文楷体"/>
                <a:cs typeface="华文楷体"/>
              </a:rPr>
              <a:t>的电子沿</a:t>
            </a:r>
            <a:r>
              <a:rPr dirty="0" sz="2000" spc="5" i="1">
                <a:latin typeface="华文楷体"/>
                <a:cs typeface="华文楷体"/>
              </a:rPr>
              <a:t>着 </a:t>
            </a:r>
            <a:r>
              <a:rPr dirty="0" sz="2000" i="1">
                <a:latin typeface="华文楷体"/>
                <a:cs typeface="华文楷体"/>
              </a:rPr>
              <a:t>矩形磁场的上方边界由</a:t>
            </a:r>
            <a:r>
              <a:rPr dirty="0" sz="2000" spc="-5" i="1">
                <a:latin typeface="Times New Roman"/>
                <a:cs typeface="Times New Roman"/>
              </a:rPr>
              <a:t>a</a:t>
            </a:r>
            <a:r>
              <a:rPr dirty="0" sz="2000" i="1">
                <a:latin typeface="华文楷体"/>
                <a:cs typeface="华文楷体"/>
              </a:rPr>
              <a:t>点射入磁场。试分析</a:t>
            </a:r>
            <a:r>
              <a:rPr dirty="0" sz="2000" spc="5" i="1">
                <a:latin typeface="华文楷体"/>
                <a:cs typeface="华文楷体"/>
              </a:rPr>
              <a:t>：</a:t>
            </a:r>
            <a:endParaRPr sz="2000">
              <a:latin typeface="华文楷体"/>
              <a:cs typeface="华文楷体"/>
            </a:endParaRPr>
          </a:p>
          <a:p>
            <a:pPr algn="just" marL="648970" indent="-636270">
              <a:lnSpc>
                <a:spcPct val="100000"/>
              </a:lnSpc>
              <a:buSzPct val="95000"/>
              <a:buAutoNum type="arabicPlain"/>
              <a:tabLst>
                <a:tab pos="648970" algn="l"/>
              </a:tabLst>
            </a:pPr>
            <a:r>
              <a:rPr dirty="0" sz="2000" i="1">
                <a:latin typeface="华文楷体"/>
                <a:cs typeface="华文楷体"/>
              </a:rPr>
              <a:t>若电子恰好由下方边界</a:t>
            </a:r>
            <a:r>
              <a:rPr dirty="0" sz="2000" i="1">
                <a:latin typeface="Times New Roman"/>
                <a:cs typeface="Times New Roman"/>
              </a:rPr>
              <a:t>c</a:t>
            </a:r>
            <a:r>
              <a:rPr dirty="0" sz="2000" i="1">
                <a:latin typeface="华文楷体"/>
                <a:cs typeface="华文楷体"/>
              </a:rPr>
              <a:t>点穿出磁场，求</a:t>
            </a:r>
            <a:r>
              <a:rPr dirty="0" sz="2000" spc="5" i="1">
                <a:latin typeface="华文楷体"/>
                <a:cs typeface="华文楷体"/>
              </a:rPr>
              <a:t>：</a:t>
            </a:r>
            <a:endParaRPr sz="2000">
              <a:latin typeface="华文楷体"/>
              <a:cs typeface="华文楷体"/>
            </a:endParaRPr>
          </a:p>
          <a:p>
            <a:pPr marL="680720">
              <a:lnSpc>
                <a:spcPct val="100000"/>
              </a:lnSpc>
            </a:pPr>
            <a:r>
              <a:rPr dirty="0" sz="1800">
                <a:latin typeface="宋体"/>
                <a:cs typeface="宋体"/>
              </a:rPr>
              <a:t>①</a:t>
            </a:r>
            <a:r>
              <a:rPr dirty="0" sz="2000" i="1">
                <a:latin typeface="华文楷体"/>
                <a:cs typeface="华文楷体"/>
              </a:rPr>
              <a:t>电子速率</a:t>
            </a:r>
            <a:r>
              <a:rPr dirty="0" sz="2000" i="1">
                <a:latin typeface="Times New Roman"/>
                <a:cs typeface="Times New Roman"/>
              </a:rPr>
              <a:t>v</a:t>
            </a:r>
            <a:r>
              <a:rPr dirty="0" sz="2000" i="1">
                <a:latin typeface="华文楷体"/>
                <a:cs typeface="华文楷体"/>
              </a:rPr>
              <a:t>；</a:t>
            </a:r>
            <a:r>
              <a:rPr dirty="0" sz="2000" spc="480" i="1">
                <a:latin typeface="华文楷体"/>
                <a:cs typeface="华文楷体"/>
              </a:rPr>
              <a:t> </a:t>
            </a:r>
            <a:r>
              <a:rPr dirty="0" sz="1800">
                <a:latin typeface="宋体"/>
                <a:cs typeface="宋体"/>
              </a:rPr>
              <a:t>②</a:t>
            </a:r>
            <a:r>
              <a:rPr dirty="0" sz="2000" i="1">
                <a:latin typeface="华文楷体"/>
                <a:cs typeface="华文楷体"/>
              </a:rPr>
              <a:t>电子在磁场中的运动时间</a:t>
            </a:r>
            <a:r>
              <a:rPr dirty="0" sz="2000" spc="5" i="1">
                <a:latin typeface="华文楷体"/>
                <a:cs typeface="华文楷体"/>
              </a:rPr>
              <a:t>；</a:t>
            </a:r>
            <a:endParaRPr sz="2000">
              <a:latin typeface="华文楷体"/>
              <a:cs typeface="华文楷体"/>
            </a:endParaRPr>
          </a:p>
          <a:p>
            <a:pPr algn="just" marL="648970" indent="-636270">
              <a:lnSpc>
                <a:spcPct val="100000"/>
              </a:lnSpc>
              <a:buSzPct val="95000"/>
              <a:buAutoNum type="arabicPlain" startAt="2"/>
              <a:tabLst>
                <a:tab pos="648970" algn="l"/>
              </a:tabLst>
            </a:pPr>
            <a:r>
              <a:rPr dirty="0" sz="2000" i="1">
                <a:latin typeface="华文楷体"/>
                <a:cs typeface="华文楷体"/>
              </a:rPr>
              <a:t>若要使电子能从磁场下边界穿出磁场，求</a:t>
            </a:r>
            <a:r>
              <a:rPr dirty="0" sz="2000" spc="5" i="1">
                <a:latin typeface="华文楷体"/>
                <a:cs typeface="华文楷体"/>
              </a:rPr>
              <a:t>：</a:t>
            </a:r>
            <a:endParaRPr sz="2000">
              <a:latin typeface="华文楷体"/>
              <a:cs typeface="华文楷体"/>
            </a:endParaRPr>
          </a:p>
          <a:p>
            <a:pPr marL="711200">
              <a:lnSpc>
                <a:spcPct val="100000"/>
              </a:lnSpc>
            </a:pPr>
            <a:r>
              <a:rPr dirty="0" sz="2000">
                <a:latin typeface="宋体"/>
                <a:cs typeface="宋体"/>
              </a:rPr>
              <a:t>①</a:t>
            </a:r>
            <a:r>
              <a:rPr dirty="0" sz="2000" i="1">
                <a:latin typeface="华文楷体"/>
                <a:cs typeface="华文楷体"/>
              </a:rPr>
              <a:t>电子速率</a:t>
            </a:r>
            <a:r>
              <a:rPr dirty="0" sz="2000" i="1">
                <a:latin typeface="Times New Roman"/>
                <a:cs typeface="Times New Roman"/>
              </a:rPr>
              <a:t>v</a:t>
            </a:r>
            <a:r>
              <a:rPr dirty="0" sz="2000" i="1">
                <a:latin typeface="华文楷体"/>
                <a:cs typeface="华文楷体"/>
              </a:rPr>
              <a:t>的范围；</a:t>
            </a:r>
            <a:r>
              <a:rPr dirty="0" sz="2000">
                <a:latin typeface="宋体"/>
                <a:cs typeface="宋体"/>
              </a:rPr>
              <a:t>②</a:t>
            </a:r>
            <a:r>
              <a:rPr dirty="0" sz="2000" i="1">
                <a:latin typeface="华文楷体"/>
                <a:cs typeface="华文楷体"/>
              </a:rPr>
              <a:t>运动时间</a:t>
            </a:r>
            <a:r>
              <a:rPr dirty="0" sz="2000" spc="-5" i="1">
                <a:latin typeface="Times New Roman"/>
                <a:cs typeface="Times New Roman"/>
              </a:rPr>
              <a:t>t</a:t>
            </a:r>
            <a:r>
              <a:rPr dirty="0" sz="2000" i="1">
                <a:latin typeface="华文楷体"/>
                <a:cs typeface="华文楷体"/>
              </a:rPr>
              <a:t>的取值范围</a:t>
            </a:r>
            <a:r>
              <a:rPr dirty="0" sz="2000" spc="5" i="1">
                <a:latin typeface="华文楷体"/>
                <a:cs typeface="华文楷体"/>
              </a:rPr>
              <a:t>。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39740" y="4425696"/>
            <a:ext cx="2807208" cy="1606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0979" y="1361846"/>
            <a:ext cx="9779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黑体"/>
                <a:cs typeface="黑体"/>
              </a:rPr>
              <a:t>例题4</a:t>
            </a:r>
          </a:p>
        </p:txBody>
      </p:sp>
      <p:sp>
        <p:nvSpPr>
          <p:cNvPr id="3" name="object 3"/>
          <p:cNvSpPr/>
          <p:nvPr/>
        </p:nvSpPr>
        <p:spPr>
          <a:xfrm>
            <a:off x="2587751" y="1402080"/>
            <a:ext cx="1033272" cy="6294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98164" y="1633727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96284" y="1856232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934434" y="2009330"/>
            <a:ext cx="4732655" cy="0"/>
          </a:xfrm>
          <a:custGeom>
            <a:avLst/>
            <a:gdLst/>
            <a:ahLst/>
            <a:cxnLst/>
            <a:rect l="l" t="t" r="r" b="b"/>
            <a:pathLst>
              <a:path w="4732655" h="0">
                <a:moveTo>
                  <a:pt x="0" y="0"/>
                </a:moveTo>
                <a:lnTo>
                  <a:pt x="4732426" y="0"/>
                </a:lnTo>
              </a:path>
            </a:pathLst>
          </a:custGeom>
          <a:ln w="12700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043055" y="2072398"/>
            <a:ext cx="3074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解：（</a:t>
            </a:r>
            <a:r>
              <a:rPr dirty="0" sz="2000" spc="-5">
                <a:latin typeface="Times New Roman"/>
                <a:cs typeface="Times New Roman"/>
              </a:rPr>
              <a:t>2</a:t>
            </a:r>
            <a:r>
              <a:rPr dirty="0" sz="2000" i="1">
                <a:latin typeface="华文楷体"/>
                <a:cs typeface="华文楷体"/>
              </a:rPr>
              <a:t>）若从</a:t>
            </a:r>
            <a:r>
              <a:rPr dirty="0" sz="2000" spc="-5" i="1">
                <a:latin typeface="Times New Roman"/>
                <a:cs typeface="Times New Roman"/>
              </a:rPr>
              <a:t>d</a:t>
            </a:r>
            <a:r>
              <a:rPr dirty="0" sz="2000" i="1">
                <a:latin typeface="华文楷体"/>
                <a:cs typeface="华文楷体"/>
              </a:rPr>
              <a:t>点穿出磁</a:t>
            </a:r>
            <a:r>
              <a:rPr dirty="0" sz="2000" spc="5" i="1">
                <a:latin typeface="华文楷体"/>
                <a:cs typeface="华文楷体"/>
              </a:rPr>
              <a:t>场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99391" y="2477084"/>
            <a:ext cx="60515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>
                <a:latin typeface="Times New Roman"/>
                <a:cs typeface="Times New Roman"/>
              </a:rPr>
              <a:t>2</a:t>
            </a:r>
            <a:r>
              <a:rPr dirty="0" sz="1850" i="1">
                <a:latin typeface="Times New Roman"/>
                <a:cs typeface="Times New Roman"/>
              </a:rPr>
              <a:t>r </a:t>
            </a:r>
            <a:r>
              <a:rPr dirty="0" sz="1850" spc="-10">
                <a:latin typeface="Times New Roman"/>
                <a:cs typeface="Times New Roman"/>
              </a:rPr>
              <a:t>'</a:t>
            </a:r>
            <a:r>
              <a:rPr dirty="0" sz="1850" spc="-365">
                <a:latin typeface="Times New Roman"/>
                <a:cs typeface="Times New Roman"/>
              </a:rPr>
              <a:t> </a:t>
            </a:r>
            <a:r>
              <a:rPr dirty="0" sz="1850" spc="-25">
                <a:latin typeface="Symbol"/>
                <a:cs typeface="Symbol"/>
              </a:rPr>
              <a:t></a:t>
            </a:r>
            <a:r>
              <a:rPr dirty="0" sz="1850" spc="-25">
                <a:latin typeface="Times New Roman"/>
                <a:cs typeface="Times New Roman"/>
              </a:rPr>
              <a:t> </a:t>
            </a:r>
            <a:r>
              <a:rPr dirty="0" sz="1850" spc="-15" i="1">
                <a:latin typeface="Times New Roman"/>
                <a:cs typeface="Times New Roman"/>
              </a:rPr>
              <a:t>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38619" y="2515285"/>
            <a:ext cx="77533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 i="1">
                <a:latin typeface="Times New Roman"/>
                <a:cs typeface="Times New Roman"/>
              </a:rPr>
              <a:t>r</a:t>
            </a:r>
            <a:r>
              <a:rPr dirty="0" sz="1850" spc="-170" i="1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Times New Roman"/>
                <a:cs typeface="Times New Roman"/>
              </a:rPr>
              <a:t>'</a:t>
            </a:r>
            <a:r>
              <a:rPr dirty="0" sz="1850" spc="-130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-90">
                <a:latin typeface="Times New Roman"/>
                <a:cs typeface="Times New Roman"/>
              </a:rPr>
              <a:t> </a:t>
            </a:r>
            <a:r>
              <a:rPr dirty="0" sz="1850" spc="-20">
                <a:latin typeface="Times New Roman"/>
                <a:cs typeface="Times New Roman"/>
              </a:rPr>
              <a:t>0.5</a:t>
            </a:r>
            <a:r>
              <a:rPr dirty="0" sz="1850" spc="-20" i="1">
                <a:latin typeface="Times New Roman"/>
                <a:cs typeface="Times New Roman"/>
              </a:rPr>
              <a:t>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5590" y="2728671"/>
            <a:ext cx="231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洛伦兹力充当向心</a:t>
            </a:r>
            <a:r>
              <a:rPr dirty="0" sz="2000" spc="5" i="1">
                <a:latin typeface="华文楷体"/>
                <a:cs typeface="华文楷体"/>
              </a:rPr>
              <a:t>力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56616" y="3544417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 h="0">
                <a:moveTo>
                  <a:pt x="0" y="0"/>
                </a:moveTo>
                <a:lnTo>
                  <a:pt x="228130" y="0"/>
                </a:lnTo>
              </a:path>
            </a:pathLst>
          </a:custGeom>
          <a:ln w="116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254927" y="3104146"/>
            <a:ext cx="20891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-25525" sz="2775" spc="127" i="1">
                <a:latin typeface="Times New Roman"/>
                <a:cs typeface="Times New Roman"/>
              </a:rPr>
              <a:t>v</a:t>
            </a:r>
            <a:r>
              <a:rPr dirty="0" sz="1050" spc="5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27354" y="3579596"/>
            <a:ext cx="443865" cy="0"/>
          </a:xfrm>
          <a:custGeom>
            <a:avLst/>
            <a:gdLst/>
            <a:ahLst/>
            <a:cxnLst/>
            <a:rect l="l" t="t" r="r" b="b"/>
            <a:pathLst>
              <a:path w="443865" h="0">
                <a:moveTo>
                  <a:pt x="0" y="0"/>
                </a:moveTo>
                <a:lnTo>
                  <a:pt x="443572" y="0"/>
                </a:lnTo>
              </a:path>
            </a:pathLst>
          </a:custGeom>
          <a:ln w="115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920202" y="3579596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 h="0">
                <a:moveTo>
                  <a:pt x="0" y="0"/>
                </a:moveTo>
                <a:lnTo>
                  <a:pt x="355587" y="0"/>
                </a:lnTo>
              </a:path>
            </a:pathLst>
          </a:custGeom>
          <a:ln w="115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866394" y="3391992"/>
            <a:ext cx="31559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 i="1">
                <a:latin typeface="Times New Roman"/>
                <a:cs typeface="Times New Roman"/>
              </a:rPr>
              <a:t>v</a:t>
            </a:r>
            <a:r>
              <a:rPr dirty="0" sz="1850" spc="-95" i="1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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36650" y="3194614"/>
            <a:ext cx="1026794" cy="687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9539" marR="5080" indent="-117475">
              <a:lnSpc>
                <a:spcPct val="117300"/>
              </a:lnSpc>
              <a:spcBef>
                <a:spcPts val="100"/>
              </a:spcBef>
              <a:tabLst>
                <a:tab pos="718185" algn="l"/>
              </a:tabLst>
            </a:pPr>
            <a:r>
              <a:rPr dirty="0" sz="1850" spc="-10" i="1">
                <a:latin typeface="Times New Roman"/>
                <a:cs typeface="Times New Roman"/>
              </a:rPr>
              <a:t>Ber </a:t>
            </a:r>
            <a:r>
              <a:rPr dirty="0" sz="1850" spc="-5">
                <a:latin typeface="Times New Roman"/>
                <a:cs typeface="Times New Roman"/>
              </a:rPr>
              <a:t>' </a:t>
            </a:r>
            <a:r>
              <a:rPr dirty="0" baseline="-34534" sz="2775" spc="-7">
                <a:latin typeface="Symbol"/>
                <a:cs typeface="Symbol"/>
              </a:rPr>
              <a:t></a:t>
            </a:r>
            <a:r>
              <a:rPr dirty="0" baseline="-34534" sz="2775" spc="-7">
                <a:latin typeface="Times New Roman"/>
                <a:cs typeface="Times New Roman"/>
              </a:rPr>
              <a:t> </a:t>
            </a:r>
            <a:r>
              <a:rPr dirty="0" sz="1850" spc="-10" i="1">
                <a:latin typeface="Times New Roman"/>
                <a:cs typeface="Times New Roman"/>
              </a:rPr>
              <a:t>Bel  </a:t>
            </a:r>
            <a:r>
              <a:rPr dirty="0" sz="1850" spc="-5" i="1">
                <a:latin typeface="Times New Roman"/>
                <a:cs typeface="Times New Roman"/>
              </a:rPr>
              <a:t>m</a:t>
            </a:r>
            <a:r>
              <a:rPr dirty="0" sz="1850" i="1">
                <a:latin typeface="Times New Roman"/>
                <a:cs typeface="Times New Roman"/>
              </a:rPr>
              <a:t>	</a:t>
            </a:r>
            <a:r>
              <a:rPr dirty="0" sz="1850" spc="10">
                <a:latin typeface="Times New Roman"/>
                <a:cs typeface="Times New Roman"/>
              </a:rPr>
              <a:t>2</a:t>
            </a:r>
            <a:r>
              <a:rPr dirty="0" sz="1850" spc="-5" i="1">
                <a:latin typeface="Times New Roman"/>
                <a:cs typeface="Times New Roman"/>
              </a:rPr>
              <a:t>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44651" y="4712372"/>
            <a:ext cx="1238885" cy="5029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939"/>
              </a:lnSpc>
              <a:spcBef>
                <a:spcPts val="90"/>
              </a:spcBef>
            </a:pPr>
            <a:r>
              <a:rPr dirty="0" sz="1850" spc="-5" i="1">
                <a:latin typeface="Times New Roman"/>
                <a:cs typeface="Times New Roman"/>
              </a:rPr>
              <a:t>t 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-5">
                <a:latin typeface="Times New Roman"/>
                <a:cs typeface="Times New Roman"/>
              </a:rPr>
              <a:t> </a:t>
            </a:r>
            <a:r>
              <a:rPr dirty="0" u="sng" baseline="34534" sz="2775" spc="-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baseline="34534" sz="2775" spc="-7">
                <a:latin typeface="Times New Roman"/>
                <a:cs typeface="Times New Roman"/>
              </a:rPr>
              <a:t> </a:t>
            </a:r>
            <a:r>
              <a:rPr dirty="0" sz="1850" spc="-5" i="1">
                <a:latin typeface="Times New Roman"/>
                <a:cs typeface="Times New Roman"/>
              </a:rPr>
              <a:t>T 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-60">
                <a:latin typeface="Times New Roman"/>
                <a:cs typeface="Times New Roman"/>
              </a:rPr>
              <a:t> </a:t>
            </a:r>
            <a:r>
              <a:rPr dirty="0" u="sng" baseline="32763" sz="2925" spc="-322" i="1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</a:t>
            </a:r>
            <a:r>
              <a:rPr dirty="0" u="sng" baseline="34534" sz="2775" spc="-322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endParaRPr baseline="34534" sz="2775">
              <a:latin typeface="Times New Roman"/>
              <a:cs typeface="Times New Roman"/>
            </a:endParaRPr>
          </a:p>
          <a:p>
            <a:pPr marL="346075">
              <a:lnSpc>
                <a:spcPts val="1820"/>
              </a:lnSpc>
              <a:tabLst>
                <a:tab pos="948690" algn="l"/>
              </a:tabLst>
            </a:pPr>
            <a:r>
              <a:rPr dirty="0" sz="1850" spc="-5">
                <a:latin typeface="Times New Roman"/>
                <a:cs typeface="Times New Roman"/>
              </a:rPr>
              <a:t>2	</a:t>
            </a:r>
            <a:r>
              <a:rPr dirty="0" sz="1850" spc="-10" i="1">
                <a:latin typeface="Times New Roman"/>
                <a:cs typeface="Times New Roman"/>
              </a:rPr>
              <a:t>Be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31724" y="3882357"/>
            <a:ext cx="1381760" cy="687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5080" indent="-13335">
              <a:lnSpc>
                <a:spcPct val="117300"/>
              </a:lnSpc>
              <a:spcBef>
                <a:spcPts val="100"/>
              </a:spcBef>
              <a:tabLst>
                <a:tab pos="1016635" algn="l"/>
              </a:tabLst>
            </a:pPr>
            <a:r>
              <a:rPr dirty="0" u="sng" sz="18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Bel</a:t>
            </a:r>
            <a:r>
              <a:rPr dirty="0" sz="1850" spc="-10" i="1">
                <a:latin typeface="Times New Roman"/>
                <a:cs typeface="Times New Roman"/>
              </a:rPr>
              <a:t> </a:t>
            </a:r>
            <a:r>
              <a:rPr dirty="0" baseline="-34534" sz="2775" spc="-7">
                <a:latin typeface="Symbol"/>
                <a:cs typeface="Symbol"/>
              </a:rPr>
              <a:t></a:t>
            </a:r>
            <a:r>
              <a:rPr dirty="0" baseline="-34534" sz="2775" spc="-7">
                <a:latin typeface="Times New Roman"/>
                <a:cs typeface="Times New Roman"/>
              </a:rPr>
              <a:t> </a:t>
            </a:r>
            <a:r>
              <a:rPr dirty="0" baseline="-34534" sz="2775" spc="-7" i="1">
                <a:latin typeface="Times New Roman"/>
                <a:cs typeface="Times New Roman"/>
              </a:rPr>
              <a:t>v </a:t>
            </a:r>
            <a:r>
              <a:rPr dirty="0" baseline="-34534" sz="2775" spc="-7">
                <a:latin typeface="Symbol"/>
                <a:cs typeface="Symbol"/>
              </a:rPr>
              <a:t></a:t>
            </a:r>
            <a:r>
              <a:rPr dirty="0" baseline="-34534" sz="2775" spc="-7">
                <a:latin typeface="Times New Roman"/>
                <a:cs typeface="Times New Roman"/>
              </a:rPr>
              <a:t> </a:t>
            </a:r>
            <a:r>
              <a:rPr dirty="0" u="sng" sz="1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5</a:t>
            </a:r>
            <a:r>
              <a:rPr dirty="0" u="sng" sz="18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Bel </a:t>
            </a:r>
            <a:r>
              <a:rPr dirty="0" sz="1850" i="1">
                <a:latin typeface="Times New Roman"/>
                <a:cs typeface="Times New Roman"/>
              </a:rPr>
              <a:t> </a:t>
            </a:r>
            <a:r>
              <a:rPr dirty="0" sz="1850" spc="10">
                <a:latin typeface="Times New Roman"/>
                <a:cs typeface="Times New Roman"/>
              </a:rPr>
              <a:t>2</a:t>
            </a:r>
            <a:r>
              <a:rPr dirty="0" sz="1850" spc="10" i="1">
                <a:latin typeface="Times New Roman"/>
                <a:cs typeface="Times New Roman"/>
              </a:rPr>
              <a:t>m	</a:t>
            </a:r>
            <a:r>
              <a:rPr dirty="0" sz="1850" spc="10">
                <a:latin typeface="Times New Roman"/>
                <a:cs typeface="Times New Roman"/>
              </a:rPr>
              <a:t>2</a:t>
            </a:r>
            <a:r>
              <a:rPr dirty="0" sz="1850" spc="10" i="1">
                <a:latin typeface="Times New Roman"/>
                <a:cs typeface="Times New Roman"/>
              </a:rPr>
              <a:t>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87495" y="3356838"/>
            <a:ext cx="2615565" cy="23101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087755">
              <a:lnSpc>
                <a:spcPts val="1830"/>
              </a:lnSpc>
              <a:spcBef>
                <a:spcPts val="90"/>
              </a:spcBef>
            </a:pPr>
            <a:r>
              <a:rPr dirty="0" sz="1850" spc="-15" i="1">
                <a:latin typeface="Times New Roman"/>
                <a:cs typeface="Times New Roman"/>
              </a:rPr>
              <a:t>evB 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-50">
                <a:latin typeface="Times New Roman"/>
                <a:cs typeface="Times New Roman"/>
              </a:rPr>
              <a:t> </a:t>
            </a:r>
            <a:r>
              <a:rPr dirty="0" sz="1850" spc="-5" i="1">
                <a:latin typeface="Times New Roman"/>
                <a:cs typeface="Times New Roman"/>
              </a:rPr>
              <a:t>m</a:t>
            </a:r>
            <a:endParaRPr sz="1850">
              <a:latin typeface="Times New Roman"/>
              <a:cs typeface="Times New Roman"/>
            </a:endParaRPr>
          </a:p>
          <a:p>
            <a:pPr marL="2301875">
              <a:lnSpc>
                <a:spcPts val="1830"/>
              </a:lnSpc>
            </a:pPr>
            <a:r>
              <a:rPr dirty="0" sz="1850" spc="-5" i="1">
                <a:latin typeface="Times New Roman"/>
                <a:cs typeface="Times New Roman"/>
              </a:rPr>
              <a:t>r</a:t>
            </a:r>
            <a:r>
              <a:rPr dirty="0" sz="1850" spc="-165" i="1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Times New Roman"/>
                <a:cs typeface="Times New Roman"/>
              </a:rPr>
              <a:t>'</a:t>
            </a:r>
            <a:endParaRPr sz="1850">
              <a:latin typeface="Times New Roman"/>
              <a:cs typeface="Times New Roman"/>
            </a:endParaRPr>
          </a:p>
          <a:p>
            <a:pPr marL="12700" marR="53975" indent="1214755">
              <a:lnSpc>
                <a:spcPct val="190800"/>
              </a:lnSpc>
              <a:spcBef>
                <a:spcPts val="819"/>
              </a:spcBef>
            </a:pPr>
            <a:r>
              <a:rPr dirty="0" sz="2000" i="1">
                <a:latin typeface="华文楷体"/>
                <a:cs typeface="华文楷体"/>
              </a:rPr>
              <a:t>速度范围</a:t>
            </a:r>
            <a:r>
              <a:rPr dirty="0" sz="2000" spc="5" i="1">
                <a:latin typeface="华文楷体"/>
                <a:cs typeface="华文楷体"/>
              </a:rPr>
              <a:t>为 </a:t>
            </a:r>
            <a:r>
              <a:rPr dirty="0" sz="2000" i="1">
                <a:latin typeface="华文楷体"/>
                <a:cs typeface="华文楷体"/>
              </a:rPr>
              <a:t>电子从</a:t>
            </a:r>
            <a:r>
              <a:rPr dirty="0" sz="2000" spc="-5" i="1">
                <a:latin typeface="Times New Roman"/>
                <a:cs typeface="Times New Roman"/>
              </a:rPr>
              <a:t>a</a:t>
            </a:r>
            <a:r>
              <a:rPr dirty="0" sz="2000" i="1">
                <a:latin typeface="华文楷体"/>
                <a:cs typeface="华文楷体"/>
              </a:rPr>
              <a:t>运动到</a:t>
            </a:r>
            <a:r>
              <a:rPr dirty="0" sz="2000" spc="-5" i="1">
                <a:latin typeface="Times New Roman"/>
                <a:cs typeface="Times New Roman"/>
              </a:rPr>
              <a:t>d</a:t>
            </a:r>
            <a:r>
              <a:rPr dirty="0" sz="2000" i="1">
                <a:latin typeface="华文楷体"/>
                <a:cs typeface="华文楷体"/>
              </a:rPr>
              <a:t>的时</a:t>
            </a:r>
            <a:r>
              <a:rPr dirty="0" sz="2000" spc="5" i="1">
                <a:latin typeface="华文楷体"/>
                <a:cs typeface="华文楷体"/>
              </a:rPr>
              <a:t>间</a:t>
            </a:r>
            <a:endParaRPr sz="2000">
              <a:latin typeface="华文楷体"/>
              <a:cs typeface="华文楷体"/>
            </a:endParaRPr>
          </a:p>
          <a:p>
            <a:pPr algn="ctr" marL="1064895">
              <a:lnSpc>
                <a:spcPct val="100000"/>
              </a:lnSpc>
              <a:spcBef>
                <a:spcPts val="1955"/>
              </a:spcBef>
            </a:pPr>
            <a:r>
              <a:rPr dirty="0" sz="2000" i="1">
                <a:latin typeface="华文楷体"/>
                <a:cs typeface="华文楷体"/>
              </a:rPr>
              <a:t>运动时间范</a:t>
            </a:r>
            <a:r>
              <a:rPr dirty="0" sz="2000" spc="5" i="1">
                <a:latin typeface="华文楷体"/>
                <a:cs typeface="华文楷体"/>
              </a:rPr>
              <a:t>围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764769" y="5568365"/>
            <a:ext cx="278765" cy="0"/>
          </a:xfrm>
          <a:custGeom>
            <a:avLst/>
            <a:gdLst/>
            <a:ahLst/>
            <a:cxnLst/>
            <a:rect l="l" t="t" r="r" b="b"/>
            <a:pathLst>
              <a:path w="278765" h="0">
                <a:moveTo>
                  <a:pt x="0" y="0"/>
                </a:moveTo>
                <a:lnTo>
                  <a:pt x="278612" y="0"/>
                </a:lnTo>
              </a:path>
            </a:pathLst>
          </a:custGeom>
          <a:ln w="115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692263" y="5568365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 h="0">
                <a:moveTo>
                  <a:pt x="0" y="0"/>
                </a:moveTo>
                <a:lnTo>
                  <a:pt x="139306" y="0"/>
                </a:lnTo>
              </a:path>
            </a:pathLst>
          </a:custGeom>
          <a:ln w="115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381479" y="5568365"/>
            <a:ext cx="340995" cy="0"/>
          </a:xfrm>
          <a:custGeom>
            <a:avLst/>
            <a:gdLst/>
            <a:ahLst/>
            <a:cxnLst/>
            <a:rect l="l" t="t" r="r" b="b"/>
            <a:pathLst>
              <a:path w="340995" h="0">
                <a:moveTo>
                  <a:pt x="0" y="0"/>
                </a:moveTo>
                <a:lnTo>
                  <a:pt x="340931" y="0"/>
                </a:lnTo>
              </a:path>
            </a:pathLst>
          </a:custGeom>
          <a:ln w="115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774065" y="5368099"/>
            <a:ext cx="1946910" cy="502284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 marR="5080" indent="34290">
              <a:lnSpc>
                <a:spcPct val="64300"/>
              </a:lnSpc>
              <a:spcBef>
                <a:spcPts val="925"/>
              </a:spcBef>
              <a:tabLst>
                <a:tab pos="932180" algn="l"/>
                <a:tab pos="1656714" algn="l"/>
              </a:tabLst>
            </a:pPr>
            <a:r>
              <a:rPr dirty="0" baseline="34534" sz="2775" spc="-7" i="1">
                <a:latin typeface="Times New Roman"/>
                <a:cs typeface="Times New Roman"/>
              </a:rPr>
              <a:t>m </a:t>
            </a:r>
            <a:r>
              <a:rPr dirty="0" sz="1850" spc="-15">
                <a:latin typeface="Times New Roman"/>
                <a:cs typeface="Times New Roman"/>
              </a:rPr>
              <a:t>arctan </a:t>
            </a:r>
            <a:r>
              <a:rPr dirty="0" baseline="34534" sz="2775" spc="-7">
                <a:latin typeface="Times New Roman"/>
                <a:cs typeface="Times New Roman"/>
              </a:rPr>
              <a:t>4 </a:t>
            </a:r>
            <a:r>
              <a:rPr dirty="0" sz="1850" spc="-5">
                <a:latin typeface="Symbol"/>
                <a:cs typeface="Symbol"/>
              </a:rPr>
              <a:t></a:t>
            </a:r>
            <a:r>
              <a:rPr dirty="0" sz="1850" spc="-5">
                <a:latin typeface="Times New Roman"/>
                <a:cs typeface="Times New Roman"/>
              </a:rPr>
              <a:t> </a:t>
            </a:r>
            <a:r>
              <a:rPr dirty="0" sz="1850" spc="-5" i="1">
                <a:latin typeface="Times New Roman"/>
                <a:cs typeface="Times New Roman"/>
              </a:rPr>
              <a:t>t </a:t>
            </a:r>
            <a:r>
              <a:rPr dirty="0" sz="1850" spc="-5">
                <a:latin typeface="Symbol"/>
                <a:cs typeface="Symbol"/>
              </a:rPr>
              <a:t></a:t>
            </a:r>
            <a:r>
              <a:rPr dirty="0" sz="1850" spc="-5">
                <a:latin typeface="Times New Roman"/>
                <a:cs typeface="Times New Roman"/>
              </a:rPr>
              <a:t> </a:t>
            </a:r>
            <a:r>
              <a:rPr dirty="0" baseline="32763" sz="2925" spc="-345" i="1">
                <a:latin typeface="Symbol"/>
                <a:cs typeface="Symbol"/>
              </a:rPr>
              <a:t></a:t>
            </a:r>
            <a:r>
              <a:rPr dirty="0" baseline="34534" sz="2775" spc="-345" i="1">
                <a:latin typeface="Times New Roman"/>
                <a:cs typeface="Times New Roman"/>
              </a:rPr>
              <a:t>m  </a:t>
            </a:r>
            <a:r>
              <a:rPr dirty="0" sz="1850" spc="-10" i="1">
                <a:latin typeface="Times New Roman"/>
                <a:cs typeface="Times New Roman"/>
              </a:rPr>
              <a:t>Be	</a:t>
            </a:r>
            <a:r>
              <a:rPr dirty="0" sz="1850" spc="-5">
                <a:latin typeface="Times New Roman"/>
                <a:cs typeface="Times New Roman"/>
              </a:rPr>
              <a:t>3	</a:t>
            </a:r>
            <a:r>
              <a:rPr dirty="0" sz="1850" spc="-10" i="1">
                <a:latin typeface="Times New Roman"/>
                <a:cs typeface="Times New Roman"/>
              </a:rPr>
              <a:t>Be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148839" y="2107692"/>
            <a:ext cx="2625852" cy="1502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398915" y="2349423"/>
            <a:ext cx="2251710" cy="1186180"/>
          </a:xfrm>
          <a:custGeom>
            <a:avLst/>
            <a:gdLst/>
            <a:ahLst/>
            <a:cxnLst/>
            <a:rect l="l" t="t" r="r" b="b"/>
            <a:pathLst>
              <a:path w="2251710" h="1186179">
                <a:moveTo>
                  <a:pt x="1823923" y="692149"/>
                </a:moveTo>
                <a:lnTo>
                  <a:pt x="1794878" y="666749"/>
                </a:lnTo>
                <a:lnTo>
                  <a:pt x="1765388" y="642619"/>
                </a:lnTo>
                <a:lnTo>
                  <a:pt x="1735302" y="619759"/>
                </a:lnTo>
                <a:lnTo>
                  <a:pt x="1704644" y="595629"/>
                </a:lnTo>
                <a:lnTo>
                  <a:pt x="1673428" y="572769"/>
                </a:lnTo>
                <a:lnTo>
                  <a:pt x="1641652" y="549909"/>
                </a:lnTo>
                <a:lnTo>
                  <a:pt x="1641779" y="549909"/>
                </a:lnTo>
                <a:lnTo>
                  <a:pt x="1609318" y="528319"/>
                </a:lnTo>
                <a:lnTo>
                  <a:pt x="1609445" y="528319"/>
                </a:lnTo>
                <a:lnTo>
                  <a:pt x="1576438" y="506729"/>
                </a:lnTo>
                <a:lnTo>
                  <a:pt x="1543024" y="485139"/>
                </a:lnTo>
                <a:lnTo>
                  <a:pt x="1509090" y="463549"/>
                </a:lnTo>
                <a:lnTo>
                  <a:pt x="1474622" y="443229"/>
                </a:lnTo>
                <a:lnTo>
                  <a:pt x="1439646" y="422909"/>
                </a:lnTo>
                <a:lnTo>
                  <a:pt x="1404162" y="402589"/>
                </a:lnTo>
                <a:lnTo>
                  <a:pt x="1368183" y="383539"/>
                </a:lnTo>
                <a:lnTo>
                  <a:pt x="1331709" y="364489"/>
                </a:lnTo>
                <a:lnTo>
                  <a:pt x="1294765" y="346709"/>
                </a:lnTo>
                <a:lnTo>
                  <a:pt x="1257338" y="327659"/>
                </a:lnTo>
                <a:lnTo>
                  <a:pt x="1219441" y="309879"/>
                </a:lnTo>
                <a:lnTo>
                  <a:pt x="1181087" y="293369"/>
                </a:lnTo>
                <a:lnTo>
                  <a:pt x="1142288" y="276859"/>
                </a:lnTo>
                <a:lnTo>
                  <a:pt x="1103033" y="260349"/>
                </a:lnTo>
                <a:lnTo>
                  <a:pt x="1063345" y="243839"/>
                </a:lnTo>
                <a:lnTo>
                  <a:pt x="1023226" y="228599"/>
                </a:lnTo>
                <a:lnTo>
                  <a:pt x="1023353" y="228599"/>
                </a:lnTo>
                <a:lnTo>
                  <a:pt x="982700" y="214629"/>
                </a:lnTo>
                <a:lnTo>
                  <a:pt x="941743" y="199389"/>
                </a:lnTo>
                <a:lnTo>
                  <a:pt x="900391" y="185419"/>
                </a:lnTo>
                <a:lnTo>
                  <a:pt x="858634" y="172719"/>
                </a:lnTo>
                <a:lnTo>
                  <a:pt x="816495" y="160019"/>
                </a:lnTo>
                <a:lnTo>
                  <a:pt x="795312" y="153669"/>
                </a:lnTo>
                <a:lnTo>
                  <a:pt x="774001" y="147319"/>
                </a:lnTo>
                <a:lnTo>
                  <a:pt x="752602" y="140969"/>
                </a:lnTo>
                <a:lnTo>
                  <a:pt x="731100" y="134619"/>
                </a:lnTo>
                <a:lnTo>
                  <a:pt x="709510" y="129539"/>
                </a:lnTo>
                <a:lnTo>
                  <a:pt x="687832" y="123189"/>
                </a:lnTo>
                <a:lnTo>
                  <a:pt x="666064" y="118109"/>
                </a:lnTo>
                <a:lnTo>
                  <a:pt x="644207" y="113029"/>
                </a:lnTo>
                <a:lnTo>
                  <a:pt x="622261" y="107949"/>
                </a:lnTo>
                <a:lnTo>
                  <a:pt x="600227" y="102869"/>
                </a:lnTo>
                <a:lnTo>
                  <a:pt x="578104" y="97789"/>
                </a:lnTo>
                <a:lnTo>
                  <a:pt x="555904" y="92709"/>
                </a:lnTo>
                <a:lnTo>
                  <a:pt x="533615" y="87629"/>
                </a:lnTo>
                <a:lnTo>
                  <a:pt x="511251" y="83819"/>
                </a:lnTo>
                <a:lnTo>
                  <a:pt x="488797" y="78739"/>
                </a:lnTo>
                <a:lnTo>
                  <a:pt x="466255" y="74929"/>
                </a:lnTo>
                <a:lnTo>
                  <a:pt x="443636" y="71119"/>
                </a:lnTo>
                <a:lnTo>
                  <a:pt x="420954" y="66039"/>
                </a:lnTo>
                <a:lnTo>
                  <a:pt x="398170" y="62229"/>
                </a:lnTo>
                <a:lnTo>
                  <a:pt x="375323" y="58419"/>
                </a:lnTo>
                <a:lnTo>
                  <a:pt x="352399" y="55879"/>
                </a:lnTo>
                <a:lnTo>
                  <a:pt x="329399" y="52069"/>
                </a:lnTo>
                <a:lnTo>
                  <a:pt x="306324" y="48259"/>
                </a:lnTo>
                <a:lnTo>
                  <a:pt x="283171" y="45719"/>
                </a:lnTo>
                <a:lnTo>
                  <a:pt x="259956" y="41909"/>
                </a:lnTo>
                <a:lnTo>
                  <a:pt x="236651" y="39369"/>
                </a:lnTo>
                <a:lnTo>
                  <a:pt x="213296" y="36829"/>
                </a:lnTo>
                <a:lnTo>
                  <a:pt x="189865" y="34289"/>
                </a:lnTo>
                <a:lnTo>
                  <a:pt x="166357" y="31749"/>
                </a:lnTo>
                <a:lnTo>
                  <a:pt x="142786" y="29209"/>
                </a:lnTo>
                <a:lnTo>
                  <a:pt x="119151" y="26669"/>
                </a:lnTo>
                <a:lnTo>
                  <a:pt x="95440" y="25399"/>
                </a:lnTo>
                <a:lnTo>
                  <a:pt x="71678" y="22859"/>
                </a:lnTo>
                <a:lnTo>
                  <a:pt x="47853" y="21589"/>
                </a:lnTo>
                <a:lnTo>
                  <a:pt x="23952" y="20319"/>
                </a:lnTo>
                <a:lnTo>
                  <a:pt x="0" y="17779"/>
                </a:lnTo>
                <a:lnTo>
                  <a:pt x="1130" y="0"/>
                </a:lnTo>
                <a:lnTo>
                  <a:pt x="73152" y="3809"/>
                </a:lnTo>
                <a:lnTo>
                  <a:pt x="97040" y="6349"/>
                </a:lnTo>
                <a:lnTo>
                  <a:pt x="120865" y="7619"/>
                </a:lnTo>
                <a:lnTo>
                  <a:pt x="262394" y="22859"/>
                </a:lnTo>
                <a:lnTo>
                  <a:pt x="285737" y="26669"/>
                </a:lnTo>
                <a:lnTo>
                  <a:pt x="309016" y="29209"/>
                </a:lnTo>
                <a:lnTo>
                  <a:pt x="469798" y="55879"/>
                </a:lnTo>
                <a:lnTo>
                  <a:pt x="492455" y="60959"/>
                </a:lnTo>
                <a:lnTo>
                  <a:pt x="515023" y="64769"/>
                </a:lnTo>
                <a:lnTo>
                  <a:pt x="537514" y="69849"/>
                </a:lnTo>
                <a:lnTo>
                  <a:pt x="559930" y="73659"/>
                </a:lnTo>
                <a:lnTo>
                  <a:pt x="648716" y="93979"/>
                </a:lnTo>
                <a:lnTo>
                  <a:pt x="670699" y="100329"/>
                </a:lnTo>
                <a:lnTo>
                  <a:pt x="714387" y="110489"/>
                </a:lnTo>
                <a:lnTo>
                  <a:pt x="757720" y="123189"/>
                </a:lnTo>
                <a:lnTo>
                  <a:pt x="864400" y="153669"/>
                </a:lnTo>
                <a:lnTo>
                  <a:pt x="989203" y="195579"/>
                </a:lnTo>
                <a:lnTo>
                  <a:pt x="1070343" y="226059"/>
                </a:lnTo>
                <a:lnTo>
                  <a:pt x="1188821" y="275589"/>
                </a:lnTo>
                <a:lnTo>
                  <a:pt x="1303235" y="328929"/>
                </a:lnTo>
                <a:lnTo>
                  <a:pt x="1377162" y="367029"/>
                </a:lnTo>
                <a:lnTo>
                  <a:pt x="1413395" y="386079"/>
                </a:lnTo>
                <a:lnTo>
                  <a:pt x="1484350" y="426719"/>
                </a:lnTo>
                <a:lnTo>
                  <a:pt x="1519059" y="447039"/>
                </a:lnTo>
                <a:lnTo>
                  <a:pt x="1586915" y="490219"/>
                </a:lnTo>
                <a:lnTo>
                  <a:pt x="1620050" y="511809"/>
                </a:lnTo>
                <a:lnTo>
                  <a:pt x="1652625" y="534669"/>
                </a:lnTo>
                <a:lnTo>
                  <a:pt x="1684667" y="557529"/>
                </a:lnTo>
                <a:lnTo>
                  <a:pt x="1716138" y="580389"/>
                </a:lnTo>
                <a:lnTo>
                  <a:pt x="1747037" y="604519"/>
                </a:lnTo>
                <a:lnTo>
                  <a:pt x="1777377" y="628649"/>
                </a:lnTo>
                <a:lnTo>
                  <a:pt x="1807121" y="652779"/>
                </a:lnTo>
                <a:lnTo>
                  <a:pt x="1851989" y="690879"/>
                </a:lnTo>
                <a:lnTo>
                  <a:pt x="1823796" y="690879"/>
                </a:lnTo>
                <a:lnTo>
                  <a:pt x="1823923" y="692149"/>
                </a:lnTo>
                <a:close/>
              </a:path>
              <a:path w="2251710" h="1186179">
                <a:moveTo>
                  <a:pt x="2067636" y="941069"/>
                </a:moveTo>
                <a:lnTo>
                  <a:pt x="2056193" y="927100"/>
                </a:lnTo>
                <a:lnTo>
                  <a:pt x="2044649" y="913129"/>
                </a:lnTo>
                <a:lnTo>
                  <a:pt x="2032939" y="899159"/>
                </a:lnTo>
                <a:lnTo>
                  <a:pt x="2021065" y="885189"/>
                </a:lnTo>
                <a:lnTo>
                  <a:pt x="2009025" y="872489"/>
                </a:lnTo>
                <a:lnTo>
                  <a:pt x="1996820" y="858519"/>
                </a:lnTo>
                <a:lnTo>
                  <a:pt x="1984463" y="845819"/>
                </a:lnTo>
                <a:lnTo>
                  <a:pt x="1971929" y="831849"/>
                </a:lnTo>
                <a:lnTo>
                  <a:pt x="1959254" y="819149"/>
                </a:lnTo>
                <a:lnTo>
                  <a:pt x="1946402" y="805179"/>
                </a:lnTo>
                <a:lnTo>
                  <a:pt x="1933409" y="792479"/>
                </a:lnTo>
                <a:lnTo>
                  <a:pt x="1920252" y="779779"/>
                </a:lnTo>
                <a:lnTo>
                  <a:pt x="1906930" y="767079"/>
                </a:lnTo>
                <a:lnTo>
                  <a:pt x="1879803" y="741679"/>
                </a:lnTo>
                <a:lnTo>
                  <a:pt x="1852104" y="716279"/>
                </a:lnTo>
                <a:lnTo>
                  <a:pt x="1823796" y="690879"/>
                </a:lnTo>
                <a:lnTo>
                  <a:pt x="1851989" y="690879"/>
                </a:lnTo>
                <a:lnTo>
                  <a:pt x="1892795" y="727709"/>
                </a:lnTo>
                <a:lnTo>
                  <a:pt x="1933575" y="765809"/>
                </a:lnTo>
                <a:lnTo>
                  <a:pt x="1946859" y="779779"/>
                </a:lnTo>
                <a:lnTo>
                  <a:pt x="1959991" y="792479"/>
                </a:lnTo>
                <a:lnTo>
                  <a:pt x="1972957" y="805179"/>
                </a:lnTo>
                <a:lnTo>
                  <a:pt x="1985759" y="819149"/>
                </a:lnTo>
                <a:lnTo>
                  <a:pt x="1998408" y="831849"/>
                </a:lnTo>
                <a:lnTo>
                  <a:pt x="2010892" y="845819"/>
                </a:lnTo>
                <a:lnTo>
                  <a:pt x="2023211" y="859789"/>
                </a:lnTo>
                <a:lnTo>
                  <a:pt x="2035378" y="872489"/>
                </a:lnTo>
                <a:lnTo>
                  <a:pt x="2070874" y="914400"/>
                </a:lnTo>
                <a:lnTo>
                  <a:pt x="2091636" y="939800"/>
                </a:lnTo>
                <a:lnTo>
                  <a:pt x="2067572" y="939800"/>
                </a:lnTo>
                <a:lnTo>
                  <a:pt x="2067636" y="941069"/>
                </a:lnTo>
                <a:close/>
              </a:path>
              <a:path w="2251710" h="1186179">
                <a:moveTo>
                  <a:pt x="2100770" y="982979"/>
                </a:moveTo>
                <a:lnTo>
                  <a:pt x="2089835" y="967739"/>
                </a:lnTo>
                <a:lnTo>
                  <a:pt x="2078786" y="953769"/>
                </a:lnTo>
                <a:lnTo>
                  <a:pt x="2067572" y="939800"/>
                </a:lnTo>
                <a:lnTo>
                  <a:pt x="2091636" y="939800"/>
                </a:lnTo>
                <a:lnTo>
                  <a:pt x="2093696" y="942339"/>
                </a:lnTo>
                <a:lnTo>
                  <a:pt x="2104859" y="956309"/>
                </a:lnTo>
                <a:lnTo>
                  <a:pt x="2115858" y="970279"/>
                </a:lnTo>
                <a:lnTo>
                  <a:pt x="2123973" y="981709"/>
                </a:lnTo>
                <a:lnTo>
                  <a:pt x="2100707" y="981709"/>
                </a:lnTo>
                <a:lnTo>
                  <a:pt x="2100770" y="982979"/>
                </a:lnTo>
                <a:close/>
              </a:path>
              <a:path w="2251710" h="1186179">
                <a:moveTo>
                  <a:pt x="2190864" y="1112519"/>
                </a:moveTo>
                <a:lnTo>
                  <a:pt x="2181491" y="1097279"/>
                </a:lnTo>
                <a:lnTo>
                  <a:pt x="2172004" y="1082039"/>
                </a:lnTo>
                <a:lnTo>
                  <a:pt x="2162352" y="1068069"/>
                </a:lnTo>
                <a:lnTo>
                  <a:pt x="2152510" y="1054100"/>
                </a:lnTo>
                <a:lnTo>
                  <a:pt x="2142490" y="1038859"/>
                </a:lnTo>
                <a:lnTo>
                  <a:pt x="2132304" y="1024889"/>
                </a:lnTo>
                <a:lnTo>
                  <a:pt x="2121941" y="1010919"/>
                </a:lnTo>
                <a:lnTo>
                  <a:pt x="2111413" y="996950"/>
                </a:lnTo>
                <a:lnTo>
                  <a:pt x="2100707" y="981709"/>
                </a:lnTo>
                <a:lnTo>
                  <a:pt x="2123973" y="981709"/>
                </a:lnTo>
                <a:lnTo>
                  <a:pt x="2126678" y="985519"/>
                </a:lnTo>
                <a:lnTo>
                  <a:pt x="2137321" y="999489"/>
                </a:lnTo>
                <a:lnTo>
                  <a:pt x="2147798" y="1013459"/>
                </a:lnTo>
                <a:lnTo>
                  <a:pt x="2158098" y="1028700"/>
                </a:lnTo>
                <a:lnTo>
                  <a:pt x="2168232" y="1042669"/>
                </a:lnTo>
                <a:lnTo>
                  <a:pt x="2178177" y="1057909"/>
                </a:lnTo>
                <a:lnTo>
                  <a:pt x="2187956" y="1071879"/>
                </a:lnTo>
                <a:lnTo>
                  <a:pt x="2197557" y="1087119"/>
                </a:lnTo>
                <a:lnTo>
                  <a:pt x="2206967" y="1102359"/>
                </a:lnTo>
                <a:lnTo>
                  <a:pt x="2212851" y="1111250"/>
                </a:lnTo>
                <a:lnTo>
                  <a:pt x="2190800" y="1111250"/>
                </a:lnTo>
                <a:lnTo>
                  <a:pt x="2190864" y="1112519"/>
                </a:lnTo>
                <a:close/>
              </a:path>
              <a:path w="2251710" h="1186179">
                <a:moveTo>
                  <a:pt x="2234704" y="1186179"/>
                </a:moveTo>
                <a:lnTo>
                  <a:pt x="2226246" y="1170939"/>
                </a:lnTo>
                <a:lnTo>
                  <a:pt x="2217661" y="1155700"/>
                </a:lnTo>
                <a:lnTo>
                  <a:pt x="2208885" y="1141729"/>
                </a:lnTo>
                <a:lnTo>
                  <a:pt x="2199932" y="1126489"/>
                </a:lnTo>
                <a:lnTo>
                  <a:pt x="2190800" y="1111250"/>
                </a:lnTo>
                <a:lnTo>
                  <a:pt x="2212851" y="1111250"/>
                </a:lnTo>
                <a:lnTo>
                  <a:pt x="2216213" y="1116329"/>
                </a:lnTo>
                <a:lnTo>
                  <a:pt x="2225268" y="1131569"/>
                </a:lnTo>
                <a:lnTo>
                  <a:pt x="2234145" y="1146809"/>
                </a:lnTo>
                <a:lnTo>
                  <a:pt x="2242832" y="1162050"/>
                </a:lnTo>
                <a:lnTo>
                  <a:pt x="2251316" y="1177289"/>
                </a:lnTo>
                <a:lnTo>
                  <a:pt x="2234704" y="11861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408301" y="2347480"/>
            <a:ext cx="2590800" cy="1055370"/>
          </a:xfrm>
          <a:custGeom>
            <a:avLst/>
            <a:gdLst/>
            <a:ahLst/>
            <a:cxnLst/>
            <a:rect l="l" t="t" r="r" b="b"/>
            <a:pathLst>
              <a:path w="2590800" h="1055370">
                <a:moveTo>
                  <a:pt x="159943" y="27812"/>
                </a:moveTo>
                <a:lnTo>
                  <a:pt x="133413" y="26009"/>
                </a:lnTo>
                <a:lnTo>
                  <a:pt x="106870" y="24345"/>
                </a:lnTo>
                <a:lnTo>
                  <a:pt x="80251" y="22821"/>
                </a:lnTo>
                <a:lnTo>
                  <a:pt x="53568" y="21424"/>
                </a:lnTo>
                <a:lnTo>
                  <a:pt x="26809" y="20154"/>
                </a:lnTo>
                <a:lnTo>
                  <a:pt x="0" y="19024"/>
                </a:lnTo>
                <a:lnTo>
                  <a:pt x="800" y="0"/>
                </a:lnTo>
                <a:lnTo>
                  <a:pt x="81318" y="3797"/>
                </a:lnTo>
                <a:lnTo>
                  <a:pt x="161251" y="8801"/>
                </a:lnTo>
                <a:lnTo>
                  <a:pt x="240576" y="14985"/>
                </a:lnTo>
                <a:lnTo>
                  <a:pt x="319252" y="22339"/>
                </a:lnTo>
                <a:lnTo>
                  <a:pt x="370506" y="27800"/>
                </a:lnTo>
                <a:lnTo>
                  <a:pt x="159893" y="27800"/>
                </a:lnTo>
                <a:close/>
              </a:path>
              <a:path w="2590800" h="1055370">
                <a:moveTo>
                  <a:pt x="646179" y="66420"/>
                </a:moveTo>
                <a:lnTo>
                  <a:pt x="522919" y="66408"/>
                </a:lnTo>
                <a:lnTo>
                  <a:pt x="471982" y="59372"/>
                </a:lnTo>
                <a:lnTo>
                  <a:pt x="446417" y="56057"/>
                </a:lnTo>
                <a:lnTo>
                  <a:pt x="420750" y="52844"/>
                </a:lnTo>
                <a:lnTo>
                  <a:pt x="395008" y="49771"/>
                </a:lnTo>
                <a:lnTo>
                  <a:pt x="369176" y="46824"/>
                </a:lnTo>
                <a:lnTo>
                  <a:pt x="343281" y="43992"/>
                </a:lnTo>
                <a:lnTo>
                  <a:pt x="317309" y="41300"/>
                </a:lnTo>
                <a:lnTo>
                  <a:pt x="291249" y="38722"/>
                </a:lnTo>
                <a:lnTo>
                  <a:pt x="265125" y="36283"/>
                </a:lnTo>
                <a:lnTo>
                  <a:pt x="238925" y="33972"/>
                </a:lnTo>
                <a:lnTo>
                  <a:pt x="212648" y="31788"/>
                </a:lnTo>
                <a:lnTo>
                  <a:pt x="186309" y="29730"/>
                </a:lnTo>
                <a:lnTo>
                  <a:pt x="159893" y="27800"/>
                </a:lnTo>
                <a:lnTo>
                  <a:pt x="370623" y="27812"/>
                </a:lnTo>
                <a:lnTo>
                  <a:pt x="448856" y="37160"/>
                </a:lnTo>
                <a:lnTo>
                  <a:pt x="525665" y="47548"/>
                </a:lnTo>
                <a:lnTo>
                  <a:pt x="576453" y="55105"/>
                </a:lnTo>
                <a:lnTo>
                  <a:pt x="626910" y="63144"/>
                </a:lnTo>
                <a:lnTo>
                  <a:pt x="646179" y="66420"/>
                </a:lnTo>
                <a:close/>
              </a:path>
              <a:path w="2590800" h="1055370">
                <a:moveTo>
                  <a:pt x="689586" y="73939"/>
                </a:moveTo>
                <a:lnTo>
                  <a:pt x="573522" y="73926"/>
                </a:lnTo>
                <a:lnTo>
                  <a:pt x="522909" y="66408"/>
                </a:lnTo>
                <a:lnTo>
                  <a:pt x="646179" y="66420"/>
                </a:lnTo>
                <a:lnTo>
                  <a:pt x="677024" y="71666"/>
                </a:lnTo>
                <a:lnTo>
                  <a:pt x="689586" y="73939"/>
                </a:lnTo>
                <a:close/>
              </a:path>
              <a:path w="2590800" h="1055370">
                <a:moveTo>
                  <a:pt x="733403" y="81940"/>
                </a:moveTo>
                <a:lnTo>
                  <a:pt x="623794" y="81927"/>
                </a:lnTo>
                <a:lnTo>
                  <a:pt x="573506" y="73926"/>
                </a:lnTo>
                <a:lnTo>
                  <a:pt x="689586" y="73939"/>
                </a:lnTo>
                <a:lnTo>
                  <a:pt x="726782" y="80670"/>
                </a:lnTo>
                <a:lnTo>
                  <a:pt x="733403" y="81940"/>
                </a:lnTo>
                <a:close/>
              </a:path>
              <a:path w="2590800" h="1055370">
                <a:moveTo>
                  <a:pt x="777611" y="90436"/>
                </a:moveTo>
                <a:lnTo>
                  <a:pt x="673711" y="90424"/>
                </a:lnTo>
                <a:lnTo>
                  <a:pt x="623773" y="81927"/>
                </a:lnTo>
                <a:lnTo>
                  <a:pt x="733403" y="81940"/>
                </a:lnTo>
                <a:lnTo>
                  <a:pt x="776173" y="90144"/>
                </a:lnTo>
                <a:lnTo>
                  <a:pt x="777611" y="90436"/>
                </a:lnTo>
                <a:close/>
              </a:path>
              <a:path w="2590800" h="1055370">
                <a:moveTo>
                  <a:pt x="821756" y="99402"/>
                </a:moveTo>
                <a:lnTo>
                  <a:pt x="723270" y="99390"/>
                </a:lnTo>
                <a:lnTo>
                  <a:pt x="673684" y="90424"/>
                </a:lnTo>
                <a:lnTo>
                  <a:pt x="777611" y="90436"/>
                </a:lnTo>
                <a:lnTo>
                  <a:pt x="821756" y="99402"/>
                </a:lnTo>
                <a:close/>
              </a:path>
              <a:path w="2590800" h="1055370">
                <a:moveTo>
                  <a:pt x="1087415" y="163004"/>
                </a:moveTo>
                <a:lnTo>
                  <a:pt x="1012786" y="163004"/>
                </a:lnTo>
                <a:lnTo>
                  <a:pt x="965428" y="151231"/>
                </a:lnTo>
                <a:lnTo>
                  <a:pt x="917765" y="139941"/>
                </a:lnTo>
                <a:lnTo>
                  <a:pt x="869708" y="129108"/>
                </a:lnTo>
                <a:lnTo>
                  <a:pt x="821258" y="118732"/>
                </a:lnTo>
                <a:lnTo>
                  <a:pt x="772439" y="108826"/>
                </a:lnTo>
                <a:lnTo>
                  <a:pt x="723239" y="99390"/>
                </a:lnTo>
                <a:lnTo>
                  <a:pt x="821756" y="99402"/>
                </a:lnTo>
                <a:lnTo>
                  <a:pt x="825195" y="100101"/>
                </a:lnTo>
                <a:lnTo>
                  <a:pt x="873848" y="110515"/>
                </a:lnTo>
                <a:lnTo>
                  <a:pt x="922108" y="121399"/>
                </a:lnTo>
                <a:lnTo>
                  <a:pt x="969975" y="132740"/>
                </a:lnTo>
                <a:lnTo>
                  <a:pt x="1017435" y="144525"/>
                </a:lnTo>
                <a:lnTo>
                  <a:pt x="1064488" y="156768"/>
                </a:lnTo>
                <a:lnTo>
                  <a:pt x="1087415" y="163004"/>
                </a:lnTo>
                <a:close/>
              </a:path>
              <a:path w="2590800" h="1055370">
                <a:moveTo>
                  <a:pt x="1175055" y="187820"/>
                </a:moveTo>
                <a:lnTo>
                  <a:pt x="1106081" y="187820"/>
                </a:lnTo>
                <a:lnTo>
                  <a:pt x="1059548" y="175158"/>
                </a:lnTo>
                <a:lnTo>
                  <a:pt x="1012697" y="162982"/>
                </a:lnTo>
                <a:lnTo>
                  <a:pt x="1087415" y="163004"/>
                </a:lnTo>
                <a:lnTo>
                  <a:pt x="1111135" y="169456"/>
                </a:lnTo>
                <a:lnTo>
                  <a:pt x="1157351" y="182575"/>
                </a:lnTo>
                <a:lnTo>
                  <a:pt x="1175055" y="187820"/>
                </a:lnTo>
                <a:close/>
              </a:path>
              <a:path w="2590800" h="1055370">
                <a:moveTo>
                  <a:pt x="1304667" y="228307"/>
                </a:moveTo>
                <a:lnTo>
                  <a:pt x="1242809" y="228307"/>
                </a:lnTo>
                <a:lnTo>
                  <a:pt x="1197559" y="214350"/>
                </a:lnTo>
                <a:lnTo>
                  <a:pt x="1151991" y="200850"/>
                </a:lnTo>
                <a:lnTo>
                  <a:pt x="1105979" y="187794"/>
                </a:lnTo>
                <a:lnTo>
                  <a:pt x="1175055" y="187820"/>
                </a:lnTo>
                <a:lnTo>
                  <a:pt x="1203134" y="196138"/>
                </a:lnTo>
                <a:lnTo>
                  <a:pt x="1248473" y="210121"/>
                </a:lnTo>
                <a:lnTo>
                  <a:pt x="1293368" y="224535"/>
                </a:lnTo>
                <a:lnTo>
                  <a:pt x="1304667" y="228307"/>
                </a:lnTo>
                <a:close/>
              </a:path>
              <a:path w="2590800" h="1055370">
                <a:moveTo>
                  <a:pt x="1514211" y="304190"/>
                </a:moveTo>
                <a:lnTo>
                  <a:pt x="1461592" y="304190"/>
                </a:lnTo>
                <a:lnTo>
                  <a:pt x="1418678" y="288150"/>
                </a:lnTo>
                <a:lnTo>
                  <a:pt x="1375384" y="272567"/>
                </a:lnTo>
                <a:lnTo>
                  <a:pt x="1331620" y="257390"/>
                </a:lnTo>
                <a:lnTo>
                  <a:pt x="1287386" y="242620"/>
                </a:lnTo>
                <a:lnTo>
                  <a:pt x="1242695" y="228282"/>
                </a:lnTo>
                <a:lnTo>
                  <a:pt x="1304667" y="228307"/>
                </a:lnTo>
                <a:lnTo>
                  <a:pt x="1337805" y="239369"/>
                </a:lnTo>
                <a:lnTo>
                  <a:pt x="1381785" y="254622"/>
                </a:lnTo>
                <a:lnTo>
                  <a:pt x="1425295" y="270294"/>
                </a:lnTo>
                <a:lnTo>
                  <a:pt x="1468323" y="286359"/>
                </a:lnTo>
                <a:lnTo>
                  <a:pt x="1510855" y="302844"/>
                </a:lnTo>
                <a:lnTo>
                  <a:pt x="1514211" y="304190"/>
                </a:lnTo>
                <a:close/>
              </a:path>
              <a:path w="2590800" h="1055370">
                <a:moveTo>
                  <a:pt x="1635244" y="354545"/>
                </a:moveTo>
                <a:lnTo>
                  <a:pt x="1587080" y="354545"/>
                </a:lnTo>
                <a:lnTo>
                  <a:pt x="1545640" y="337324"/>
                </a:lnTo>
                <a:lnTo>
                  <a:pt x="1503819" y="320535"/>
                </a:lnTo>
                <a:lnTo>
                  <a:pt x="1461499" y="304155"/>
                </a:lnTo>
                <a:lnTo>
                  <a:pt x="1514211" y="304190"/>
                </a:lnTo>
                <a:lnTo>
                  <a:pt x="1552905" y="319709"/>
                </a:lnTo>
                <a:lnTo>
                  <a:pt x="1595361" y="337375"/>
                </a:lnTo>
                <a:lnTo>
                  <a:pt x="1635244" y="354545"/>
                </a:lnTo>
                <a:close/>
              </a:path>
              <a:path w="2590800" h="1055370">
                <a:moveTo>
                  <a:pt x="1674738" y="372122"/>
                </a:moveTo>
                <a:lnTo>
                  <a:pt x="1627898" y="372122"/>
                </a:lnTo>
                <a:lnTo>
                  <a:pt x="1586966" y="354507"/>
                </a:lnTo>
                <a:lnTo>
                  <a:pt x="1635244" y="354545"/>
                </a:lnTo>
                <a:lnTo>
                  <a:pt x="1674738" y="372122"/>
                </a:lnTo>
                <a:close/>
              </a:path>
              <a:path w="2590800" h="1055370">
                <a:moveTo>
                  <a:pt x="1713725" y="390067"/>
                </a:moveTo>
                <a:lnTo>
                  <a:pt x="1668195" y="390067"/>
                </a:lnTo>
                <a:lnTo>
                  <a:pt x="1627892" y="372119"/>
                </a:lnTo>
                <a:lnTo>
                  <a:pt x="1674738" y="372122"/>
                </a:lnTo>
                <a:lnTo>
                  <a:pt x="1675993" y="372681"/>
                </a:lnTo>
                <a:lnTo>
                  <a:pt x="1713725" y="390067"/>
                </a:lnTo>
                <a:close/>
              </a:path>
              <a:path w="2590800" h="1055370">
                <a:moveTo>
                  <a:pt x="1752245" y="408381"/>
                </a:moveTo>
                <a:lnTo>
                  <a:pt x="1707959" y="408381"/>
                </a:lnTo>
                <a:lnTo>
                  <a:pt x="1668081" y="390016"/>
                </a:lnTo>
                <a:lnTo>
                  <a:pt x="1713725" y="390067"/>
                </a:lnTo>
                <a:lnTo>
                  <a:pt x="1715985" y="391109"/>
                </a:lnTo>
                <a:lnTo>
                  <a:pt x="1752245" y="408381"/>
                </a:lnTo>
                <a:close/>
              </a:path>
              <a:path w="2590800" h="1055370">
                <a:moveTo>
                  <a:pt x="1937498" y="505485"/>
                </a:moveTo>
                <a:lnTo>
                  <a:pt x="1898624" y="505485"/>
                </a:lnTo>
                <a:lnTo>
                  <a:pt x="1861489" y="485292"/>
                </a:lnTo>
                <a:lnTo>
                  <a:pt x="1823910" y="465505"/>
                </a:lnTo>
                <a:lnTo>
                  <a:pt x="1785772" y="446087"/>
                </a:lnTo>
                <a:lnTo>
                  <a:pt x="1747088" y="427024"/>
                </a:lnTo>
                <a:lnTo>
                  <a:pt x="1707845" y="408330"/>
                </a:lnTo>
                <a:lnTo>
                  <a:pt x="1752245" y="408381"/>
                </a:lnTo>
                <a:lnTo>
                  <a:pt x="1755444" y="409905"/>
                </a:lnTo>
                <a:lnTo>
                  <a:pt x="1794357" y="429082"/>
                </a:lnTo>
                <a:lnTo>
                  <a:pt x="1832724" y="448627"/>
                </a:lnTo>
                <a:lnTo>
                  <a:pt x="1870544" y="468528"/>
                </a:lnTo>
                <a:lnTo>
                  <a:pt x="1907781" y="488784"/>
                </a:lnTo>
                <a:lnTo>
                  <a:pt x="1937498" y="505485"/>
                </a:lnTo>
                <a:close/>
              </a:path>
              <a:path w="2590800" h="1055370">
                <a:moveTo>
                  <a:pt x="1747189" y="427088"/>
                </a:moveTo>
                <a:lnTo>
                  <a:pt x="1747056" y="427024"/>
                </a:lnTo>
                <a:lnTo>
                  <a:pt x="1747189" y="427088"/>
                </a:lnTo>
                <a:close/>
              </a:path>
              <a:path w="2590800" h="1055370">
                <a:moveTo>
                  <a:pt x="1972988" y="525970"/>
                </a:moveTo>
                <a:lnTo>
                  <a:pt x="1935073" y="525970"/>
                </a:lnTo>
                <a:lnTo>
                  <a:pt x="1898584" y="505463"/>
                </a:lnTo>
                <a:lnTo>
                  <a:pt x="1937498" y="505485"/>
                </a:lnTo>
                <a:lnTo>
                  <a:pt x="1944458" y="509396"/>
                </a:lnTo>
                <a:lnTo>
                  <a:pt x="1972988" y="525970"/>
                </a:lnTo>
                <a:close/>
              </a:path>
              <a:path w="2590800" h="1055370">
                <a:moveTo>
                  <a:pt x="2007935" y="546798"/>
                </a:moveTo>
                <a:lnTo>
                  <a:pt x="1970925" y="546798"/>
                </a:lnTo>
                <a:lnTo>
                  <a:pt x="1934946" y="525907"/>
                </a:lnTo>
                <a:lnTo>
                  <a:pt x="1972988" y="525970"/>
                </a:lnTo>
                <a:lnTo>
                  <a:pt x="1980552" y="530364"/>
                </a:lnTo>
                <a:lnTo>
                  <a:pt x="2007935" y="546798"/>
                </a:lnTo>
                <a:close/>
              </a:path>
              <a:path w="2590800" h="1055370">
                <a:moveTo>
                  <a:pt x="2042332" y="567969"/>
                </a:moveTo>
                <a:lnTo>
                  <a:pt x="2006206" y="567969"/>
                </a:lnTo>
                <a:lnTo>
                  <a:pt x="1970811" y="546734"/>
                </a:lnTo>
                <a:lnTo>
                  <a:pt x="2007935" y="546798"/>
                </a:lnTo>
                <a:lnTo>
                  <a:pt x="2016061" y="551675"/>
                </a:lnTo>
                <a:lnTo>
                  <a:pt x="2042332" y="567969"/>
                </a:lnTo>
                <a:close/>
              </a:path>
              <a:path w="2590800" h="1055370">
                <a:moveTo>
                  <a:pt x="2076160" y="589470"/>
                </a:moveTo>
                <a:lnTo>
                  <a:pt x="2040877" y="589470"/>
                </a:lnTo>
                <a:lnTo>
                  <a:pt x="2006079" y="567905"/>
                </a:lnTo>
                <a:lnTo>
                  <a:pt x="2042332" y="567969"/>
                </a:lnTo>
                <a:lnTo>
                  <a:pt x="2050973" y="573328"/>
                </a:lnTo>
                <a:lnTo>
                  <a:pt x="2076160" y="589470"/>
                </a:lnTo>
                <a:close/>
              </a:path>
              <a:path w="2590800" h="1055370">
                <a:moveTo>
                  <a:pt x="2142111" y="633463"/>
                </a:moveTo>
                <a:lnTo>
                  <a:pt x="2108403" y="633463"/>
                </a:lnTo>
                <a:lnTo>
                  <a:pt x="2074824" y="611225"/>
                </a:lnTo>
                <a:lnTo>
                  <a:pt x="2040750" y="589394"/>
                </a:lnTo>
                <a:lnTo>
                  <a:pt x="2076160" y="589470"/>
                </a:lnTo>
                <a:lnTo>
                  <a:pt x="2085276" y="595312"/>
                </a:lnTo>
                <a:lnTo>
                  <a:pt x="2118982" y="617626"/>
                </a:lnTo>
                <a:lnTo>
                  <a:pt x="2142111" y="633463"/>
                </a:lnTo>
                <a:close/>
              </a:path>
              <a:path w="2590800" h="1055370">
                <a:moveTo>
                  <a:pt x="2236573" y="701840"/>
                </a:moveTo>
                <a:lnTo>
                  <a:pt x="2205012" y="701840"/>
                </a:lnTo>
                <a:lnTo>
                  <a:pt x="2173325" y="678649"/>
                </a:lnTo>
                <a:lnTo>
                  <a:pt x="2141118" y="655853"/>
                </a:lnTo>
                <a:lnTo>
                  <a:pt x="2108276" y="633387"/>
                </a:lnTo>
                <a:lnTo>
                  <a:pt x="2142111" y="633463"/>
                </a:lnTo>
                <a:lnTo>
                  <a:pt x="2152053" y="640270"/>
                </a:lnTo>
                <a:lnTo>
                  <a:pt x="2184514" y="663232"/>
                </a:lnTo>
                <a:lnTo>
                  <a:pt x="2216327" y="686511"/>
                </a:lnTo>
                <a:lnTo>
                  <a:pt x="2236573" y="701840"/>
                </a:lnTo>
                <a:close/>
              </a:path>
              <a:path w="2590800" h="1055370">
                <a:moveTo>
                  <a:pt x="2296470" y="748969"/>
                </a:moveTo>
                <a:lnTo>
                  <a:pt x="2266213" y="748969"/>
                </a:lnTo>
                <a:lnTo>
                  <a:pt x="2235809" y="725157"/>
                </a:lnTo>
                <a:lnTo>
                  <a:pt x="2204885" y="701751"/>
                </a:lnTo>
                <a:lnTo>
                  <a:pt x="2236573" y="701840"/>
                </a:lnTo>
                <a:lnTo>
                  <a:pt x="2247493" y="710107"/>
                </a:lnTo>
                <a:lnTo>
                  <a:pt x="2278024" y="734021"/>
                </a:lnTo>
                <a:lnTo>
                  <a:pt x="2296470" y="748969"/>
                </a:lnTo>
                <a:close/>
              </a:path>
              <a:path w="2590800" h="1055370">
                <a:moveTo>
                  <a:pt x="2325458" y="772972"/>
                </a:moveTo>
                <a:lnTo>
                  <a:pt x="2295829" y="772972"/>
                </a:lnTo>
                <a:lnTo>
                  <a:pt x="2266164" y="748931"/>
                </a:lnTo>
                <a:lnTo>
                  <a:pt x="2296470" y="748969"/>
                </a:lnTo>
                <a:lnTo>
                  <a:pt x="2307894" y="758228"/>
                </a:lnTo>
                <a:lnTo>
                  <a:pt x="2325458" y="772972"/>
                </a:lnTo>
                <a:close/>
              </a:path>
              <a:path w="2590800" h="1055370">
                <a:moveTo>
                  <a:pt x="2353806" y="797280"/>
                </a:moveTo>
                <a:lnTo>
                  <a:pt x="2324773" y="797280"/>
                </a:lnTo>
                <a:lnTo>
                  <a:pt x="2295702" y="772871"/>
                </a:lnTo>
                <a:lnTo>
                  <a:pt x="2325458" y="772972"/>
                </a:lnTo>
                <a:lnTo>
                  <a:pt x="2337092" y="782739"/>
                </a:lnTo>
                <a:lnTo>
                  <a:pt x="2353806" y="797280"/>
                </a:lnTo>
                <a:close/>
              </a:path>
              <a:path w="2590800" h="1055370">
                <a:moveTo>
                  <a:pt x="2381494" y="821867"/>
                </a:moveTo>
                <a:lnTo>
                  <a:pt x="2353048" y="821861"/>
                </a:lnTo>
                <a:lnTo>
                  <a:pt x="2324646" y="797178"/>
                </a:lnTo>
                <a:lnTo>
                  <a:pt x="2353806" y="797280"/>
                </a:lnTo>
                <a:lnTo>
                  <a:pt x="2365616" y="807554"/>
                </a:lnTo>
                <a:lnTo>
                  <a:pt x="2381494" y="821867"/>
                </a:lnTo>
                <a:close/>
              </a:path>
              <a:path w="2590800" h="1055370">
                <a:moveTo>
                  <a:pt x="2473257" y="910094"/>
                </a:moveTo>
                <a:lnTo>
                  <a:pt x="2446553" y="910094"/>
                </a:lnTo>
                <a:lnTo>
                  <a:pt x="2433650" y="897216"/>
                </a:lnTo>
                <a:lnTo>
                  <a:pt x="2420632" y="884478"/>
                </a:lnTo>
                <a:lnTo>
                  <a:pt x="2407450" y="871804"/>
                </a:lnTo>
                <a:lnTo>
                  <a:pt x="2394077" y="859193"/>
                </a:lnTo>
                <a:lnTo>
                  <a:pt x="2380551" y="846658"/>
                </a:lnTo>
                <a:lnTo>
                  <a:pt x="2353048" y="821861"/>
                </a:lnTo>
                <a:lnTo>
                  <a:pt x="2381494" y="821867"/>
                </a:lnTo>
                <a:lnTo>
                  <a:pt x="2393441" y="832637"/>
                </a:lnTo>
                <a:lnTo>
                  <a:pt x="2434980" y="871867"/>
                </a:lnTo>
                <a:lnTo>
                  <a:pt x="2460665" y="897280"/>
                </a:lnTo>
                <a:lnTo>
                  <a:pt x="2473257" y="910094"/>
                </a:lnTo>
                <a:close/>
              </a:path>
              <a:path w="2590800" h="1055370">
                <a:moveTo>
                  <a:pt x="2485656" y="922972"/>
                </a:moveTo>
                <a:lnTo>
                  <a:pt x="2459202" y="922972"/>
                </a:lnTo>
                <a:lnTo>
                  <a:pt x="2446477" y="910031"/>
                </a:lnTo>
                <a:lnTo>
                  <a:pt x="2473257" y="910094"/>
                </a:lnTo>
                <a:lnTo>
                  <a:pt x="2485656" y="922972"/>
                </a:lnTo>
                <a:close/>
              </a:path>
              <a:path w="2590800" h="1055370">
                <a:moveTo>
                  <a:pt x="2509975" y="948931"/>
                </a:moveTo>
                <a:lnTo>
                  <a:pt x="2483993" y="948931"/>
                </a:lnTo>
                <a:lnTo>
                  <a:pt x="2471623" y="935850"/>
                </a:lnTo>
                <a:lnTo>
                  <a:pt x="2459139" y="922909"/>
                </a:lnTo>
                <a:lnTo>
                  <a:pt x="2485656" y="922972"/>
                </a:lnTo>
                <a:lnTo>
                  <a:pt x="2497908" y="935926"/>
                </a:lnTo>
                <a:lnTo>
                  <a:pt x="2509975" y="948931"/>
                </a:lnTo>
                <a:close/>
              </a:path>
              <a:path w="2590800" h="1055370">
                <a:moveTo>
                  <a:pt x="2521847" y="961999"/>
                </a:moveTo>
                <a:lnTo>
                  <a:pt x="2496108" y="961999"/>
                </a:lnTo>
                <a:lnTo>
                  <a:pt x="2483929" y="948867"/>
                </a:lnTo>
                <a:lnTo>
                  <a:pt x="2509975" y="948931"/>
                </a:lnTo>
                <a:lnTo>
                  <a:pt x="2521847" y="961999"/>
                </a:lnTo>
                <a:close/>
              </a:path>
              <a:path w="2590800" h="1055370">
                <a:moveTo>
                  <a:pt x="2545079" y="988339"/>
                </a:moveTo>
                <a:lnTo>
                  <a:pt x="2519807" y="988339"/>
                </a:lnTo>
                <a:lnTo>
                  <a:pt x="2507983" y="975067"/>
                </a:lnTo>
                <a:lnTo>
                  <a:pt x="2496045" y="961936"/>
                </a:lnTo>
                <a:lnTo>
                  <a:pt x="2521847" y="961999"/>
                </a:lnTo>
                <a:lnTo>
                  <a:pt x="2534069" y="975715"/>
                </a:lnTo>
                <a:lnTo>
                  <a:pt x="2545079" y="988339"/>
                </a:lnTo>
                <a:close/>
              </a:path>
              <a:path w="2590800" h="1055370">
                <a:moveTo>
                  <a:pt x="2578609" y="1028331"/>
                </a:moveTo>
                <a:lnTo>
                  <a:pt x="2553982" y="1028331"/>
                </a:lnTo>
                <a:lnTo>
                  <a:pt x="2542705" y="1014856"/>
                </a:lnTo>
                <a:lnTo>
                  <a:pt x="2531325" y="1001534"/>
                </a:lnTo>
                <a:lnTo>
                  <a:pt x="2519743" y="988275"/>
                </a:lnTo>
                <a:lnTo>
                  <a:pt x="2545079" y="988339"/>
                </a:lnTo>
                <a:lnTo>
                  <a:pt x="2557284" y="1002601"/>
                </a:lnTo>
                <a:lnTo>
                  <a:pt x="2568625" y="1016139"/>
                </a:lnTo>
                <a:lnTo>
                  <a:pt x="2578609" y="1028331"/>
                </a:lnTo>
                <a:close/>
              </a:path>
              <a:path w="2590800" h="1055370">
                <a:moveTo>
                  <a:pt x="2589424" y="1041780"/>
                </a:moveTo>
                <a:lnTo>
                  <a:pt x="2564993" y="1041780"/>
                </a:lnTo>
                <a:lnTo>
                  <a:pt x="2553931" y="1028270"/>
                </a:lnTo>
                <a:lnTo>
                  <a:pt x="2578609" y="1028331"/>
                </a:lnTo>
                <a:lnTo>
                  <a:pt x="2579763" y="1029741"/>
                </a:lnTo>
                <a:lnTo>
                  <a:pt x="2589424" y="1041780"/>
                </a:lnTo>
                <a:close/>
              </a:path>
              <a:path w="2590800" h="1055370">
                <a:moveTo>
                  <a:pt x="2575826" y="1055293"/>
                </a:moveTo>
                <a:lnTo>
                  <a:pt x="2564930" y="1041704"/>
                </a:lnTo>
                <a:lnTo>
                  <a:pt x="2589424" y="1041780"/>
                </a:lnTo>
                <a:lnTo>
                  <a:pt x="2590698" y="1043368"/>
                </a:lnTo>
                <a:lnTo>
                  <a:pt x="2575826" y="1055293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70658" y="2341689"/>
            <a:ext cx="1950085" cy="1460500"/>
          </a:xfrm>
          <a:custGeom>
            <a:avLst/>
            <a:gdLst/>
            <a:ahLst/>
            <a:cxnLst/>
            <a:rect l="l" t="t" r="r" b="b"/>
            <a:pathLst>
              <a:path w="1950085" h="1460500">
                <a:moveTo>
                  <a:pt x="137617" y="12700"/>
                </a:moveTo>
                <a:lnTo>
                  <a:pt x="0" y="12700"/>
                </a:lnTo>
                <a:lnTo>
                  <a:pt x="1574" y="0"/>
                </a:lnTo>
                <a:lnTo>
                  <a:pt x="115125" y="0"/>
                </a:lnTo>
                <a:lnTo>
                  <a:pt x="137617" y="12700"/>
                </a:lnTo>
                <a:close/>
              </a:path>
              <a:path w="1950085" h="1460500">
                <a:moveTo>
                  <a:pt x="226847" y="25400"/>
                </a:moveTo>
                <a:lnTo>
                  <a:pt x="90449" y="25400"/>
                </a:lnTo>
                <a:lnTo>
                  <a:pt x="67881" y="12700"/>
                </a:lnTo>
                <a:lnTo>
                  <a:pt x="204660" y="12700"/>
                </a:lnTo>
                <a:lnTo>
                  <a:pt x="226847" y="25400"/>
                </a:lnTo>
                <a:close/>
              </a:path>
              <a:path w="1950085" h="1460500">
                <a:moveTo>
                  <a:pt x="292938" y="38100"/>
                </a:moveTo>
                <a:lnTo>
                  <a:pt x="179641" y="38100"/>
                </a:lnTo>
                <a:lnTo>
                  <a:pt x="157378" y="25400"/>
                </a:lnTo>
                <a:lnTo>
                  <a:pt x="270992" y="25400"/>
                </a:lnTo>
                <a:lnTo>
                  <a:pt x="292938" y="38100"/>
                </a:lnTo>
                <a:close/>
              </a:path>
              <a:path w="1950085" h="1460500">
                <a:moveTo>
                  <a:pt x="358267" y="50800"/>
                </a:moveTo>
                <a:lnTo>
                  <a:pt x="267588" y="50800"/>
                </a:lnTo>
                <a:lnTo>
                  <a:pt x="245643" y="38100"/>
                </a:lnTo>
                <a:lnTo>
                  <a:pt x="336575" y="38100"/>
                </a:lnTo>
                <a:lnTo>
                  <a:pt x="358267" y="50800"/>
                </a:lnTo>
                <a:close/>
              </a:path>
              <a:path w="1950085" h="1460500">
                <a:moveTo>
                  <a:pt x="422808" y="63500"/>
                </a:moveTo>
                <a:lnTo>
                  <a:pt x="332689" y="63500"/>
                </a:lnTo>
                <a:lnTo>
                  <a:pt x="310997" y="50800"/>
                </a:lnTo>
                <a:lnTo>
                  <a:pt x="401383" y="50800"/>
                </a:lnTo>
                <a:lnTo>
                  <a:pt x="422808" y="63500"/>
                </a:lnTo>
                <a:close/>
              </a:path>
              <a:path w="1950085" h="1460500">
                <a:moveTo>
                  <a:pt x="465378" y="76200"/>
                </a:moveTo>
                <a:lnTo>
                  <a:pt x="397014" y="76200"/>
                </a:lnTo>
                <a:lnTo>
                  <a:pt x="375577" y="63500"/>
                </a:lnTo>
                <a:lnTo>
                  <a:pt x="444131" y="63500"/>
                </a:lnTo>
                <a:lnTo>
                  <a:pt x="465378" y="76200"/>
                </a:lnTo>
                <a:close/>
              </a:path>
              <a:path w="1950085" h="1460500">
                <a:moveTo>
                  <a:pt x="507568" y="88900"/>
                </a:moveTo>
                <a:lnTo>
                  <a:pt x="439445" y="88900"/>
                </a:lnTo>
                <a:lnTo>
                  <a:pt x="418198" y="76200"/>
                </a:lnTo>
                <a:lnTo>
                  <a:pt x="486524" y="76200"/>
                </a:lnTo>
                <a:lnTo>
                  <a:pt x="507568" y="88900"/>
                </a:lnTo>
                <a:close/>
              </a:path>
              <a:path w="1950085" h="1460500">
                <a:moveTo>
                  <a:pt x="549389" y="101600"/>
                </a:moveTo>
                <a:lnTo>
                  <a:pt x="481507" y="101600"/>
                </a:lnTo>
                <a:lnTo>
                  <a:pt x="460451" y="88900"/>
                </a:lnTo>
                <a:lnTo>
                  <a:pt x="528523" y="88900"/>
                </a:lnTo>
                <a:lnTo>
                  <a:pt x="549389" y="101600"/>
                </a:lnTo>
                <a:close/>
              </a:path>
              <a:path w="1950085" h="1460500">
                <a:moveTo>
                  <a:pt x="590804" y="114300"/>
                </a:moveTo>
                <a:lnTo>
                  <a:pt x="523201" y="114300"/>
                </a:lnTo>
                <a:lnTo>
                  <a:pt x="502323" y="101600"/>
                </a:lnTo>
                <a:lnTo>
                  <a:pt x="570141" y="101600"/>
                </a:lnTo>
                <a:lnTo>
                  <a:pt x="590804" y="114300"/>
                </a:lnTo>
                <a:close/>
              </a:path>
              <a:path w="1950085" h="1460500">
                <a:moveTo>
                  <a:pt x="631825" y="127000"/>
                </a:moveTo>
                <a:lnTo>
                  <a:pt x="564502" y="127000"/>
                </a:lnTo>
                <a:lnTo>
                  <a:pt x="543813" y="114300"/>
                </a:lnTo>
                <a:lnTo>
                  <a:pt x="611365" y="114300"/>
                </a:lnTo>
                <a:lnTo>
                  <a:pt x="631825" y="127000"/>
                </a:lnTo>
                <a:close/>
              </a:path>
              <a:path w="1950085" h="1460500">
                <a:moveTo>
                  <a:pt x="672426" y="139700"/>
                </a:moveTo>
                <a:lnTo>
                  <a:pt x="605396" y="139700"/>
                </a:lnTo>
                <a:lnTo>
                  <a:pt x="584923" y="127000"/>
                </a:lnTo>
                <a:lnTo>
                  <a:pt x="652170" y="127000"/>
                </a:lnTo>
                <a:lnTo>
                  <a:pt x="672426" y="139700"/>
                </a:lnTo>
                <a:close/>
              </a:path>
              <a:path w="1950085" h="1460500">
                <a:moveTo>
                  <a:pt x="732523" y="165100"/>
                </a:moveTo>
                <a:lnTo>
                  <a:pt x="685965" y="165100"/>
                </a:lnTo>
                <a:lnTo>
                  <a:pt x="665911" y="152400"/>
                </a:lnTo>
                <a:lnTo>
                  <a:pt x="645896" y="152400"/>
                </a:lnTo>
                <a:lnTo>
                  <a:pt x="625614" y="139700"/>
                </a:lnTo>
                <a:lnTo>
                  <a:pt x="692569" y="139700"/>
                </a:lnTo>
                <a:lnTo>
                  <a:pt x="732523" y="165100"/>
                </a:lnTo>
                <a:close/>
              </a:path>
              <a:path w="1950085" h="1460500">
                <a:moveTo>
                  <a:pt x="772058" y="177800"/>
                </a:moveTo>
                <a:lnTo>
                  <a:pt x="725627" y="177800"/>
                </a:lnTo>
                <a:lnTo>
                  <a:pt x="705777" y="165100"/>
                </a:lnTo>
                <a:lnTo>
                  <a:pt x="752348" y="165100"/>
                </a:lnTo>
                <a:lnTo>
                  <a:pt x="772058" y="177800"/>
                </a:lnTo>
                <a:close/>
              </a:path>
              <a:path w="1950085" h="1460500">
                <a:moveTo>
                  <a:pt x="830503" y="203200"/>
                </a:moveTo>
                <a:lnTo>
                  <a:pt x="784275" y="203200"/>
                </a:lnTo>
                <a:lnTo>
                  <a:pt x="764755" y="190500"/>
                </a:lnTo>
                <a:lnTo>
                  <a:pt x="745286" y="190500"/>
                </a:lnTo>
                <a:lnTo>
                  <a:pt x="725538" y="177800"/>
                </a:lnTo>
                <a:lnTo>
                  <a:pt x="791654" y="177800"/>
                </a:lnTo>
                <a:lnTo>
                  <a:pt x="830503" y="203200"/>
                </a:lnTo>
                <a:close/>
              </a:path>
              <a:path w="1950085" h="1460500">
                <a:moveTo>
                  <a:pt x="906805" y="241300"/>
                </a:moveTo>
                <a:lnTo>
                  <a:pt x="860894" y="241300"/>
                </a:lnTo>
                <a:lnTo>
                  <a:pt x="841832" y="228600"/>
                </a:lnTo>
                <a:lnTo>
                  <a:pt x="822744" y="215900"/>
                </a:lnTo>
                <a:lnTo>
                  <a:pt x="803605" y="215900"/>
                </a:lnTo>
                <a:lnTo>
                  <a:pt x="784199" y="203200"/>
                </a:lnTo>
                <a:lnTo>
                  <a:pt x="849757" y="203200"/>
                </a:lnTo>
                <a:lnTo>
                  <a:pt x="906805" y="241300"/>
                </a:lnTo>
                <a:close/>
              </a:path>
              <a:path w="1950085" h="1460500">
                <a:moveTo>
                  <a:pt x="981189" y="279400"/>
                </a:moveTo>
                <a:lnTo>
                  <a:pt x="954024" y="279400"/>
                </a:lnTo>
                <a:lnTo>
                  <a:pt x="935558" y="266700"/>
                </a:lnTo>
                <a:lnTo>
                  <a:pt x="917130" y="266700"/>
                </a:lnTo>
                <a:lnTo>
                  <a:pt x="898436" y="254000"/>
                </a:lnTo>
                <a:lnTo>
                  <a:pt x="879690" y="241300"/>
                </a:lnTo>
                <a:lnTo>
                  <a:pt x="925588" y="241300"/>
                </a:lnTo>
                <a:lnTo>
                  <a:pt x="981189" y="279400"/>
                </a:lnTo>
                <a:close/>
              </a:path>
              <a:path w="1950085" h="1460500">
                <a:moveTo>
                  <a:pt x="1071346" y="330200"/>
                </a:moveTo>
                <a:lnTo>
                  <a:pt x="1044066" y="330200"/>
                </a:lnTo>
                <a:lnTo>
                  <a:pt x="1026236" y="317500"/>
                </a:lnTo>
                <a:lnTo>
                  <a:pt x="1008354" y="304800"/>
                </a:lnTo>
                <a:lnTo>
                  <a:pt x="990422" y="304800"/>
                </a:lnTo>
                <a:lnTo>
                  <a:pt x="972210" y="292100"/>
                </a:lnTo>
                <a:lnTo>
                  <a:pt x="953947" y="279400"/>
                </a:lnTo>
                <a:lnTo>
                  <a:pt x="999477" y="279400"/>
                </a:lnTo>
                <a:lnTo>
                  <a:pt x="1053579" y="317500"/>
                </a:lnTo>
                <a:lnTo>
                  <a:pt x="1071346" y="330200"/>
                </a:lnTo>
                <a:close/>
              </a:path>
              <a:path w="1950085" h="1460500">
                <a:moveTo>
                  <a:pt x="1208722" y="419100"/>
                </a:moveTo>
                <a:lnTo>
                  <a:pt x="1181328" y="419100"/>
                </a:lnTo>
                <a:lnTo>
                  <a:pt x="1164564" y="406400"/>
                </a:lnTo>
                <a:lnTo>
                  <a:pt x="1147749" y="393700"/>
                </a:lnTo>
                <a:lnTo>
                  <a:pt x="1130782" y="381000"/>
                </a:lnTo>
                <a:lnTo>
                  <a:pt x="1113688" y="368300"/>
                </a:lnTo>
                <a:lnTo>
                  <a:pt x="1096543" y="368300"/>
                </a:lnTo>
                <a:lnTo>
                  <a:pt x="1079106" y="355600"/>
                </a:lnTo>
                <a:lnTo>
                  <a:pt x="1061605" y="342900"/>
                </a:lnTo>
                <a:lnTo>
                  <a:pt x="1043990" y="330200"/>
                </a:lnTo>
                <a:lnTo>
                  <a:pt x="1088999" y="330200"/>
                </a:lnTo>
                <a:lnTo>
                  <a:pt x="1141120" y="368300"/>
                </a:lnTo>
                <a:lnTo>
                  <a:pt x="1192034" y="406400"/>
                </a:lnTo>
                <a:lnTo>
                  <a:pt x="1208722" y="419100"/>
                </a:lnTo>
                <a:close/>
              </a:path>
              <a:path w="1950085" h="1460500">
                <a:moveTo>
                  <a:pt x="1949653" y="1460500"/>
                </a:moveTo>
                <a:lnTo>
                  <a:pt x="1931123" y="1460500"/>
                </a:lnTo>
                <a:lnTo>
                  <a:pt x="1926805" y="1447800"/>
                </a:lnTo>
                <a:lnTo>
                  <a:pt x="1922297" y="1422400"/>
                </a:lnTo>
                <a:lnTo>
                  <a:pt x="1917573" y="1409700"/>
                </a:lnTo>
                <a:lnTo>
                  <a:pt x="1912632" y="1384300"/>
                </a:lnTo>
                <a:lnTo>
                  <a:pt x="1907463" y="1371600"/>
                </a:lnTo>
                <a:lnTo>
                  <a:pt x="1902091" y="1358900"/>
                </a:lnTo>
                <a:lnTo>
                  <a:pt x="1896503" y="1333500"/>
                </a:lnTo>
                <a:lnTo>
                  <a:pt x="1890699" y="1320800"/>
                </a:lnTo>
                <a:lnTo>
                  <a:pt x="1884679" y="1295400"/>
                </a:lnTo>
                <a:lnTo>
                  <a:pt x="1878457" y="1282700"/>
                </a:lnTo>
                <a:lnTo>
                  <a:pt x="1872030" y="1270000"/>
                </a:lnTo>
                <a:lnTo>
                  <a:pt x="1865388" y="1244600"/>
                </a:lnTo>
                <a:lnTo>
                  <a:pt x="1858530" y="1231900"/>
                </a:lnTo>
                <a:lnTo>
                  <a:pt x="1851482" y="1219200"/>
                </a:lnTo>
                <a:lnTo>
                  <a:pt x="1844217" y="1193800"/>
                </a:lnTo>
                <a:lnTo>
                  <a:pt x="1836762" y="1181100"/>
                </a:lnTo>
                <a:lnTo>
                  <a:pt x="1829092" y="1168400"/>
                </a:lnTo>
                <a:lnTo>
                  <a:pt x="1821230" y="1143000"/>
                </a:lnTo>
                <a:lnTo>
                  <a:pt x="1813166" y="1130300"/>
                </a:lnTo>
                <a:lnTo>
                  <a:pt x="1804898" y="1117600"/>
                </a:lnTo>
                <a:lnTo>
                  <a:pt x="1796427" y="1092200"/>
                </a:lnTo>
                <a:lnTo>
                  <a:pt x="1787778" y="1079500"/>
                </a:lnTo>
                <a:lnTo>
                  <a:pt x="1778914" y="1066800"/>
                </a:lnTo>
                <a:lnTo>
                  <a:pt x="1769872" y="1041400"/>
                </a:lnTo>
                <a:lnTo>
                  <a:pt x="1760639" y="1028700"/>
                </a:lnTo>
                <a:lnTo>
                  <a:pt x="1751202" y="1016000"/>
                </a:lnTo>
                <a:lnTo>
                  <a:pt x="1741576" y="1003300"/>
                </a:lnTo>
                <a:lnTo>
                  <a:pt x="1731772" y="977900"/>
                </a:lnTo>
                <a:lnTo>
                  <a:pt x="1721764" y="965200"/>
                </a:lnTo>
                <a:lnTo>
                  <a:pt x="1711578" y="952500"/>
                </a:lnTo>
                <a:lnTo>
                  <a:pt x="1701203" y="939800"/>
                </a:lnTo>
                <a:lnTo>
                  <a:pt x="1690649" y="914400"/>
                </a:lnTo>
                <a:lnTo>
                  <a:pt x="1679917" y="901700"/>
                </a:lnTo>
                <a:lnTo>
                  <a:pt x="1668995" y="889000"/>
                </a:lnTo>
                <a:lnTo>
                  <a:pt x="1657883" y="876300"/>
                </a:lnTo>
                <a:lnTo>
                  <a:pt x="1646605" y="863600"/>
                </a:lnTo>
                <a:lnTo>
                  <a:pt x="1635137" y="838200"/>
                </a:lnTo>
                <a:lnTo>
                  <a:pt x="1623504" y="825500"/>
                </a:lnTo>
                <a:lnTo>
                  <a:pt x="1611693" y="812800"/>
                </a:lnTo>
                <a:lnTo>
                  <a:pt x="1599704" y="800100"/>
                </a:lnTo>
                <a:lnTo>
                  <a:pt x="1587538" y="787400"/>
                </a:lnTo>
                <a:lnTo>
                  <a:pt x="1575206" y="774700"/>
                </a:lnTo>
                <a:lnTo>
                  <a:pt x="1562696" y="749300"/>
                </a:lnTo>
                <a:lnTo>
                  <a:pt x="1550022" y="736600"/>
                </a:lnTo>
                <a:lnTo>
                  <a:pt x="1537169" y="723900"/>
                </a:lnTo>
                <a:lnTo>
                  <a:pt x="1524152" y="711200"/>
                </a:lnTo>
                <a:lnTo>
                  <a:pt x="1510969" y="698500"/>
                </a:lnTo>
                <a:lnTo>
                  <a:pt x="1497622" y="685800"/>
                </a:lnTo>
                <a:lnTo>
                  <a:pt x="1484122" y="673100"/>
                </a:lnTo>
                <a:lnTo>
                  <a:pt x="1470444" y="660400"/>
                </a:lnTo>
                <a:lnTo>
                  <a:pt x="1456601" y="647700"/>
                </a:lnTo>
                <a:lnTo>
                  <a:pt x="1442605" y="622300"/>
                </a:lnTo>
                <a:lnTo>
                  <a:pt x="1428457" y="609600"/>
                </a:lnTo>
                <a:lnTo>
                  <a:pt x="1414145" y="596900"/>
                </a:lnTo>
                <a:lnTo>
                  <a:pt x="1399666" y="584200"/>
                </a:lnTo>
                <a:lnTo>
                  <a:pt x="1385049" y="571500"/>
                </a:lnTo>
                <a:lnTo>
                  <a:pt x="1370266" y="558800"/>
                </a:lnTo>
                <a:lnTo>
                  <a:pt x="1355331" y="546100"/>
                </a:lnTo>
                <a:lnTo>
                  <a:pt x="1340243" y="533400"/>
                </a:lnTo>
                <a:lnTo>
                  <a:pt x="1325003" y="520700"/>
                </a:lnTo>
                <a:lnTo>
                  <a:pt x="1309611" y="508000"/>
                </a:lnTo>
                <a:lnTo>
                  <a:pt x="1294079" y="495300"/>
                </a:lnTo>
                <a:lnTo>
                  <a:pt x="1278394" y="482600"/>
                </a:lnTo>
                <a:lnTo>
                  <a:pt x="1262557" y="469900"/>
                </a:lnTo>
                <a:lnTo>
                  <a:pt x="1246581" y="457200"/>
                </a:lnTo>
                <a:lnTo>
                  <a:pt x="1230541" y="457200"/>
                </a:lnTo>
                <a:lnTo>
                  <a:pt x="1214196" y="444500"/>
                </a:lnTo>
                <a:lnTo>
                  <a:pt x="1197800" y="431800"/>
                </a:lnTo>
                <a:lnTo>
                  <a:pt x="1181252" y="419100"/>
                </a:lnTo>
                <a:lnTo>
                  <a:pt x="1225270" y="419100"/>
                </a:lnTo>
                <a:lnTo>
                  <a:pt x="1257947" y="444500"/>
                </a:lnTo>
                <a:lnTo>
                  <a:pt x="1290040" y="469900"/>
                </a:lnTo>
                <a:lnTo>
                  <a:pt x="1321549" y="495300"/>
                </a:lnTo>
                <a:lnTo>
                  <a:pt x="1352461" y="520700"/>
                </a:lnTo>
                <a:lnTo>
                  <a:pt x="1382763" y="546100"/>
                </a:lnTo>
                <a:lnTo>
                  <a:pt x="1412455" y="571500"/>
                </a:lnTo>
                <a:lnTo>
                  <a:pt x="1441513" y="596900"/>
                </a:lnTo>
                <a:lnTo>
                  <a:pt x="1469936" y="622300"/>
                </a:lnTo>
                <a:lnTo>
                  <a:pt x="1483918" y="647700"/>
                </a:lnTo>
                <a:lnTo>
                  <a:pt x="1497723" y="660400"/>
                </a:lnTo>
                <a:lnTo>
                  <a:pt x="1538160" y="698500"/>
                </a:lnTo>
                <a:lnTo>
                  <a:pt x="1577086" y="736600"/>
                </a:lnTo>
                <a:lnTo>
                  <a:pt x="1589722" y="762000"/>
                </a:lnTo>
                <a:lnTo>
                  <a:pt x="1602193" y="774700"/>
                </a:lnTo>
                <a:lnTo>
                  <a:pt x="1638541" y="812800"/>
                </a:lnTo>
                <a:lnTo>
                  <a:pt x="1661883" y="850900"/>
                </a:lnTo>
                <a:lnTo>
                  <a:pt x="1673288" y="863600"/>
                </a:lnTo>
                <a:lnTo>
                  <a:pt x="1684502" y="876300"/>
                </a:lnTo>
                <a:lnTo>
                  <a:pt x="1695551" y="889000"/>
                </a:lnTo>
                <a:lnTo>
                  <a:pt x="1706410" y="914400"/>
                </a:lnTo>
                <a:lnTo>
                  <a:pt x="1717078" y="927100"/>
                </a:lnTo>
                <a:lnTo>
                  <a:pt x="1727568" y="939800"/>
                </a:lnTo>
                <a:lnTo>
                  <a:pt x="1737867" y="952500"/>
                </a:lnTo>
                <a:lnTo>
                  <a:pt x="1747977" y="977900"/>
                </a:lnTo>
                <a:lnTo>
                  <a:pt x="1757895" y="990600"/>
                </a:lnTo>
                <a:lnTo>
                  <a:pt x="1767624" y="1003300"/>
                </a:lnTo>
                <a:lnTo>
                  <a:pt x="1777161" y="1016000"/>
                </a:lnTo>
                <a:lnTo>
                  <a:pt x="1786509" y="1041400"/>
                </a:lnTo>
                <a:lnTo>
                  <a:pt x="1795665" y="1054100"/>
                </a:lnTo>
                <a:lnTo>
                  <a:pt x="1804619" y="1066800"/>
                </a:lnTo>
                <a:lnTo>
                  <a:pt x="1813382" y="1092200"/>
                </a:lnTo>
                <a:lnTo>
                  <a:pt x="1821941" y="1104900"/>
                </a:lnTo>
                <a:lnTo>
                  <a:pt x="1830298" y="1117600"/>
                </a:lnTo>
                <a:lnTo>
                  <a:pt x="1838464" y="1143000"/>
                </a:lnTo>
                <a:lnTo>
                  <a:pt x="1846427" y="1155700"/>
                </a:lnTo>
                <a:lnTo>
                  <a:pt x="1854174" y="1168400"/>
                </a:lnTo>
                <a:lnTo>
                  <a:pt x="1861731" y="1193800"/>
                </a:lnTo>
                <a:lnTo>
                  <a:pt x="1869084" y="1206500"/>
                </a:lnTo>
                <a:lnTo>
                  <a:pt x="1876221" y="1219200"/>
                </a:lnTo>
                <a:lnTo>
                  <a:pt x="1883156" y="1244600"/>
                </a:lnTo>
                <a:lnTo>
                  <a:pt x="1889874" y="1257300"/>
                </a:lnTo>
                <a:lnTo>
                  <a:pt x="1896389" y="1282700"/>
                </a:lnTo>
                <a:lnTo>
                  <a:pt x="1902688" y="1295400"/>
                </a:lnTo>
                <a:lnTo>
                  <a:pt x="1908771" y="1308100"/>
                </a:lnTo>
                <a:lnTo>
                  <a:pt x="1914652" y="1333500"/>
                </a:lnTo>
                <a:lnTo>
                  <a:pt x="1920303" y="1346200"/>
                </a:lnTo>
                <a:lnTo>
                  <a:pt x="1925751" y="1371600"/>
                </a:lnTo>
                <a:lnTo>
                  <a:pt x="1930971" y="1384300"/>
                </a:lnTo>
                <a:lnTo>
                  <a:pt x="1935975" y="1397000"/>
                </a:lnTo>
                <a:lnTo>
                  <a:pt x="1940763" y="1422400"/>
                </a:lnTo>
                <a:lnTo>
                  <a:pt x="1945335" y="1435100"/>
                </a:lnTo>
                <a:lnTo>
                  <a:pt x="1949653" y="1460500"/>
                </a:lnTo>
                <a:close/>
              </a:path>
              <a:path w="1950085" h="1460500">
                <a:moveTo>
                  <a:pt x="1246657" y="469900"/>
                </a:moveTo>
                <a:lnTo>
                  <a:pt x="1230464" y="457200"/>
                </a:lnTo>
                <a:lnTo>
                  <a:pt x="1246581" y="457200"/>
                </a:lnTo>
                <a:lnTo>
                  <a:pt x="1246657" y="469900"/>
                </a:lnTo>
                <a:close/>
              </a:path>
            </a:pathLst>
          </a:custGeom>
          <a:solidFill>
            <a:srgbClr val="BE9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375509" y="2370899"/>
            <a:ext cx="615315" cy="1096010"/>
          </a:xfrm>
          <a:custGeom>
            <a:avLst/>
            <a:gdLst/>
            <a:ahLst/>
            <a:cxnLst/>
            <a:rect l="l" t="t" r="r" b="b"/>
            <a:pathLst>
              <a:path w="615314" h="1096010">
                <a:moveTo>
                  <a:pt x="330695" y="105410"/>
                </a:moveTo>
                <a:lnTo>
                  <a:pt x="318706" y="97789"/>
                </a:lnTo>
                <a:lnTo>
                  <a:pt x="318896" y="97789"/>
                </a:lnTo>
                <a:lnTo>
                  <a:pt x="306717" y="91439"/>
                </a:lnTo>
                <a:lnTo>
                  <a:pt x="306908" y="91439"/>
                </a:lnTo>
                <a:lnTo>
                  <a:pt x="294538" y="85089"/>
                </a:lnTo>
                <a:lnTo>
                  <a:pt x="294728" y="85089"/>
                </a:lnTo>
                <a:lnTo>
                  <a:pt x="282181" y="78739"/>
                </a:lnTo>
                <a:lnTo>
                  <a:pt x="282371" y="78739"/>
                </a:lnTo>
                <a:lnTo>
                  <a:pt x="269646" y="73660"/>
                </a:lnTo>
                <a:lnTo>
                  <a:pt x="269836" y="73660"/>
                </a:lnTo>
                <a:lnTo>
                  <a:pt x="256933" y="67310"/>
                </a:lnTo>
                <a:lnTo>
                  <a:pt x="257136" y="67310"/>
                </a:lnTo>
                <a:lnTo>
                  <a:pt x="244055" y="62230"/>
                </a:lnTo>
                <a:lnTo>
                  <a:pt x="244259" y="62230"/>
                </a:lnTo>
                <a:lnTo>
                  <a:pt x="231025" y="57150"/>
                </a:lnTo>
                <a:lnTo>
                  <a:pt x="231216" y="57150"/>
                </a:lnTo>
                <a:lnTo>
                  <a:pt x="217817" y="53339"/>
                </a:lnTo>
                <a:lnTo>
                  <a:pt x="218020" y="53339"/>
                </a:lnTo>
                <a:lnTo>
                  <a:pt x="204469" y="48260"/>
                </a:lnTo>
                <a:lnTo>
                  <a:pt x="204673" y="48260"/>
                </a:lnTo>
                <a:lnTo>
                  <a:pt x="190969" y="44450"/>
                </a:lnTo>
                <a:lnTo>
                  <a:pt x="191173" y="44450"/>
                </a:lnTo>
                <a:lnTo>
                  <a:pt x="177317" y="40639"/>
                </a:lnTo>
                <a:lnTo>
                  <a:pt x="177520" y="40639"/>
                </a:lnTo>
                <a:lnTo>
                  <a:pt x="163525" y="36830"/>
                </a:lnTo>
                <a:lnTo>
                  <a:pt x="163728" y="36830"/>
                </a:lnTo>
                <a:lnTo>
                  <a:pt x="149593" y="33019"/>
                </a:lnTo>
                <a:lnTo>
                  <a:pt x="149809" y="33019"/>
                </a:lnTo>
                <a:lnTo>
                  <a:pt x="135534" y="30480"/>
                </a:lnTo>
                <a:lnTo>
                  <a:pt x="135750" y="30480"/>
                </a:lnTo>
                <a:lnTo>
                  <a:pt x="121348" y="27939"/>
                </a:lnTo>
                <a:lnTo>
                  <a:pt x="121564" y="27939"/>
                </a:lnTo>
                <a:lnTo>
                  <a:pt x="107048" y="25400"/>
                </a:lnTo>
                <a:lnTo>
                  <a:pt x="107251" y="25400"/>
                </a:lnTo>
                <a:lnTo>
                  <a:pt x="92608" y="24130"/>
                </a:lnTo>
                <a:lnTo>
                  <a:pt x="92824" y="24130"/>
                </a:lnTo>
                <a:lnTo>
                  <a:pt x="78066" y="21589"/>
                </a:lnTo>
                <a:lnTo>
                  <a:pt x="78282" y="21589"/>
                </a:lnTo>
                <a:lnTo>
                  <a:pt x="63411" y="20319"/>
                </a:lnTo>
                <a:lnTo>
                  <a:pt x="63626" y="20319"/>
                </a:lnTo>
                <a:lnTo>
                  <a:pt x="48653" y="19050"/>
                </a:lnTo>
                <a:lnTo>
                  <a:pt x="34010" y="19050"/>
                </a:lnTo>
                <a:lnTo>
                  <a:pt x="18846" y="17780"/>
                </a:lnTo>
                <a:lnTo>
                  <a:pt x="19342" y="0"/>
                </a:lnTo>
                <a:lnTo>
                  <a:pt x="49911" y="0"/>
                </a:lnTo>
                <a:lnTo>
                  <a:pt x="80175" y="2539"/>
                </a:lnTo>
                <a:lnTo>
                  <a:pt x="95148" y="5080"/>
                </a:lnTo>
                <a:lnTo>
                  <a:pt x="110007" y="6350"/>
                </a:lnTo>
                <a:lnTo>
                  <a:pt x="139344" y="11430"/>
                </a:lnTo>
                <a:lnTo>
                  <a:pt x="153822" y="15239"/>
                </a:lnTo>
                <a:lnTo>
                  <a:pt x="168173" y="17780"/>
                </a:lnTo>
                <a:lnTo>
                  <a:pt x="196443" y="25400"/>
                </a:lnTo>
                <a:lnTo>
                  <a:pt x="210350" y="30480"/>
                </a:lnTo>
                <a:lnTo>
                  <a:pt x="224116" y="34289"/>
                </a:lnTo>
                <a:lnTo>
                  <a:pt x="251155" y="44450"/>
                </a:lnTo>
                <a:lnTo>
                  <a:pt x="264426" y="50800"/>
                </a:lnTo>
                <a:lnTo>
                  <a:pt x="277533" y="55880"/>
                </a:lnTo>
                <a:lnTo>
                  <a:pt x="303199" y="68580"/>
                </a:lnTo>
                <a:lnTo>
                  <a:pt x="328129" y="81280"/>
                </a:lnTo>
                <a:lnTo>
                  <a:pt x="340309" y="88900"/>
                </a:lnTo>
                <a:lnTo>
                  <a:pt x="352285" y="95250"/>
                </a:lnTo>
                <a:lnTo>
                  <a:pt x="364058" y="102869"/>
                </a:lnTo>
                <a:lnTo>
                  <a:pt x="365986" y="104139"/>
                </a:lnTo>
                <a:lnTo>
                  <a:pt x="330504" y="104139"/>
                </a:lnTo>
                <a:lnTo>
                  <a:pt x="330695" y="105410"/>
                </a:lnTo>
                <a:close/>
              </a:path>
              <a:path w="615314" h="1096010">
                <a:moveTo>
                  <a:pt x="446646" y="195580"/>
                </a:moveTo>
                <a:lnTo>
                  <a:pt x="437070" y="185419"/>
                </a:lnTo>
                <a:lnTo>
                  <a:pt x="437235" y="185419"/>
                </a:lnTo>
                <a:lnTo>
                  <a:pt x="427418" y="176530"/>
                </a:lnTo>
                <a:lnTo>
                  <a:pt x="427583" y="176530"/>
                </a:lnTo>
                <a:lnTo>
                  <a:pt x="417537" y="167639"/>
                </a:lnTo>
                <a:lnTo>
                  <a:pt x="417702" y="167639"/>
                </a:lnTo>
                <a:lnTo>
                  <a:pt x="407415" y="158750"/>
                </a:lnTo>
                <a:lnTo>
                  <a:pt x="407581" y="158750"/>
                </a:lnTo>
                <a:lnTo>
                  <a:pt x="397078" y="151130"/>
                </a:lnTo>
                <a:lnTo>
                  <a:pt x="397243" y="151130"/>
                </a:lnTo>
                <a:lnTo>
                  <a:pt x="386511" y="142239"/>
                </a:lnTo>
                <a:lnTo>
                  <a:pt x="386676" y="142239"/>
                </a:lnTo>
                <a:lnTo>
                  <a:pt x="375729" y="134619"/>
                </a:lnTo>
                <a:lnTo>
                  <a:pt x="375907" y="134619"/>
                </a:lnTo>
                <a:lnTo>
                  <a:pt x="364731" y="127000"/>
                </a:lnTo>
                <a:lnTo>
                  <a:pt x="364909" y="127000"/>
                </a:lnTo>
                <a:lnTo>
                  <a:pt x="353529" y="119380"/>
                </a:lnTo>
                <a:lnTo>
                  <a:pt x="353707" y="119380"/>
                </a:lnTo>
                <a:lnTo>
                  <a:pt x="342112" y="111760"/>
                </a:lnTo>
                <a:lnTo>
                  <a:pt x="342303" y="111760"/>
                </a:lnTo>
                <a:lnTo>
                  <a:pt x="330504" y="104139"/>
                </a:lnTo>
                <a:lnTo>
                  <a:pt x="365986" y="104139"/>
                </a:lnTo>
                <a:lnTo>
                  <a:pt x="375627" y="110489"/>
                </a:lnTo>
                <a:lnTo>
                  <a:pt x="386969" y="119380"/>
                </a:lnTo>
                <a:lnTo>
                  <a:pt x="398106" y="127000"/>
                </a:lnTo>
                <a:lnTo>
                  <a:pt x="430161" y="153669"/>
                </a:lnTo>
                <a:lnTo>
                  <a:pt x="460095" y="181610"/>
                </a:lnTo>
                <a:lnTo>
                  <a:pt x="469569" y="191769"/>
                </a:lnTo>
                <a:lnTo>
                  <a:pt x="472207" y="194310"/>
                </a:lnTo>
                <a:lnTo>
                  <a:pt x="446481" y="194310"/>
                </a:lnTo>
                <a:lnTo>
                  <a:pt x="446646" y="195580"/>
                </a:lnTo>
                <a:close/>
              </a:path>
              <a:path w="615314" h="1096010">
                <a:moveTo>
                  <a:pt x="464731" y="214630"/>
                </a:moveTo>
                <a:lnTo>
                  <a:pt x="455650" y="204469"/>
                </a:lnTo>
                <a:lnTo>
                  <a:pt x="455815" y="204469"/>
                </a:lnTo>
                <a:lnTo>
                  <a:pt x="446481" y="194310"/>
                </a:lnTo>
                <a:lnTo>
                  <a:pt x="472207" y="194310"/>
                </a:lnTo>
                <a:lnTo>
                  <a:pt x="478802" y="200660"/>
                </a:lnTo>
                <a:lnTo>
                  <a:pt x="487768" y="210819"/>
                </a:lnTo>
                <a:lnTo>
                  <a:pt x="489704" y="213360"/>
                </a:lnTo>
                <a:lnTo>
                  <a:pt x="464578" y="213360"/>
                </a:lnTo>
                <a:lnTo>
                  <a:pt x="464731" y="214630"/>
                </a:lnTo>
                <a:close/>
              </a:path>
              <a:path w="615314" h="1096010">
                <a:moveTo>
                  <a:pt x="526592" y="298450"/>
                </a:moveTo>
                <a:lnTo>
                  <a:pt x="519696" y="287019"/>
                </a:lnTo>
                <a:lnTo>
                  <a:pt x="519823" y="287019"/>
                </a:lnTo>
                <a:lnTo>
                  <a:pt x="512635" y="275589"/>
                </a:lnTo>
                <a:lnTo>
                  <a:pt x="512775" y="275589"/>
                </a:lnTo>
                <a:lnTo>
                  <a:pt x="505294" y="265430"/>
                </a:lnTo>
                <a:lnTo>
                  <a:pt x="505434" y="265430"/>
                </a:lnTo>
                <a:lnTo>
                  <a:pt x="497687" y="254000"/>
                </a:lnTo>
                <a:lnTo>
                  <a:pt x="497827" y="254000"/>
                </a:lnTo>
                <a:lnTo>
                  <a:pt x="489800" y="243839"/>
                </a:lnTo>
                <a:lnTo>
                  <a:pt x="489940" y="243839"/>
                </a:lnTo>
                <a:lnTo>
                  <a:pt x="481660" y="233680"/>
                </a:lnTo>
                <a:lnTo>
                  <a:pt x="481799" y="233680"/>
                </a:lnTo>
                <a:lnTo>
                  <a:pt x="473240" y="223519"/>
                </a:lnTo>
                <a:lnTo>
                  <a:pt x="473392" y="223519"/>
                </a:lnTo>
                <a:lnTo>
                  <a:pt x="464578" y="213360"/>
                </a:lnTo>
                <a:lnTo>
                  <a:pt x="489704" y="213360"/>
                </a:lnTo>
                <a:lnTo>
                  <a:pt x="496481" y="222250"/>
                </a:lnTo>
                <a:lnTo>
                  <a:pt x="504913" y="232410"/>
                </a:lnTo>
                <a:lnTo>
                  <a:pt x="528574" y="265430"/>
                </a:lnTo>
                <a:lnTo>
                  <a:pt x="548147" y="297180"/>
                </a:lnTo>
                <a:lnTo>
                  <a:pt x="526478" y="297180"/>
                </a:lnTo>
                <a:lnTo>
                  <a:pt x="526592" y="298450"/>
                </a:lnTo>
                <a:close/>
              </a:path>
              <a:path w="615314" h="1096010">
                <a:moveTo>
                  <a:pt x="570039" y="392430"/>
                </a:moveTo>
                <a:lnTo>
                  <a:pt x="565607" y="379730"/>
                </a:lnTo>
                <a:lnTo>
                  <a:pt x="560933" y="367030"/>
                </a:lnTo>
                <a:lnTo>
                  <a:pt x="555955" y="355600"/>
                </a:lnTo>
                <a:lnTo>
                  <a:pt x="550659" y="344169"/>
                </a:lnTo>
                <a:lnTo>
                  <a:pt x="545058" y="331469"/>
                </a:lnTo>
                <a:lnTo>
                  <a:pt x="539153" y="320039"/>
                </a:lnTo>
                <a:lnTo>
                  <a:pt x="532955" y="308610"/>
                </a:lnTo>
                <a:lnTo>
                  <a:pt x="526478" y="297180"/>
                </a:lnTo>
                <a:lnTo>
                  <a:pt x="548147" y="297180"/>
                </a:lnTo>
                <a:lnTo>
                  <a:pt x="549643" y="299719"/>
                </a:lnTo>
                <a:lnTo>
                  <a:pt x="556069" y="311150"/>
                </a:lnTo>
                <a:lnTo>
                  <a:pt x="562190" y="323850"/>
                </a:lnTo>
                <a:lnTo>
                  <a:pt x="567994" y="335280"/>
                </a:lnTo>
                <a:lnTo>
                  <a:pt x="583514" y="373380"/>
                </a:lnTo>
                <a:lnTo>
                  <a:pt x="589699" y="391160"/>
                </a:lnTo>
                <a:lnTo>
                  <a:pt x="569950" y="391160"/>
                </a:lnTo>
                <a:lnTo>
                  <a:pt x="570039" y="392430"/>
                </a:lnTo>
                <a:close/>
              </a:path>
              <a:path w="615314" h="1096010">
                <a:moveTo>
                  <a:pt x="591172" y="481330"/>
                </a:moveTo>
                <a:lnTo>
                  <a:pt x="589140" y="467360"/>
                </a:lnTo>
                <a:lnTo>
                  <a:pt x="586790" y="454660"/>
                </a:lnTo>
                <a:lnTo>
                  <a:pt x="584098" y="441960"/>
                </a:lnTo>
                <a:lnTo>
                  <a:pt x="581063" y="429260"/>
                </a:lnTo>
                <a:lnTo>
                  <a:pt x="577684" y="416560"/>
                </a:lnTo>
                <a:lnTo>
                  <a:pt x="573989" y="403860"/>
                </a:lnTo>
                <a:lnTo>
                  <a:pt x="569950" y="391160"/>
                </a:lnTo>
                <a:lnTo>
                  <a:pt x="589699" y="391160"/>
                </a:lnTo>
                <a:lnTo>
                  <a:pt x="602703" y="438150"/>
                </a:lnTo>
                <a:lnTo>
                  <a:pt x="610031" y="477519"/>
                </a:lnTo>
                <a:lnTo>
                  <a:pt x="610341" y="480060"/>
                </a:lnTo>
                <a:lnTo>
                  <a:pt x="591134" y="480060"/>
                </a:lnTo>
                <a:lnTo>
                  <a:pt x="591172" y="481330"/>
                </a:lnTo>
                <a:close/>
              </a:path>
              <a:path w="615314" h="1096010">
                <a:moveTo>
                  <a:pt x="611794" y="601980"/>
                </a:moveTo>
                <a:lnTo>
                  <a:pt x="592721" y="601980"/>
                </a:lnTo>
                <a:lnTo>
                  <a:pt x="594067" y="588010"/>
                </a:lnTo>
                <a:lnTo>
                  <a:pt x="595007" y="574039"/>
                </a:lnTo>
                <a:lnTo>
                  <a:pt x="595579" y="561339"/>
                </a:lnTo>
                <a:lnTo>
                  <a:pt x="595757" y="547369"/>
                </a:lnTo>
                <a:lnTo>
                  <a:pt x="595566" y="533400"/>
                </a:lnTo>
                <a:lnTo>
                  <a:pt x="595007" y="520700"/>
                </a:lnTo>
                <a:lnTo>
                  <a:pt x="594080" y="506730"/>
                </a:lnTo>
                <a:lnTo>
                  <a:pt x="592785" y="494030"/>
                </a:lnTo>
                <a:lnTo>
                  <a:pt x="591134" y="480060"/>
                </a:lnTo>
                <a:lnTo>
                  <a:pt x="610341" y="480060"/>
                </a:lnTo>
                <a:lnTo>
                  <a:pt x="611733" y="491489"/>
                </a:lnTo>
                <a:lnTo>
                  <a:pt x="613079" y="505460"/>
                </a:lnTo>
                <a:lnTo>
                  <a:pt x="614032" y="519430"/>
                </a:lnTo>
                <a:lnTo>
                  <a:pt x="614616" y="533400"/>
                </a:lnTo>
                <a:lnTo>
                  <a:pt x="614807" y="547369"/>
                </a:lnTo>
                <a:lnTo>
                  <a:pt x="614616" y="561339"/>
                </a:lnTo>
                <a:lnTo>
                  <a:pt x="614019" y="575310"/>
                </a:lnTo>
                <a:lnTo>
                  <a:pt x="613041" y="589280"/>
                </a:lnTo>
                <a:lnTo>
                  <a:pt x="611794" y="601980"/>
                </a:lnTo>
                <a:close/>
              </a:path>
              <a:path w="615314" h="1096010">
                <a:moveTo>
                  <a:pt x="605817" y="641350"/>
                </a:moveTo>
                <a:lnTo>
                  <a:pt x="586600" y="641350"/>
                </a:lnTo>
                <a:lnTo>
                  <a:pt x="589051" y="627380"/>
                </a:lnTo>
                <a:lnTo>
                  <a:pt x="591083" y="614680"/>
                </a:lnTo>
                <a:lnTo>
                  <a:pt x="592759" y="600710"/>
                </a:lnTo>
                <a:lnTo>
                  <a:pt x="592721" y="601980"/>
                </a:lnTo>
                <a:lnTo>
                  <a:pt x="611794" y="601980"/>
                </a:lnTo>
                <a:lnTo>
                  <a:pt x="611670" y="603250"/>
                </a:lnTo>
                <a:lnTo>
                  <a:pt x="609930" y="617219"/>
                </a:lnTo>
                <a:lnTo>
                  <a:pt x="607809" y="631189"/>
                </a:lnTo>
                <a:lnTo>
                  <a:pt x="605817" y="641350"/>
                </a:lnTo>
                <a:close/>
              </a:path>
              <a:path w="615314" h="1096010">
                <a:moveTo>
                  <a:pt x="575596" y="741680"/>
                </a:moveTo>
                <a:lnTo>
                  <a:pt x="555155" y="741680"/>
                </a:lnTo>
                <a:lnTo>
                  <a:pt x="560336" y="728980"/>
                </a:lnTo>
                <a:lnTo>
                  <a:pt x="565086" y="716280"/>
                </a:lnTo>
                <a:lnTo>
                  <a:pt x="569518" y="704850"/>
                </a:lnTo>
                <a:lnTo>
                  <a:pt x="573620" y="692150"/>
                </a:lnTo>
                <a:lnTo>
                  <a:pt x="577392" y="679450"/>
                </a:lnTo>
                <a:lnTo>
                  <a:pt x="580821" y="666750"/>
                </a:lnTo>
                <a:lnTo>
                  <a:pt x="583907" y="654050"/>
                </a:lnTo>
                <a:lnTo>
                  <a:pt x="586651" y="640080"/>
                </a:lnTo>
                <a:lnTo>
                  <a:pt x="586600" y="641350"/>
                </a:lnTo>
                <a:lnTo>
                  <a:pt x="605817" y="641350"/>
                </a:lnTo>
                <a:lnTo>
                  <a:pt x="595680" y="684530"/>
                </a:lnTo>
                <a:lnTo>
                  <a:pt x="591756" y="697230"/>
                </a:lnTo>
                <a:lnTo>
                  <a:pt x="587489" y="711200"/>
                </a:lnTo>
                <a:lnTo>
                  <a:pt x="582879" y="723900"/>
                </a:lnTo>
                <a:lnTo>
                  <a:pt x="577938" y="736600"/>
                </a:lnTo>
                <a:lnTo>
                  <a:pt x="575596" y="741680"/>
                </a:lnTo>
                <a:close/>
              </a:path>
              <a:path w="615314" h="1096010">
                <a:moveTo>
                  <a:pt x="519137" y="843280"/>
                </a:moveTo>
                <a:lnTo>
                  <a:pt x="495769" y="843280"/>
                </a:lnTo>
                <a:lnTo>
                  <a:pt x="503669" y="831850"/>
                </a:lnTo>
                <a:lnTo>
                  <a:pt x="503529" y="831850"/>
                </a:lnTo>
                <a:lnTo>
                  <a:pt x="511136" y="821689"/>
                </a:lnTo>
                <a:lnTo>
                  <a:pt x="518337" y="810260"/>
                </a:lnTo>
                <a:lnTo>
                  <a:pt x="518198" y="810260"/>
                </a:lnTo>
                <a:lnTo>
                  <a:pt x="525233" y="798830"/>
                </a:lnTo>
                <a:lnTo>
                  <a:pt x="531837" y="787400"/>
                </a:lnTo>
                <a:lnTo>
                  <a:pt x="538149" y="775969"/>
                </a:lnTo>
                <a:lnTo>
                  <a:pt x="544156" y="764539"/>
                </a:lnTo>
                <a:lnTo>
                  <a:pt x="549859" y="753110"/>
                </a:lnTo>
                <a:lnTo>
                  <a:pt x="555256" y="740410"/>
                </a:lnTo>
                <a:lnTo>
                  <a:pt x="555155" y="741680"/>
                </a:lnTo>
                <a:lnTo>
                  <a:pt x="575596" y="741680"/>
                </a:lnTo>
                <a:lnTo>
                  <a:pt x="572668" y="748030"/>
                </a:lnTo>
                <a:lnTo>
                  <a:pt x="567067" y="760730"/>
                </a:lnTo>
                <a:lnTo>
                  <a:pt x="561136" y="773430"/>
                </a:lnTo>
                <a:lnTo>
                  <a:pt x="554901" y="784860"/>
                </a:lnTo>
                <a:lnTo>
                  <a:pt x="548347" y="797560"/>
                </a:lnTo>
                <a:lnTo>
                  <a:pt x="541489" y="808989"/>
                </a:lnTo>
                <a:lnTo>
                  <a:pt x="534339" y="820419"/>
                </a:lnTo>
                <a:lnTo>
                  <a:pt x="526884" y="831850"/>
                </a:lnTo>
                <a:lnTo>
                  <a:pt x="519137" y="843280"/>
                </a:lnTo>
                <a:close/>
              </a:path>
              <a:path w="615314" h="1096010">
                <a:moveTo>
                  <a:pt x="382701" y="979169"/>
                </a:moveTo>
                <a:lnTo>
                  <a:pt x="348995" y="979169"/>
                </a:lnTo>
                <a:lnTo>
                  <a:pt x="360578" y="971550"/>
                </a:lnTo>
                <a:lnTo>
                  <a:pt x="360400" y="971550"/>
                </a:lnTo>
                <a:lnTo>
                  <a:pt x="371767" y="962660"/>
                </a:lnTo>
                <a:lnTo>
                  <a:pt x="371589" y="962660"/>
                </a:lnTo>
                <a:lnTo>
                  <a:pt x="382739" y="955039"/>
                </a:lnTo>
                <a:lnTo>
                  <a:pt x="382562" y="955039"/>
                </a:lnTo>
                <a:lnTo>
                  <a:pt x="393484" y="947419"/>
                </a:lnTo>
                <a:lnTo>
                  <a:pt x="393306" y="947419"/>
                </a:lnTo>
                <a:lnTo>
                  <a:pt x="404012" y="938530"/>
                </a:lnTo>
                <a:lnTo>
                  <a:pt x="403834" y="938530"/>
                </a:lnTo>
                <a:lnTo>
                  <a:pt x="414312" y="929639"/>
                </a:lnTo>
                <a:lnTo>
                  <a:pt x="414146" y="929639"/>
                </a:lnTo>
                <a:lnTo>
                  <a:pt x="424370" y="920750"/>
                </a:lnTo>
                <a:lnTo>
                  <a:pt x="424205" y="920750"/>
                </a:lnTo>
                <a:lnTo>
                  <a:pt x="434200" y="911860"/>
                </a:lnTo>
                <a:lnTo>
                  <a:pt x="434035" y="911860"/>
                </a:lnTo>
                <a:lnTo>
                  <a:pt x="443776" y="902969"/>
                </a:lnTo>
                <a:lnTo>
                  <a:pt x="443623" y="902969"/>
                </a:lnTo>
                <a:lnTo>
                  <a:pt x="453110" y="892810"/>
                </a:lnTo>
                <a:lnTo>
                  <a:pt x="452958" y="892810"/>
                </a:lnTo>
                <a:lnTo>
                  <a:pt x="462203" y="883919"/>
                </a:lnTo>
                <a:lnTo>
                  <a:pt x="462038" y="883919"/>
                </a:lnTo>
                <a:lnTo>
                  <a:pt x="471017" y="873760"/>
                </a:lnTo>
                <a:lnTo>
                  <a:pt x="470865" y="873760"/>
                </a:lnTo>
                <a:lnTo>
                  <a:pt x="479590" y="863600"/>
                </a:lnTo>
                <a:lnTo>
                  <a:pt x="479437" y="863600"/>
                </a:lnTo>
                <a:lnTo>
                  <a:pt x="487883" y="853439"/>
                </a:lnTo>
                <a:lnTo>
                  <a:pt x="487743" y="853439"/>
                </a:lnTo>
                <a:lnTo>
                  <a:pt x="495909" y="842010"/>
                </a:lnTo>
                <a:lnTo>
                  <a:pt x="495769" y="843280"/>
                </a:lnTo>
                <a:lnTo>
                  <a:pt x="519137" y="843280"/>
                </a:lnTo>
                <a:lnTo>
                  <a:pt x="511098" y="854710"/>
                </a:lnTo>
                <a:lnTo>
                  <a:pt x="502780" y="864869"/>
                </a:lnTo>
                <a:lnTo>
                  <a:pt x="494182" y="875030"/>
                </a:lnTo>
                <a:lnTo>
                  <a:pt x="485317" y="886460"/>
                </a:lnTo>
                <a:lnTo>
                  <a:pt x="476186" y="896619"/>
                </a:lnTo>
                <a:lnTo>
                  <a:pt x="466788" y="906780"/>
                </a:lnTo>
                <a:lnTo>
                  <a:pt x="457123" y="915669"/>
                </a:lnTo>
                <a:lnTo>
                  <a:pt x="447217" y="925830"/>
                </a:lnTo>
                <a:lnTo>
                  <a:pt x="437057" y="934719"/>
                </a:lnTo>
                <a:lnTo>
                  <a:pt x="426656" y="944880"/>
                </a:lnTo>
                <a:lnTo>
                  <a:pt x="416013" y="953769"/>
                </a:lnTo>
                <a:lnTo>
                  <a:pt x="405142" y="962660"/>
                </a:lnTo>
                <a:lnTo>
                  <a:pt x="394030" y="970280"/>
                </a:lnTo>
                <a:lnTo>
                  <a:pt x="382701" y="979169"/>
                </a:lnTo>
                <a:close/>
              </a:path>
              <a:path w="615314" h="1096010">
                <a:moveTo>
                  <a:pt x="274015" y="1040130"/>
                </a:moveTo>
                <a:lnTo>
                  <a:pt x="224421" y="1040130"/>
                </a:lnTo>
                <a:lnTo>
                  <a:pt x="237883" y="1035050"/>
                </a:lnTo>
                <a:lnTo>
                  <a:pt x="237680" y="1035050"/>
                </a:lnTo>
                <a:lnTo>
                  <a:pt x="250964" y="1029969"/>
                </a:lnTo>
                <a:lnTo>
                  <a:pt x="250774" y="1029969"/>
                </a:lnTo>
                <a:lnTo>
                  <a:pt x="263880" y="1023619"/>
                </a:lnTo>
                <a:lnTo>
                  <a:pt x="263690" y="1023619"/>
                </a:lnTo>
                <a:lnTo>
                  <a:pt x="276631" y="1018539"/>
                </a:lnTo>
                <a:lnTo>
                  <a:pt x="276428" y="1018539"/>
                </a:lnTo>
                <a:lnTo>
                  <a:pt x="289191" y="1012189"/>
                </a:lnTo>
                <a:lnTo>
                  <a:pt x="289001" y="1012189"/>
                </a:lnTo>
                <a:lnTo>
                  <a:pt x="301574" y="1005839"/>
                </a:lnTo>
                <a:lnTo>
                  <a:pt x="301383" y="1005839"/>
                </a:lnTo>
                <a:lnTo>
                  <a:pt x="313766" y="999489"/>
                </a:lnTo>
                <a:lnTo>
                  <a:pt x="313575" y="999489"/>
                </a:lnTo>
                <a:lnTo>
                  <a:pt x="325767" y="993139"/>
                </a:lnTo>
                <a:lnTo>
                  <a:pt x="325577" y="993139"/>
                </a:lnTo>
                <a:lnTo>
                  <a:pt x="337578" y="985519"/>
                </a:lnTo>
                <a:lnTo>
                  <a:pt x="337388" y="985519"/>
                </a:lnTo>
                <a:lnTo>
                  <a:pt x="349186" y="977900"/>
                </a:lnTo>
                <a:lnTo>
                  <a:pt x="348995" y="979169"/>
                </a:lnTo>
                <a:lnTo>
                  <a:pt x="382701" y="979169"/>
                </a:lnTo>
                <a:lnTo>
                  <a:pt x="347408" y="1002030"/>
                </a:lnTo>
                <a:lnTo>
                  <a:pt x="310261" y="1022350"/>
                </a:lnTo>
                <a:lnTo>
                  <a:pt x="297484" y="1029969"/>
                </a:lnTo>
                <a:lnTo>
                  <a:pt x="284530" y="1035050"/>
                </a:lnTo>
                <a:lnTo>
                  <a:pt x="274015" y="1040130"/>
                </a:lnTo>
                <a:close/>
              </a:path>
              <a:path w="615314" h="1096010">
                <a:moveTo>
                  <a:pt x="165083" y="1076960"/>
                </a:moveTo>
                <a:lnTo>
                  <a:pt x="9128" y="1076950"/>
                </a:lnTo>
                <a:lnTo>
                  <a:pt x="24409" y="1075689"/>
                </a:lnTo>
                <a:lnTo>
                  <a:pt x="39268" y="1075689"/>
                </a:lnTo>
                <a:lnTo>
                  <a:pt x="54457" y="1074419"/>
                </a:lnTo>
                <a:lnTo>
                  <a:pt x="54241" y="1074419"/>
                </a:lnTo>
                <a:lnTo>
                  <a:pt x="69316" y="1073150"/>
                </a:lnTo>
                <a:lnTo>
                  <a:pt x="69100" y="1073150"/>
                </a:lnTo>
                <a:lnTo>
                  <a:pt x="84074" y="1071880"/>
                </a:lnTo>
                <a:lnTo>
                  <a:pt x="83858" y="1071880"/>
                </a:lnTo>
                <a:lnTo>
                  <a:pt x="98729" y="1070610"/>
                </a:lnTo>
                <a:lnTo>
                  <a:pt x="98513" y="1070610"/>
                </a:lnTo>
                <a:lnTo>
                  <a:pt x="113245" y="1068069"/>
                </a:lnTo>
                <a:lnTo>
                  <a:pt x="113030" y="1068069"/>
                </a:lnTo>
                <a:lnTo>
                  <a:pt x="127647" y="1065530"/>
                </a:lnTo>
                <a:lnTo>
                  <a:pt x="127431" y="1065530"/>
                </a:lnTo>
                <a:lnTo>
                  <a:pt x="141922" y="1062989"/>
                </a:lnTo>
                <a:lnTo>
                  <a:pt x="141719" y="1062989"/>
                </a:lnTo>
                <a:lnTo>
                  <a:pt x="156070" y="1059180"/>
                </a:lnTo>
                <a:lnTo>
                  <a:pt x="155854" y="1059180"/>
                </a:lnTo>
                <a:lnTo>
                  <a:pt x="170078" y="1056639"/>
                </a:lnTo>
                <a:lnTo>
                  <a:pt x="169862" y="1056639"/>
                </a:lnTo>
                <a:lnTo>
                  <a:pt x="183934" y="1052830"/>
                </a:lnTo>
                <a:lnTo>
                  <a:pt x="183730" y="1052830"/>
                </a:lnTo>
                <a:lnTo>
                  <a:pt x="197650" y="1049019"/>
                </a:lnTo>
                <a:lnTo>
                  <a:pt x="197446" y="1049019"/>
                </a:lnTo>
                <a:lnTo>
                  <a:pt x="211226" y="1043939"/>
                </a:lnTo>
                <a:lnTo>
                  <a:pt x="211010" y="1043939"/>
                </a:lnTo>
                <a:lnTo>
                  <a:pt x="224624" y="1038860"/>
                </a:lnTo>
                <a:lnTo>
                  <a:pt x="224421" y="1040130"/>
                </a:lnTo>
                <a:lnTo>
                  <a:pt x="274015" y="1040130"/>
                </a:lnTo>
                <a:lnTo>
                  <a:pt x="271386" y="1041400"/>
                </a:lnTo>
                <a:lnTo>
                  <a:pt x="258076" y="1046480"/>
                </a:lnTo>
                <a:lnTo>
                  <a:pt x="244576" y="1052830"/>
                </a:lnTo>
                <a:lnTo>
                  <a:pt x="230924" y="1057910"/>
                </a:lnTo>
                <a:lnTo>
                  <a:pt x="217093" y="1061719"/>
                </a:lnTo>
                <a:lnTo>
                  <a:pt x="203123" y="1066800"/>
                </a:lnTo>
                <a:lnTo>
                  <a:pt x="165083" y="1076960"/>
                </a:lnTo>
                <a:close/>
              </a:path>
              <a:path w="615314" h="1096010">
                <a:moveTo>
                  <a:pt x="9156" y="1096010"/>
                </a:moveTo>
                <a:lnTo>
                  <a:pt x="0" y="1094739"/>
                </a:lnTo>
                <a:lnTo>
                  <a:pt x="126" y="1075689"/>
                </a:lnTo>
                <a:lnTo>
                  <a:pt x="9128" y="1076950"/>
                </a:lnTo>
                <a:lnTo>
                  <a:pt x="165083" y="1076960"/>
                </a:lnTo>
                <a:lnTo>
                  <a:pt x="160274" y="1078230"/>
                </a:lnTo>
                <a:lnTo>
                  <a:pt x="145707" y="1080769"/>
                </a:lnTo>
                <a:lnTo>
                  <a:pt x="131013" y="1084580"/>
                </a:lnTo>
                <a:lnTo>
                  <a:pt x="101218" y="1089660"/>
                </a:lnTo>
                <a:lnTo>
                  <a:pt x="40246" y="1094739"/>
                </a:lnTo>
                <a:lnTo>
                  <a:pt x="24739" y="1094739"/>
                </a:lnTo>
                <a:lnTo>
                  <a:pt x="9156" y="10960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354960" y="2351785"/>
            <a:ext cx="443230" cy="764540"/>
          </a:xfrm>
          <a:custGeom>
            <a:avLst/>
            <a:gdLst/>
            <a:ahLst/>
            <a:cxnLst/>
            <a:rect l="l" t="t" r="r" b="b"/>
            <a:pathLst>
              <a:path w="443230" h="764539">
                <a:moveTo>
                  <a:pt x="116395" y="31750"/>
                </a:moveTo>
                <a:lnTo>
                  <a:pt x="106260" y="29210"/>
                </a:lnTo>
                <a:lnTo>
                  <a:pt x="106464" y="29210"/>
                </a:lnTo>
                <a:lnTo>
                  <a:pt x="96240" y="26669"/>
                </a:lnTo>
                <a:lnTo>
                  <a:pt x="96443" y="26669"/>
                </a:lnTo>
                <a:lnTo>
                  <a:pt x="86118" y="25400"/>
                </a:lnTo>
                <a:lnTo>
                  <a:pt x="86321" y="25400"/>
                </a:lnTo>
                <a:lnTo>
                  <a:pt x="75907" y="22860"/>
                </a:lnTo>
                <a:lnTo>
                  <a:pt x="76111" y="22860"/>
                </a:lnTo>
                <a:lnTo>
                  <a:pt x="65620" y="21589"/>
                </a:lnTo>
                <a:lnTo>
                  <a:pt x="65824" y="21589"/>
                </a:lnTo>
                <a:lnTo>
                  <a:pt x="55244" y="20319"/>
                </a:lnTo>
                <a:lnTo>
                  <a:pt x="44996" y="20319"/>
                </a:lnTo>
                <a:lnTo>
                  <a:pt x="34264" y="19050"/>
                </a:lnTo>
                <a:lnTo>
                  <a:pt x="23875" y="19050"/>
                </a:lnTo>
                <a:lnTo>
                  <a:pt x="12992" y="17780"/>
                </a:lnTo>
                <a:lnTo>
                  <a:pt x="13462" y="0"/>
                </a:lnTo>
                <a:lnTo>
                  <a:pt x="35471" y="0"/>
                </a:lnTo>
                <a:lnTo>
                  <a:pt x="46405" y="1269"/>
                </a:lnTo>
                <a:lnTo>
                  <a:pt x="57276" y="1269"/>
                </a:lnTo>
                <a:lnTo>
                  <a:pt x="68059" y="2539"/>
                </a:lnTo>
                <a:lnTo>
                  <a:pt x="78765" y="5080"/>
                </a:lnTo>
                <a:lnTo>
                  <a:pt x="99910" y="7619"/>
                </a:lnTo>
                <a:lnTo>
                  <a:pt x="151091" y="20319"/>
                </a:lnTo>
                <a:lnTo>
                  <a:pt x="170814" y="27939"/>
                </a:lnTo>
                <a:lnTo>
                  <a:pt x="180505" y="30480"/>
                </a:lnTo>
                <a:lnTo>
                  <a:pt x="116192" y="30480"/>
                </a:lnTo>
                <a:lnTo>
                  <a:pt x="116395" y="31750"/>
                </a:lnTo>
                <a:close/>
              </a:path>
              <a:path w="443230" h="764539">
                <a:moveTo>
                  <a:pt x="135966" y="36830"/>
                </a:moveTo>
                <a:lnTo>
                  <a:pt x="126034" y="33019"/>
                </a:lnTo>
                <a:lnTo>
                  <a:pt x="126225" y="33019"/>
                </a:lnTo>
                <a:lnTo>
                  <a:pt x="116192" y="30480"/>
                </a:lnTo>
                <a:lnTo>
                  <a:pt x="180505" y="30480"/>
                </a:lnTo>
                <a:lnTo>
                  <a:pt x="193217" y="35560"/>
                </a:lnTo>
                <a:lnTo>
                  <a:pt x="135762" y="35560"/>
                </a:lnTo>
                <a:lnTo>
                  <a:pt x="135966" y="36830"/>
                </a:lnTo>
                <a:close/>
              </a:path>
              <a:path w="443230" h="764539">
                <a:moveTo>
                  <a:pt x="330885" y="153669"/>
                </a:moveTo>
                <a:lnTo>
                  <a:pt x="324383" y="146050"/>
                </a:lnTo>
                <a:lnTo>
                  <a:pt x="324548" y="146050"/>
                </a:lnTo>
                <a:lnTo>
                  <a:pt x="317855" y="139700"/>
                </a:lnTo>
                <a:lnTo>
                  <a:pt x="318020" y="139700"/>
                </a:lnTo>
                <a:lnTo>
                  <a:pt x="311150" y="133350"/>
                </a:lnTo>
                <a:lnTo>
                  <a:pt x="311315" y="133350"/>
                </a:lnTo>
                <a:lnTo>
                  <a:pt x="304279" y="127000"/>
                </a:lnTo>
                <a:lnTo>
                  <a:pt x="304444" y="127000"/>
                </a:lnTo>
                <a:lnTo>
                  <a:pt x="297243" y="120650"/>
                </a:lnTo>
                <a:lnTo>
                  <a:pt x="297408" y="120650"/>
                </a:lnTo>
                <a:lnTo>
                  <a:pt x="290042" y="115569"/>
                </a:lnTo>
                <a:lnTo>
                  <a:pt x="290207" y="115569"/>
                </a:lnTo>
                <a:lnTo>
                  <a:pt x="282663" y="109219"/>
                </a:lnTo>
                <a:lnTo>
                  <a:pt x="282841" y="109219"/>
                </a:lnTo>
                <a:lnTo>
                  <a:pt x="275145" y="104139"/>
                </a:lnTo>
                <a:lnTo>
                  <a:pt x="275323" y="104139"/>
                </a:lnTo>
                <a:lnTo>
                  <a:pt x="267462" y="97789"/>
                </a:lnTo>
                <a:lnTo>
                  <a:pt x="267639" y="97789"/>
                </a:lnTo>
                <a:lnTo>
                  <a:pt x="259626" y="92710"/>
                </a:lnTo>
                <a:lnTo>
                  <a:pt x="259803" y="92710"/>
                </a:lnTo>
                <a:lnTo>
                  <a:pt x="251650" y="87630"/>
                </a:lnTo>
                <a:lnTo>
                  <a:pt x="251828" y="87630"/>
                </a:lnTo>
                <a:lnTo>
                  <a:pt x="243522" y="82550"/>
                </a:lnTo>
                <a:lnTo>
                  <a:pt x="243700" y="82550"/>
                </a:lnTo>
                <a:lnTo>
                  <a:pt x="235242" y="77469"/>
                </a:lnTo>
                <a:lnTo>
                  <a:pt x="235432" y="77469"/>
                </a:lnTo>
                <a:lnTo>
                  <a:pt x="226834" y="73660"/>
                </a:lnTo>
                <a:lnTo>
                  <a:pt x="227025" y="73660"/>
                </a:lnTo>
                <a:lnTo>
                  <a:pt x="218287" y="68580"/>
                </a:lnTo>
                <a:lnTo>
                  <a:pt x="218478" y="68580"/>
                </a:lnTo>
                <a:lnTo>
                  <a:pt x="209613" y="64769"/>
                </a:lnTo>
                <a:lnTo>
                  <a:pt x="209791" y="64769"/>
                </a:lnTo>
                <a:lnTo>
                  <a:pt x="200799" y="59689"/>
                </a:lnTo>
                <a:lnTo>
                  <a:pt x="200990" y="59689"/>
                </a:lnTo>
                <a:lnTo>
                  <a:pt x="191858" y="55880"/>
                </a:lnTo>
                <a:lnTo>
                  <a:pt x="192049" y="55880"/>
                </a:lnTo>
                <a:lnTo>
                  <a:pt x="182803" y="52069"/>
                </a:lnTo>
                <a:lnTo>
                  <a:pt x="182994" y="52069"/>
                </a:lnTo>
                <a:lnTo>
                  <a:pt x="173621" y="48260"/>
                </a:lnTo>
                <a:lnTo>
                  <a:pt x="173812" y="48260"/>
                </a:lnTo>
                <a:lnTo>
                  <a:pt x="164325" y="45719"/>
                </a:lnTo>
                <a:lnTo>
                  <a:pt x="164515" y="45719"/>
                </a:lnTo>
                <a:lnTo>
                  <a:pt x="154914" y="41910"/>
                </a:lnTo>
                <a:lnTo>
                  <a:pt x="155105" y="41910"/>
                </a:lnTo>
                <a:lnTo>
                  <a:pt x="145389" y="39369"/>
                </a:lnTo>
                <a:lnTo>
                  <a:pt x="145592" y="39369"/>
                </a:lnTo>
                <a:lnTo>
                  <a:pt x="135762" y="35560"/>
                </a:lnTo>
                <a:lnTo>
                  <a:pt x="193217" y="35560"/>
                </a:lnTo>
                <a:lnTo>
                  <a:pt x="199516" y="38100"/>
                </a:lnTo>
                <a:lnTo>
                  <a:pt x="208838" y="43180"/>
                </a:lnTo>
                <a:lnTo>
                  <a:pt x="218033" y="46989"/>
                </a:lnTo>
                <a:lnTo>
                  <a:pt x="227088" y="52069"/>
                </a:lnTo>
                <a:lnTo>
                  <a:pt x="236016" y="55880"/>
                </a:lnTo>
                <a:lnTo>
                  <a:pt x="253428" y="66039"/>
                </a:lnTo>
                <a:lnTo>
                  <a:pt x="261924" y="71119"/>
                </a:lnTo>
                <a:lnTo>
                  <a:pt x="270268" y="77469"/>
                </a:lnTo>
                <a:lnTo>
                  <a:pt x="278460" y="82550"/>
                </a:lnTo>
                <a:lnTo>
                  <a:pt x="286499" y="88900"/>
                </a:lnTo>
                <a:lnTo>
                  <a:pt x="294373" y="93980"/>
                </a:lnTo>
                <a:lnTo>
                  <a:pt x="302082" y="100330"/>
                </a:lnTo>
                <a:lnTo>
                  <a:pt x="331228" y="125730"/>
                </a:lnTo>
                <a:lnTo>
                  <a:pt x="338086" y="133350"/>
                </a:lnTo>
                <a:lnTo>
                  <a:pt x="344741" y="139700"/>
                </a:lnTo>
                <a:lnTo>
                  <a:pt x="351218" y="147319"/>
                </a:lnTo>
                <a:lnTo>
                  <a:pt x="355417" y="152400"/>
                </a:lnTo>
                <a:lnTo>
                  <a:pt x="330733" y="152400"/>
                </a:lnTo>
                <a:lnTo>
                  <a:pt x="330885" y="153669"/>
                </a:lnTo>
                <a:close/>
              </a:path>
              <a:path w="443230" h="764539">
                <a:moveTo>
                  <a:pt x="399364" y="259080"/>
                </a:moveTo>
                <a:lnTo>
                  <a:pt x="395731" y="250189"/>
                </a:lnTo>
                <a:lnTo>
                  <a:pt x="391972" y="242569"/>
                </a:lnTo>
                <a:lnTo>
                  <a:pt x="387984" y="233680"/>
                </a:lnTo>
                <a:lnTo>
                  <a:pt x="383794" y="226060"/>
                </a:lnTo>
                <a:lnTo>
                  <a:pt x="379387" y="218439"/>
                </a:lnTo>
                <a:lnTo>
                  <a:pt x="374776" y="210819"/>
                </a:lnTo>
                <a:lnTo>
                  <a:pt x="369950" y="203200"/>
                </a:lnTo>
                <a:lnTo>
                  <a:pt x="370090" y="203200"/>
                </a:lnTo>
                <a:lnTo>
                  <a:pt x="364934" y="195580"/>
                </a:lnTo>
                <a:lnTo>
                  <a:pt x="365074" y="195580"/>
                </a:lnTo>
                <a:lnTo>
                  <a:pt x="359714" y="187960"/>
                </a:lnTo>
                <a:lnTo>
                  <a:pt x="359854" y="187960"/>
                </a:lnTo>
                <a:lnTo>
                  <a:pt x="354291" y="180339"/>
                </a:lnTo>
                <a:lnTo>
                  <a:pt x="354444" y="180339"/>
                </a:lnTo>
                <a:lnTo>
                  <a:pt x="348691" y="173989"/>
                </a:lnTo>
                <a:lnTo>
                  <a:pt x="348830" y="173989"/>
                </a:lnTo>
                <a:lnTo>
                  <a:pt x="342887" y="166369"/>
                </a:lnTo>
                <a:lnTo>
                  <a:pt x="343039" y="166369"/>
                </a:lnTo>
                <a:lnTo>
                  <a:pt x="336905" y="160019"/>
                </a:lnTo>
                <a:lnTo>
                  <a:pt x="337057" y="160019"/>
                </a:lnTo>
                <a:lnTo>
                  <a:pt x="330733" y="152400"/>
                </a:lnTo>
                <a:lnTo>
                  <a:pt x="355417" y="152400"/>
                </a:lnTo>
                <a:lnTo>
                  <a:pt x="357517" y="154939"/>
                </a:lnTo>
                <a:lnTo>
                  <a:pt x="363600" y="161289"/>
                </a:lnTo>
                <a:lnTo>
                  <a:pt x="369506" y="168910"/>
                </a:lnTo>
                <a:lnTo>
                  <a:pt x="375208" y="176530"/>
                </a:lnTo>
                <a:lnTo>
                  <a:pt x="380695" y="184150"/>
                </a:lnTo>
                <a:lnTo>
                  <a:pt x="385991" y="193039"/>
                </a:lnTo>
                <a:lnTo>
                  <a:pt x="391058" y="200660"/>
                </a:lnTo>
                <a:lnTo>
                  <a:pt x="395922" y="208280"/>
                </a:lnTo>
                <a:lnTo>
                  <a:pt x="400570" y="217169"/>
                </a:lnTo>
                <a:lnTo>
                  <a:pt x="405002" y="224789"/>
                </a:lnTo>
                <a:lnTo>
                  <a:pt x="409206" y="233680"/>
                </a:lnTo>
                <a:lnTo>
                  <a:pt x="413169" y="242569"/>
                </a:lnTo>
                <a:lnTo>
                  <a:pt x="416915" y="251460"/>
                </a:lnTo>
                <a:lnTo>
                  <a:pt x="419419" y="257810"/>
                </a:lnTo>
                <a:lnTo>
                  <a:pt x="399275" y="257810"/>
                </a:lnTo>
                <a:lnTo>
                  <a:pt x="399364" y="259080"/>
                </a:lnTo>
                <a:close/>
              </a:path>
              <a:path w="443230" h="764539">
                <a:moveTo>
                  <a:pt x="425245" y="490219"/>
                </a:moveTo>
                <a:lnTo>
                  <a:pt x="405333" y="490219"/>
                </a:lnTo>
                <a:lnTo>
                  <a:pt x="408330" y="481330"/>
                </a:lnTo>
                <a:lnTo>
                  <a:pt x="410997" y="472439"/>
                </a:lnTo>
                <a:lnTo>
                  <a:pt x="413435" y="463550"/>
                </a:lnTo>
                <a:lnTo>
                  <a:pt x="415632" y="454660"/>
                </a:lnTo>
                <a:lnTo>
                  <a:pt x="417575" y="445769"/>
                </a:lnTo>
                <a:lnTo>
                  <a:pt x="419265" y="436880"/>
                </a:lnTo>
                <a:lnTo>
                  <a:pt x="420712" y="427989"/>
                </a:lnTo>
                <a:lnTo>
                  <a:pt x="421894" y="419100"/>
                </a:lnTo>
                <a:lnTo>
                  <a:pt x="422833" y="410210"/>
                </a:lnTo>
                <a:lnTo>
                  <a:pt x="423494" y="400050"/>
                </a:lnTo>
                <a:lnTo>
                  <a:pt x="423900" y="391160"/>
                </a:lnTo>
                <a:lnTo>
                  <a:pt x="424027" y="382269"/>
                </a:lnTo>
                <a:lnTo>
                  <a:pt x="423887" y="372110"/>
                </a:lnTo>
                <a:lnTo>
                  <a:pt x="423494" y="363219"/>
                </a:lnTo>
                <a:lnTo>
                  <a:pt x="422833" y="354330"/>
                </a:lnTo>
                <a:lnTo>
                  <a:pt x="421906" y="345439"/>
                </a:lnTo>
                <a:lnTo>
                  <a:pt x="420738" y="336550"/>
                </a:lnTo>
                <a:lnTo>
                  <a:pt x="419315" y="327660"/>
                </a:lnTo>
                <a:lnTo>
                  <a:pt x="417639" y="318769"/>
                </a:lnTo>
                <a:lnTo>
                  <a:pt x="415734" y="309880"/>
                </a:lnTo>
                <a:lnTo>
                  <a:pt x="413575" y="300989"/>
                </a:lnTo>
                <a:lnTo>
                  <a:pt x="411175" y="292100"/>
                </a:lnTo>
                <a:lnTo>
                  <a:pt x="408546" y="283210"/>
                </a:lnTo>
                <a:lnTo>
                  <a:pt x="405688" y="275589"/>
                </a:lnTo>
                <a:lnTo>
                  <a:pt x="402589" y="266700"/>
                </a:lnTo>
                <a:lnTo>
                  <a:pt x="399275" y="257810"/>
                </a:lnTo>
                <a:lnTo>
                  <a:pt x="419419" y="257810"/>
                </a:lnTo>
                <a:lnTo>
                  <a:pt x="432041" y="295910"/>
                </a:lnTo>
                <a:lnTo>
                  <a:pt x="439610" y="334010"/>
                </a:lnTo>
                <a:lnTo>
                  <a:pt x="442937" y="372110"/>
                </a:lnTo>
                <a:lnTo>
                  <a:pt x="443077" y="382269"/>
                </a:lnTo>
                <a:lnTo>
                  <a:pt x="442937" y="391160"/>
                </a:lnTo>
                <a:lnTo>
                  <a:pt x="439546" y="430530"/>
                </a:lnTo>
                <a:lnTo>
                  <a:pt x="431825" y="468630"/>
                </a:lnTo>
                <a:lnTo>
                  <a:pt x="426402" y="486410"/>
                </a:lnTo>
                <a:lnTo>
                  <a:pt x="425245" y="490219"/>
                </a:lnTo>
                <a:close/>
              </a:path>
              <a:path w="443230" h="764539">
                <a:moveTo>
                  <a:pt x="381309" y="577850"/>
                </a:moveTo>
                <a:lnTo>
                  <a:pt x="358495" y="577850"/>
                </a:lnTo>
                <a:lnTo>
                  <a:pt x="363956" y="570230"/>
                </a:lnTo>
                <a:lnTo>
                  <a:pt x="363816" y="570230"/>
                </a:lnTo>
                <a:lnTo>
                  <a:pt x="369062" y="562610"/>
                </a:lnTo>
                <a:lnTo>
                  <a:pt x="368922" y="562610"/>
                </a:lnTo>
                <a:lnTo>
                  <a:pt x="373964" y="554989"/>
                </a:lnTo>
                <a:lnTo>
                  <a:pt x="378663" y="547369"/>
                </a:lnTo>
                <a:lnTo>
                  <a:pt x="378536" y="547369"/>
                </a:lnTo>
                <a:lnTo>
                  <a:pt x="383146" y="538480"/>
                </a:lnTo>
                <a:lnTo>
                  <a:pt x="387413" y="530860"/>
                </a:lnTo>
                <a:lnTo>
                  <a:pt x="391464" y="523239"/>
                </a:lnTo>
                <a:lnTo>
                  <a:pt x="395287" y="514350"/>
                </a:lnTo>
                <a:lnTo>
                  <a:pt x="398894" y="506730"/>
                </a:lnTo>
                <a:lnTo>
                  <a:pt x="402272" y="497839"/>
                </a:lnTo>
                <a:lnTo>
                  <a:pt x="405422" y="488950"/>
                </a:lnTo>
                <a:lnTo>
                  <a:pt x="405333" y="490219"/>
                </a:lnTo>
                <a:lnTo>
                  <a:pt x="425245" y="490219"/>
                </a:lnTo>
                <a:lnTo>
                  <a:pt x="423316" y="496569"/>
                </a:lnTo>
                <a:lnTo>
                  <a:pt x="419988" y="505460"/>
                </a:lnTo>
                <a:lnTo>
                  <a:pt x="416407" y="514350"/>
                </a:lnTo>
                <a:lnTo>
                  <a:pt x="412597" y="521969"/>
                </a:lnTo>
                <a:lnTo>
                  <a:pt x="408546" y="530860"/>
                </a:lnTo>
                <a:lnTo>
                  <a:pt x="404266" y="539750"/>
                </a:lnTo>
                <a:lnTo>
                  <a:pt x="399757" y="548639"/>
                </a:lnTo>
                <a:lnTo>
                  <a:pt x="395033" y="556260"/>
                </a:lnTo>
                <a:lnTo>
                  <a:pt x="390080" y="565150"/>
                </a:lnTo>
                <a:lnTo>
                  <a:pt x="384898" y="572769"/>
                </a:lnTo>
                <a:lnTo>
                  <a:pt x="381309" y="577850"/>
                </a:lnTo>
                <a:close/>
              </a:path>
              <a:path w="443230" h="764539">
                <a:moveTo>
                  <a:pt x="365118" y="599439"/>
                </a:moveTo>
                <a:lnTo>
                  <a:pt x="341363" y="599439"/>
                </a:lnTo>
                <a:lnTo>
                  <a:pt x="347421" y="591819"/>
                </a:lnTo>
                <a:lnTo>
                  <a:pt x="347268" y="591819"/>
                </a:lnTo>
                <a:lnTo>
                  <a:pt x="353123" y="584200"/>
                </a:lnTo>
                <a:lnTo>
                  <a:pt x="352983" y="584200"/>
                </a:lnTo>
                <a:lnTo>
                  <a:pt x="358635" y="576580"/>
                </a:lnTo>
                <a:lnTo>
                  <a:pt x="358495" y="577850"/>
                </a:lnTo>
                <a:lnTo>
                  <a:pt x="381309" y="577850"/>
                </a:lnTo>
                <a:lnTo>
                  <a:pt x="379514" y="580389"/>
                </a:lnTo>
                <a:lnTo>
                  <a:pt x="373926" y="588010"/>
                </a:lnTo>
                <a:lnTo>
                  <a:pt x="368122" y="595630"/>
                </a:lnTo>
                <a:lnTo>
                  <a:pt x="365118" y="599439"/>
                </a:lnTo>
                <a:close/>
              </a:path>
              <a:path w="443230" h="764539">
                <a:moveTo>
                  <a:pt x="323451" y="645160"/>
                </a:moveTo>
                <a:lnTo>
                  <a:pt x="294906" y="645160"/>
                </a:lnTo>
                <a:lnTo>
                  <a:pt x="302247" y="638810"/>
                </a:lnTo>
                <a:lnTo>
                  <a:pt x="302069" y="638810"/>
                </a:lnTo>
                <a:lnTo>
                  <a:pt x="309232" y="632460"/>
                </a:lnTo>
                <a:lnTo>
                  <a:pt x="309067" y="632460"/>
                </a:lnTo>
                <a:lnTo>
                  <a:pt x="316052" y="626110"/>
                </a:lnTo>
                <a:lnTo>
                  <a:pt x="315887" y="626110"/>
                </a:lnTo>
                <a:lnTo>
                  <a:pt x="322694" y="619760"/>
                </a:lnTo>
                <a:lnTo>
                  <a:pt x="322529" y="619760"/>
                </a:lnTo>
                <a:lnTo>
                  <a:pt x="329145" y="612139"/>
                </a:lnTo>
                <a:lnTo>
                  <a:pt x="328993" y="612139"/>
                </a:lnTo>
                <a:lnTo>
                  <a:pt x="335432" y="605789"/>
                </a:lnTo>
                <a:lnTo>
                  <a:pt x="335267" y="605789"/>
                </a:lnTo>
                <a:lnTo>
                  <a:pt x="341515" y="598169"/>
                </a:lnTo>
                <a:lnTo>
                  <a:pt x="341363" y="599439"/>
                </a:lnTo>
                <a:lnTo>
                  <a:pt x="365118" y="599439"/>
                </a:lnTo>
                <a:lnTo>
                  <a:pt x="336130" y="632460"/>
                </a:lnTo>
                <a:lnTo>
                  <a:pt x="329171" y="640080"/>
                </a:lnTo>
                <a:lnTo>
                  <a:pt x="323451" y="645160"/>
                </a:lnTo>
                <a:close/>
              </a:path>
              <a:path w="443230" h="764539">
                <a:moveTo>
                  <a:pt x="232321" y="709930"/>
                </a:moveTo>
                <a:lnTo>
                  <a:pt x="187756" y="709930"/>
                </a:lnTo>
                <a:lnTo>
                  <a:pt x="197027" y="704850"/>
                </a:lnTo>
                <a:lnTo>
                  <a:pt x="196837" y="704850"/>
                </a:lnTo>
                <a:lnTo>
                  <a:pt x="205981" y="701039"/>
                </a:lnTo>
                <a:lnTo>
                  <a:pt x="205790" y="701039"/>
                </a:lnTo>
                <a:lnTo>
                  <a:pt x="214807" y="697230"/>
                </a:lnTo>
                <a:lnTo>
                  <a:pt x="214617" y="697230"/>
                </a:lnTo>
                <a:lnTo>
                  <a:pt x="223494" y="692150"/>
                </a:lnTo>
                <a:lnTo>
                  <a:pt x="223304" y="692150"/>
                </a:lnTo>
                <a:lnTo>
                  <a:pt x="232041" y="688339"/>
                </a:lnTo>
                <a:lnTo>
                  <a:pt x="231851" y="688339"/>
                </a:lnTo>
                <a:lnTo>
                  <a:pt x="240449" y="683260"/>
                </a:lnTo>
                <a:lnTo>
                  <a:pt x="240258" y="683260"/>
                </a:lnTo>
                <a:lnTo>
                  <a:pt x="248716" y="678180"/>
                </a:lnTo>
                <a:lnTo>
                  <a:pt x="248526" y="678180"/>
                </a:lnTo>
                <a:lnTo>
                  <a:pt x="256832" y="673100"/>
                </a:lnTo>
                <a:lnTo>
                  <a:pt x="256641" y="673100"/>
                </a:lnTo>
                <a:lnTo>
                  <a:pt x="264794" y="668019"/>
                </a:lnTo>
                <a:lnTo>
                  <a:pt x="264617" y="668019"/>
                </a:lnTo>
                <a:lnTo>
                  <a:pt x="272605" y="661669"/>
                </a:lnTo>
                <a:lnTo>
                  <a:pt x="272427" y="661669"/>
                </a:lnTo>
                <a:lnTo>
                  <a:pt x="280263" y="656589"/>
                </a:lnTo>
                <a:lnTo>
                  <a:pt x="280085" y="656589"/>
                </a:lnTo>
                <a:lnTo>
                  <a:pt x="287756" y="650239"/>
                </a:lnTo>
                <a:lnTo>
                  <a:pt x="287578" y="650239"/>
                </a:lnTo>
                <a:lnTo>
                  <a:pt x="295084" y="643889"/>
                </a:lnTo>
                <a:lnTo>
                  <a:pt x="294906" y="645160"/>
                </a:lnTo>
                <a:lnTo>
                  <a:pt x="323451" y="645160"/>
                </a:lnTo>
                <a:lnTo>
                  <a:pt x="291655" y="671830"/>
                </a:lnTo>
                <a:lnTo>
                  <a:pt x="283654" y="676910"/>
                </a:lnTo>
                <a:lnTo>
                  <a:pt x="275475" y="683260"/>
                </a:lnTo>
                <a:lnTo>
                  <a:pt x="267157" y="688339"/>
                </a:lnTo>
                <a:lnTo>
                  <a:pt x="258673" y="694689"/>
                </a:lnTo>
                <a:lnTo>
                  <a:pt x="250037" y="699769"/>
                </a:lnTo>
                <a:lnTo>
                  <a:pt x="232321" y="709930"/>
                </a:lnTo>
                <a:close/>
              </a:path>
              <a:path w="443230" h="764539">
                <a:moveTo>
                  <a:pt x="223253" y="713739"/>
                </a:moveTo>
                <a:lnTo>
                  <a:pt x="178549" y="713739"/>
                </a:lnTo>
                <a:lnTo>
                  <a:pt x="187947" y="708660"/>
                </a:lnTo>
                <a:lnTo>
                  <a:pt x="187756" y="709930"/>
                </a:lnTo>
                <a:lnTo>
                  <a:pt x="232321" y="709930"/>
                </a:lnTo>
                <a:lnTo>
                  <a:pt x="223253" y="713739"/>
                </a:lnTo>
                <a:close/>
              </a:path>
              <a:path w="443230" h="764539">
                <a:moveTo>
                  <a:pt x="28740" y="764539"/>
                </a:moveTo>
                <a:lnTo>
                  <a:pt x="0" y="764539"/>
                </a:lnTo>
                <a:lnTo>
                  <a:pt x="114" y="745489"/>
                </a:lnTo>
                <a:lnTo>
                  <a:pt x="27787" y="745489"/>
                </a:lnTo>
                <a:lnTo>
                  <a:pt x="38671" y="744219"/>
                </a:lnTo>
                <a:lnTo>
                  <a:pt x="38468" y="744219"/>
                </a:lnTo>
                <a:lnTo>
                  <a:pt x="49275" y="742950"/>
                </a:lnTo>
                <a:lnTo>
                  <a:pt x="59588" y="742950"/>
                </a:lnTo>
                <a:lnTo>
                  <a:pt x="70243" y="741680"/>
                </a:lnTo>
                <a:lnTo>
                  <a:pt x="70027" y="741680"/>
                </a:lnTo>
                <a:lnTo>
                  <a:pt x="80594" y="739139"/>
                </a:lnTo>
                <a:lnTo>
                  <a:pt x="80390" y="739139"/>
                </a:lnTo>
                <a:lnTo>
                  <a:pt x="90855" y="737869"/>
                </a:lnTo>
                <a:lnTo>
                  <a:pt x="90652" y="737869"/>
                </a:lnTo>
                <a:lnTo>
                  <a:pt x="101041" y="736600"/>
                </a:lnTo>
                <a:lnTo>
                  <a:pt x="100825" y="736600"/>
                </a:lnTo>
                <a:lnTo>
                  <a:pt x="111112" y="734060"/>
                </a:lnTo>
                <a:lnTo>
                  <a:pt x="110909" y="734060"/>
                </a:lnTo>
                <a:lnTo>
                  <a:pt x="121094" y="731519"/>
                </a:lnTo>
                <a:lnTo>
                  <a:pt x="120891" y="731519"/>
                </a:lnTo>
                <a:lnTo>
                  <a:pt x="130975" y="728980"/>
                </a:lnTo>
                <a:lnTo>
                  <a:pt x="130771" y="728980"/>
                </a:lnTo>
                <a:lnTo>
                  <a:pt x="140754" y="726439"/>
                </a:lnTo>
                <a:lnTo>
                  <a:pt x="140550" y="726439"/>
                </a:lnTo>
                <a:lnTo>
                  <a:pt x="150418" y="722630"/>
                </a:lnTo>
                <a:lnTo>
                  <a:pt x="150228" y="722630"/>
                </a:lnTo>
                <a:lnTo>
                  <a:pt x="159981" y="720089"/>
                </a:lnTo>
                <a:lnTo>
                  <a:pt x="159778" y="720089"/>
                </a:lnTo>
                <a:lnTo>
                  <a:pt x="169430" y="716280"/>
                </a:lnTo>
                <a:lnTo>
                  <a:pt x="169227" y="716280"/>
                </a:lnTo>
                <a:lnTo>
                  <a:pt x="178752" y="712469"/>
                </a:lnTo>
                <a:lnTo>
                  <a:pt x="178549" y="713739"/>
                </a:lnTo>
                <a:lnTo>
                  <a:pt x="223253" y="713739"/>
                </a:lnTo>
                <a:lnTo>
                  <a:pt x="214058" y="718819"/>
                </a:lnTo>
                <a:lnTo>
                  <a:pt x="185648" y="730250"/>
                </a:lnTo>
                <a:lnTo>
                  <a:pt x="156121" y="741680"/>
                </a:lnTo>
                <a:lnTo>
                  <a:pt x="135864" y="746760"/>
                </a:lnTo>
                <a:lnTo>
                  <a:pt x="125577" y="750569"/>
                </a:lnTo>
                <a:lnTo>
                  <a:pt x="115188" y="751839"/>
                </a:lnTo>
                <a:lnTo>
                  <a:pt x="94106" y="756919"/>
                </a:lnTo>
                <a:lnTo>
                  <a:pt x="28740" y="764539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336660" y="2356129"/>
            <a:ext cx="85725" cy="443865"/>
          </a:xfrm>
          <a:custGeom>
            <a:avLst/>
            <a:gdLst/>
            <a:ahLst/>
            <a:cxnLst/>
            <a:rect l="l" t="t" r="r" b="b"/>
            <a:pathLst>
              <a:path w="85725" h="443864">
                <a:moveTo>
                  <a:pt x="42240" y="400583"/>
                </a:moveTo>
                <a:lnTo>
                  <a:pt x="28158" y="386091"/>
                </a:lnTo>
                <a:lnTo>
                  <a:pt x="33693" y="0"/>
                </a:lnTo>
                <a:lnTo>
                  <a:pt x="62268" y="419"/>
                </a:lnTo>
                <a:lnTo>
                  <a:pt x="56733" y="386500"/>
                </a:lnTo>
                <a:lnTo>
                  <a:pt x="42240" y="400583"/>
                </a:lnTo>
                <a:close/>
              </a:path>
              <a:path w="85725" h="443864">
                <a:moveTo>
                  <a:pt x="41630" y="443445"/>
                </a:moveTo>
                <a:lnTo>
                  <a:pt x="0" y="357111"/>
                </a:lnTo>
                <a:lnTo>
                  <a:pt x="28158" y="386091"/>
                </a:lnTo>
                <a:lnTo>
                  <a:pt x="27800" y="411086"/>
                </a:lnTo>
                <a:lnTo>
                  <a:pt x="56375" y="411505"/>
                </a:lnTo>
                <a:lnTo>
                  <a:pt x="58175" y="411505"/>
                </a:lnTo>
                <a:lnTo>
                  <a:pt x="41630" y="443445"/>
                </a:lnTo>
                <a:close/>
              </a:path>
              <a:path w="85725" h="443864">
                <a:moveTo>
                  <a:pt x="58175" y="411505"/>
                </a:moveTo>
                <a:lnTo>
                  <a:pt x="56375" y="411505"/>
                </a:lnTo>
                <a:lnTo>
                  <a:pt x="56733" y="386500"/>
                </a:lnTo>
                <a:lnTo>
                  <a:pt x="85712" y="358343"/>
                </a:lnTo>
                <a:lnTo>
                  <a:pt x="58175" y="411505"/>
                </a:lnTo>
                <a:close/>
              </a:path>
              <a:path w="85725" h="443864">
                <a:moveTo>
                  <a:pt x="56375" y="411505"/>
                </a:moveTo>
                <a:lnTo>
                  <a:pt x="27800" y="411086"/>
                </a:lnTo>
                <a:lnTo>
                  <a:pt x="28158" y="386091"/>
                </a:lnTo>
                <a:lnTo>
                  <a:pt x="42240" y="400583"/>
                </a:lnTo>
                <a:lnTo>
                  <a:pt x="56531" y="400583"/>
                </a:lnTo>
                <a:lnTo>
                  <a:pt x="56375" y="411505"/>
                </a:lnTo>
                <a:close/>
              </a:path>
              <a:path w="85725" h="443864">
                <a:moveTo>
                  <a:pt x="56531" y="400583"/>
                </a:moveTo>
                <a:lnTo>
                  <a:pt x="42240" y="400583"/>
                </a:lnTo>
                <a:lnTo>
                  <a:pt x="56733" y="386500"/>
                </a:lnTo>
                <a:lnTo>
                  <a:pt x="56531" y="40058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159457" y="2480970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375357" y="23509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375268" y="24398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375166" y="25287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375077" y="26176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374976" y="27065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374887" y="27954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374785" y="28843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63" y="0"/>
                </a:lnTo>
                <a:lnTo>
                  <a:pt x="12763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374696" y="29732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374595" y="30621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63" y="0"/>
                </a:lnTo>
                <a:lnTo>
                  <a:pt x="12763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374506" y="31510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374404" y="32399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63" y="0"/>
                </a:lnTo>
                <a:lnTo>
                  <a:pt x="12763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374315" y="33288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374226" y="34177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374125" y="35066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374036" y="35955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373934" y="36844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373845" y="37733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373744" y="38622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63" y="0"/>
                </a:lnTo>
                <a:lnTo>
                  <a:pt x="12763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373655" y="39511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373553" y="40400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63" y="0"/>
                </a:lnTo>
                <a:lnTo>
                  <a:pt x="12763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373464" y="41289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373363" y="42178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63" y="0"/>
                </a:lnTo>
                <a:lnTo>
                  <a:pt x="12763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373274" y="43067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373185" y="43956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373083" y="44845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372995" y="45734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372893" y="46623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372804" y="47512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372702" y="48401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63" y="0"/>
                </a:lnTo>
                <a:lnTo>
                  <a:pt x="12763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372614" y="49290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372512" y="50179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63" y="0"/>
                </a:lnTo>
                <a:lnTo>
                  <a:pt x="12763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372423" y="51068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50" y="0"/>
                </a:lnTo>
                <a:lnTo>
                  <a:pt x="12750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372321" y="5195760"/>
            <a:ext cx="13335" cy="51435"/>
          </a:xfrm>
          <a:custGeom>
            <a:avLst/>
            <a:gdLst/>
            <a:ahLst/>
            <a:cxnLst/>
            <a:rect l="l" t="t" r="r" b="b"/>
            <a:pathLst>
              <a:path w="13335" h="51435">
                <a:moveTo>
                  <a:pt x="12700" y="50812"/>
                </a:moveTo>
                <a:lnTo>
                  <a:pt x="0" y="50800"/>
                </a:lnTo>
                <a:lnTo>
                  <a:pt x="63" y="0"/>
                </a:lnTo>
                <a:lnTo>
                  <a:pt x="12763" y="12"/>
                </a:lnTo>
                <a:lnTo>
                  <a:pt x="12700" y="5081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372232" y="5284660"/>
            <a:ext cx="13335" cy="48895"/>
          </a:xfrm>
          <a:custGeom>
            <a:avLst/>
            <a:gdLst/>
            <a:ahLst/>
            <a:cxnLst/>
            <a:rect l="l" t="t" r="r" b="b"/>
            <a:pathLst>
              <a:path w="13335" h="48895">
                <a:moveTo>
                  <a:pt x="12700" y="48387"/>
                </a:moveTo>
                <a:lnTo>
                  <a:pt x="0" y="48374"/>
                </a:lnTo>
                <a:lnTo>
                  <a:pt x="50" y="0"/>
                </a:lnTo>
                <a:lnTo>
                  <a:pt x="12750" y="12"/>
                </a:lnTo>
                <a:lnTo>
                  <a:pt x="12700" y="4838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78155">
              <a:lnSpc>
                <a:spcPct val="100000"/>
              </a:lnSpc>
              <a:spcBef>
                <a:spcPts val="100"/>
              </a:spcBef>
            </a:pPr>
            <a:r>
              <a:rPr dirty="0"/>
              <a:t>小结（二</a:t>
            </a:r>
            <a:r>
              <a:rPr dirty="0" spc="-15"/>
              <a:t>）</a:t>
            </a:r>
          </a:p>
        </p:txBody>
      </p:sp>
      <p:sp>
        <p:nvSpPr>
          <p:cNvPr id="3" name="object 3"/>
          <p:cNvSpPr/>
          <p:nvPr/>
        </p:nvSpPr>
        <p:spPr>
          <a:xfrm>
            <a:off x="3596640" y="1837944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96284" y="2061972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102036" y="2147379"/>
            <a:ext cx="4732655" cy="0"/>
          </a:xfrm>
          <a:custGeom>
            <a:avLst/>
            <a:gdLst/>
            <a:ahLst/>
            <a:cxnLst/>
            <a:rect l="l" t="t" r="r" b="b"/>
            <a:pathLst>
              <a:path w="4732655" h="0">
                <a:moveTo>
                  <a:pt x="0" y="0"/>
                </a:moveTo>
                <a:lnTo>
                  <a:pt x="4732426" y="0"/>
                </a:lnTo>
              </a:path>
            </a:pathLst>
          </a:custGeom>
          <a:ln w="12700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787345" y="2329611"/>
            <a:ext cx="6508750" cy="317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6995" indent="3810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带电粒子在有界的匀强磁场中垂直与磁场方 向运动，其运动轨迹可能只是一部分圆。解决 这类问题，关键是确定轨迹的圆心，画出轨迹， 利用几何关系求出半径和速度的偏转角。</a:t>
            </a:r>
            <a:endParaRPr sz="2400">
              <a:latin typeface="华文楷体"/>
              <a:cs typeface="华文楷体"/>
            </a:endParaRPr>
          </a:p>
          <a:p>
            <a:pPr marL="94615" marR="5080" indent="317500">
              <a:lnSpc>
                <a:spcPct val="100000"/>
              </a:lnSpc>
              <a:spcBef>
                <a:spcPts val="1755"/>
              </a:spcBef>
            </a:pPr>
            <a:r>
              <a:rPr dirty="0" sz="2400" i="1">
                <a:latin typeface="华文楷体"/>
                <a:cs typeface="华文楷体"/>
              </a:rPr>
              <a:t>需要注意的是，在有界磁场中，粒子的运动 是匀速圆周运动的一部分，而不是类平抛运动， 不要把带电粒子在有界磁场中的运动和带电粒 子在匀强电场中的偏转混淆。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2025-04-20T00:59:24Z</dcterms:created>
  <dcterms:modified xsi:type="dcterms:W3CDTF">2025-04-20T00:59:24Z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