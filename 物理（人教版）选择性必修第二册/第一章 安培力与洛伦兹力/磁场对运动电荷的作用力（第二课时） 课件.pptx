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85622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85622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85622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8618" y="2023338"/>
            <a:ext cx="5234762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85622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4135" y="3377247"/>
            <a:ext cx="10423728" cy="192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国家中小学课程资源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90382" y="2110917"/>
            <a:ext cx="861123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微软雅黑"/>
                <a:cs typeface="微软雅黑"/>
              </a:rPr>
              <a:t>磁场对运动电荷的作用力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（第二课时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主讲人：苏永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乔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256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库仑定律</a:t>
            </a:r>
            <a:r>
              <a:rPr dirty="0" sz="4800" spc="-95"/>
              <a:t> </a:t>
            </a:r>
            <a:r>
              <a:rPr dirty="0"/>
              <a:t>（第一课时</a:t>
            </a:r>
            <a:r>
              <a:rPr dirty="0" spc="5"/>
              <a:t>）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48889" y="3544611"/>
          <a:ext cx="737552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/>
                <a:gridCol w="98488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主讲人：苏永</a:t>
                      </a:r>
                      <a:r>
                        <a:rPr dirty="0" sz="2800" spc="-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乔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8420" y="1860003"/>
            <a:ext cx="2082800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洛伦兹力的方向 与粒子的运动方向 垂直，当带电粒子 在磁场中运动时，  因受洛伦兹力的作 用，就会发生偏转；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8420" y="1860003"/>
            <a:ext cx="2082800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洛伦兹力的方向 与粒子的运动方向 垂直，当带电粒子 在磁场中运动时，  因受洛伦力的作用， 就会发生偏转；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4200" y="1854707"/>
            <a:ext cx="5312663" cy="2988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58239" y="255270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588" y="468118"/>
                </a:lnTo>
                <a:lnTo>
                  <a:pt x="23479" y="451442"/>
                </a:lnTo>
                <a:lnTo>
                  <a:pt x="6442" y="426595"/>
                </a:lnTo>
                <a:lnTo>
                  <a:pt x="0" y="396239"/>
                </a:lnTo>
                <a:lnTo>
                  <a:pt x="0" y="79248"/>
                </a:lnTo>
                <a:lnTo>
                  <a:pt x="6442" y="48661"/>
                </a:lnTo>
                <a:lnTo>
                  <a:pt x="23479" y="23579"/>
                </a:lnTo>
                <a:lnTo>
                  <a:pt x="48588" y="6519"/>
                </a:lnTo>
                <a:lnTo>
                  <a:pt x="79247" y="0"/>
                </a:lnTo>
                <a:lnTo>
                  <a:pt x="3014472" y="0"/>
                </a:lnTo>
                <a:lnTo>
                  <a:pt x="3045515" y="6519"/>
                </a:lnTo>
                <a:lnTo>
                  <a:pt x="3070750" y="23579"/>
                </a:lnTo>
                <a:lnTo>
                  <a:pt x="3087657" y="48661"/>
                </a:lnTo>
                <a:lnTo>
                  <a:pt x="3093720" y="79248"/>
                </a:lnTo>
                <a:lnTo>
                  <a:pt x="3093720" y="396239"/>
                </a:lnTo>
                <a:lnTo>
                  <a:pt x="3087657" y="426595"/>
                </a:lnTo>
                <a:lnTo>
                  <a:pt x="3070750" y="451442"/>
                </a:lnTo>
                <a:lnTo>
                  <a:pt x="3045515" y="468118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3439" y="2403348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3" y="760476"/>
                </a:moveTo>
                <a:lnTo>
                  <a:pt x="0" y="413003"/>
                </a:lnTo>
                <a:lnTo>
                  <a:pt x="348996" y="0"/>
                </a:lnTo>
                <a:lnTo>
                  <a:pt x="762000" y="348995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7998" y="2560840"/>
            <a:ext cx="2530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2662" y="3425571"/>
            <a:ext cx="23368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显像管电视机就利用 了电子束磁偏转原理。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58239" y="255270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588" y="468118"/>
                </a:lnTo>
                <a:lnTo>
                  <a:pt x="23479" y="451442"/>
                </a:lnTo>
                <a:lnTo>
                  <a:pt x="6442" y="426595"/>
                </a:lnTo>
                <a:lnTo>
                  <a:pt x="0" y="396239"/>
                </a:lnTo>
                <a:lnTo>
                  <a:pt x="0" y="79248"/>
                </a:lnTo>
                <a:lnTo>
                  <a:pt x="6442" y="48661"/>
                </a:lnTo>
                <a:lnTo>
                  <a:pt x="23479" y="23579"/>
                </a:lnTo>
                <a:lnTo>
                  <a:pt x="48588" y="6519"/>
                </a:lnTo>
                <a:lnTo>
                  <a:pt x="79247" y="0"/>
                </a:lnTo>
                <a:lnTo>
                  <a:pt x="3014472" y="0"/>
                </a:lnTo>
                <a:lnTo>
                  <a:pt x="3045515" y="6519"/>
                </a:lnTo>
                <a:lnTo>
                  <a:pt x="3070750" y="23579"/>
                </a:lnTo>
                <a:lnTo>
                  <a:pt x="3087657" y="48661"/>
                </a:lnTo>
                <a:lnTo>
                  <a:pt x="3093720" y="79248"/>
                </a:lnTo>
                <a:lnTo>
                  <a:pt x="3093720" y="396239"/>
                </a:lnTo>
                <a:lnTo>
                  <a:pt x="3087657" y="426595"/>
                </a:lnTo>
                <a:lnTo>
                  <a:pt x="3070750" y="451442"/>
                </a:lnTo>
                <a:lnTo>
                  <a:pt x="3045515" y="468118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3439" y="2403348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3" y="760476"/>
                </a:moveTo>
                <a:lnTo>
                  <a:pt x="0" y="413003"/>
                </a:lnTo>
                <a:lnTo>
                  <a:pt x="348996" y="0"/>
                </a:lnTo>
                <a:lnTo>
                  <a:pt x="762000" y="348995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7998" y="2560840"/>
            <a:ext cx="2530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662" y="3425571"/>
            <a:ext cx="23368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显像管电视机就利用 了电子束磁偏转原理。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00271" y="3217164"/>
            <a:ext cx="4485132" cy="2523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58239" y="255270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588" y="468118"/>
                </a:lnTo>
                <a:lnTo>
                  <a:pt x="23479" y="451442"/>
                </a:lnTo>
                <a:lnTo>
                  <a:pt x="6442" y="426595"/>
                </a:lnTo>
                <a:lnTo>
                  <a:pt x="0" y="396239"/>
                </a:lnTo>
                <a:lnTo>
                  <a:pt x="0" y="79248"/>
                </a:lnTo>
                <a:lnTo>
                  <a:pt x="6442" y="48661"/>
                </a:lnTo>
                <a:lnTo>
                  <a:pt x="23479" y="23579"/>
                </a:lnTo>
                <a:lnTo>
                  <a:pt x="48588" y="6519"/>
                </a:lnTo>
                <a:lnTo>
                  <a:pt x="79247" y="0"/>
                </a:lnTo>
                <a:lnTo>
                  <a:pt x="3014472" y="0"/>
                </a:lnTo>
                <a:lnTo>
                  <a:pt x="3045515" y="6519"/>
                </a:lnTo>
                <a:lnTo>
                  <a:pt x="3070750" y="23579"/>
                </a:lnTo>
                <a:lnTo>
                  <a:pt x="3087657" y="48661"/>
                </a:lnTo>
                <a:lnTo>
                  <a:pt x="3093720" y="79248"/>
                </a:lnTo>
                <a:lnTo>
                  <a:pt x="3093720" y="396239"/>
                </a:lnTo>
                <a:lnTo>
                  <a:pt x="3087657" y="426595"/>
                </a:lnTo>
                <a:lnTo>
                  <a:pt x="3070750" y="451442"/>
                </a:lnTo>
                <a:lnTo>
                  <a:pt x="3045515" y="468118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3439" y="2403348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3" y="760476"/>
                </a:moveTo>
                <a:lnTo>
                  <a:pt x="0" y="413003"/>
                </a:lnTo>
                <a:lnTo>
                  <a:pt x="348996" y="0"/>
                </a:lnTo>
                <a:lnTo>
                  <a:pt x="762000" y="348995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7998" y="2560840"/>
            <a:ext cx="2530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05071" y="3267455"/>
            <a:ext cx="4529328" cy="2548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5611" y="3511778"/>
            <a:ext cx="2698115" cy="1250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（一）显像管的结构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70180" marR="5080">
              <a:lnSpc>
                <a:spcPct val="100000"/>
              </a:lnSpc>
              <a:spcBef>
                <a:spcPts val="1090"/>
              </a:spcBef>
            </a:pPr>
            <a:r>
              <a:rPr dirty="0" sz="1800">
                <a:latin typeface="宋体"/>
                <a:cs typeface="宋体"/>
              </a:rPr>
              <a:t>显像管电视机的核心部件 为显像管。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58239" y="255270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588" y="468118"/>
                </a:lnTo>
                <a:lnTo>
                  <a:pt x="23479" y="451442"/>
                </a:lnTo>
                <a:lnTo>
                  <a:pt x="6442" y="426595"/>
                </a:lnTo>
                <a:lnTo>
                  <a:pt x="0" y="396239"/>
                </a:lnTo>
                <a:lnTo>
                  <a:pt x="0" y="79248"/>
                </a:lnTo>
                <a:lnTo>
                  <a:pt x="6442" y="48661"/>
                </a:lnTo>
                <a:lnTo>
                  <a:pt x="23479" y="23579"/>
                </a:lnTo>
                <a:lnTo>
                  <a:pt x="48588" y="6519"/>
                </a:lnTo>
                <a:lnTo>
                  <a:pt x="79247" y="0"/>
                </a:lnTo>
                <a:lnTo>
                  <a:pt x="3014472" y="0"/>
                </a:lnTo>
                <a:lnTo>
                  <a:pt x="3045515" y="6519"/>
                </a:lnTo>
                <a:lnTo>
                  <a:pt x="3070750" y="23579"/>
                </a:lnTo>
                <a:lnTo>
                  <a:pt x="3087657" y="48661"/>
                </a:lnTo>
                <a:lnTo>
                  <a:pt x="3093720" y="79248"/>
                </a:lnTo>
                <a:lnTo>
                  <a:pt x="3093720" y="396239"/>
                </a:lnTo>
                <a:lnTo>
                  <a:pt x="3087657" y="426595"/>
                </a:lnTo>
                <a:lnTo>
                  <a:pt x="3070750" y="451442"/>
                </a:lnTo>
                <a:lnTo>
                  <a:pt x="3045515" y="468118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3439" y="2403348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3" y="760476"/>
                </a:moveTo>
                <a:lnTo>
                  <a:pt x="0" y="413003"/>
                </a:lnTo>
                <a:lnTo>
                  <a:pt x="348996" y="0"/>
                </a:lnTo>
                <a:lnTo>
                  <a:pt x="762000" y="348995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7998" y="2560840"/>
            <a:ext cx="2530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9274" y="3358680"/>
            <a:ext cx="2705100" cy="2464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285" marR="213360" indent="3048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（二）显像管中的偏 转磁场与电子束的偏转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 marR="5080" indent="304800">
              <a:lnSpc>
                <a:spcPct val="149800"/>
              </a:lnSpc>
            </a:pPr>
            <a:r>
              <a:rPr dirty="0" sz="1800">
                <a:latin typeface="宋体"/>
                <a:cs typeface="宋体"/>
              </a:rPr>
              <a:t>没有磁场时，电子束 打在荧光屏的正中心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宋体"/>
                <a:cs typeface="宋体"/>
              </a:rPr>
              <a:t>点，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O</a:t>
            </a:r>
            <a:r>
              <a:rPr dirty="0" sz="1800">
                <a:latin typeface="宋体"/>
                <a:cs typeface="宋体"/>
              </a:rPr>
              <a:t>点发光。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58239" y="255270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588" y="468118"/>
                </a:lnTo>
                <a:lnTo>
                  <a:pt x="23479" y="451442"/>
                </a:lnTo>
                <a:lnTo>
                  <a:pt x="6442" y="426595"/>
                </a:lnTo>
                <a:lnTo>
                  <a:pt x="0" y="396239"/>
                </a:lnTo>
                <a:lnTo>
                  <a:pt x="0" y="79248"/>
                </a:lnTo>
                <a:lnTo>
                  <a:pt x="6442" y="48661"/>
                </a:lnTo>
                <a:lnTo>
                  <a:pt x="23479" y="23579"/>
                </a:lnTo>
                <a:lnTo>
                  <a:pt x="48588" y="6519"/>
                </a:lnTo>
                <a:lnTo>
                  <a:pt x="79247" y="0"/>
                </a:lnTo>
                <a:lnTo>
                  <a:pt x="3014472" y="0"/>
                </a:lnTo>
                <a:lnTo>
                  <a:pt x="3045515" y="6519"/>
                </a:lnTo>
                <a:lnTo>
                  <a:pt x="3070750" y="23579"/>
                </a:lnTo>
                <a:lnTo>
                  <a:pt x="3087657" y="48661"/>
                </a:lnTo>
                <a:lnTo>
                  <a:pt x="3093720" y="79248"/>
                </a:lnTo>
                <a:lnTo>
                  <a:pt x="3093720" y="396239"/>
                </a:lnTo>
                <a:lnTo>
                  <a:pt x="3087657" y="426595"/>
                </a:lnTo>
                <a:lnTo>
                  <a:pt x="3070750" y="451442"/>
                </a:lnTo>
                <a:lnTo>
                  <a:pt x="3045515" y="468118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3439" y="2403348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3" y="760476"/>
                </a:moveTo>
                <a:lnTo>
                  <a:pt x="0" y="413003"/>
                </a:lnTo>
                <a:lnTo>
                  <a:pt x="348996" y="0"/>
                </a:lnTo>
                <a:lnTo>
                  <a:pt x="762000" y="348995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7998" y="2560840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61232" y="3368040"/>
            <a:ext cx="4715256" cy="2651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99274" y="3358680"/>
            <a:ext cx="2705100" cy="2464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285" marR="213360" indent="3048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（二）显像管中的偏 转磁场与电子束的偏转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 marR="5080" indent="304800">
              <a:lnSpc>
                <a:spcPct val="149800"/>
              </a:lnSpc>
            </a:pPr>
            <a:r>
              <a:rPr dirty="0" sz="1800">
                <a:latin typeface="宋体"/>
                <a:cs typeface="宋体"/>
              </a:rPr>
              <a:t>没有磁场时，电子束 打在荧光屏的正中心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宋体"/>
                <a:cs typeface="宋体"/>
              </a:rPr>
              <a:t>点，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O</a:t>
            </a:r>
            <a:r>
              <a:rPr dirty="0" sz="1800">
                <a:latin typeface="宋体"/>
                <a:cs typeface="宋体"/>
              </a:rPr>
              <a:t>点发光。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4140" y="3333762"/>
            <a:ext cx="6451600" cy="2284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电子束很细，打在荧光屏上只能使一点发光。那么，要利用电 子束的打击使整个荧光屏发光，怎么办？这就需要电子束能打到 荧光屏的任何地方。要达到这个目的，只能依靠偏转磁场来使电 子束偏转了。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</a:pPr>
            <a:r>
              <a:rPr dirty="0" sz="1800">
                <a:latin typeface="宋体"/>
                <a:cs typeface="宋体"/>
              </a:rPr>
              <a:t>关于电子束的偏转，请同学们思考如下几个问题。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530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2947" y="3262947"/>
            <a:ext cx="316230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66700">
              <a:lnSpc>
                <a:spcPct val="150000"/>
              </a:lnSpc>
              <a:spcBef>
                <a:spcPts val="100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>
                <a:latin typeface="宋体"/>
                <a:cs typeface="宋体"/>
              </a:rPr>
              <a:t>）要使电子束所打击的亮 点偏离中心，打在荧光屏上</a:t>
            </a:r>
            <a:r>
              <a:rPr dirty="0" sz="1800" spc="-5">
                <a:latin typeface="宋体"/>
                <a:cs typeface="宋体"/>
              </a:rPr>
              <a:t>的</a:t>
            </a:r>
            <a:r>
              <a:rPr dirty="0" sz="1800">
                <a:latin typeface="Times New Roman"/>
                <a:cs typeface="Times New Roman"/>
              </a:rPr>
              <a:t>A </a:t>
            </a:r>
            <a:r>
              <a:rPr dirty="0" sz="1800">
                <a:latin typeface="宋体"/>
                <a:cs typeface="宋体"/>
              </a:rPr>
              <a:t>点，偏转磁场应沿什么方向？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947" y="3262947"/>
            <a:ext cx="316230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66700">
              <a:lnSpc>
                <a:spcPct val="150000"/>
              </a:lnSpc>
              <a:spcBef>
                <a:spcPts val="100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>
                <a:latin typeface="宋体"/>
                <a:cs typeface="宋体"/>
              </a:rPr>
              <a:t>）要使电子束所打击的亮 点偏离中心，打在荧光屏上</a:t>
            </a:r>
            <a:r>
              <a:rPr dirty="0" sz="1800" spc="-5">
                <a:latin typeface="宋体"/>
                <a:cs typeface="宋体"/>
              </a:rPr>
              <a:t>的</a:t>
            </a:r>
            <a:r>
              <a:rPr dirty="0" sz="1800">
                <a:latin typeface="Times New Roman"/>
                <a:cs typeface="Times New Roman"/>
              </a:rPr>
              <a:t>A </a:t>
            </a:r>
            <a:r>
              <a:rPr dirty="0" sz="1800">
                <a:latin typeface="宋体"/>
                <a:cs typeface="宋体"/>
              </a:rPr>
              <a:t>点，偏转磁场应沿什么方向？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49496" y="3070860"/>
            <a:ext cx="3995928" cy="2247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2121" y="3234347"/>
            <a:ext cx="2400300" cy="1671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66700">
              <a:lnSpc>
                <a:spcPct val="150100"/>
              </a:lnSpc>
              <a:spcBef>
                <a:spcPts val="95"/>
              </a:spcBef>
            </a:pPr>
            <a:r>
              <a:rPr dirty="0" sz="1800">
                <a:latin typeface="宋体"/>
                <a:cs typeface="宋体"/>
              </a:rPr>
              <a:t>（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>
                <a:latin typeface="宋体"/>
                <a:cs typeface="宋体"/>
              </a:rPr>
              <a:t>）</a:t>
            </a:r>
            <a:r>
              <a:rPr dirty="0" sz="1800" spc="-484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当电子束打在 荧光屏上的亮点由</a:t>
            </a:r>
            <a:r>
              <a:rPr dirty="0" sz="1800" spc="-5">
                <a:latin typeface="Times New Roman"/>
                <a:cs typeface="Times New Roman"/>
              </a:rPr>
              <a:t>B</a:t>
            </a:r>
            <a:r>
              <a:rPr dirty="0" sz="1800">
                <a:latin typeface="宋体"/>
                <a:cs typeface="宋体"/>
              </a:rPr>
              <a:t>向</a:t>
            </a:r>
            <a:r>
              <a:rPr dirty="0" sz="1800">
                <a:latin typeface="Times New Roman"/>
                <a:cs typeface="Times New Roman"/>
              </a:rPr>
              <a:t>A </a:t>
            </a:r>
            <a:r>
              <a:rPr dirty="0" sz="1800">
                <a:latin typeface="宋体"/>
                <a:cs typeface="宋体"/>
              </a:rPr>
              <a:t>移动，需要什么样的偏 转磁场？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530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3368040"/>
            <a:ext cx="4858511" cy="2732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22121" y="3234347"/>
            <a:ext cx="2400300" cy="1671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66700">
              <a:lnSpc>
                <a:spcPct val="150100"/>
              </a:lnSpc>
              <a:spcBef>
                <a:spcPts val="95"/>
              </a:spcBef>
            </a:pPr>
            <a:r>
              <a:rPr dirty="0" sz="1800">
                <a:latin typeface="宋体"/>
                <a:cs typeface="宋体"/>
              </a:rPr>
              <a:t>（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>
                <a:latin typeface="宋体"/>
                <a:cs typeface="宋体"/>
              </a:rPr>
              <a:t>）</a:t>
            </a:r>
            <a:r>
              <a:rPr dirty="0" sz="1800" spc="-484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当电子束打在 荧光屏上的亮点由</a:t>
            </a:r>
            <a:r>
              <a:rPr dirty="0" sz="1800" spc="-5">
                <a:latin typeface="Times New Roman"/>
                <a:cs typeface="Times New Roman"/>
              </a:rPr>
              <a:t>B</a:t>
            </a:r>
            <a:r>
              <a:rPr dirty="0" sz="1800">
                <a:latin typeface="宋体"/>
                <a:cs typeface="宋体"/>
              </a:rPr>
              <a:t>向</a:t>
            </a:r>
            <a:r>
              <a:rPr dirty="0" sz="1800">
                <a:latin typeface="Times New Roman"/>
                <a:cs typeface="Times New Roman"/>
              </a:rPr>
              <a:t>A </a:t>
            </a:r>
            <a:r>
              <a:rPr dirty="0" sz="1800">
                <a:latin typeface="宋体"/>
                <a:cs typeface="宋体"/>
              </a:rPr>
              <a:t>移动，需要什么样的偏 转磁场？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454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3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3986" y="3234981"/>
            <a:ext cx="234950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667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垂直于屏幕平面向里 逐渐减弱至垂直于平面 向外逐渐增强的磁场。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02508" y="3127248"/>
            <a:ext cx="5169408" cy="2907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2944" y="3333762"/>
            <a:ext cx="254000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Calibri"/>
                <a:cs typeface="Calibri"/>
              </a:rPr>
              <a:t>3</a:t>
            </a:r>
            <a:r>
              <a:rPr dirty="0" sz="1800" spc="-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若要使亮点既 水平移动，又竖直移动， 需要什么样的偏转磁场？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2944" y="3333762"/>
            <a:ext cx="2540000" cy="244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Calibri"/>
                <a:cs typeface="Calibri"/>
              </a:rPr>
              <a:t>3</a:t>
            </a:r>
            <a:r>
              <a:rPr dirty="0" sz="1800" spc="-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若要使亮点既 水平移动，又竖直移动， 需要什么样的偏转磁场？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imes New Roman"/>
              <a:cs typeface="Times New Roman"/>
            </a:endParaRPr>
          </a:p>
          <a:p>
            <a:pPr marL="85090" marR="363855" indent="254000">
              <a:lnSpc>
                <a:spcPct val="150000"/>
              </a:lnSpc>
            </a:pPr>
            <a:r>
              <a:rPr dirty="0" sz="1800">
                <a:latin typeface="宋体"/>
                <a:cs typeface="宋体"/>
              </a:rPr>
              <a:t>需要相互垂直的变 化的两个磁场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98976" y="3259835"/>
            <a:ext cx="4415028" cy="2482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530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76477" y="3283699"/>
            <a:ext cx="23114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Calibri"/>
                <a:cs typeface="Calibri"/>
              </a:rPr>
              <a:t>4</a:t>
            </a:r>
            <a:r>
              <a:rPr dirty="0" sz="1800" spc="-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如何形成两个 相互垂直变化的磁场？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6477" y="3283699"/>
            <a:ext cx="23114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Calibri"/>
                <a:cs typeface="Calibri"/>
              </a:rPr>
              <a:t>4</a:t>
            </a:r>
            <a:r>
              <a:rPr dirty="0" sz="1800" spc="-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如何形成两个 相互垂直变化的磁场？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59708" y="3189732"/>
            <a:ext cx="4553712" cy="2561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454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3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6477" y="3234981"/>
            <a:ext cx="2311400" cy="259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Calibri"/>
                <a:cs typeface="Calibri"/>
              </a:rPr>
              <a:t>4</a:t>
            </a:r>
            <a:r>
              <a:rPr dirty="0" sz="1800" spc="-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如何产生两个 相互垂直变化的磁场？</a:t>
            </a:r>
            <a:endParaRPr sz="1800">
              <a:latin typeface="宋体"/>
              <a:cs typeface="宋体"/>
            </a:endParaRPr>
          </a:p>
          <a:p>
            <a:pPr algn="just" marL="12700" marR="208279" indent="254000">
              <a:lnSpc>
                <a:spcPct val="150000"/>
              </a:lnSpc>
              <a:spcBef>
                <a:spcPts val="800"/>
              </a:spcBef>
            </a:pPr>
            <a:r>
              <a:rPr dirty="0" sz="1800">
                <a:latin typeface="宋体"/>
                <a:cs typeface="宋体"/>
              </a:rPr>
              <a:t>相互垂直的变化的 两个磁场由两个环上 的四个线圈中的电流 产生。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71315" y="3163823"/>
            <a:ext cx="4715255" cy="2837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9586" y="2501912"/>
            <a:ext cx="2821940" cy="184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  <a:tabLst>
                <a:tab pos="675005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  <a:p>
            <a:pPr marL="12700" marR="286385" indent="254000">
              <a:lnSpc>
                <a:spcPct val="150000"/>
              </a:lnSpc>
              <a:spcBef>
                <a:spcPts val="1745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Calibri"/>
                <a:cs typeface="Calibri"/>
              </a:rPr>
              <a:t>5</a:t>
            </a:r>
            <a:r>
              <a:rPr dirty="0" sz="1800" spc="-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电子束打在荧光 屏上形成一个小亮点，如 何使</a:t>
            </a:r>
            <a:r>
              <a:rPr dirty="0" sz="1800" spc="405">
                <a:latin typeface="宋体"/>
                <a:cs typeface="宋体"/>
              </a:rPr>
              <a:t>整</a:t>
            </a:r>
            <a:r>
              <a:rPr dirty="0" sz="1800">
                <a:latin typeface="宋体"/>
                <a:cs typeface="宋体"/>
              </a:rPr>
              <a:t>个屏幕点亮？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9586" y="2501912"/>
            <a:ext cx="2909570" cy="184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</a:t>
            </a:r>
            <a:r>
              <a:rPr dirty="0" sz="2400" spc="-30" i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电子束的磁偏转</a:t>
            </a:r>
            <a:endParaRPr sz="2400">
              <a:latin typeface="华文楷体"/>
              <a:cs typeface="华文楷体"/>
            </a:endParaRPr>
          </a:p>
          <a:p>
            <a:pPr marL="12700" marR="5080" indent="254000">
              <a:lnSpc>
                <a:spcPct val="150000"/>
              </a:lnSpc>
              <a:spcBef>
                <a:spcPts val="1745"/>
              </a:spcBef>
            </a:pPr>
            <a:r>
              <a:rPr dirty="0" sz="1800">
                <a:latin typeface="宋体"/>
                <a:cs typeface="宋体"/>
              </a:rPr>
              <a:t>（</a:t>
            </a:r>
            <a:r>
              <a:rPr dirty="0" sz="1800" spc="-5">
                <a:latin typeface="Calibri"/>
                <a:cs typeface="Calibri"/>
              </a:rPr>
              <a:t>5</a:t>
            </a:r>
            <a:r>
              <a:rPr dirty="0" sz="1800">
                <a:latin typeface="宋体"/>
                <a:cs typeface="宋体"/>
              </a:rPr>
              <a:t>）电子束打在荧光屏上 形成一个小亮点，如何使整 个屏幕点亮？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3092195"/>
            <a:ext cx="2695955" cy="280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9873" y="2501912"/>
            <a:ext cx="3454400" cy="2942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3535">
              <a:lnSpc>
                <a:spcPct val="100000"/>
              </a:lnSpc>
              <a:spcBef>
                <a:spcPts val="100"/>
              </a:spcBef>
              <a:tabLst>
                <a:tab pos="71501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  <a:p>
            <a:pPr marL="52069" marR="879475" indent="254000">
              <a:lnSpc>
                <a:spcPct val="150000"/>
              </a:lnSpc>
              <a:spcBef>
                <a:spcPts val="1745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Calibri"/>
                <a:cs typeface="Calibri"/>
              </a:rPr>
              <a:t>5</a:t>
            </a:r>
            <a:r>
              <a:rPr dirty="0" sz="1800" spc="-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电子束打在荧光 屏上形成一个小亮点，如 何使</a:t>
            </a:r>
            <a:r>
              <a:rPr dirty="0" sz="1800" spc="405">
                <a:latin typeface="宋体"/>
                <a:cs typeface="宋体"/>
              </a:rPr>
              <a:t>整</a:t>
            </a:r>
            <a:r>
              <a:rPr dirty="0" sz="1800">
                <a:latin typeface="宋体"/>
                <a:cs typeface="宋体"/>
              </a:rPr>
              <a:t>个屏幕点亮？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 indent="254000">
              <a:lnSpc>
                <a:spcPct val="150000"/>
              </a:lnSpc>
            </a:pPr>
            <a:r>
              <a:rPr dirty="0" sz="1800">
                <a:latin typeface="宋体"/>
                <a:cs typeface="宋体"/>
              </a:rPr>
              <a:t>若要使整个屏幕点亮，亮点如 图所示的移动，这个过程叫扫描。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3092195"/>
            <a:ext cx="2695955" cy="280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2530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电子束的磁偏转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9985" y="3391001"/>
            <a:ext cx="3035300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667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电子束从最上一行到最下一 行扫描一遍叫作一场，电视机 中的显像管每秒要进行</a:t>
            </a:r>
            <a:r>
              <a:rPr dirty="0" sz="1800">
                <a:latin typeface="Times New Roman"/>
                <a:cs typeface="Times New Roman"/>
              </a:rPr>
              <a:t>50</a:t>
            </a:r>
            <a:r>
              <a:rPr dirty="0" sz="1800">
                <a:latin typeface="宋体"/>
                <a:cs typeface="宋体"/>
              </a:rPr>
              <a:t>场扫 描，所以，我们感觉整个荧光 屏都在发光。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66944" y="3515867"/>
            <a:ext cx="2103120" cy="21625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3216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电子束的磁偏转小结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16685" y="3395383"/>
            <a:ext cx="6654800" cy="2101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①利用磁场可使电子束发生偏转；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宋体"/>
                <a:cs typeface="宋体"/>
              </a:rPr>
              <a:t>②利用一定规律变化的磁场可使电子束完成扫描；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宋体"/>
                <a:cs typeface="宋体"/>
              </a:rPr>
              <a:t>③利用相互垂直的一定规律变化的磁场可使电子束完成全屏扫描；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宋体"/>
                <a:cs typeface="宋体"/>
              </a:rPr>
              <a:t>④因人眼的视觉暂留，电子束的扫描点亮全屏。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1082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3	例题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8966" y="3216946"/>
            <a:ext cx="6997700" cy="12598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04800">
              <a:lnSpc>
                <a:spcPct val="145900"/>
              </a:lnSpc>
              <a:spcBef>
                <a:spcPts val="90"/>
              </a:spcBef>
            </a:pPr>
            <a:r>
              <a:rPr dirty="0" sz="1800">
                <a:latin typeface="宋体"/>
                <a:cs typeface="宋体"/>
              </a:rPr>
              <a:t>如图所示为实验用磁流体发电机原理图，两板间</a:t>
            </a:r>
            <a:r>
              <a:rPr dirty="0" sz="1800" spc="-85">
                <a:latin typeface="宋体"/>
                <a:cs typeface="宋体"/>
              </a:rPr>
              <a:t>距</a:t>
            </a:r>
            <a:r>
              <a:rPr dirty="0" sz="1850" spc="-75" i="1">
                <a:latin typeface="宋体"/>
                <a:cs typeface="宋体"/>
              </a:rPr>
              <a:t>d</a:t>
            </a:r>
            <a:r>
              <a:rPr dirty="0" sz="1800" spc="-75">
                <a:latin typeface="宋体"/>
                <a:cs typeface="宋体"/>
              </a:rPr>
              <a:t>=20cm，</a:t>
            </a:r>
            <a:r>
              <a:rPr dirty="0" sz="1800">
                <a:latin typeface="宋体"/>
                <a:cs typeface="宋体"/>
              </a:rPr>
              <a:t>磁场的 磁感应强</a:t>
            </a:r>
            <a:r>
              <a:rPr dirty="0" sz="1800" spc="-85">
                <a:latin typeface="宋体"/>
                <a:cs typeface="宋体"/>
              </a:rPr>
              <a:t>度</a:t>
            </a:r>
            <a:r>
              <a:rPr dirty="0" sz="1850" spc="-105" i="1">
                <a:latin typeface="宋体"/>
                <a:cs typeface="宋体"/>
              </a:rPr>
              <a:t>B</a:t>
            </a:r>
            <a:r>
              <a:rPr dirty="0" sz="1800" spc="-105">
                <a:latin typeface="宋体"/>
                <a:cs typeface="宋体"/>
              </a:rPr>
              <a:t>=5T，</a:t>
            </a:r>
            <a:r>
              <a:rPr dirty="0" sz="1800">
                <a:latin typeface="宋体"/>
                <a:cs typeface="宋体"/>
              </a:rPr>
              <a:t>若接入额定功</a:t>
            </a:r>
            <a:r>
              <a:rPr dirty="0" sz="1800" spc="-85">
                <a:latin typeface="宋体"/>
                <a:cs typeface="宋体"/>
              </a:rPr>
              <a:t>率</a:t>
            </a:r>
            <a:r>
              <a:rPr dirty="0" sz="1850" spc="-90" i="1">
                <a:latin typeface="宋体"/>
                <a:cs typeface="宋体"/>
              </a:rPr>
              <a:t>P</a:t>
            </a:r>
            <a:r>
              <a:rPr dirty="0" sz="1800" spc="-90">
                <a:latin typeface="宋体"/>
                <a:cs typeface="宋体"/>
              </a:rPr>
              <a:t>=100W</a:t>
            </a:r>
            <a:r>
              <a:rPr dirty="0" sz="1800">
                <a:latin typeface="宋体"/>
                <a:cs typeface="宋体"/>
              </a:rPr>
              <a:t>的灯泡，正好正常发光，且 灯泡正常发光时电</a:t>
            </a:r>
            <a:r>
              <a:rPr dirty="0" sz="1800" spc="-85">
                <a:latin typeface="宋体"/>
                <a:cs typeface="宋体"/>
              </a:rPr>
              <a:t>阻</a:t>
            </a:r>
            <a:r>
              <a:rPr dirty="0" sz="1850" spc="-75" i="1">
                <a:latin typeface="宋体"/>
                <a:cs typeface="宋体"/>
              </a:rPr>
              <a:t>R</a:t>
            </a:r>
            <a:r>
              <a:rPr dirty="0" sz="1800" spc="-75">
                <a:latin typeface="宋体"/>
                <a:cs typeface="宋体"/>
              </a:rPr>
              <a:t>=100Ω，</a:t>
            </a:r>
            <a:r>
              <a:rPr dirty="0" sz="1800">
                <a:latin typeface="宋体"/>
                <a:cs typeface="宋体"/>
              </a:rPr>
              <a:t>不计发电机内阻。求等离子体的流速。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72328" y="4654296"/>
            <a:ext cx="2311907" cy="1598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1082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3	例题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33644" y="2578607"/>
            <a:ext cx="2497836" cy="1700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51686" y="3510597"/>
            <a:ext cx="2950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分析：灯泡消耗的功率</a:t>
            </a:r>
            <a:r>
              <a:rPr dirty="0" sz="1800" spc="90" i="1">
                <a:latin typeface="Cambria Math"/>
                <a:cs typeface="Cambria Math"/>
              </a:rPr>
              <a:t>P</a:t>
            </a:r>
            <a:r>
              <a:rPr dirty="0" sz="1800" spc="55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55" i="1">
                <a:latin typeface="Cambria Math"/>
                <a:cs typeface="Cambria Math"/>
              </a:rPr>
              <a:t> </a:t>
            </a:r>
            <a:r>
              <a:rPr dirty="0" baseline="44871" sz="1950" spc="104" i="1">
                <a:latin typeface="Cambria Math"/>
                <a:cs typeface="Cambria Math"/>
              </a:rPr>
              <a:t>U</a:t>
            </a:r>
            <a:r>
              <a:rPr dirty="0" baseline="82010" sz="1575" spc="104" i="1">
                <a:latin typeface="Cambria Math"/>
                <a:cs typeface="Cambria Math"/>
              </a:rPr>
              <a:t>2</a:t>
            </a:r>
            <a:endParaRPr baseline="82010" sz="1575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89806" y="3686448"/>
            <a:ext cx="205104" cy="0"/>
          </a:xfrm>
          <a:custGeom>
            <a:avLst/>
            <a:gdLst/>
            <a:ahLst/>
            <a:cxnLst/>
            <a:rect l="l" t="t" r="r" b="b"/>
            <a:pathLst>
              <a:path w="205104" h="0">
                <a:moveTo>
                  <a:pt x="0" y="0"/>
                </a:moveTo>
                <a:lnTo>
                  <a:pt x="205105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00962" y="3936415"/>
            <a:ext cx="19900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0839" algn="l"/>
              </a:tabLst>
            </a:pPr>
            <a:r>
              <a:rPr dirty="0" sz="1800">
                <a:latin typeface="宋体"/>
                <a:cs typeface="宋体"/>
              </a:rPr>
              <a:t>灯泡两端电压	</a:t>
            </a: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sz="1800" i="1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45764" y="3974210"/>
            <a:ext cx="433070" cy="220345"/>
          </a:xfrm>
          <a:custGeom>
            <a:avLst/>
            <a:gdLst/>
            <a:ahLst/>
            <a:cxnLst/>
            <a:rect l="l" t="t" r="r" b="b"/>
            <a:pathLst>
              <a:path w="433070" h="220345">
                <a:moveTo>
                  <a:pt x="87989" y="190538"/>
                </a:moveTo>
                <a:lnTo>
                  <a:pt x="76009" y="190538"/>
                </a:lnTo>
                <a:lnTo>
                  <a:pt x="131152" y="0"/>
                </a:lnTo>
                <a:lnTo>
                  <a:pt x="432968" y="0"/>
                </a:lnTo>
                <a:lnTo>
                  <a:pt x="432968" y="14859"/>
                </a:lnTo>
                <a:lnTo>
                  <a:pt x="139407" y="14859"/>
                </a:lnTo>
                <a:lnTo>
                  <a:pt x="87989" y="190538"/>
                </a:lnTo>
                <a:close/>
              </a:path>
              <a:path w="433070" h="220345">
                <a:moveTo>
                  <a:pt x="432968" y="15087"/>
                </a:moveTo>
                <a:lnTo>
                  <a:pt x="145948" y="15087"/>
                </a:lnTo>
                <a:lnTo>
                  <a:pt x="145948" y="14859"/>
                </a:lnTo>
                <a:lnTo>
                  <a:pt x="432968" y="14859"/>
                </a:lnTo>
                <a:lnTo>
                  <a:pt x="432968" y="15087"/>
                </a:lnTo>
                <a:close/>
              </a:path>
              <a:path w="433070" h="220345">
                <a:moveTo>
                  <a:pt x="79362" y="220014"/>
                </a:moveTo>
                <a:lnTo>
                  <a:pt x="68529" y="220014"/>
                </a:lnTo>
                <a:lnTo>
                  <a:pt x="22313" y="120675"/>
                </a:lnTo>
                <a:lnTo>
                  <a:pt x="0" y="120675"/>
                </a:lnTo>
                <a:lnTo>
                  <a:pt x="36601" y="103924"/>
                </a:lnTo>
                <a:lnTo>
                  <a:pt x="44222" y="120675"/>
                </a:lnTo>
                <a:lnTo>
                  <a:pt x="22313" y="120675"/>
                </a:lnTo>
                <a:lnTo>
                  <a:pt x="3454" y="129031"/>
                </a:lnTo>
                <a:lnTo>
                  <a:pt x="48025" y="129031"/>
                </a:lnTo>
                <a:lnTo>
                  <a:pt x="76009" y="190538"/>
                </a:lnTo>
                <a:lnTo>
                  <a:pt x="87989" y="190538"/>
                </a:lnTo>
                <a:lnTo>
                  <a:pt x="79362" y="220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579012" y="3654133"/>
            <a:ext cx="1054735" cy="58229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ctr" marL="170180">
              <a:lnSpc>
                <a:spcPct val="100000"/>
              </a:lnSpc>
              <a:spcBef>
                <a:spcPts val="375"/>
              </a:spcBef>
            </a:pPr>
            <a:r>
              <a:rPr dirty="0" sz="1300" spc="15" i="1">
                <a:latin typeface="Cambria Math"/>
                <a:cs typeface="Cambria Math"/>
              </a:rPr>
              <a:t>R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800" spc="55" i="1">
                <a:latin typeface="Cambria Math"/>
                <a:cs typeface="Cambria Math"/>
              </a:rPr>
              <a:t>PR</a:t>
            </a:r>
            <a:r>
              <a:rPr dirty="0" sz="1800" spc="20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>
                <a:latin typeface="Times New Roman"/>
                <a:cs typeface="Times New Roman"/>
              </a:rPr>
              <a:t>100V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1457" y="4524032"/>
            <a:ext cx="54540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磁流体发电机正常工作后，考查磁流体粒子</a:t>
            </a:r>
            <a:r>
              <a:rPr dirty="0" sz="1800" spc="-40">
                <a:latin typeface="宋体"/>
                <a:cs typeface="宋体"/>
              </a:rPr>
              <a:t> </a:t>
            </a:r>
            <a:r>
              <a:rPr dirty="0" sz="1800" spc="50" i="1">
                <a:latin typeface="Cambria Math"/>
                <a:cs typeface="Cambria Math"/>
              </a:rPr>
              <a:t>q60</a:t>
            </a:r>
            <a:r>
              <a:rPr dirty="0" sz="1800" spc="80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80" i="1">
                <a:latin typeface="Cambria Math"/>
                <a:cs typeface="Cambria Math"/>
              </a:rPr>
              <a:t> </a:t>
            </a:r>
            <a:r>
              <a:rPr dirty="0" sz="1800" spc="-15" i="1">
                <a:latin typeface="Cambria Math"/>
                <a:cs typeface="Cambria Math"/>
              </a:rPr>
              <a:t>q</a:t>
            </a:r>
            <a:r>
              <a:rPr dirty="0" sz="1800" spc="-105" i="1">
                <a:latin typeface="Cambria Math"/>
                <a:cs typeface="Cambria Math"/>
              </a:rPr>
              <a:t> </a:t>
            </a:r>
            <a:r>
              <a:rPr dirty="0" baseline="44871" sz="1950" spc="67" i="1">
                <a:latin typeface="Cambria Math"/>
                <a:cs typeface="Cambria Math"/>
              </a:rPr>
              <a:t>U</a:t>
            </a:r>
            <a:endParaRPr baseline="44871" sz="19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29107" y="4699882"/>
            <a:ext cx="113664" cy="0"/>
          </a:xfrm>
          <a:custGeom>
            <a:avLst/>
            <a:gdLst/>
            <a:ahLst/>
            <a:cxnLst/>
            <a:rect l="l" t="t" r="r" b="b"/>
            <a:pathLst>
              <a:path w="113665" h="0">
                <a:moveTo>
                  <a:pt x="0" y="0"/>
                </a:moveTo>
                <a:lnTo>
                  <a:pt x="113665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25298" y="4703102"/>
            <a:ext cx="1212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25" i="1">
                <a:latin typeface="Cambria Math"/>
                <a:cs typeface="Cambria Math"/>
              </a:rPr>
              <a:t>d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79582" y="5424163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 h="0">
                <a:moveTo>
                  <a:pt x="0" y="0"/>
                </a:moveTo>
                <a:lnTo>
                  <a:pt x="204470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66882" y="5427383"/>
            <a:ext cx="22987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135" i="1">
                <a:latin typeface="Cambria Math"/>
                <a:cs typeface="Cambria Math"/>
              </a:rPr>
              <a:t>0</a:t>
            </a:r>
            <a:r>
              <a:rPr dirty="0" sz="1300" spc="25" i="1">
                <a:latin typeface="Cambria Math"/>
                <a:cs typeface="Cambria Math"/>
              </a:rPr>
              <a:t>d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01457" y="5248312"/>
            <a:ext cx="40728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磁流体定向运动的速度</a:t>
            </a:r>
            <a:r>
              <a:rPr dirty="0" sz="1800" spc="-465">
                <a:latin typeface="宋体"/>
                <a:cs typeface="宋体"/>
              </a:rPr>
              <a:t> </a:t>
            </a:r>
            <a:r>
              <a:rPr dirty="0" sz="1800" spc="-20" i="1">
                <a:latin typeface="Cambria Math"/>
                <a:cs typeface="Cambria Math"/>
              </a:rPr>
              <a:t>6</a:t>
            </a:r>
            <a:r>
              <a:rPr dirty="0" sz="1800" spc="90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35" i="1">
                <a:latin typeface="Cambria Math"/>
                <a:cs typeface="Cambria Math"/>
              </a:rPr>
              <a:t> </a:t>
            </a:r>
            <a:r>
              <a:rPr dirty="0" baseline="44871" sz="1950" spc="67" i="1">
                <a:latin typeface="Cambria Math"/>
                <a:cs typeface="Cambria Math"/>
              </a:rPr>
              <a:t>U</a:t>
            </a:r>
            <a:r>
              <a:rPr dirty="0" baseline="44871" sz="1950" spc="330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90" i="1">
                <a:latin typeface="Cambria Math"/>
                <a:cs typeface="Cambria Math"/>
              </a:rPr>
              <a:t> </a:t>
            </a:r>
            <a:r>
              <a:rPr dirty="0" sz="1800" spc="-5" i="1">
                <a:latin typeface="Cambria Math"/>
                <a:cs typeface="Cambria Math"/>
              </a:rPr>
              <a:t>100m/s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1082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4	例题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135" y="3247072"/>
            <a:ext cx="7239000" cy="1261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4800">
              <a:lnSpc>
                <a:spcPct val="1501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下图所示的平行板器件中，电场强度</a:t>
            </a:r>
            <a:r>
              <a:rPr dirty="0" sz="1800" i="1">
                <a:latin typeface="Times New Roman"/>
                <a:cs typeface="Times New Roman"/>
              </a:rPr>
              <a:t>E</a:t>
            </a:r>
            <a:r>
              <a:rPr dirty="0" sz="1800">
                <a:latin typeface="宋体"/>
                <a:cs typeface="宋体"/>
              </a:rPr>
              <a:t>和磁感应强度</a:t>
            </a:r>
            <a:r>
              <a:rPr dirty="0" sz="1800" i="1">
                <a:latin typeface="Times New Roman"/>
                <a:cs typeface="Times New Roman"/>
              </a:rPr>
              <a:t>B</a:t>
            </a:r>
            <a:r>
              <a:rPr dirty="0" sz="1800">
                <a:latin typeface="宋体"/>
                <a:cs typeface="宋体"/>
              </a:rPr>
              <a:t>相互垂直。具有 不同水平速度的带电粒子射入后发生偏转的情况不同。这种装置能把具 有某一特定速度的粒子选择出来，所以叫作速度选择器。试证明带电粒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62110" y="4932959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5" h="0">
                <a:moveTo>
                  <a:pt x="0" y="0"/>
                </a:moveTo>
                <a:lnTo>
                  <a:pt x="108585" y="0"/>
                </a:lnTo>
              </a:path>
            </a:pathLst>
          </a:custGeom>
          <a:ln w="15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49410" y="4936172"/>
            <a:ext cx="1333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130" i="1">
                <a:latin typeface="Cambria Math"/>
                <a:cs typeface="Cambria Math"/>
              </a:rPr>
              <a:t>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4135" y="4757102"/>
            <a:ext cx="672845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子具有速度</a:t>
            </a:r>
            <a:r>
              <a:rPr dirty="0" sz="1800" spc="-20" i="1">
                <a:latin typeface="Cambria Math"/>
                <a:cs typeface="Cambria Math"/>
              </a:rPr>
              <a:t>6</a:t>
            </a:r>
            <a:r>
              <a:rPr dirty="0" sz="1800" spc="55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75" i="1">
                <a:latin typeface="Cambria Math"/>
                <a:cs typeface="Cambria Math"/>
              </a:rPr>
              <a:t> </a:t>
            </a:r>
            <a:r>
              <a:rPr dirty="0" baseline="44871" sz="1950" spc="127" i="1">
                <a:latin typeface="Cambria Math"/>
                <a:cs typeface="Cambria Math"/>
              </a:rPr>
              <a:t>E</a:t>
            </a:r>
            <a:r>
              <a:rPr dirty="0" sz="1800">
                <a:latin typeface="宋体"/>
                <a:cs typeface="宋体"/>
              </a:rPr>
              <a:t>时，才能沿着图示虚线路径通过这个速度选择器。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60491" y="5082540"/>
            <a:ext cx="2150364" cy="1114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84135" y="2501912"/>
            <a:ext cx="7188200" cy="2318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8955">
              <a:lnSpc>
                <a:spcPct val="100000"/>
              </a:lnSpc>
              <a:spcBef>
                <a:spcPts val="100"/>
              </a:spcBef>
              <a:tabLst>
                <a:tab pos="97663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4	例题</a:t>
            </a:r>
            <a:endParaRPr sz="2400">
              <a:latin typeface="华文楷体"/>
              <a:cs typeface="华文楷体"/>
            </a:endParaRPr>
          </a:p>
          <a:p>
            <a:pPr marL="12700" marR="5080" indent="304800">
              <a:lnSpc>
                <a:spcPct val="150000"/>
              </a:lnSpc>
              <a:spcBef>
                <a:spcPts val="1625"/>
              </a:spcBef>
            </a:pPr>
            <a:r>
              <a:rPr dirty="0" sz="1800">
                <a:latin typeface="宋体"/>
                <a:cs typeface="宋体"/>
              </a:rPr>
              <a:t>分析：以正粒子飞入混合场为例，对进入速度选择器的带电粒子进行 分析。</a:t>
            </a:r>
            <a:endParaRPr sz="1800">
              <a:latin typeface="宋体"/>
              <a:cs typeface="宋体"/>
            </a:endParaRPr>
          </a:p>
          <a:p>
            <a:pPr marL="316865">
              <a:lnSpc>
                <a:spcPct val="100000"/>
              </a:lnSpc>
              <a:spcBef>
                <a:spcPts val="770"/>
              </a:spcBef>
            </a:pPr>
            <a:r>
              <a:rPr dirty="0" sz="1800">
                <a:latin typeface="宋体"/>
                <a:cs typeface="宋体"/>
              </a:rPr>
              <a:t>正粒子受向下的电场力</a:t>
            </a:r>
            <a:r>
              <a:rPr dirty="0" sz="1800" spc="-5">
                <a:latin typeface="宋体"/>
                <a:cs typeface="宋体"/>
              </a:rPr>
              <a:t> </a:t>
            </a:r>
            <a:r>
              <a:rPr dirty="0" sz="1800" spc="105" i="1">
                <a:latin typeface="Cambria Math"/>
                <a:cs typeface="Cambria Math"/>
              </a:rPr>
              <a:t>F</a:t>
            </a:r>
            <a:r>
              <a:rPr dirty="0" baseline="-14957" sz="1950" spc="157" i="1">
                <a:latin typeface="Cambria Math"/>
                <a:cs typeface="Cambria Math"/>
              </a:rPr>
              <a:t>E</a:t>
            </a:r>
            <a:r>
              <a:rPr dirty="0" baseline="-14957" sz="1950" spc="419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100" i="1">
                <a:latin typeface="Cambria Math"/>
                <a:cs typeface="Cambria Math"/>
              </a:rPr>
              <a:t> </a:t>
            </a:r>
            <a:r>
              <a:rPr dirty="0" sz="1800" spc="35" i="1">
                <a:latin typeface="Cambria Math"/>
                <a:cs typeface="Cambria Math"/>
              </a:rPr>
              <a:t>qE</a:t>
            </a:r>
            <a:endParaRPr sz="1800">
              <a:latin typeface="Cambria Math"/>
              <a:cs typeface="Cambria Math"/>
            </a:endParaRPr>
          </a:p>
          <a:p>
            <a:pPr marL="316865">
              <a:lnSpc>
                <a:spcPct val="100000"/>
              </a:lnSpc>
              <a:spcBef>
                <a:spcPts val="1975"/>
              </a:spcBef>
            </a:pPr>
            <a:r>
              <a:rPr dirty="0" sz="1800">
                <a:latin typeface="宋体"/>
                <a:cs typeface="宋体"/>
              </a:rPr>
              <a:t>正粒子受向上的洛伦兹力</a:t>
            </a:r>
            <a:r>
              <a:rPr dirty="0" sz="1800" spc="-5">
                <a:latin typeface="宋体"/>
                <a:cs typeface="宋体"/>
              </a:rPr>
              <a:t> </a:t>
            </a:r>
            <a:r>
              <a:rPr dirty="0" sz="1800" spc="105" i="1">
                <a:latin typeface="Cambria Math"/>
                <a:cs typeface="Cambria Math"/>
              </a:rPr>
              <a:t>F</a:t>
            </a:r>
            <a:r>
              <a:rPr dirty="0" baseline="-14957" sz="1950" spc="157" i="1">
                <a:latin typeface="Cambria Math"/>
                <a:cs typeface="Cambria Math"/>
              </a:rPr>
              <a:t>B</a:t>
            </a:r>
            <a:r>
              <a:rPr dirty="0" baseline="-14957" sz="1950" spc="419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95" i="1">
                <a:latin typeface="Cambria Math"/>
                <a:cs typeface="Cambria Math"/>
              </a:rPr>
              <a:t> </a:t>
            </a:r>
            <a:r>
              <a:rPr dirty="0" sz="1800" spc="50" i="1">
                <a:latin typeface="Cambria Math"/>
                <a:cs typeface="Cambria Math"/>
              </a:rPr>
              <a:t>q60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8935" y="4965610"/>
            <a:ext cx="1608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当 </a:t>
            </a:r>
            <a:r>
              <a:rPr dirty="0" sz="1800" spc="35" i="1">
                <a:latin typeface="Cambria Math"/>
                <a:cs typeface="Cambria Math"/>
              </a:rPr>
              <a:t>qE </a:t>
            </a:r>
            <a:r>
              <a:rPr dirty="0" sz="1800" i="1">
                <a:latin typeface="Cambria Math"/>
                <a:cs typeface="Cambria Math"/>
              </a:rPr>
              <a:t>= </a:t>
            </a:r>
            <a:r>
              <a:rPr dirty="0" sz="1800" spc="50" i="1">
                <a:latin typeface="Cambria Math"/>
                <a:cs typeface="Cambria Math"/>
              </a:rPr>
              <a:t>q60</a:t>
            </a:r>
            <a:r>
              <a:rPr dirty="0" sz="1800" spc="70" i="1">
                <a:latin typeface="Cambria Math"/>
                <a:cs typeface="Cambria Math"/>
              </a:rPr>
              <a:t> </a:t>
            </a:r>
            <a:r>
              <a:rPr dirty="0" sz="1800">
                <a:latin typeface="宋体"/>
                <a:cs typeface="宋体"/>
              </a:rPr>
              <a:t>，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54538" y="5194484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5" h="0">
                <a:moveTo>
                  <a:pt x="0" y="0"/>
                </a:moveTo>
                <a:lnTo>
                  <a:pt x="108585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41838" y="5197703"/>
            <a:ext cx="1333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130" i="1">
                <a:latin typeface="Cambria Math"/>
                <a:cs typeface="Cambria Math"/>
              </a:rPr>
              <a:t>0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6663" y="5018633"/>
            <a:ext cx="13563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即</a:t>
            </a:r>
            <a:r>
              <a:rPr dirty="0" sz="1800" spc="-45">
                <a:latin typeface="宋体"/>
                <a:cs typeface="宋体"/>
              </a:rPr>
              <a:t> </a:t>
            </a:r>
            <a:r>
              <a:rPr dirty="0" sz="1800" spc="-20" i="1">
                <a:latin typeface="Cambria Math"/>
                <a:cs typeface="Cambria Math"/>
              </a:rPr>
              <a:t>6</a:t>
            </a:r>
            <a:r>
              <a:rPr dirty="0" sz="1800" spc="75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95" i="1">
                <a:latin typeface="Cambria Math"/>
                <a:cs typeface="Cambria Math"/>
              </a:rPr>
              <a:t> </a:t>
            </a:r>
            <a:r>
              <a:rPr dirty="0" baseline="44871" sz="1950" spc="127" i="1">
                <a:latin typeface="Cambria Math"/>
                <a:cs typeface="Cambria Math"/>
              </a:rPr>
              <a:t>E</a:t>
            </a:r>
            <a:r>
              <a:rPr dirty="0" sz="1800">
                <a:latin typeface="宋体"/>
                <a:cs typeface="宋体"/>
              </a:rPr>
              <a:t>时，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8923" y="5502262"/>
            <a:ext cx="4826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粒子做匀速直线运动，沿虚线通过速度选择器。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68111" y="3938015"/>
            <a:ext cx="2150364" cy="1114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758" y="158419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000000"/>
                </a:solidFill>
                <a:latin typeface="微软雅黑"/>
                <a:cs typeface="微软雅黑"/>
              </a:rPr>
              <a:t>二、磁场对运动电荷的作用</a:t>
            </a:r>
            <a:r>
              <a:rPr dirty="0" sz="3400" spc="-5" b="0">
                <a:solidFill>
                  <a:srgbClr val="000000"/>
                </a:solidFill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2372" y="2494788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282" y="467530"/>
                </a:lnTo>
                <a:lnTo>
                  <a:pt x="22407" y="450499"/>
                </a:lnTo>
                <a:lnTo>
                  <a:pt x="5759" y="425388"/>
                </a:lnTo>
                <a:lnTo>
                  <a:pt x="0" y="394716"/>
                </a:lnTo>
                <a:lnTo>
                  <a:pt x="0" y="79248"/>
                </a:lnTo>
                <a:lnTo>
                  <a:pt x="5759" y="48097"/>
                </a:lnTo>
                <a:lnTo>
                  <a:pt x="22407" y="22826"/>
                </a:lnTo>
                <a:lnTo>
                  <a:pt x="47282" y="5954"/>
                </a:lnTo>
                <a:lnTo>
                  <a:pt x="77724" y="0"/>
                </a:lnTo>
                <a:lnTo>
                  <a:pt x="3014472" y="0"/>
                </a:lnTo>
                <a:lnTo>
                  <a:pt x="3044834" y="5954"/>
                </a:lnTo>
                <a:lnTo>
                  <a:pt x="3069683" y="22826"/>
                </a:lnTo>
                <a:lnTo>
                  <a:pt x="3086357" y="48097"/>
                </a:lnTo>
                <a:lnTo>
                  <a:pt x="3092195" y="79248"/>
                </a:lnTo>
                <a:lnTo>
                  <a:pt x="3092195" y="394716"/>
                </a:lnTo>
                <a:lnTo>
                  <a:pt x="3086357" y="425388"/>
                </a:lnTo>
                <a:lnTo>
                  <a:pt x="3069683" y="450499"/>
                </a:lnTo>
                <a:lnTo>
                  <a:pt x="3044834" y="4675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7572" y="2343911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0962" y="2501912"/>
            <a:ext cx="1006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5	总结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4135" y="3377247"/>
            <a:ext cx="7416800" cy="192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黑体"/>
                <a:cs typeface="黑体"/>
              </a:rPr>
              <a:t>①磁场对运动电荷的作用力叫洛伦兹力</a:t>
            </a:r>
            <a:r>
              <a:rPr dirty="0" sz="1800">
                <a:latin typeface="宋体"/>
                <a:cs typeface="宋体"/>
              </a:rPr>
              <a:t>；</a:t>
            </a:r>
            <a:endParaRPr sz="1800">
              <a:latin typeface="宋体"/>
              <a:cs typeface="宋体"/>
            </a:endParaRPr>
          </a:p>
          <a:p>
            <a:pPr marL="12700" marR="211454" indent="304800">
              <a:lnSpc>
                <a:spcPct val="150500"/>
              </a:lnSpc>
              <a:spcBef>
                <a:spcPts val="1600"/>
              </a:spcBef>
            </a:pPr>
            <a:r>
              <a:rPr dirty="0" sz="1800">
                <a:latin typeface="宋体"/>
                <a:cs typeface="宋体"/>
              </a:rPr>
              <a:t>②洛伦兹力的大小</a:t>
            </a:r>
            <a:r>
              <a:rPr dirty="0" sz="1800" spc="-475">
                <a:latin typeface="宋体"/>
                <a:cs typeface="宋体"/>
              </a:rPr>
              <a:t> </a:t>
            </a:r>
            <a:r>
              <a:rPr dirty="0" sz="1800" spc="130" i="1">
                <a:latin typeface="Cambria Math"/>
                <a:cs typeface="Cambria Math"/>
              </a:rPr>
              <a:t>F</a:t>
            </a:r>
            <a:r>
              <a:rPr dirty="0" sz="1800" spc="75" i="1">
                <a:latin typeface="Cambria Math"/>
                <a:cs typeface="Cambria Math"/>
              </a:rPr>
              <a:t> </a:t>
            </a:r>
            <a:r>
              <a:rPr dirty="0" sz="1800" i="1">
                <a:latin typeface="Cambria Math"/>
                <a:cs typeface="Cambria Math"/>
              </a:rPr>
              <a:t>=</a:t>
            </a:r>
            <a:r>
              <a:rPr dirty="0" sz="1800" spc="80" i="1">
                <a:latin typeface="Cambria Math"/>
                <a:cs typeface="Cambria Math"/>
              </a:rPr>
              <a:t> </a:t>
            </a:r>
            <a:r>
              <a:rPr dirty="0" sz="1800" spc="50" i="1">
                <a:latin typeface="Cambria Math"/>
                <a:cs typeface="Cambria Math"/>
              </a:rPr>
              <a:t>q60si</a:t>
            </a:r>
            <a:r>
              <a:rPr dirty="0" sz="1800" spc="-235" i="1">
                <a:latin typeface="Cambria Math"/>
                <a:cs typeface="Cambria Math"/>
              </a:rPr>
              <a:t>的</a:t>
            </a:r>
            <a:r>
              <a:rPr dirty="0" sz="1800" spc="5" i="1">
                <a:latin typeface="Cambria Math"/>
                <a:cs typeface="Cambria Math"/>
              </a:rPr>
              <a:t>0</a:t>
            </a:r>
            <a:r>
              <a:rPr dirty="0" sz="1800" spc="5">
                <a:latin typeface="Times New Roman"/>
                <a:cs typeface="Times New Roman"/>
              </a:rPr>
              <a:t>;</a:t>
            </a:r>
            <a:r>
              <a:rPr dirty="0" sz="1800">
                <a:latin typeface="宋体"/>
                <a:cs typeface="宋体"/>
              </a:rPr>
              <a:t>方向垂直于磁场和速度决定的平面</a:t>
            </a:r>
            <a:r>
              <a:rPr dirty="0" sz="1800" spc="-550">
                <a:latin typeface="宋体"/>
                <a:cs typeface="宋体"/>
              </a:rPr>
              <a:t>，  </a:t>
            </a:r>
            <a:r>
              <a:rPr dirty="0" sz="1800">
                <a:latin typeface="宋体"/>
                <a:cs typeface="宋体"/>
              </a:rPr>
              <a:t>满足左手定则；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1800">
                <a:latin typeface="黑体"/>
                <a:cs typeface="黑体"/>
              </a:rPr>
              <a:t>③利用满足特定规律变化的磁场可使带电粒子发生我们所期望的偏转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2025-04-19T16:09:41Z</dcterms:created>
  <dcterms:modified xsi:type="dcterms:W3CDTF">2025-04-19T16:09:41Z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2025-04-19T00:00:00Z</vt:filetime>
  </property>
</Properties>
</file>