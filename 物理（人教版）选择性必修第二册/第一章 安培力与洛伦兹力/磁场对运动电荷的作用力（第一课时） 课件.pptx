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97479" y="1145781"/>
            <a:ext cx="5997041" cy="542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0001" y="1095679"/>
            <a:ext cx="5971997" cy="542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58453" y="2808783"/>
            <a:ext cx="7475092" cy="1998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790382" y="2110917"/>
            <a:ext cx="861123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FFFFFF"/>
                </a:solidFill>
                <a:latin typeface="微软雅黑"/>
                <a:cs typeface="微软雅黑"/>
              </a:rPr>
              <a:t>磁场对运动电荷的作用力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（第一课时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97544" y="3569668"/>
          <a:ext cx="818134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5660"/>
                <a:gridCol w="1388110"/>
                <a:gridCol w="3418839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主讲人：苏永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乔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校：北京市第四中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5336" y="2023338"/>
            <a:ext cx="935164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385623"/>
                </a:solidFill>
                <a:latin typeface="微软雅黑"/>
                <a:cs typeface="微软雅黑"/>
              </a:rPr>
              <a:t>磁场对运动电荷的作用力</a:t>
            </a:r>
            <a:r>
              <a:rPr dirty="0" sz="4800" spc="-95" b="1">
                <a:solidFill>
                  <a:srgbClr val="385623"/>
                </a:solidFill>
                <a:latin typeface="微软雅黑"/>
                <a:cs typeface="微软雅黑"/>
              </a:rPr>
              <a:t> </a:t>
            </a:r>
            <a:r>
              <a:rPr dirty="0" sz="3200" b="1">
                <a:solidFill>
                  <a:srgbClr val="385623"/>
                </a:solidFill>
                <a:latin typeface="微软雅黑"/>
                <a:cs typeface="微软雅黑"/>
              </a:rPr>
              <a:t>（第一课时</a:t>
            </a:r>
            <a:r>
              <a:rPr dirty="0" sz="3200" spc="5" b="1">
                <a:solidFill>
                  <a:srgbClr val="385623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10067" y="3544611"/>
          <a:ext cx="773366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1505"/>
                <a:gridCol w="1163955"/>
                <a:gridCol w="3418205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主讲人：苏永</a:t>
                      </a:r>
                      <a:r>
                        <a:rPr dirty="0" sz="2800" spc="-1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乔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solidFill>
                            <a:srgbClr val="385623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7510" y="1226858"/>
            <a:ext cx="1863089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11480">
              <a:lnSpc>
                <a:spcPct val="15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磁场对通电</a:t>
            </a:r>
            <a:r>
              <a:rPr dirty="0" sz="1800" spc="-10" b="1">
                <a:latin typeface="宋体"/>
                <a:cs typeface="宋体"/>
              </a:rPr>
              <a:t>导 </a:t>
            </a:r>
            <a:r>
              <a:rPr dirty="0" sz="1800" b="1">
                <a:latin typeface="宋体"/>
                <a:cs typeface="宋体"/>
              </a:rPr>
              <a:t>线有作用力，而</a:t>
            </a:r>
            <a:r>
              <a:rPr dirty="0" sz="1800" spc="-10" b="1">
                <a:latin typeface="宋体"/>
                <a:cs typeface="宋体"/>
              </a:rPr>
              <a:t>带 </a:t>
            </a:r>
            <a:r>
              <a:rPr dirty="0" sz="1800" b="1">
                <a:latin typeface="宋体"/>
                <a:cs typeface="宋体"/>
              </a:rPr>
              <a:t>电粒子的定向运</a:t>
            </a:r>
            <a:r>
              <a:rPr dirty="0" sz="1800" spc="-10" b="1">
                <a:latin typeface="宋体"/>
                <a:cs typeface="宋体"/>
              </a:rPr>
              <a:t>动 </a:t>
            </a:r>
            <a:r>
              <a:rPr dirty="0" sz="1800" b="1">
                <a:latin typeface="宋体"/>
                <a:cs typeface="宋体"/>
              </a:rPr>
              <a:t>形成电流，那么</a:t>
            </a:r>
            <a:r>
              <a:rPr dirty="0" sz="1800" spc="-10" b="1">
                <a:latin typeface="宋体"/>
                <a:cs typeface="宋体"/>
              </a:rPr>
              <a:t>， </a:t>
            </a:r>
            <a:r>
              <a:rPr dirty="0" sz="1800" b="1">
                <a:latin typeface="宋体"/>
                <a:cs typeface="宋体"/>
              </a:rPr>
              <a:t>磁场对运动电荷</a:t>
            </a:r>
            <a:r>
              <a:rPr dirty="0" sz="1800" spc="-10" b="1">
                <a:latin typeface="宋体"/>
                <a:cs typeface="宋体"/>
              </a:rPr>
              <a:t>有 </a:t>
            </a:r>
            <a:r>
              <a:rPr dirty="0" sz="1800" b="1">
                <a:latin typeface="宋体"/>
                <a:cs typeface="宋体"/>
              </a:rPr>
              <a:t>作用力吗</a:t>
            </a:r>
            <a:r>
              <a:rPr dirty="0" sz="1800" spc="-10" b="1">
                <a:latin typeface="宋体"/>
                <a:cs typeface="宋体"/>
              </a:rPr>
              <a:t>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32329" y="1339596"/>
            <a:ext cx="1863089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11480">
              <a:lnSpc>
                <a:spcPct val="15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磁场对通电</a:t>
            </a:r>
            <a:r>
              <a:rPr dirty="0" sz="1800" spc="-10" b="1">
                <a:latin typeface="宋体"/>
                <a:cs typeface="宋体"/>
              </a:rPr>
              <a:t>导 </a:t>
            </a:r>
            <a:r>
              <a:rPr dirty="0" sz="1800" b="1">
                <a:latin typeface="宋体"/>
                <a:cs typeface="宋体"/>
              </a:rPr>
              <a:t>线有作用力，而</a:t>
            </a:r>
            <a:r>
              <a:rPr dirty="0" sz="1800" spc="-10" b="1">
                <a:latin typeface="宋体"/>
                <a:cs typeface="宋体"/>
              </a:rPr>
              <a:t>带 </a:t>
            </a:r>
            <a:r>
              <a:rPr dirty="0" sz="1800" b="1">
                <a:latin typeface="宋体"/>
                <a:cs typeface="宋体"/>
              </a:rPr>
              <a:t>电粒子的定向运</a:t>
            </a:r>
            <a:r>
              <a:rPr dirty="0" sz="1800" spc="-10" b="1">
                <a:latin typeface="宋体"/>
                <a:cs typeface="宋体"/>
              </a:rPr>
              <a:t>动 </a:t>
            </a:r>
            <a:r>
              <a:rPr dirty="0" sz="1800" b="1">
                <a:latin typeface="宋体"/>
                <a:cs typeface="宋体"/>
              </a:rPr>
              <a:t>形成电流，那么</a:t>
            </a:r>
            <a:r>
              <a:rPr dirty="0" sz="1800" spc="-10" b="1">
                <a:latin typeface="宋体"/>
                <a:cs typeface="宋体"/>
              </a:rPr>
              <a:t>， </a:t>
            </a:r>
            <a:r>
              <a:rPr dirty="0" sz="1800" b="1">
                <a:latin typeface="宋体"/>
                <a:cs typeface="宋体"/>
              </a:rPr>
              <a:t>磁场对运动电荷</a:t>
            </a:r>
            <a:r>
              <a:rPr dirty="0" sz="1800" spc="-10" b="1">
                <a:latin typeface="宋体"/>
                <a:cs typeface="宋体"/>
              </a:rPr>
              <a:t>有 </a:t>
            </a:r>
            <a:r>
              <a:rPr dirty="0" sz="1800" b="1">
                <a:latin typeface="宋体"/>
                <a:cs typeface="宋体"/>
              </a:rPr>
              <a:t>作用力吗</a:t>
            </a:r>
            <a:r>
              <a:rPr dirty="0" sz="1800" spc="-10" b="1">
                <a:latin typeface="宋体"/>
                <a:cs typeface="宋体"/>
              </a:rPr>
              <a:t>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00371" y="1255775"/>
            <a:ext cx="5451348" cy="3816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069" y="1314539"/>
            <a:ext cx="1863089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11480">
              <a:lnSpc>
                <a:spcPct val="15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磁场对通电</a:t>
            </a:r>
            <a:r>
              <a:rPr dirty="0" sz="1800" spc="-10" b="1">
                <a:latin typeface="宋体"/>
                <a:cs typeface="宋体"/>
              </a:rPr>
              <a:t>导 </a:t>
            </a:r>
            <a:r>
              <a:rPr dirty="0" sz="1800" b="1">
                <a:latin typeface="宋体"/>
                <a:cs typeface="宋体"/>
              </a:rPr>
              <a:t>线有作用力，而</a:t>
            </a:r>
            <a:r>
              <a:rPr dirty="0" sz="1800" spc="-10" b="1">
                <a:latin typeface="宋体"/>
                <a:cs typeface="宋体"/>
              </a:rPr>
              <a:t>带 </a:t>
            </a:r>
            <a:r>
              <a:rPr dirty="0" sz="1800" b="1">
                <a:latin typeface="宋体"/>
                <a:cs typeface="宋体"/>
              </a:rPr>
              <a:t>电粒子的定向运</a:t>
            </a:r>
            <a:r>
              <a:rPr dirty="0" sz="1800" spc="-10" b="1">
                <a:latin typeface="宋体"/>
                <a:cs typeface="宋体"/>
              </a:rPr>
              <a:t>动 </a:t>
            </a:r>
            <a:r>
              <a:rPr dirty="0" sz="1800" b="1">
                <a:latin typeface="宋体"/>
                <a:cs typeface="宋体"/>
              </a:rPr>
              <a:t>形成电流，那么</a:t>
            </a:r>
            <a:r>
              <a:rPr dirty="0" sz="1800" spc="-10" b="1">
                <a:latin typeface="宋体"/>
                <a:cs typeface="宋体"/>
              </a:rPr>
              <a:t>， </a:t>
            </a:r>
            <a:r>
              <a:rPr dirty="0" sz="1800" b="1">
                <a:latin typeface="宋体"/>
                <a:cs typeface="宋体"/>
              </a:rPr>
              <a:t>磁场对运动电荷</a:t>
            </a:r>
            <a:r>
              <a:rPr dirty="0" sz="1800" spc="-10" b="1">
                <a:latin typeface="宋体"/>
                <a:cs typeface="宋体"/>
              </a:rPr>
              <a:t>有 </a:t>
            </a:r>
            <a:r>
              <a:rPr dirty="0" sz="1800" b="1">
                <a:latin typeface="宋体"/>
                <a:cs typeface="宋体"/>
              </a:rPr>
              <a:t>作用力吗</a:t>
            </a:r>
            <a:r>
              <a:rPr dirty="0" sz="1800" spc="-10" b="1">
                <a:latin typeface="宋体"/>
                <a:cs typeface="宋体"/>
              </a:rPr>
              <a:t>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7069" y="5277777"/>
            <a:ext cx="5081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定义：运动电荷在磁场中受到的磁场力叫</a:t>
            </a:r>
            <a:r>
              <a:rPr dirty="0" sz="1800" b="1">
                <a:latin typeface="黑体"/>
                <a:cs typeface="黑体"/>
              </a:rPr>
              <a:t>洛伦兹</a:t>
            </a:r>
            <a:r>
              <a:rPr dirty="0" sz="1800" spc="-10" b="1">
                <a:latin typeface="黑体"/>
                <a:cs typeface="黑体"/>
              </a:rPr>
              <a:t>力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73879" y="1229867"/>
            <a:ext cx="5451348" cy="3816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5936" y="1496517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2686811" y="2465832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4"/>
                </a:moveTo>
                <a:lnTo>
                  <a:pt x="79248" y="473964"/>
                </a:lnTo>
                <a:lnTo>
                  <a:pt x="48361" y="467637"/>
                </a:lnTo>
                <a:lnTo>
                  <a:pt x="23179" y="450642"/>
                </a:lnTo>
                <a:lnTo>
                  <a:pt x="6219" y="425495"/>
                </a:lnTo>
                <a:lnTo>
                  <a:pt x="0" y="394716"/>
                </a:lnTo>
                <a:lnTo>
                  <a:pt x="0" y="79248"/>
                </a:lnTo>
                <a:lnTo>
                  <a:pt x="6219" y="48204"/>
                </a:lnTo>
                <a:lnTo>
                  <a:pt x="23179" y="22969"/>
                </a:lnTo>
                <a:lnTo>
                  <a:pt x="48361" y="6062"/>
                </a:lnTo>
                <a:lnTo>
                  <a:pt x="79248" y="0"/>
                </a:lnTo>
                <a:lnTo>
                  <a:pt x="3014472" y="0"/>
                </a:lnTo>
                <a:lnTo>
                  <a:pt x="3045294" y="6062"/>
                </a:lnTo>
                <a:lnTo>
                  <a:pt x="3070455" y="22969"/>
                </a:lnTo>
                <a:lnTo>
                  <a:pt x="3087436" y="48204"/>
                </a:lnTo>
                <a:lnTo>
                  <a:pt x="3093720" y="79248"/>
                </a:lnTo>
                <a:lnTo>
                  <a:pt x="3093720" y="394716"/>
                </a:lnTo>
                <a:lnTo>
                  <a:pt x="3087436" y="425495"/>
                </a:lnTo>
                <a:lnTo>
                  <a:pt x="3070455" y="450642"/>
                </a:lnTo>
                <a:lnTo>
                  <a:pt x="3045294" y="467637"/>
                </a:lnTo>
                <a:lnTo>
                  <a:pt x="3014472" y="47396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82011" y="2316479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30" h="760730">
                <a:moveTo>
                  <a:pt x="413004" y="760476"/>
                </a:moveTo>
                <a:lnTo>
                  <a:pt x="0" y="411480"/>
                </a:lnTo>
                <a:lnTo>
                  <a:pt x="348995" y="0"/>
                </a:lnTo>
                <a:lnTo>
                  <a:pt x="760476" y="347472"/>
                </a:lnTo>
                <a:lnTo>
                  <a:pt x="413004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36177" y="2473147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77185" y="3488347"/>
            <a:ext cx="6883400" cy="1700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通电导线在磁场中受到的安培力，实际上是洛伦兹力的宏观表现。</a:t>
            </a:r>
            <a:endParaRPr sz="1800">
              <a:latin typeface="宋体"/>
              <a:cs typeface="宋体"/>
            </a:endParaRPr>
          </a:p>
          <a:p>
            <a:pPr marL="17780" marR="5080" indent="-5715">
              <a:lnSpc>
                <a:spcPct val="255200"/>
              </a:lnSpc>
            </a:pPr>
            <a:r>
              <a:rPr dirty="0" sz="1800">
                <a:latin typeface="宋体"/>
                <a:cs typeface="宋体"/>
              </a:rPr>
              <a:t>安培力方向既垂直于磁场方向，也垂直于电流方向；满足左手定则。 请问洛伦兹力的方向有何特点？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471" y="1158316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2991611" y="2068067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5996" y="473963"/>
                </a:moveTo>
                <a:lnTo>
                  <a:pt x="79248" y="473963"/>
                </a:lnTo>
                <a:lnTo>
                  <a:pt x="48752" y="468000"/>
                </a:lnTo>
                <a:lnTo>
                  <a:pt x="23698" y="451123"/>
                </a:lnTo>
                <a:lnTo>
                  <a:pt x="6606" y="425854"/>
                </a:lnTo>
                <a:lnTo>
                  <a:pt x="0" y="394715"/>
                </a:lnTo>
                <a:lnTo>
                  <a:pt x="0" y="79247"/>
                </a:lnTo>
                <a:lnTo>
                  <a:pt x="6606" y="48568"/>
                </a:lnTo>
                <a:lnTo>
                  <a:pt x="23698" y="23455"/>
                </a:lnTo>
                <a:lnTo>
                  <a:pt x="48752" y="6426"/>
                </a:lnTo>
                <a:lnTo>
                  <a:pt x="79248" y="0"/>
                </a:lnTo>
                <a:lnTo>
                  <a:pt x="3015996" y="0"/>
                </a:lnTo>
                <a:lnTo>
                  <a:pt x="3046323" y="6426"/>
                </a:lnTo>
                <a:lnTo>
                  <a:pt x="3071160" y="23455"/>
                </a:lnTo>
                <a:lnTo>
                  <a:pt x="3087846" y="48568"/>
                </a:lnTo>
                <a:lnTo>
                  <a:pt x="3093720" y="79247"/>
                </a:lnTo>
                <a:lnTo>
                  <a:pt x="3093720" y="394715"/>
                </a:lnTo>
                <a:lnTo>
                  <a:pt x="3087846" y="425854"/>
                </a:lnTo>
                <a:lnTo>
                  <a:pt x="3071160" y="451123"/>
                </a:lnTo>
                <a:lnTo>
                  <a:pt x="3046323" y="468000"/>
                </a:lnTo>
                <a:lnTo>
                  <a:pt x="3015996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88335" y="1918716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5"/>
                </a:moveTo>
                <a:lnTo>
                  <a:pt x="0" y="411479"/>
                </a:lnTo>
                <a:lnTo>
                  <a:pt x="347471" y="0"/>
                </a:lnTo>
                <a:lnTo>
                  <a:pt x="760476" y="348995"/>
                </a:lnTo>
                <a:lnTo>
                  <a:pt x="411480" y="76047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08211" y="2076031"/>
            <a:ext cx="6959600" cy="1487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  <a:tabLst>
                <a:tab pos="69342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  <a:p>
            <a:pPr marL="12700" marR="5080" indent="304800">
              <a:lnSpc>
                <a:spcPct val="150000"/>
              </a:lnSpc>
              <a:spcBef>
                <a:spcPts val="2150"/>
              </a:spcBef>
            </a:pPr>
            <a:r>
              <a:rPr dirty="0" sz="1800">
                <a:solidFill>
                  <a:srgbClr val="4471C4"/>
                </a:solidFill>
                <a:latin typeface="黑体"/>
                <a:cs typeface="黑体"/>
              </a:rPr>
              <a:t>运动电荷在磁场中受到的洛伦兹力的方向，与运动方向与磁感应强 度方向都垂直。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46547" y="3320796"/>
            <a:ext cx="1915668" cy="2395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6298" y="1208417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2869692" y="2118360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7" y="473963"/>
                </a:lnTo>
                <a:lnTo>
                  <a:pt x="48609" y="467894"/>
                </a:lnTo>
                <a:lnTo>
                  <a:pt x="23507" y="450984"/>
                </a:lnTo>
                <a:lnTo>
                  <a:pt x="6463" y="425752"/>
                </a:lnTo>
                <a:lnTo>
                  <a:pt x="0" y="394715"/>
                </a:lnTo>
                <a:lnTo>
                  <a:pt x="0" y="79247"/>
                </a:lnTo>
                <a:lnTo>
                  <a:pt x="6463" y="48461"/>
                </a:lnTo>
                <a:lnTo>
                  <a:pt x="23507" y="23312"/>
                </a:lnTo>
                <a:lnTo>
                  <a:pt x="48609" y="6319"/>
                </a:lnTo>
                <a:lnTo>
                  <a:pt x="79247" y="0"/>
                </a:lnTo>
                <a:lnTo>
                  <a:pt x="3014472" y="0"/>
                </a:lnTo>
                <a:lnTo>
                  <a:pt x="3045538" y="6319"/>
                </a:lnTo>
                <a:lnTo>
                  <a:pt x="3070783" y="23312"/>
                </a:lnTo>
                <a:lnTo>
                  <a:pt x="3087684" y="48461"/>
                </a:lnTo>
                <a:lnTo>
                  <a:pt x="3093720" y="79247"/>
                </a:lnTo>
                <a:lnTo>
                  <a:pt x="3093720" y="394715"/>
                </a:lnTo>
                <a:lnTo>
                  <a:pt x="3087684" y="425752"/>
                </a:lnTo>
                <a:lnTo>
                  <a:pt x="3070783" y="450984"/>
                </a:lnTo>
                <a:lnTo>
                  <a:pt x="3045538" y="467894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64892" y="1969007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3" y="760476"/>
                </a:moveTo>
                <a:lnTo>
                  <a:pt x="0" y="411480"/>
                </a:lnTo>
                <a:lnTo>
                  <a:pt x="348995" y="0"/>
                </a:lnTo>
                <a:lnTo>
                  <a:pt x="761999" y="348996"/>
                </a:lnTo>
                <a:lnTo>
                  <a:pt x="413003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86037" y="2126132"/>
            <a:ext cx="6959600" cy="3328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00"/>
              </a:spcBef>
              <a:tabLst>
                <a:tab pos="69342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  <a:p>
            <a:pPr marL="12700" marR="5080" indent="304800">
              <a:lnSpc>
                <a:spcPct val="150000"/>
              </a:lnSpc>
              <a:spcBef>
                <a:spcPts val="2150"/>
              </a:spcBef>
            </a:pPr>
            <a:r>
              <a:rPr dirty="0" sz="1800">
                <a:latin typeface="宋体"/>
                <a:cs typeface="宋体"/>
              </a:rPr>
              <a:t>关于正粒子受到的洛伦兹力的方向。当磁场方向与粒子的运动方向 垂直时，粒子所受的洛伦兹力可用左用定判定。</a:t>
            </a:r>
            <a:endParaRPr sz="1800">
              <a:latin typeface="宋体"/>
              <a:cs typeface="宋体"/>
            </a:endParaRPr>
          </a:p>
          <a:p>
            <a:pPr marL="69850" marR="23495" indent="266700">
              <a:lnSpc>
                <a:spcPct val="150200"/>
              </a:lnSpc>
              <a:spcBef>
                <a:spcPts val="1520"/>
              </a:spcBef>
            </a:pPr>
            <a:r>
              <a:rPr dirty="0" sz="1800">
                <a:latin typeface="黑体"/>
                <a:cs typeface="黑体"/>
              </a:rPr>
              <a:t>左手定则：伸开左手，让拇指与其余四指垂直，并且都与手掌在 同一平面内；让磁感线从掌心垂直进入，并使四指指向正电荷运动方 向，这时拇指所指的方向就是运动的正电荷在磁场中受到的洛伦兹力 的方向。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46075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6260591" y="2854451"/>
            <a:ext cx="1813560" cy="21656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68395" y="2010155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4"/>
                </a:moveTo>
                <a:lnTo>
                  <a:pt x="77724" y="473964"/>
                </a:lnTo>
                <a:lnTo>
                  <a:pt x="47311" y="467630"/>
                </a:lnTo>
                <a:lnTo>
                  <a:pt x="22445" y="450632"/>
                </a:lnTo>
                <a:lnTo>
                  <a:pt x="5788" y="425488"/>
                </a:lnTo>
                <a:lnTo>
                  <a:pt x="0" y="394716"/>
                </a:lnTo>
                <a:lnTo>
                  <a:pt x="0" y="79248"/>
                </a:lnTo>
                <a:lnTo>
                  <a:pt x="5788" y="48197"/>
                </a:lnTo>
                <a:lnTo>
                  <a:pt x="22445" y="22960"/>
                </a:lnTo>
                <a:lnTo>
                  <a:pt x="47311" y="6054"/>
                </a:lnTo>
                <a:lnTo>
                  <a:pt x="77724" y="0"/>
                </a:lnTo>
                <a:lnTo>
                  <a:pt x="3014472" y="0"/>
                </a:lnTo>
                <a:lnTo>
                  <a:pt x="3044857" y="6054"/>
                </a:lnTo>
                <a:lnTo>
                  <a:pt x="3069716" y="22960"/>
                </a:lnTo>
                <a:lnTo>
                  <a:pt x="3086384" y="48197"/>
                </a:lnTo>
                <a:lnTo>
                  <a:pt x="3092196" y="79248"/>
                </a:lnTo>
                <a:lnTo>
                  <a:pt x="3092196" y="394716"/>
                </a:lnTo>
                <a:lnTo>
                  <a:pt x="3086384" y="425488"/>
                </a:lnTo>
                <a:lnTo>
                  <a:pt x="3069717" y="450632"/>
                </a:lnTo>
                <a:lnTo>
                  <a:pt x="3044857" y="467630"/>
                </a:lnTo>
                <a:lnTo>
                  <a:pt x="3014472" y="47396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63595" y="1860804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6"/>
                </a:moveTo>
                <a:lnTo>
                  <a:pt x="0" y="411480"/>
                </a:lnTo>
                <a:lnTo>
                  <a:pt x="347472" y="0"/>
                </a:lnTo>
                <a:lnTo>
                  <a:pt x="760476" y="347472"/>
                </a:lnTo>
                <a:lnTo>
                  <a:pt x="411480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17024" y="2017458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13124" y="3539490"/>
            <a:ext cx="185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速度与磁场垂直时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3833" y="1245997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7261859" y="2921507"/>
            <a:ext cx="1813559" cy="21656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68395" y="2156460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311" y="467601"/>
                </a:lnTo>
                <a:lnTo>
                  <a:pt x="22445" y="450594"/>
                </a:lnTo>
                <a:lnTo>
                  <a:pt x="5788" y="425459"/>
                </a:lnTo>
                <a:lnTo>
                  <a:pt x="0" y="394715"/>
                </a:lnTo>
                <a:lnTo>
                  <a:pt x="0" y="79247"/>
                </a:lnTo>
                <a:lnTo>
                  <a:pt x="5788" y="48168"/>
                </a:lnTo>
                <a:lnTo>
                  <a:pt x="22445" y="22921"/>
                </a:lnTo>
                <a:lnTo>
                  <a:pt x="47311" y="6026"/>
                </a:lnTo>
                <a:lnTo>
                  <a:pt x="77724" y="0"/>
                </a:lnTo>
                <a:lnTo>
                  <a:pt x="3014472" y="0"/>
                </a:lnTo>
                <a:lnTo>
                  <a:pt x="3044857" y="6026"/>
                </a:lnTo>
                <a:lnTo>
                  <a:pt x="3069717" y="22921"/>
                </a:lnTo>
                <a:lnTo>
                  <a:pt x="3086384" y="48168"/>
                </a:lnTo>
                <a:lnTo>
                  <a:pt x="3092196" y="79247"/>
                </a:lnTo>
                <a:lnTo>
                  <a:pt x="3092196" y="394715"/>
                </a:lnTo>
                <a:lnTo>
                  <a:pt x="3086384" y="425459"/>
                </a:lnTo>
                <a:lnTo>
                  <a:pt x="3069717" y="450594"/>
                </a:lnTo>
                <a:lnTo>
                  <a:pt x="3044857" y="467601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63595" y="2005583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1480" y="762000"/>
                </a:moveTo>
                <a:lnTo>
                  <a:pt x="0" y="413004"/>
                </a:lnTo>
                <a:lnTo>
                  <a:pt x="347472" y="0"/>
                </a:lnTo>
                <a:lnTo>
                  <a:pt x="760476" y="348996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17024" y="2163711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41688" y="3088259"/>
            <a:ext cx="3911600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0574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当粒子进入磁场的方向不垂直磁场 方向时，粒子所受的洛伦兹力的方向， 如图</a:t>
            </a:r>
            <a:r>
              <a:rPr dirty="0" sz="1800" spc="-5">
                <a:latin typeface="Calibri"/>
                <a:cs typeface="Calibri"/>
              </a:rPr>
              <a:t>1.2-5</a:t>
            </a:r>
            <a:r>
              <a:rPr dirty="0" sz="1800">
                <a:latin typeface="宋体"/>
                <a:cs typeface="宋体"/>
              </a:rPr>
              <a:t>所示。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5835" y="1260741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2929127" y="2170176"/>
            <a:ext cx="3093720" cy="475615"/>
          </a:xfrm>
          <a:custGeom>
            <a:avLst/>
            <a:gdLst/>
            <a:ahLst/>
            <a:cxnLst/>
            <a:rect l="l" t="t" r="r" b="b"/>
            <a:pathLst>
              <a:path w="3093720" h="475614">
                <a:moveTo>
                  <a:pt x="3014472" y="475488"/>
                </a:moveTo>
                <a:lnTo>
                  <a:pt x="79248" y="475488"/>
                </a:lnTo>
                <a:lnTo>
                  <a:pt x="48668" y="468847"/>
                </a:lnTo>
                <a:lnTo>
                  <a:pt x="23588" y="451746"/>
                </a:lnTo>
                <a:lnTo>
                  <a:pt x="6526" y="426705"/>
                </a:lnTo>
                <a:lnTo>
                  <a:pt x="0" y="396240"/>
                </a:lnTo>
                <a:lnTo>
                  <a:pt x="0" y="79248"/>
                </a:lnTo>
                <a:lnTo>
                  <a:pt x="6526" y="48747"/>
                </a:lnTo>
                <a:lnTo>
                  <a:pt x="23588" y="23693"/>
                </a:lnTo>
                <a:lnTo>
                  <a:pt x="48668" y="6604"/>
                </a:lnTo>
                <a:lnTo>
                  <a:pt x="79248" y="0"/>
                </a:lnTo>
                <a:lnTo>
                  <a:pt x="3014472" y="0"/>
                </a:lnTo>
                <a:lnTo>
                  <a:pt x="3045601" y="6604"/>
                </a:lnTo>
                <a:lnTo>
                  <a:pt x="3070864" y="23693"/>
                </a:lnTo>
                <a:lnTo>
                  <a:pt x="3087743" y="48747"/>
                </a:lnTo>
                <a:lnTo>
                  <a:pt x="3093720" y="79248"/>
                </a:lnTo>
                <a:lnTo>
                  <a:pt x="3093720" y="396240"/>
                </a:lnTo>
                <a:lnTo>
                  <a:pt x="3087743" y="426705"/>
                </a:lnTo>
                <a:lnTo>
                  <a:pt x="3070864" y="451746"/>
                </a:lnTo>
                <a:lnTo>
                  <a:pt x="3045601" y="468847"/>
                </a:lnTo>
                <a:lnTo>
                  <a:pt x="3014472" y="475488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24327" y="202082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13004" y="762000"/>
                </a:moveTo>
                <a:lnTo>
                  <a:pt x="0" y="413003"/>
                </a:lnTo>
                <a:lnTo>
                  <a:pt x="348996" y="0"/>
                </a:lnTo>
                <a:lnTo>
                  <a:pt x="762000" y="348995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79039" y="2178456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37802" y="3037192"/>
            <a:ext cx="6883400" cy="243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若运动的电荷为负电荷，其受力方向如何判定？</a:t>
            </a:r>
            <a:endParaRPr sz="1800">
              <a:latin typeface="宋体"/>
              <a:cs typeface="宋体"/>
            </a:endParaRPr>
          </a:p>
          <a:p>
            <a:pPr marL="12700" marR="5080" indent="266700">
              <a:lnSpc>
                <a:spcPct val="150000"/>
              </a:lnSpc>
              <a:spcBef>
                <a:spcPts val="745"/>
              </a:spcBef>
            </a:pPr>
            <a:r>
              <a:rPr dirty="0" sz="1800">
                <a:latin typeface="宋体"/>
                <a:cs typeface="宋体"/>
              </a:rPr>
              <a:t>依旧用左手定则判定。只是在使用左手定则时，四指的指向不是 负电荷的运动方向，而且指向负电荷运动的反方向，即等效电流方向 即可。</a:t>
            </a:r>
            <a:endParaRPr sz="1800">
              <a:latin typeface="宋体"/>
              <a:cs typeface="宋体"/>
            </a:endParaRPr>
          </a:p>
          <a:p>
            <a:pPr marL="12700" marR="195580" indent="266700">
              <a:lnSpc>
                <a:spcPts val="3240"/>
              </a:lnSpc>
              <a:spcBef>
                <a:spcPts val="120"/>
              </a:spcBef>
            </a:pPr>
            <a:r>
              <a:rPr dirty="0" sz="1800">
                <a:latin typeface="宋体"/>
                <a:cs typeface="宋体"/>
              </a:rPr>
              <a:t>与正电荷进入磁场的情形相同，洛伦兹力的方向与运动方向和磁 场方向都垂直。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1095" y="142135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3055620" y="2331720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3"/>
                </a:moveTo>
                <a:lnTo>
                  <a:pt x="77724" y="473963"/>
                </a:lnTo>
                <a:lnTo>
                  <a:pt x="47332" y="467659"/>
                </a:lnTo>
                <a:lnTo>
                  <a:pt x="22474" y="450670"/>
                </a:lnTo>
                <a:lnTo>
                  <a:pt x="5809" y="425516"/>
                </a:lnTo>
                <a:lnTo>
                  <a:pt x="0" y="394715"/>
                </a:lnTo>
                <a:lnTo>
                  <a:pt x="0" y="79247"/>
                </a:lnTo>
                <a:lnTo>
                  <a:pt x="5809" y="48225"/>
                </a:lnTo>
                <a:lnTo>
                  <a:pt x="22474" y="22998"/>
                </a:lnTo>
                <a:lnTo>
                  <a:pt x="47332" y="6083"/>
                </a:lnTo>
                <a:lnTo>
                  <a:pt x="77724" y="0"/>
                </a:lnTo>
                <a:lnTo>
                  <a:pt x="3014472" y="0"/>
                </a:lnTo>
                <a:lnTo>
                  <a:pt x="3044884" y="6083"/>
                </a:lnTo>
                <a:lnTo>
                  <a:pt x="3069750" y="22998"/>
                </a:lnTo>
                <a:lnTo>
                  <a:pt x="3086407" y="48225"/>
                </a:lnTo>
                <a:lnTo>
                  <a:pt x="3092196" y="79247"/>
                </a:lnTo>
                <a:lnTo>
                  <a:pt x="3092196" y="394715"/>
                </a:lnTo>
                <a:lnTo>
                  <a:pt x="3086407" y="425516"/>
                </a:lnTo>
                <a:lnTo>
                  <a:pt x="3069750" y="450670"/>
                </a:lnTo>
                <a:lnTo>
                  <a:pt x="3044884" y="467659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50820" y="2182367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5"/>
                </a:moveTo>
                <a:lnTo>
                  <a:pt x="0" y="411479"/>
                </a:lnTo>
                <a:lnTo>
                  <a:pt x="347472" y="0"/>
                </a:lnTo>
                <a:lnTo>
                  <a:pt x="760476" y="347471"/>
                </a:lnTo>
                <a:lnTo>
                  <a:pt x="411480" y="76047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04286" y="2339073"/>
            <a:ext cx="6692900" cy="2499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  <a:p>
            <a:pPr marL="12700" marR="5080" indent="266700">
              <a:lnSpc>
                <a:spcPct val="150000"/>
              </a:lnSpc>
              <a:spcBef>
                <a:spcPts val="1935"/>
              </a:spcBef>
            </a:pPr>
            <a:r>
              <a:rPr dirty="0" sz="1800">
                <a:latin typeface="宋体"/>
                <a:cs typeface="宋体"/>
              </a:rPr>
              <a:t>无论粒子的运动方向与磁场方向是否垂直时，洛伦兹力的方向判 定方法小结如下：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Times New Roman"/>
              <a:cs typeface="Times New Roman"/>
            </a:endParaRPr>
          </a:p>
          <a:p>
            <a:pPr marL="141605" marR="104139" indent="266700">
              <a:lnSpc>
                <a:spcPct val="150000"/>
              </a:lnSpc>
            </a:pPr>
            <a:r>
              <a:rPr dirty="0" sz="1800">
                <a:latin typeface="宋体"/>
                <a:cs typeface="宋体"/>
              </a:rPr>
              <a:t>首先，确定粒子的运动方向与磁场方向决定的平面，明确运动 粒子所受的洛伦兹力方向垂直于此平面。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3211" y="1371257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2866644" y="2281427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4"/>
                </a:moveTo>
                <a:lnTo>
                  <a:pt x="79248" y="473964"/>
                </a:lnTo>
                <a:lnTo>
                  <a:pt x="48588" y="467766"/>
                </a:lnTo>
                <a:lnTo>
                  <a:pt x="23479" y="450813"/>
                </a:lnTo>
                <a:lnTo>
                  <a:pt x="6442" y="425624"/>
                </a:lnTo>
                <a:lnTo>
                  <a:pt x="0" y="394716"/>
                </a:lnTo>
                <a:lnTo>
                  <a:pt x="0" y="79248"/>
                </a:lnTo>
                <a:lnTo>
                  <a:pt x="6442" y="48332"/>
                </a:lnTo>
                <a:lnTo>
                  <a:pt x="23479" y="23140"/>
                </a:lnTo>
                <a:lnTo>
                  <a:pt x="48588" y="6190"/>
                </a:lnTo>
                <a:lnTo>
                  <a:pt x="79248" y="0"/>
                </a:lnTo>
                <a:lnTo>
                  <a:pt x="3014472" y="0"/>
                </a:lnTo>
                <a:lnTo>
                  <a:pt x="3045515" y="6190"/>
                </a:lnTo>
                <a:lnTo>
                  <a:pt x="3070750" y="23140"/>
                </a:lnTo>
                <a:lnTo>
                  <a:pt x="3087657" y="48332"/>
                </a:lnTo>
                <a:lnTo>
                  <a:pt x="3093720" y="79248"/>
                </a:lnTo>
                <a:lnTo>
                  <a:pt x="3093720" y="394716"/>
                </a:lnTo>
                <a:lnTo>
                  <a:pt x="3087657" y="425624"/>
                </a:lnTo>
                <a:lnTo>
                  <a:pt x="3070750" y="450813"/>
                </a:lnTo>
                <a:lnTo>
                  <a:pt x="3045515" y="467766"/>
                </a:lnTo>
                <a:lnTo>
                  <a:pt x="3014472" y="47396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61844" y="2132076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4" y="760476"/>
                </a:moveTo>
                <a:lnTo>
                  <a:pt x="0" y="411480"/>
                </a:lnTo>
                <a:lnTo>
                  <a:pt x="348995" y="0"/>
                </a:lnTo>
                <a:lnTo>
                  <a:pt x="762000" y="348996"/>
                </a:lnTo>
                <a:lnTo>
                  <a:pt x="413004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16402" y="2288971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45790" y="3154083"/>
            <a:ext cx="6464300" cy="16725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266700">
              <a:lnSpc>
                <a:spcPct val="150200"/>
              </a:lnSpc>
              <a:spcBef>
                <a:spcPts val="95"/>
              </a:spcBef>
            </a:pPr>
            <a:r>
              <a:rPr dirty="0" sz="1800">
                <a:latin typeface="宋体"/>
                <a:cs typeface="宋体"/>
              </a:rPr>
              <a:t>其次，使用左手定则</a:t>
            </a:r>
            <a:r>
              <a:rPr dirty="0" sz="1800">
                <a:latin typeface="黑体"/>
                <a:cs typeface="黑体"/>
              </a:rPr>
              <a:t>，伸开左手，让拇指与其余四指垂直，并 且都与手掌在同一平面内；让磁感线从掌心进入，并使四指指向 等效电流方向，这时拇指所指的方向就是运动的电荷在磁场中受 到的洛伦兹力的方向</a:t>
            </a:r>
            <a:r>
              <a:rPr dirty="0" sz="1800">
                <a:latin typeface="宋体"/>
                <a:cs typeface="宋体"/>
              </a:rPr>
              <a:t>；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55491" y="2180844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8" y="473963"/>
                </a:lnTo>
                <a:lnTo>
                  <a:pt x="48632" y="467973"/>
                </a:lnTo>
                <a:lnTo>
                  <a:pt x="23541" y="451089"/>
                </a:lnTo>
                <a:lnTo>
                  <a:pt x="6490" y="425831"/>
                </a:lnTo>
                <a:lnTo>
                  <a:pt x="0" y="394715"/>
                </a:lnTo>
                <a:lnTo>
                  <a:pt x="0" y="79247"/>
                </a:lnTo>
                <a:lnTo>
                  <a:pt x="6490" y="48545"/>
                </a:lnTo>
                <a:lnTo>
                  <a:pt x="23541" y="23421"/>
                </a:lnTo>
                <a:lnTo>
                  <a:pt x="48632" y="6399"/>
                </a:lnTo>
                <a:lnTo>
                  <a:pt x="79248" y="0"/>
                </a:lnTo>
                <a:lnTo>
                  <a:pt x="3014472" y="0"/>
                </a:lnTo>
                <a:lnTo>
                  <a:pt x="3045565" y="6399"/>
                </a:lnTo>
                <a:lnTo>
                  <a:pt x="3070817" y="23421"/>
                </a:lnTo>
                <a:lnTo>
                  <a:pt x="3087707" y="48545"/>
                </a:lnTo>
                <a:lnTo>
                  <a:pt x="3093719" y="79247"/>
                </a:lnTo>
                <a:lnTo>
                  <a:pt x="3093719" y="394715"/>
                </a:lnTo>
                <a:lnTo>
                  <a:pt x="3087707" y="425831"/>
                </a:lnTo>
                <a:lnTo>
                  <a:pt x="3070817" y="451089"/>
                </a:lnTo>
                <a:lnTo>
                  <a:pt x="3045565" y="467973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50692" y="2031492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4" y="760475"/>
                </a:moveTo>
                <a:lnTo>
                  <a:pt x="0" y="411479"/>
                </a:lnTo>
                <a:lnTo>
                  <a:pt x="348995" y="0"/>
                </a:lnTo>
                <a:lnTo>
                  <a:pt x="761999" y="348995"/>
                </a:lnTo>
                <a:lnTo>
                  <a:pt x="413004" y="76047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05339" y="2188768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2136" y="1271041"/>
            <a:ext cx="5638165" cy="54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>
                <a:latin typeface="微软雅黑"/>
                <a:cs typeface="微软雅黑"/>
              </a:rPr>
              <a:t>二、磁场对运动电荷的作用</a:t>
            </a:r>
            <a:r>
              <a:rPr dirty="0" sz="3400" spc="-5">
                <a:latin typeface="微软雅黑"/>
                <a:cs typeface="微软雅黑"/>
              </a:rPr>
              <a:t>力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99459" y="2814827"/>
            <a:ext cx="3349751" cy="2511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0588" y="2055876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8" y="473963"/>
                </a:lnTo>
                <a:lnTo>
                  <a:pt x="48139" y="467809"/>
                </a:lnTo>
                <a:lnTo>
                  <a:pt x="22883" y="450870"/>
                </a:lnTo>
                <a:lnTo>
                  <a:pt x="5997" y="425666"/>
                </a:lnTo>
                <a:lnTo>
                  <a:pt x="0" y="394716"/>
                </a:lnTo>
                <a:lnTo>
                  <a:pt x="0" y="79248"/>
                </a:lnTo>
                <a:lnTo>
                  <a:pt x="5997" y="48381"/>
                </a:lnTo>
                <a:lnTo>
                  <a:pt x="22883" y="23202"/>
                </a:lnTo>
                <a:lnTo>
                  <a:pt x="48139" y="6235"/>
                </a:lnTo>
                <a:lnTo>
                  <a:pt x="79248" y="0"/>
                </a:lnTo>
                <a:lnTo>
                  <a:pt x="3014472" y="0"/>
                </a:lnTo>
                <a:lnTo>
                  <a:pt x="3045072" y="6235"/>
                </a:lnTo>
                <a:lnTo>
                  <a:pt x="3070159" y="23202"/>
                </a:lnTo>
                <a:lnTo>
                  <a:pt x="3087215" y="48381"/>
                </a:lnTo>
                <a:lnTo>
                  <a:pt x="3093720" y="79248"/>
                </a:lnTo>
                <a:lnTo>
                  <a:pt x="3093720" y="394716"/>
                </a:lnTo>
                <a:lnTo>
                  <a:pt x="3087215" y="425666"/>
                </a:lnTo>
                <a:lnTo>
                  <a:pt x="3070159" y="450870"/>
                </a:lnTo>
                <a:lnTo>
                  <a:pt x="3045072" y="467809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75788" y="1906523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79" y="760476"/>
                </a:moveTo>
                <a:lnTo>
                  <a:pt x="0" y="411480"/>
                </a:lnTo>
                <a:lnTo>
                  <a:pt x="348995" y="0"/>
                </a:lnTo>
                <a:lnTo>
                  <a:pt x="760476" y="348995"/>
                </a:lnTo>
                <a:lnTo>
                  <a:pt x="411479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29546" y="2063508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71475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6" name="object 6"/>
          <p:cNvSpPr/>
          <p:nvPr/>
        </p:nvSpPr>
        <p:spPr>
          <a:xfrm>
            <a:off x="2924555" y="2688335"/>
            <a:ext cx="3349752" cy="2511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90359" y="2683764"/>
            <a:ext cx="3349752" cy="2511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9232" y="2269235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5996" y="473963"/>
                </a:moveTo>
                <a:lnTo>
                  <a:pt x="79248" y="473963"/>
                </a:lnTo>
                <a:lnTo>
                  <a:pt x="48747" y="467573"/>
                </a:lnTo>
                <a:lnTo>
                  <a:pt x="23693" y="450556"/>
                </a:lnTo>
                <a:lnTo>
                  <a:pt x="6604" y="425431"/>
                </a:lnTo>
                <a:lnTo>
                  <a:pt x="0" y="394715"/>
                </a:lnTo>
                <a:lnTo>
                  <a:pt x="0" y="79247"/>
                </a:lnTo>
                <a:lnTo>
                  <a:pt x="6604" y="48145"/>
                </a:lnTo>
                <a:lnTo>
                  <a:pt x="23693" y="22888"/>
                </a:lnTo>
                <a:lnTo>
                  <a:pt x="48747" y="5999"/>
                </a:lnTo>
                <a:lnTo>
                  <a:pt x="79248" y="0"/>
                </a:lnTo>
                <a:lnTo>
                  <a:pt x="3015996" y="0"/>
                </a:lnTo>
                <a:lnTo>
                  <a:pt x="3046323" y="5999"/>
                </a:lnTo>
                <a:lnTo>
                  <a:pt x="3071160" y="22888"/>
                </a:lnTo>
                <a:lnTo>
                  <a:pt x="3087846" y="48145"/>
                </a:lnTo>
                <a:lnTo>
                  <a:pt x="3093720" y="79247"/>
                </a:lnTo>
                <a:lnTo>
                  <a:pt x="3093720" y="394715"/>
                </a:lnTo>
                <a:lnTo>
                  <a:pt x="3087846" y="425431"/>
                </a:lnTo>
                <a:lnTo>
                  <a:pt x="3071160" y="450556"/>
                </a:lnTo>
                <a:lnTo>
                  <a:pt x="3046323" y="467573"/>
                </a:lnTo>
                <a:lnTo>
                  <a:pt x="3015996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95955" y="2118360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1480" y="762000"/>
                </a:moveTo>
                <a:lnTo>
                  <a:pt x="0" y="413003"/>
                </a:lnTo>
                <a:lnTo>
                  <a:pt x="347471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49282" y="2276449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76079" y="1358722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82582" y="3174644"/>
            <a:ext cx="69405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例</a:t>
            </a:r>
            <a:r>
              <a:rPr dirty="0" sz="1800" spc="-53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试判断下图所示的带电粒子刚进入磁场时所受的洛伦兹力的方向。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09672" y="3666744"/>
            <a:ext cx="1519427" cy="1313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36364" y="3674364"/>
            <a:ext cx="1479803" cy="1306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92952" y="3666744"/>
            <a:ext cx="1665731" cy="13060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10143" y="3666744"/>
            <a:ext cx="1767840" cy="12832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9232" y="2068067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5996" y="473963"/>
                </a:moveTo>
                <a:lnTo>
                  <a:pt x="79248" y="473963"/>
                </a:lnTo>
                <a:lnTo>
                  <a:pt x="48747" y="468000"/>
                </a:lnTo>
                <a:lnTo>
                  <a:pt x="23693" y="451123"/>
                </a:lnTo>
                <a:lnTo>
                  <a:pt x="6604" y="425854"/>
                </a:lnTo>
                <a:lnTo>
                  <a:pt x="0" y="394715"/>
                </a:lnTo>
                <a:lnTo>
                  <a:pt x="0" y="79247"/>
                </a:lnTo>
                <a:lnTo>
                  <a:pt x="6604" y="48568"/>
                </a:lnTo>
                <a:lnTo>
                  <a:pt x="23693" y="23455"/>
                </a:lnTo>
                <a:lnTo>
                  <a:pt x="48747" y="6426"/>
                </a:lnTo>
                <a:lnTo>
                  <a:pt x="79248" y="0"/>
                </a:lnTo>
                <a:lnTo>
                  <a:pt x="3015996" y="0"/>
                </a:lnTo>
                <a:lnTo>
                  <a:pt x="3046323" y="6426"/>
                </a:lnTo>
                <a:lnTo>
                  <a:pt x="3071160" y="23455"/>
                </a:lnTo>
                <a:lnTo>
                  <a:pt x="3087846" y="48568"/>
                </a:lnTo>
                <a:lnTo>
                  <a:pt x="3093720" y="79247"/>
                </a:lnTo>
                <a:lnTo>
                  <a:pt x="3093720" y="394715"/>
                </a:lnTo>
                <a:lnTo>
                  <a:pt x="3087846" y="425854"/>
                </a:lnTo>
                <a:lnTo>
                  <a:pt x="3071160" y="451123"/>
                </a:lnTo>
                <a:lnTo>
                  <a:pt x="3046323" y="468000"/>
                </a:lnTo>
                <a:lnTo>
                  <a:pt x="3015996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95955" y="1918716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5"/>
                </a:moveTo>
                <a:lnTo>
                  <a:pt x="0" y="411479"/>
                </a:lnTo>
                <a:lnTo>
                  <a:pt x="347471" y="0"/>
                </a:lnTo>
                <a:lnTo>
                  <a:pt x="760476" y="348995"/>
                </a:lnTo>
                <a:lnTo>
                  <a:pt x="411480" y="76047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49282" y="2076031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1	洛伦兹力的方向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76079" y="1158316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82582" y="2974225"/>
            <a:ext cx="69405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例</a:t>
            </a:r>
            <a:r>
              <a:rPr dirty="0" sz="1800" spc="-53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试判断下图所示的带电粒子刚进入磁场时所受的洛伦兹力的方向。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58795" y="3593591"/>
            <a:ext cx="1519428" cy="1313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87011" y="3599688"/>
            <a:ext cx="1479803" cy="1306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43600" y="3593591"/>
            <a:ext cx="1665731" cy="13060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59268" y="3593591"/>
            <a:ext cx="1767839" cy="12832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80385" y="3789235"/>
            <a:ext cx="76200" cy="361950"/>
          </a:xfrm>
          <a:custGeom>
            <a:avLst/>
            <a:gdLst/>
            <a:ahLst/>
            <a:cxnLst/>
            <a:rect l="l" t="t" r="r" b="b"/>
            <a:pathLst>
              <a:path w="76200" h="361950">
                <a:moveTo>
                  <a:pt x="3175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1750" y="57150"/>
                </a:lnTo>
                <a:lnTo>
                  <a:pt x="31750" y="76200"/>
                </a:lnTo>
                <a:close/>
              </a:path>
              <a:path w="76200" h="361950">
                <a:moveTo>
                  <a:pt x="44450" y="361797"/>
                </a:moveTo>
                <a:lnTo>
                  <a:pt x="31750" y="361797"/>
                </a:lnTo>
                <a:lnTo>
                  <a:pt x="31750" y="57150"/>
                </a:lnTo>
                <a:lnTo>
                  <a:pt x="44450" y="57150"/>
                </a:lnTo>
                <a:lnTo>
                  <a:pt x="44450" y="361797"/>
                </a:lnTo>
                <a:close/>
              </a:path>
              <a:path w="76200" h="361950">
                <a:moveTo>
                  <a:pt x="76200" y="76200"/>
                </a:moveTo>
                <a:lnTo>
                  <a:pt x="44450" y="76200"/>
                </a:lnTo>
                <a:lnTo>
                  <a:pt x="4445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77550" y="4145826"/>
            <a:ext cx="76200" cy="394970"/>
          </a:xfrm>
          <a:custGeom>
            <a:avLst/>
            <a:gdLst/>
            <a:ahLst/>
            <a:cxnLst/>
            <a:rect l="l" t="t" r="r" b="b"/>
            <a:pathLst>
              <a:path w="76200" h="394970">
                <a:moveTo>
                  <a:pt x="44450" y="337527"/>
                </a:moveTo>
                <a:lnTo>
                  <a:pt x="31750" y="337527"/>
                </a:lnTo>
                <a:lnTo>
                  <a:pt x="31750" y="0"/>
                </a:lnTo>
                <a:lnTo>
                  <a:pt x="44450" y="0"/>
                </a:lnTo>
                <a:lnTo>
                  <a:pt x="44450" y="337527"/>
                </a:lnTo>
                <a:close/>
              </a:path>
              <a:path w="76200" h="394970">
                <a:moveTo>
                  <a:pt x="38100" y="394677"/>
                </a:moveTo>
                <a:lnTo>
                  <a:pt x="0" y="318477"/>
                </a:lnTo>
                <a:lnTo>
                  <a:pt x="31750" y="318477"/>
                </a:lnTo>
                <a:lnTo>
                  <a:pt x="31750" y="337527"/>
                </a:lnTo>
                <a:lnTo>
                  <a:pt x="66675" y="337527"/>
                </a:lnTo>
                <a:lnTo>
                  <a:pt x="38100" y="394677"/>
                </a:lnTo>
                <a:close/>
              </a:path>
              <a:path w="76200" h="394970">
                <a:moveTo>
                  <a:pt x="66675" y="337527"/>
                </a:moveTo>
                <a:lnTo>
                  <a:pt x="44450" y="337527"/>
                </a:lnTo>
                <a:lnTo>
                  <a:pt x="44450" y="318477"/>
                </a:lnTo>
                <a:lnTo>
                  <a:pt x="76200" y="318477"/>
                </a:lnTo>
                <a:lnTo>
                  <a:pt x="66675" y="337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311937" y="3940530"/>
            <a:ext cx="260350" cy="183515"/>
          </a:xfrm>
          <a:custGeom>
            <a:avLst/>
            <a:gdLst/>
            <a:ahLst/>
            <a:cxnLst/>
            <a:rect l="l" t="t" r="r" b="b"/>
            <a:pathLst>
              <a:path w="260350" h="183514">
                <a:moveTo>
                  <a:pt x="193949" y="38227"/>
                </a:moveTo>
                <a:lnTo>
                  <a:pt x="175844" y="12141"/>
                </a:lnTo>
                <a:lnTo>
                  <a:pt x="260172" y="0"/>
                </a:lnTo>
                <a:lnTo>
                  <a:pt x="245202" y="27368"/>
                </a:lnTo>
                <a:lnTo>
                  <a:pt x="209600" y="27368"/>
                </a:lnTo>
                <a:lnTo>
                  <a:pt x="193949" y="38227"/>
                </a:lnTo>
                <a:close/>
              </a:path>
              <a:path w="260350" h="183514">
                <a:moveTo>
                  <a:pt x="201187" y="48656"/>
                </a:moveTo>
                <a:lnTo>
                  <a:pt x="193949" y="38227"/>
                </a:lnTo>
                <a:lnTo>
                  <a:pt x="209600" y="27368"/>
                </a:lnTo>
                <a:lnTo>
                  <a:pt x="216839" y="37795"/>
                </a:lnTo>
                <a:lnTo>
                  <a:pt x="201187" y="48656"/>
                </a:lnTo>
                <a:close/>
              </a:path>
              <a:path w="260350" h="183514">
                <a:moveTo>
                  <a:pt x="219290" y="74739"/>
                </a:moveTo>
                <a:lnTo>
                  <a:pt x="201187" y="48656"/>
                </a:lnTo>
                <a:lnTo>
                  <a:pt x="216839" y="37795"/>
                </a:lnTo>
                <a:lnTo>
                  <a:pt x="209600" y="27368"/>
                </a:lnTo>
                <a:lnTo>
                  <a:pt x="245202" y="27368"/>
                </a:lnTo>
                <a:lnTo>
                  <a:pt x="219290" y="74739"/>
                </a:lnTo>
                <a:close/>
              </a:path>
              <a:path w="260350" h="183514">
                <a:moveTo>
                  <a:pt x="7238" y="183235"/>
                </a:moveTo>
                <a:lnTo>
                  <a:pt x="0" y="172796"/>
                </a:lnTo>
                <a:lnTo>
                  <a:pt x="193949" y="38227"/>
                </a:lnTo>
                <a:lnTo>
                  <a:pt x="201187" y="48656"/>
                </a:lnTo>
                <a:lnTo>
                  <a:pt x="7238" y="1832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24520" y="4140720"/>
            <a:ext cx="287020" cy="215900"/>
          </a:xfrm>
          <a:custGeom>
            <a:avLst/>
            <a:gdLst/>
            <a:ahLst/>
            <a:cxnLst/>
            <a:rect l="l" t="t" r="r" b="b"/>
            <a:pathLst>
              <a:path w="287020" h="215900">
                <a:moveTo>
                  <a:pt x="64917" y="175200"/>
                </a:moveTo>
                <a:lnTo>
                  <a:pt x="57331" y="165005"/>
                </a:lnTo>
                <a:lnTo>
                  <a:pt x="279069" y="0"/>
                </a:lnTo>
                <a:lnTo>
                  <a:pt x="286651" y="10198"/>
                </a:lnTo>
                <a:lnTo>
                  <a:pt x="64917" y="175200"/>
                </a:lnTo>
                <a:close/>
              </a:path>
              <a:path w="287020" h="215900">
                <a:moveTo>
                  <a:pt x="0" y="215595"/>
                </a:moveTo>
                <a:lnTo>
                  <a:pt x="38379" y="139534"/>
                </a:lnTo>
                <a:lnTo>
                  <a:pt x="57331" y="165005"/>
                </a:lnTo>
                <a:lnTo>
                  <a:pt x="42049" y="176377"/>
                </a:lnTo>
                <a:lnTo>
                  <a:pt x="49631" y="186575"/>
                </a:lnTo>
                <a:lnTo>
                  <a:pt x="73381" y="186575"/>
                </a:lnTo>
                <a:lnTo>
                  <a:pt x="83870" y="200672"/>
                </a:lnTo>
                <a:lnTo>
                  <a:pt x="0" y="215595"/>
                </a:lnTo>
                <a:close/>
              </a:path>
              <a:path w="287020" h="215900">
                <a:moveTo>
                  <a:pt x="49631" y="186575"/>
                </a:moveTo>
                <a:lnTo>
                  <a:pt x="42049" y="176377"/>
                </a:lnTo>
                <a:lnTo>
                  <a:pt x="57331" y="165005"/>
                </a:lnTo>
                <a:lnTo>
                  <a:pt x="64917" y="175200"/>
                </a:lnTo>
                <a:lnTo>
                  <a:pt x="49631" y="186575"/>
                </a:lnTo>
                <a:close/>
              </a:path>
              <a:path w="287020" h="215900">
                <a:moveTo>
                  <a:pt x="73381" y="186575"/>
                </a:moveTo>
                <a:lnTo>
                  <a:pt x="49631" y="186575"/>
                </a:lnTo>
                <a:lnTo>
                  <a:pt x="64917" y="175200"/>
                </a:lnTo>
                <a:lnTo>
                  <a:pt x="73381" y="186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83635" y="4837176"/>
            <a:ext cx="607060" cy="26860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857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25"/>
              </a:spcBef>
            </a:pPr>
            <a:r>
              <a:rPr dirty="0" sz="1050">
                <a:latin typeface="等线"/>
                <a:cs typeface="等线"/>
              </a:rPr>
              <a:t>向</a:t>
            </a:r>
            <a:r>
              <a:rPr dirty="0" sz="1050" spc="5">
                <a:latin typeface="等线"/>
                <a:cs typeface="等线"/>
              </a:rPr>
              <a:t>上</a:t>
            </a:r>
            <a:endParaRPr sz="1050">
              <a:latin typeface="等线"/>
              <a:cs typeface="等线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907279" y="4856988"/>
            <a:ext cx="605155" cy="26860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85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25"/>
              </a:spcBef>
            </a:pPr>
            <a:r>
              <a:rPr dirty="0" sz="1050">
                <a:latin typeface="等线"/>
                <a:cs typeface="等线"/>
              </a:rPr>
              <a:t>向</a:t>
            </a:r>
            <a:r>
              <a:rPr dirty="0" sz="1050" spc="5">
                <a:latin typeface="等线"/>
                <a:cs typeface="等线"/>
              </a:rPr>
              <a:t>下</a:t>
            </a:r>
            <a:endParaRPr sz="1050">
              <a:latin typeface="等线"/>
              <a:cs typeface="等线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54140" y="4875276"/>
            <a:ext cx="835660" cy="2698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984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35"/>
              </a:spcBef>
            </a:pPr>
            <a:r>
              <a:rPr dirty="0" sz="1050">
                <a:latin typeface="等线"/>
                <a:cs typeface="等线"/>
              </a:rPr>
              <a:t>垂直向</a:t>
            </a:r>
            <a:r>
              <a:rPr dirty="0" sz="1050" spc="5">
                <a:latin typeface="等线"/>
                <a:cs typeface="等线"/>
              </a:rPr>
              <a:t>里</a:t>
            </a:r>
            <a:endParaRPr sz="1050">
              <a:latin typeface="等线"/>
              <a:cs typeface="等线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19159" y="4829555"/>
            <a:ext cx="835660" cy="2698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9209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29"/>
              </a:spcBef>
            </a:pPr>
            <a:r>
              <a:rPr dirty="0" sz="1050">
                <a:latin typeface="等线"/>
                <a:cs typeface="等线"/>
              </a:rPr>
              <a:t>垂直向</a:t>
            </a:r>
            <a:r>
              <a:rPr dirty="0" sz="1050" spc="5">
                <a:latin typeface="等线"/>
                <a:cs typeface="等线"/>
              </a:rPr>
              <a:t>外</a:t>
            </a:r>
            <a:endParaRPr sz="105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8256" y="1158316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4759" y="2974225"/>
            <a:ext cx="6887209" cy="220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导线中的电流方向与磁场方向垂直时，安培力大小为</a:t>
            </a:r>
            <a:r>
              <a:rPr dirty="0" sz="1800" spc="-5" i="1">
                <a:latin typeface="Times New Roman"/>
                <a:cs typeface="Times New Roman"/>
              </a:rPr>
              <a:t>F=BIL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00">
                <a:latin typeface="宋体"/>
                <a:cs typeface="宋体"/>
              </a:rPr>
              <a:t>在这种情况下，导线中电荷定向移动的方向与磁场方向垂直。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Times New Roman"/>
              <a:cs typeface="Times New Roman"/>
            </a:endParaRPr>
          </a:p>
          <a:p>
            <a:pPr marL="15875" marR="5080">
              <a:lnSpc>
                <a:spcPct val="150000"/>
              </a:lnSpc>
            </a:pPr>
            <a:r>
              <a:rPr dirty="0" sz="1800">
                <a:latin typeface="宋体"/>
                <a:cs typeface="宋体"/>
              </a:rPr>
              <a:t>既然安培力是洛伦兹力的宏观体现，那么我们是否可以由安培力的表 达式推导出洛伦兹力表达式呢？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92551" y="2068067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8" y="473963"/>
                </a:lnTo>
                <a:lnTo>
                  <a:pt x="48104" y="468000"/>
                </a:lnTo>
                <a:lnTo>
                  <a:pt x="22836" y="451123"/>
                </a:lnTo>
                <a:lnTo>
                  <a:pt x="5962" y="425854"/>
                </a:lnTo>
                <a:lnTo>
                  <a:pt x="0" y="394715"/>
                </a:lnTo>
                <a:lnTo>
                  <a:pt x="0" y="79247"/>
                </a:lnTo>
                <a:lnTo>
                  <a:pt x="5962" y="48568"/>
                </a:lnTo>
                <a:lnTo>
                  <a:pt x="22836" y="23455"/>
                </a:lnTo>
                <a:lnTo>
                  <a:pt x="48104" y="6426"/>
                </a:lnTo>
                <a:lnTo>
                  <a:pt x="79248" y="0"/>
                </a:lnTo>
                <a:lnTo>
                  <a:pt x="3014472" y="0"/>
                </a:lnTo>
                <a:lnTo>
                  <a:pt x="3045037" y="6426"/>
                </a:lnTo>
                <a:lnTo>
                  <a:pt x="3070112" y="23455"/>
                </a:lnTo>
                <a:lnTo>
                  <a:pt x="3087179" y="48568"/>
                </a:lnTo>
                <a:lnTo>
                  <a:pt x="3093720" y="79247"/>
                </a:lnTo>
                <a:lnTo>
                  <a:pt x="3093720" y="394715"/>
                </a:lnTo>
                <a:lnTo>
                  <a:pt x="3087179" y="425854"/>
                </a:lnTo>
                <a:lnTo>
                  <a:pt x="3070112" y="451123"/>
                </a:lnTo>
                <a:lnTo>
                  <a:pt x="3045037" y="46800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87751" y="1918716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5"/>
                </a:moveTo>
                <a:lnTo>
                  <a:pt x="0" y="411479"/>
                </a:lnTo>
                <a:lnTo>
                  <a:pt x="348996" y="0"/>
                </a:lnTo>
                <a:lnTo>
                  <a:pt x="760476" y="348995"/>
                </a:lnTo>
                <a:lnTo>
                  <a:pt x="411480" y="76047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41459" y="2076031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1413" y="1070622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57385" y="2858579"/>
            <a:ext cx="4663440" cy="1703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楷体"/>
                <a:cs typeface="楷体"/>
              </a:rPr>
              <a:t>思考与讨论</a:t>
            </a:r>
            <a:endParaRPr sz="1800">
              <a:latin typeface="楷体"/>
              <a:cs typeface="楷体"/>
            </a:endParaRPr>
          </a:p>
          <a:p>
            <a:pPr algn="just" marL="370205" marR="5080" indent="-342900">
              <a:lnSpc>
                <a:spcPct val="150000"/>
              </a:lnSpc>
              <a:spcBef>
                <a:spcPts val="1330"/>
              </a:spcBef>
            </a:pPr>
            <a:r>
              <a:rPr dirty="0" sz="1800">
                <a:latin typeface="Times New Roman"/>
                <a:cs typeface="Times New Roman"/>
              </a:rPr>
              <a:t>1.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楷体"/>
                <a:cs typeface="楷体"/>
              </a:rPr>
              <a:t>考查一段长为</a:t>
            </a:r>
            <a:r>
              <a:rPr dirty="0" sz="1800" spc="-5" i="1">
                <a:latin typeface="Times New Roman"/>
                <a:cs typeface="Times New Roman"/>
              </a:rPr>
              <a:t>vt</a:t>
            </a:r>
            <a:r>
              <a:rPr dirty="0" sz="1800">
                <a:latin typeface="楷体"/>
                <a:cs typeface="楷体"/>
              </a:rPr>
              <a:t>的导体如图。设静止导线中 定向运动的带电粒子的速度都是</a:t>
            </a:r>
            <a:r>
              <a:rPr dirty="0" sz="1800" i="1">
                <a:latin typeface="Times New Roman"/>
                <a:cs typeface="Times New Roman"/>
              </a:rPr>
              <a:t>v</a:t>
            </a:r>
            <a:r>
              <a:rPr dirty="0" sz="1800">
                <a:latin typeface="楷体"/>
                <a:cs typeface="楷体"/>
              </a:rPr>
              <a:t>，单位体 积内的粒子数为</a:t>
            </a:r>
            <a:r>
              <a:rPr dirty="0" sz="1800" i="1">
                <a:latin typeface="Times New Roman"/>
                <a:cs typeface="Times New Roman"/>
              </a:rPr>
              <a:t>n</a:t>
            </a:r>
            <a:r>
              <a:rPr dirty="0" sz="1800">
                <a:latin typeface="楷体"/>
                <a:cs typeface="楷体"/>
              </a:rPr>
              <a:t>；</a:t>
            </a:r>
            <a:endParaRPr sz="1800">
              <a:latin typeface="楷体"/>
              <a:cs typeface="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44256" y="2520695"/>
            <a:ext cx="2116836" cy="2855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04972" y="1981200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8" y="473963"/>
                </a:lnTo>
                <a:lnTo>
                  <a:pt x="48516" y="467537"/>
                </a:lnTo>
                <a:lnTo>
                  <a:pt x="23383" y="450508"/>
                </a:lnTo>
                <a:lnTo>
                  <a:pt x="6371" y="425395"/>
                </a:lnTo>
                <a:lnTo>
                  <a:pt x="0" y="394716"/>
                </a:lnTo>
                <a:lnTo>
                  <a:pt x="0" y="79248"/>
                </a:lnTo>
                <a:lnTo>
                  <a:pt x="6371" y="48109"/>
                </a:lnTo>
                <a:lnTo>
                  <a:pt x="23383" y="22840"/>
                </a:lnTo>
                <a:lnTo>
                  <a:pt x="48516" y="5963"/>
                </a:lnTo>
                <a:lnTo>
                  <a:pt x="79248" y="0"/>
                </a:lnTo>
                <a:lnTo>
                  <a:pt x="3014472" y="0"/>
                </a:lnTo>
                <a:lnTo>
                  <a:pt x="3045446" y="5963"/>
                </a:lnTo>
                <a:lnTo>
                  <a:pt x="3070659" y="22840"/>
                </a:lnTo>
                <a:lnTo>
                  <a:pt x="3087591" y="48109"/>
                </a:lnTo>
                <a:lnTo>
                  <a:pt x="3093719" y="79248"/>
                </a:lnTo>
                <a:lnTo>
                  <a:pt x="3093719" y="394716"/>
                </a:lnTo>
                <a:lnTo>
                  <a:pt x="3087591" y="425395"/>
                </a:lnTo>
                <a:lnTo>
                  <a:pt x="3070659" y="450508"/>
                </a:lnTo>
                <a:lnTo>
                  <a:pt x="3045446" y="467537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00172" y="183032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13003" y="762000"/>
                </a:moveTo>
                <a:lnTo>
                  <a:pt x="0" y="413003"/>
                </a:lnTo>
                <a:lnTo>
                  <a:pt x="348995" y="0"/>
                </a:lnTo>
                <a:lnTo>
                  <a:pt x="762000" y="348995"/>
                </a:lnTo>
                <a:lnTo>
                  <a:pt x="413003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154603" y="1988349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079" y="1120736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7923276" y="2513076"/>
            <a:ext cx="2116835" cy="2855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55951" y="3012833"/>
            <a:ext cx="4559300" cy="1564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2.</a:t>
            </a:r>
            <a:r>
              <a:rPr dirty="0" sz="1800">
                <a:latin typeface="楷体"/>
                <a:cs typeface="楷体"/>
              </a:rPr>
              <a:t>算出图</a:t>
            </a:r>
            <a:r>
              <a:rPr dirty="0" sz="1800">
                <a:latin typeface="Times New Roman"/>
                <a:cs typeface="Times New Roman"/>
              </a:rPr>
              <a:t>1.2-3</a:t>
            </a:r>
            <a:r>
              <a:rPr dirty="0" sz="1800">
                <a:latin typeface="楷体"/>
                <a:cs typeface="楷体"/>
              </a:rPr>
              <a:t>中一段导线中的粒子数，这就是 在时间</a:t>
            </a:r>
            <a:r>
              <a:rPr dirty="0" sz="1800" spc="-5" i="1">
                <a:latin typeface="Times New Roman"/>
                <a:cs typeface="Times New Roman"/>
              </a:rPr>
              <a:t>t</a:t>
            </a:r>
            <a:r>
              <a:rPr dirty="0" sz="1800">
                <a:latin typeface="楷体"/>
                <a:cs typeface="楷体"/>
              </a:rPr>
              <a:t>内通过横截面</a:t>
            </a:r>
            <a:r>
              <a:rPr dirty="0" sz="1800" i="1">
                <a:latin typeface="Times New Roman"/>
                <a:cs typeface="Times New Roman"/>
              </a:rPr>
              <a:t>S</a:t>
            </a:r>
            <a:r>
              <a:rPr dirty="0" sz="1800">
                <a:latin typeface="楷体"/>
                <a:cs typeface="楷体"/>
              </a:rPr>
              <a:t>的粒子数</a:t>
            </a:r>
            <a:endParaRPr sz="1800">
              <a:latin typeface="楷体"/>
              <a:cs typeface="楷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504315">
              <a:lnSpc>
                <a:spcPct val="100000"/>
              </a:lnSpc>
              <a:spcBef>
                <a:spcPts val="1170"/>
              </a:spcBef>
            </a:pPr>
            <a:r>
              <a:rPr dirty="0" sz="1800" spc="-5" i="1">
                <a:latin typeface="Times New Roman"/>
                <a:cs typeface="Times New Roman"/>
              </a:rPr>
              <a:t>N=nSvt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99232" y="2031492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5996" y="473963"/>
                </a:moveTo>
                <a:lnTo>
                  <a:pt x="79248" y="473963"/>
                </a:lnTo>
                <a:lnTo>
                  <a:pt x="48747" y="467437"/>
                </a:lnTo>
                <a:lnTo>
                  <a:pt x="23693" y="450375"/>
                </a:lnTo>
                <a:lnTo>
                  <a:pt x="6604" y="425295"/>
                </a:lnTo>
                <a:lnTo>
                  <a:pt x="0" y="394715"/>
                </a:lnTo>
                <a:lnTo>
                  <a:pt x="0" y="77723"/>
                </a:lnTo>
                <a:lnTo>
                  <a:pt x="6604" y="47361"/>
                </a:lnTo>
                <a:lnTo>
                  <a:pt x="23693" y="22512"/>
                </a:lnTo>
                <a:lnTo>
                  <a:pt x="48747" y="5838"/>
                </a:lnTo>
                <a:lnTo>
                  <a:pt x="79248" y="0"/>
                </a:lnTo>
                <a:lnTo>
                  <a:pt x="3015996" y="0"/>
                </a:lnTo>
                <a:lnTo>
                  <a:pt x="3046323" y="5838"/>
                </a:lnTo>
                <a:lnTo>
                  <a:pt x="3071160" y="22512"/>
                </a:lnTo>
                <a:lnTo>
                  <a:pt x="3087846" y="47361"/>
                </a:lnTo>
                <a:lnTo>
                  <a:pt x="3093720" y="77723"/>
                </a:lnTo>
                <a:lnTo>
                  <a:pt x="3093720" y="394715"/>
                </a:lnTo>
                <a:lnTo>
                  <a:pt x="3087846" y="425295"/>
                </a:lnTo>
                <a:lnTo>
                  <a:pt x="3071160" y="450375"/>
                </a:lnTo>
                <a:lnTo>
                  <a:pt x="3046323" y="467437"/>
                </a:lnTo>
                <a:lnTo>
                  <a:pt x="3015996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95955" y="1880616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1480" y="761999"/>
                </a:moveTo>
                <a:lnTo>
                  <a:pt x="0" y="413003"/>
                </a:lnTo>
                <a:lnTo>
                  <a:pt x="347471" y="0"/>
                </a:lnTo>
                <a:lnTo>
                  <a:pt x="760476" y="348995"/>
                </a:lnTo>
                <a:lnTo>
                  <a:pt x="411480" y="761999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49282" y="2038451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079" y="1070622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7940040" y="2520695"/>
            <a:ext cx="2116836" cy="2855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92539" y="3050425"/>
            <a:ext cx="4546600" cy="1677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3.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>
                <a:latin typeface="楷体"/>
                <a:cs typeface="楷体"/>
              </a:rPr>
              <a:t>粒子的电荷量记为</a:t>
            </a:r>
            <a:r>
              <a:rPr dirty="0" sz="1800" i="1">
                <a:latin typeface="Times New Roman"/>
                <a:cs typeface="Times New Roman"/>
              </a:rPr>
              <a:t>q</a:t>
            </a:r>
            <a:r>
              <a:rPr dirty="0" sz="1800">
                <a:latin typeface="楷体"/>
                <a:cs typeface="楷体"/>
              </a:rPr>
              <a:t>，可算出时间</a:t>
            </a:r>
            <a:r>
              <a:rPr dirty="0" sz="1800" spc="-5" i="1">
                <a:latin typeface="Times New Roman"/>
                <a:cs typeface="Times New Roman"/>
              </a:rPr>
              <a:t>t</a:t>
            </a:r>
            <a:r>
              <a:rPr dirty="0" sz="1800">
                <a:latin typeface="楷体"/>
                <a:cs typeface="楷体"/>
              </a:rPr>
              <a:t>内通过导 体横截面的电量</a:t>
            </a:r>
            <a:r>
              <a:rPr dirty="0" sz="1800" i="1">
                <a:latin typeface="Times New Roman"/>
                <a:cs typeface="Times New Roman"/>
              </a:rPr>
              <a:t>Q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Times New Roman"/>
              <a:cs typeface="Times New Roman"/>
            </a:endParaRPr>
          </a:p>
          <a:p>
            <a:pPr marL="131826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Q=Nq=nqsvt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99232" y="1981200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5996" y="473963"/>
                </a:moveTo>
                <a:lnTo>
                  <a:pt x="79248" y="473963"/>
                </a:lnTo>
                <a:lnTo>
                  <a:pt x="48747" y="467537"/>
                </a:lnTo>
                <a:lnTo>
                  <a:pt x="23693" y="450508"/>
                </a:lnTo>
                <a:lnTo>
                  <a:pt x="6604" y="425395"/>
                </a:lnTo>
                <a:lnTo>
                  <a:pt x="0" y="394716"/>
                </a:lnTo>
                <a:lnTo>
                  <a:pt x="0" y="79248"/>
                </a:lnTo>
                <a:lnTo>
                  <a:pt x="6604" y="48109"/>
                </a:lnTo>
                <a:lnTo>
                  <a:pt x="23693" y="22840"/>
                </a:lnTo>
                <a:lnTo>
                  <a:pt x="48747" y="5963"/>
                </a:lnTo>
                <a:lnTo>
                  <a:pt x="79248" y="0"/>
                </a:lnTo>
                <a:lnTo>
                  <a:pt x="3015996" y="0"/>
                </a:lnTo>
                <a:lnTo>
                  <a:pt x="3046323" y="5963"/>
                </a:lnTo>
                <a:lnTo>
                  <a:pt x="3071160" y="22840"/>
                </a:lnTo>
                <a:lnTo>
                  <a:pt x="3087846" y="48109"/>
                </a:lnTo>
                <a:lnTo>
                  <a:pt x="3093720" y="79248"/>
                </a:lnTo>
                <a:lnTo>
                  <a:pt x="3093720" y="394716"/>
                </a:lnTo>
                <a:lnTo>
                  <a:pt x="3087846" y="425395"/>
                </a:lnTo>
                <a:lnTo>
                  <a:pt x="3071160" y="450508"/>
                </a:lnTo>
                <a:lnTo>
                  <a:pt x="3046323" y="467537"/>
                </a:lnTo>
                <a:lnTo>
                  <a:pt x="3015996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95955" y="1830323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1480" y="762000"/>
                </a:moveTo>
                <a:lnTo>
                  <a:pt x="0" y="413003"/>
                </a:lnTo>
                <a:lnTo>
                  <a:pt x="347471" y="0"/>
                </a:lnTo>
                <a:lnTo>
                  <a:pt x="760476" y="348995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49282" y="1988349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8256" y="1170838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7831835" y="2621279"/>
            <a:ext cx="2116835" cy="2855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44203" y="3293148"/>
            <a:ext cx="4502150" cy="1189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4.</a:t>
            </a:r>
            <a:r>
              <a:rPr dirty="0" sz="1800">
                <a:latin typeface="楷体"/>
                <a:cs typeface="楷体"/>
              </a:rPr>
              <a:t>由此可以算出粒子电量</a:t>
            </a:r>
            <a:r>
              <a:rPr dirty="0" sz="1800" i="1">
                <a:latin typeface="Times New Roman"/>
                <a:cs typeface="Times New Roman"/>
              </a:rPr>
              <a:t>q</a:t>
            </a:r>
            <a:r>
              <a:rPr dirty="0" sz="1800">
                <a:latin typeface="楷体"/>
                <a:cs typeface="楷体"/>
              </a:rPr>
              <a:t>与电流强度</a:t>
            </a:r>
            <a:r>
              <a:rPr dirty="0" sz="1800" i="1">
                <a:latin typeface="Times New Roman"/>
                <a:cs typeface="Times New Roman"/>
              </a:rPr>
              <a:t>I</a:t>
            </a:r>
            <a:r>
              <a:rPr dirty="0" sz="1800">
                <a:latin typeface="楷体"/>
                <a:cs typeface="楷体"/>
              </a:rPr>
              <a:t>的关系</a:t>
            </a:r>
            <a:endParaRPr sz="1800">
              <a:latin typeface="楷体"/>
              <a:cs typeface="楷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Times New Roman"/>
              <a:cs typeface="Times New Roman"/>
            </a:endParaRPr>
          </a:p>
          <a:p>
            <a:pPr marL="130048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I=nqsv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92551" y="2080260"/>
            <a:ext cx="3093720" cy="475615"/>
          </a:xfrm>
          <a:custGeom>
            <a:avLst/>
            <a:gdLst/>
            <a:ahLst/>
            <a:cxnLst/>
            <a:rect l="l" t="t" r="r" b="b"/>
            <a:pathLst>
              <a:path w="3093720" h="475614">
                <a:moveTo>
                  <a:pt x="3014472" y="475488"/>
                </a:moveTo>
                <a:lnTo>
                  <a:pt x="79248" y="475488"/>
                </a:lnTo>
                <a:lnTo>
                  <a:pt x="48104" y="468854"/>
                </a:lnTo>
                <a:lnTo>
                  <a:pt x="22836" y="451756"/>
                </a:lnTo>
                <a:lnTo>
                  <a:pt x="5962" y="426712"/>
                </a:lnTo>
                <a:lnTo>
                  <a:pt x="0" y="396239"/>
                </a:lnTo>
                <a:lnTo>
                  <a:pt x="0" y="79247"/>
                </a:lnTo>
                <a:lnTo>
                  <a:pt x="5962" y="48754"/>
                </a:lnTo>
                <a:lnTo>
                  <a:pt x="22836" y="23702"/>
                </a:lnTo>
                <a:lnTo>
                  <a:pt x="48104" y="6612"/>
                </a:lnTo>
                <a:lnTo>
                  <a:pt x="79248" y="0"/>
                </a:lnTo>
                <a:lnTo>
                  <a:pt x="3014472" y="0"/>
                </a:lnTo>
                <a:lnTo>
                  <a:pt x="3045037" y="6612"/>
                </a:lnTo>
                <a:lnTo>
                  <a:pt x="3070112" y="23702"/>
                </a:lnTo>
                <a:lnTo>
                  <a:pt x="3087179" y="48754"/>
                </a:lnTo>
                <a:lnTo>
                  <a:pt x="3093720" y="79247"/>
                </a:lnTo>
                <a:lnTo>
                  <a:pt x="3093720" y="396239"/>
                </a:lnTo>
                <a:lnTo>
                  <a:pt x="3087179" y="426712"/>
                </a:lnTo>
                <a:lnTo>
                  <a:pt x="3070112" y="451756"/>
                </a:lnTo>
                <a:lnTo>
                  <a:pt x="3045037" y="468854"/>
                </a:lnTo>
                <a:lnTo>
                  <a:pt x="3014472" y="475488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87751" y="1930907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1480" y="762000"/>
                </a:moveTo>
                <a:lnTo>
                  <a:pt x="0" y="413004"/>
                </a:lnTo>
                <a:lnTo>
                  <a:pt x="348996" y="0"/>
                </a:lnTo>
                <a:lnTo>
                  <a:pt x="760476" y="348996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41459" y="2088553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1197" y="1095679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8045195" y="2545079"/>
            <a:ext cx="2116836" cy="2855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05976" y="3139795"/>
            <a:ext cx="2935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5.</a:t>
            </a:r>
            <a:r>
              <a:rPr dirty="0" sz="1800">
                <a:latin typeface="楷体"/>
                <a:cs typeface="楷体"/>
              </a:rPr>
              <a:t>长为</a:t>
            </a:r>
            <a:r>
              <a:rPr dirty="0" sz="1800" i="1">
                <a:latin typeface="Times New Roman"/>
                <a:cs typeface="Times New Roman"/>
              </a:rPr>
              <a:t>v</a:t>
            </a:r>
            <a:r>
              <a:rPr dirty="0" sz="1800" spc="-5" i="1">
                <a:latin typeface="Times New Roman"/>
                <a:cs typeface="Times New Roman"/>
              </a:rPr>
              <a:t>t</a:t>
            </a:r>
            <a:r>
              <a:rPr dirty="0" sz="1800">
                <a:latin typeface="楷体"/>
                <a:cs typeface="楷体"/>
              </a:rPr>
              <a:t>的导体受的安培力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baseline="-16908" sz="1725" spc="22">
                <a:latin typeface="楷体"/>
                <a:cs typeface="楷体"/>
              </a:rPr>
              <a:t>安</a:t>
            </a:r>
            <a:endParaRPr baseline="-16908" sz="1725">
              <a:latin typeface="楷体"/>
              <a:cs typeface="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5871" y="4107383"/>
            <a:ext cx="1611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baseline="-16908" sz="1725" spc="30">
                <a:latin typeface="楷体"/>
                <a:cs typeface="楷体"/>
              </a:rPr>
              <a:t>安</a:t>
            </a:r>
            <a:r>
              <a:rPr dirty="0" sz="1800" spc="-5">
                <a:latin typeface="Times New Roman"/>
                <a:cs typeface="Times New Roman"/>
              </a:rPr>
              <a:t>=</a:t>
            </a:r>
            <a:r>
              <a:rPr dirty="0" sz="1800" spc="-5" i="1">
                <a:latin typeface="Times New Roman"/>
                <a:cs typeface="Times New Roman"/>
              </a:rPr>
              <a:t>BIL</a:t>
            </a:r>
            <a:r>
              <a:rPr dirty="0" sz="1800" spc="-5">
                <a:latin typeface="Times New Roman"/>
                <a:cs typeface="Times New Roman"/>
              </a:rPr>
              <a:t>=</a:t>
            </a:r>
            <a:r>
              <a:rPr dirty="0" sz="1800" spc="-5" i="1">
                <a:latin typeface="Times New Roman"/>
                <a:cs typeface="Times New Roman"/>
              </a:rPr>
              <a:t>Bnqsv</a:t>
            </a:r>
            <a:r>
              <a:rPr dirty="0" baseline="21739" sz="1725" spc="-7">
                <a:latin typeface="Times New Roman"/>
                <a:cs typeface="Times New Roman"/>
              </a:rPr>
              <a:t>2</a:t>
            </a:r>
            <a:r>
              <a:rPr dirty="0" sz="1800" spc="-5" i="1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04388" y="2005583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5996" y="473964"/>
                </a:moveTo>
                <a:lnTo>
                  <a:pt x="79248" y="473964"/>
                </a:lnTo>
                <a:lnTo>
                  <a:pt x="48725" y="467916"/>
                </a:lnTo>
                <a:lnTo>
                  <a:pt x="23664" y="451013"/>
                </a:lnTo>
                <a:lnTo>
                  <a:pt x="6583" y="425774"/>
                </a:lnTo>
                <a:lnTo>
                  <a:pt x="0" y="394716"/>
                </a:lnTo>
                <a:lnTo>
                  <a:pt x="0" y="79248"/>
                </a:lnTo>
                <a:lnTo>
                  <a:pt x="6583" y="48482"/>
                </a:lnTo>
                <a:lnTo>
                  <a:pt x="23664" y="23341"/>
                </a:lnTo>
                <a:lnTo>
                  <a:pt x="48725" y="6340"/>
                </a:lnTo>
                <a:lnTo>
                  <a:pt x="79248" y="0"/>
                </a:lnTo>
                <a:lnTo>
                  <a:pt x="3015996" y="0"/>
                </a:lnTo>
                <a:lnTo>
                  <a:pt x="3046301" y="6340"/>
                </a:lnTo>
                <a:lnTo>
                  <a:pt x="3071131" y="23341"/>
                </a:lnTo>
                <a:lnTo>
                  <a:pt x="3087824" y="48482"/>
                </a:lnTo>
                <a:lnTo>
                  <a:pt x="3093720" y="79248"/>
                </a:lnTo>
                <a:lnTo>
                  <a:pt x="3093720" y="394716"/>
                </a:lnTo>
                <a:lnTo>
                  <a:pt x="3087824" y="425774"/>
                </a:lnTo>
                <a:lnTo>
                  <a:pt x="3071131" y="451013"/>
                </a:lnTo>
                <a:lnTo>
                  <a:pt x="3046301" y="467916"/>
                </a:lnTo>
                <a:lnTo>
                  <a:pt x="3015996" y="47396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99588" y="1856232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4" y="760476"/>
                </a:moveTo>
                <a:lnTo>
                  <a:pt x="0" y="411480"/>
                </a:lnTo>
                <a:lnTo>
                  <a:pt x="348995" y="0"/>
                </a:lnTo>
                <a:lnTo>
                  <a:pt x="762000" y="348996"/>
                </a:lnTo>
                <a:lnTo>
                  <a:pt x="413004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54400" y="2013394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079" y="1245997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7940040" y="2695955"/>
            <a:ext cx="2116836" cy="2855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60573" y="3320605"/>
            <a:ext cx="3228975" cy="1140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6.</a:t>
            </a:r>
            <a:r>
              <a:rPr dirty="0" sz="1800">
                <a:latin typeface="楷体"/>
                <a:cs typeface="楷体"/>
              </a:rPr>
              <a:t>每个粒子受到的力，它等于</a:t>
            </a: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baseline="-16908" sz="1725" spc="37">
                <a:latin typeface="楷体"/>
                <a:cs typeface="楷体"/>
              </a:rPr>
              <a:t>洛</a:t>
            </a:r>
            <a:endParaRPr baseline="-16908" sz="1725">
              <a:latin typeface="楷体"/>
              <a:cs typeface="楷体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1083310">
              <a:lnSpc>
                <a:spcPct val="100000"/>
              </a:lnSpc>
            </a:pPr>
            <a:r>
              <a:rPr dirty="0" sz="1800" i="1">
                <a:latin typeface="Times New Roman"/>
                <a:cs typeface="Times New Roman"/>
              </a:rPr>
              <a:t>F</a:t>
            </a:r>
            <a:r>
              <a:rPr dirty="0" baseline="-16908" sz="1725" spc="30">
                <a:latin typeface="宋体"/>
                <a:cs typeface="宋体"/>
              </a:rPr>
              <a:t>洛</a:t>
            </a:r>
            <a:r>
              <a:rPr dirty="0" sz="1800" spc="-5">
                <a:latin typeface="Times New Roman"/>
                <a:cs typeface="Times New Roman"/>
              </a:rPr>
              <a:t>=</a:t>
            </a:r>
            <a:r>
              <a:rPr dirty="0" sz="1800" spc="-5" i="1">
                <a:latin typeface="Times New Roman"/>
                <a:cs typeface="Times New Roman"/>
              </a:rPr>
              <a:t>F</a:t>
            </a:r>
            <a:r>
              <a:rPr dirty="0" baseline="-16908" sz="1725" spc="30">
                <a:latin typeface="宋体"/>
                <a:cs typeface="宋体"/>
              </a:rPr>
              <a:t>安</a:t>
            </a:r>
            <a:r>
              <a:rPr dirty="0" sz="1800" spc="-5">
                <a:latin typeface="Times New Roman"/>
                <a:cs typeface="Times New Roman"/>
              </a:rPr>
              <a:t>/</a:t>
            </a:r>
            <a:r>
              <a:rPr dirty="0" sz="1800" spc="-5" i="1">
                <a:latin typeface="Times New Roman"/>
                <a:cs typeface="Times New Roman"/>
              </a:rPr>
              <a:t>N</a:t>
            </a:r>
            <a:r>
              <a:rPr dirty="0" sz="1800" spc="-5">
                <a:latin typeface="Times New Roman"/>
                <a:cs typeface="Times New Roman"/>
              </a:rPr>
              <a:t>=</a:t>
            </a:r>
            <a:r>
              <a:rPr dirty="0" sz="1800" spc="-5" i="1">
                <a:latin typeface="Times New Roman"/>
                <a:cs typeface="Times New Roman"/>
              </a:rPr>
              <a:t>qvB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99232" y="2156460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5996" y="473963"/>
                </a:moveTo>
                <a:lnTo>
                  <a:pt x="79248" y="473963"/>
                </a:lnTo>
                <a:lnTo>
                  <a:pt x="48747" y="467601"/>
                </a:lnTo>
                <a:lnTo>
                  <a:pt x="23693" y="450594"/>
                </a:lnTo>
                <a:lnTo>
                  <a:pt x="6604" y="425459"/>
                </a:lnTo>
                <a:lnTo>
                  <a:pt x="0" y="394715"/>
                </a:lnTo>
                <a:lnTo>
                  <a:pt x="0" y="79247"/>
                </a:lnTo>
                <a:lnTo>
                  <a:pt x="6604" y="48168"/>
                </a:lnTo>
                <a:lnTo>
                  <a:pt x="23693" y="22921"/>
                </a:lnTo>
                <a:lnTo>
                  <a:pt x="48747" y="6026"/>
                </a:lnTo>
                <a:lnTo>
                  <a:pt x="79248" y="0"/>
                </a:lnTo>
                <a:lnTo>
                  <a:pt x="3015996" y="0"/>
                </a:lnTo>
                <a:lnTo>
                  <a:pt x="3046323" y="6026"/>
                </a:lnTo>
                <a:lnTo>
                  <a:pt x="3071160" y="22921"/>
                </a:lnTo>
                <a:lnTo>
                  <a:pt x="3087846" y="48168"/>
                </a:lnTo>
                <a:lnTo>
                  <a:pt x="3093720" y="79247"/>
                </a:lnTo>
                <a:lnTo>
                  <a:pt x="3093720" y="394715"/>
                </a:lnTo>
                <a:lnTo>
                  <a:pt x="3087846" y="425459"/>
                </a:lnTo>
                <a:lnTo>
                  <a:pt x="3071160" y="450594"/>
                </a:lnTo>
                <a:lnTo>
                  <a:pt x="3046323" y="467601"/>
                </a:lnTo>
                <a:lnTo>
                  <a:pt x="3015996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95955" y="2005583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1480" y="762000"/>
                </a:moveTo>
                <a:lnTo>
                  <a:pt x="0" y="413004"/>
                </a:lnTo>
                <a:lnTo>
                  <a:pt x="347471" y="0"/>
                </a:lnTo>
                <a:lnTo>
                  <a:pt x="760476" y="348996"/>
                </a:lnTo>
                <a:lnTo>
                  <a:pt x="411480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49282" y="2163711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8992" y="1321142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6846" y="3163417"/>
            <a:ext cx="68834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楷体"/>
                <a:cs typeface="楷体"/>
              </a:rPr>
              <a:t>以上的推导过程是以正电荷定向移动推导的。若是负电荷定向移动， 其受力大小一样，只是受力方向相反。所以，上式具有一般性。</a:t>
            </a:r>
            <a:endParaRPr sz="1800">
              <a:latin typeface="楷体"/>
              <a:cs typeface="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3072" y="2231135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8" y="473963"/>
                </a:lnTo>
                <a:lnTo>
                  <a:pt x="48218" y="467871"/>
                </a:lnTo>
                <a:lnTo>
                  <a:pt x="22988" y="450951"/>
                </a:lnTo>
                <a:lnTo>
                  <a:pt x="6076" y="425725"/>
                </a:lnTo>
                <a:lnTo>
                  <a:pt x="0" y="394715"/>
                </a:lnTo>
                <a:lnTo>
                  <a:pt x="0" y="79247"/>
                </a:lnTo>
                <a:lnTo>
                  <a:pt x="6076" y="48438"/>
                </a:lnTo>
                <a:lnTo>
                  <a:pt x="22988" y="23279"/>
                </a:lnTo>
                <a:lnTo>
                  <a:pt x="48218" y="6292"/>
                </a:lnTo>
                <a:lnTo>
                  <a:pt x="79248" y="0"/>
                </a:lnTo>
                <a:lnTo>
                  <a:pt x="3014472" y="0"/>
                </a:lnTo>
                <a:lnTo>
                  <a:pt x="3045151" y="6292"/>
                </a:lnTo>
                <a:lnTo>
                  <a:pt x="3070264" y="23279"/>
                </a:lnTo>
                <a:lnTo>
                  <a:pt x="3087293" y="48438"/>
                </a:lnTo>
                <a:lnTo>
                  <a:pt x="3093719" y="79247"/>
                </a:lnTo>
                <a:lnTo>
                  <a:pt x="3093719" y="394715"/>
                </a:lnTo>
                <a:lnTo>
                  <a:pt x="3087293" y="425725"/>
                </a:lnTo>
                <a:lnTo>
                  <a:pt x="3070264" y="450951"/>
                </a:lnTo>
                <a:lnTo>
                  <a:pt x="3045151" y="467871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38272" y="2081783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79" y="760476"/>
                </a:moveTo>
                <a:lnTo>
                  <a:pt x="0" y="411480"/>
                </a:lnTo>
                <a:lnTo>
                  <a:pt x="348995" y="0"/>
                </a:lnTo>
                <a:lnTo>
                  <a:pt x="760476" y="348996"/>
                </a:lnTo>
                <a:lnTo>
                  <a:pt x="411479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92183" y="2238870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8154" y="1183360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7776971" y="3028188"/>
            <a:ext cx="1709927" cy="224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42260" y="2093976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7" y="473963"/>
                </a:lnTo>
                <a:lnTo>
                  <a:pt x="48211" y="467516"/>
                </a:lnTo>
                <a:lnTo>
                  <a:pt x="22979" y="450480"/>
                </a:lnTo>
                <a:lnTo>
                  <a:pt x="6069" y="425373"/>
                </a:lnTo>
                <a:lnTo>
                  <a:pt x="0" y="394716"/>
                </a:lnTo>
                <a:lnTo>
                  <a:pt x="0" y="79248"/>
                </a:lnTo>
                <a:lnTo>
                  <a:pt x="6069" y="48082"/>
                </a:lnTo>
                <a:lnTo>
                  <a:pt x="22979" y="22807"/>
                </a:lnTo>
                <a:lnTo>
                  <a:pt x="48211" y="5940"/>
                </a:lnTo>
                <a:lnTo>
                  <a:pt x="79247" y="0"/>
                </a:lnTo>
                <a:lnTo>
                  <a:pt x="3014472" y="0"/>
                </a:lnTo>
                <a:lnTo>
                  <a:pt x="3045144" y="5940"/>
                </a:lnTo>
                <a:lnTo>
                  <a:pt x="3070255" y="22807"/>
                </a:lnTo>
                <a:lnTo>
                  <a:pt x="3087286" y="48082"/>
                </a:lnTo>
                <a:lnTo>
                  <a:pt x="3093719" y="79248"/>
                </a:lnTo>
                <a:lnTo>
                  <a:pt x="3093719" y="394716"/>
                </a:lnTo>
                <a:lnTo>
                  <a:pt x="3087286" y="425373"/>
                </a:lnTo>
                <a:lnTo>
                  <a:pt x="3070255" y="450480"/>
                </a:lnTo>
                <a:lnTo>
                  <a:pt x="3045144" y="467516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37460" y="1943100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1479" y="762000"/>
                </a:moveTo>
                <a:lnTo>
                  <a:pt x="0" y="413004"/>
                </a:lnTo>
                <a:lnTo>
                  <a:pt x="348995" y="0"/>
                </a:lnTo>
                <a:lnTo>
                  <a:pt x="760476" y="348995"/>
                </a:lnTo>
                <a:lnTo>
                  <a:pt x="411479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91345" y="2101088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52725" y="3026257"/>
            <a:ext cx="4635500" cy="2041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6700">
              <a:lnSpc>
                <a:spcPct val="1498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在一般情况下，当电荷运动方向与磁感应强 度方向夹角为</a:t>
            </a:r>
            <a:r>
              <a:rPr dirty="0" sz="1800" i="1">
                <a:latin typeface="Times New Roman"/>
                <a:cs typeface="Times New Roman"/>
              </a:rPr>
              <a:t>θ</a:t>
            </a:r>
            <a:r>
              <a:rPr dirty="0" sz="1800">
                <a:latin typeface="宋体"/>
                <a:cs typeface="宋体"/>
              </a:rPr>
              <a:t>时（图</a:t>
            </a:r>
            <a:r>
              <a:rPr dirty="0" sz="1800">
                <a:latin typeface="Times New Roman"/>
                <a:cs typeface="Times New Roman"/>
              </a:rPr>
              <a:t>1.2-5</a:t>
            </a:r>
            <a:r>
              <a:rPr dirty="0" sz="1800"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242570">
              <a:lnSpc>
                <a:spcPct val="100000"/>
              </a:lnSpc>
              <a:spcBef>
                <a:spcPts val="1705"/>
              </a:spcBef>
            </a:pPr>
            <a:r>
              <a:rPr dirty="0" sz="1800">
                <a:latin typeface="宋体"/>
                <a:cs typeface="宋体"/>
              </a:rPr>
              <a:t>电荷受的洛伦兹力为</a:t>
            </a:r>
            <a:endParaRPr sz="1800">
              <a:latin typeface="宋体"/>
              <a:cs typeface="宋体"/>
            </a:endParaRPr>
          </a:p>
          <a:p>
            <a:pPr algn="ctr" marL="241300">
              <a:lnSpc>
                <a:spcPct val="100000"/>
              </a:lnSpc>
              <a:spcBef>
                <a:spcPts val="1075"/>
              </a:spcBef>
            </a:pPr>
            <a:r>
              <a:rPr dirty="0" sz="1800" spc="-5" i="1">
                <a:latin typeface="Times New Roman"/>
                <a:cs typeface="Times New Roman"/>
              </a:rPr>
              <a:t>F=qvBsinθ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079" y="1095679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2999232" y="2005583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5996" y="473964"/>
                </a:moveTo>
                <a:lnTo>
                  <a:pt x="79248" y="473964"/>
                </a:lnTo>
                <a:lnTo>
                  <a:pt x="48747" y="467916"/>
                </a:lnTo>
                <a:lnTo>
                  <a:pt x="23693" y="451013"/>
                </a:lnTo>
                <a:lnTo>
                  <a:pt x="6604" y="425774"/>
                </a:lnTo>
                <a:lnTo>
                  <a:pt x="0" y="394716"/>
                </a:lnTo>
                <a:lnTo>
                  <a:pt x="0" y="79248"/>
                </a:lnTo>
                <a:lnTo>
                  <a:pt x="6604" y="48482"/>
                </a:lnTo>
                <a:lnTo>
                  <a:pt x="23693" y="23341"/>
                </a:lnTo>
                <a:lnTo>
                  <a:pt x="48747" y="6340"/>
                </a:lnTo>
                <a:lnTo>
                  <a:pt x="79248" y="0"/>
                </a:lnTo>
                <a:lnTo>
                  <a:pt x="3015996" y="0"/>
                </a:lnTo>
                <a:lnTo>
                  <a:pt x="3046323" y="6340"/>
                </a:lnTo>
                <a:lnTo>
                  <a:pt x="3071160" y="23341"/>
                </a:lnTo>
                <a:lnTo>
                  <a:pt x="3087846" y="48482"/>
                </a:lnTo>
                <a:lnTo>
                  <a:pt x="3093720" y="79248"/>
                </a:lnTo>
                <a:lnTo>
                  <a:pt x="3093720" y="394716"/>
                </a:lnTo>
                <a:lnTo>
                  <a:pt x="3087846" y="425774"/>
                </a:lnTo>
                <a:lnTo>
                  <a:pt x="3071160" y="451013"/>
                </a:lnTo>
                <a:lnTo>
                  <a:pt x="3046323" y="467916"/>
                </a:lnTo>
                <a:lnTo>
                  <a:pt x="3015996" y="47396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95955" y="1856232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6"/>
                </a:moveTo>
                <a:lnTo>
                  <a:pt x="0" y="411480"/>
                </a:lnTo>
                <a:lnTo>
                  <a:pt x="347471" y="0"/>
                </a:lnTo>
                <a:lnTo>
                  <a:pt x="760476" y="348996"/>
                </a:lnTo>
                <a:lnTo>
                  <a:pt x="411480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949282" y="2013394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40623" y="2939795"/>
            <a:ext cx="1709927" cy="2240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25534" y="3033445"/>
            <a:ext cx="4766945" cy="1801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921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结论：①粒子在磁场在受的洛伦兹力的大小为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imes New Roman"/>
              <a:cs typeface="Times New Roman"/>
            </a:endParaRPr>
          </a:p>
          <a:p>
            <a:pPr algn="ctr" marR="10287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F=qvBsinθ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330"/>
              </a:spcBef>
            </a:pPr>
            <a:r>
              <a:rPr dirty="0" sz="1800">
                <a:latin typeface="宋体"/>
                <a:cs typeface="宋体"/>
              </a:rPr>
              <a:t>其中，</a:t>
            </a:r>
            <a:r>
              <a:rPr dirty="0" sz="1800" spc="-535">
                <a:latin typeface="宋体"/>
                <a:cs typeface="宋体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θ</a:t>
            </a:r>
            <a:r>
              <a:rPr dirty="0" sz="1800">
                <a:latin typeface="宋体"/>
                <a:cs typeface="宋体"/>
              </a:rPr>
              <a:t>为粒子的运动方向与磁场方向的夹角。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0478" y="1183360"/>
            <a:ext cx="5638165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3194304" y="2093976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7" y="473963"/>
                </a:lnTo>
                <a:lnTo>
                  <a:pt x="48368" y="467516"/>
                </a:lnTo>
                <a:lnTo>
                  <a:pt x="23188" y="450480"/>
                </a:lnTo>
                <a:lnTo>
                  <a:pt x="6226" y="425373"/>
                </a:lnTo>
                <a:lnTo>
                  <a:pt x="0" y="394716"/>
                </a:lnTo>
                <a:lnTo>
                  <a:pt x="0" y="79248"/>
                </a:lnTo>
                <a:lnTo>
                  <a:pt x="6226" y="48082"/>
                </a:lnTo>
                <a:lnTo>
                  <a:pt x="23188" y="22807"/>
                </a:lnTo>
                <a:lnTo>
                  <a:pt x="48368" y="5940"/>
                </a:lnTo>
                <a:lnTo>
                  <a:pt x="79247" y="0"/>
                </a:lnTo>
                <a:lnTo>
                  <a:pt x="3014472" y="0"/>
                </a:lnTo>
                <a:lnTo>
                  <a:pt x="3045301" y="5940"/>
                </a:lnTo>
                <a:lnTo>
                  <a:pt x="3070464" y="22807"/>
                </a:lnTo>
                <a:lnTo>
                  <a:pt x="3087443" y="48082"/>
                </a:lnTo>
                <a:lnTo>
                  <a:pt x="3093720" y="79248"/>
                </a:lnTo>
                <a:lnTo>
                  <a:pt x="3093720" y="394716"/>
                </a:lnTo>
                <a:lnTo>
                  <a:pt x="3087443" y="425373"/>
                </a:lnTo>
                <a:lnTo>
                  <a:pt x="3070464" y="450480"/>
                </a:lnTo>
                <a:lnTo>
                  <a:pt x="3045301" y="467516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89504" y="1943100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3004" y="762000"/>
                </a:moveTo>
                <a:lnTo>
                  <a:pt x="0" y="413004"/>
                </a:lnTo>
                <a:lnTo>
                  <a:pt x="348995" y="0"/>
                </a:lnTo>
                <a:lnTo>
                  <a:pt x="760475" y="348995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143681" y="2101088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66176" y="3028188"/>
            <a:ext cx="1755648" cy="2270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26879" y="3135338"/>
            <a:ext cx="4635500" cy="189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67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结论：②如果粒子的运动方向与磁场方向垂 直，则粒子受到的洛伦兹力为</a:t>
            </a:r>
            <a:endParaRPr sz="1800">
              <a:latin typeface="宋体"/>
              <a:cs typeface="宋体"/>
            </a:endParaRPr>
          </a:p>
          <a:p>
            <a:pPr algn="ctr" marL="304800">
              <a:lnSpc>
                <a:spcPct val="100000"/>
              </a:lnSpc>
              <a:spcBef>
                <a:spcPts val="1075"/>
              </a:spcBef>
            </a:pPr>
            <a:r>
              <a:rPr dirty="0" sz="1800" i="1">
                <a:latin typeface="Times New Roman"/>
                <a:cs typeface="Times New Roman"/>
              </a:rPr>
              <a:t>F=qvB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imes New Roman"/>
              <a:cs typeface="Times New Roman"/>
            </a:endParaRPr>
          </a:p>
          <a:p>
            <a:pPr algn="ctr" marL="238760">
              <a:lnSpc>
                <a:spcPct val="100000"/>
              </a:lnSpc>
            </a:pPr>
            <a:r>
              <a:rPr dirty="0" sz="1800">
                <a:latin typeface="宋体"/>
                <a:cs typeface="宋体"/>
              </a:rPr>
              <a:t>式中物理量的单位全部为国际单位制单位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46075">
              <a:lnSpc>
                <a:spcPct val="100000"/>
              </a:lnSpc>
              <a:spcBef>
                <a:spcPts val="95"/>
              </a:spcBef>
            </a:pPr>
            <a:r>
              <a:rPr dirty="0"/>
              <a:t>二、磁场对运动电荷的作用</a:t>
            </a:r>
            <a:r>
              <a:rPr dirty="0" spc="-5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3168395" y="2005583"/>
            <a:ext cx="3092450" cy="474345"/>
          </a:xfrm>
          <a:custGeom>
            <a:avLst/>
            <a:gdLst/>
            <a:ahLst/>
            <a:cxnLst/>
            <a:rect l="l" t="t" r="r" b="b"/>
            <a:pathLst>
              <a:path w="3092450" h="474344">
                <a:moveTo>
                  <a:pt x="3014472" y="473964"/>
                </a:moveTo>
                <a:lnTo>
                  <a:pt x="77724" y="473964"/>
                </a:lnTo>
                <a:lnTo>
                  <a:pt x="47311" y="467916"/>
                </a:lnTo>
                <a:lnTo>
                  <a:pt x="22445" y="451013"/>
                </a:lnTo>
                <a:lnTo>
                  <a:pt x="5788" y="425774"/>
                </a:lnTo>
                <a:lnTo>
                  <a:pt x="0" y="394716"/>
                </a:lnTo>
                <a:lnTo>
                  <a:pt x="0" y="79248"/>
                </a:lnTo>
                <a:lnTo>
                  <a:pt x="5788" y="48482"/>
                </a:lnTo>
                <a:lnTo>
                  <a:pt x="22445" y="23341"/>
                </a:lnTo>
                <a:lnTo>
                  <a:pt x="47311" y="6340"/>
                </a:lnTo>
                <a:lnTo>
                  <a:pt x="77724" y="0"/>
                </a:lnTo>
                <a:lnTo>
                  <a:pt x="3014472" y="0"/>
                </a:lnTo>
                <a:lnTo>
                  <a:pt x="3044857" y="6340"/>
                </a:lnTo>
                <a:lnTo>
                  <a:pt x="3069717" y="23341"/>
                </a:lnTo>
                <a:lnTo>
                  <a:pt x="3086384" y="48482"/>
                </a:lnTo>
                <a:lnTo>
                  <a:pt x="3092196" y="79248"/>
                </a:lnTo>
                <a:lnTo>
                  <a:pt x="3092196" y="394716"/>
                </a:lnTo>
                <a:lnTo>
                  <a:pt x="3086384" y="425774"/>
                </a:lnTo>
                <a:lnTo>
                  <a:pt x="3069717" y="451013"/>
                </a:lnTo>
                <a:lnTo>
                  <a:pt x="3044857" y="467916"/>
                </a:lnTo>
                <a:lnTo>
                  <a:pt x="3014472" y="47396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63595" y="1856232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6"/>
                </a:moveTo>
                <a:lnTo>
                  <a:pt x="0" y="411480"/>
                </a:lnTo>
                <a:lnTo>
                  <a:pt x="347472" y="0"/>
                </a:lnTo>
                <a:lnTo>
                  <a:pt x="760476" y="348996"/>
                </a:lnTo>
                <a:lnTo>
                  <a:pt x="411480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117024" y="2013394"/>
            <a:ext cx="2606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74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2	洛伦兹力的大小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115" rIns="0" bIns="0" rtlCol="0" vert="horz">
            <a:spAutoFit/>
          </a:bodyPr>
          <a:lstStyle/>
          <a:p>
            <a:pPr marL="711200">
              <a:lnSpc>
                <a:spcPct val="100000"/>
              </a:lnSpc>
              <a:spcBef>
                <a:spcPts val="1245"/>
              </a:spcBef>
            </a:pPr>
            <a:r>
              <a:rPr dirty="0">
                <a:latin typeface="宋体"/>
                <a:cs typeface="宋体"/>
              </a:rPr>
              <a:t>例</a:t>
            </a:r>
            <a:r>
              <a:rPr dirty="0" spc="-459">
                <a:latin typeface="宋体"/>
                <a:cs typeface="宋体"/>
              </a:rPr>
              <a:t> </a:t>
            </a:r>
            <a:r>
              <a:rPr dirty="0">
                <a:latin typeface="宋体"/>
                <a:cs typeface="宋体"/>
              </a:rPr>
              <a:t>电子速率</a:t>
            </a:r>
            <a:r>
              <a:rPr dirty="0" spc="-315"/>
              <a:t>� </a:t>
            </a:r>
            <a:r>
              <a:rPr dirty="0"/>
              <a:t>=</a:t>
            </a:r>
            <a:r>
              <a:rPr dirty="0" spc="95"/>
              <a:t> </a:t>
            </a:r>
            <a:r>
              <a:rPr dirty="0" spc="-5"/>
              <a:t>3.0 </a:t>
            </a:r>
            <a:r>
              <a:rPr dirty="0">
                <a:latin typeface="宋体"/>
                <a:cs typeface="宋体"/>
              </a:rPr>
              <a:t>×</a:t>
            </a:r>
            <a:r>
              <a:rPr dirty="0" spc="-505">
                <a:latin typeface="宋体"/>
                <a:cs typeface="宋体"/>
              </a:rPr>
              <a:t> </a:t>
            </a:r>
            <a:r>
              <a:rPr dirty="0" spc="10"/>
              <a:t>10</a:t>
            </a:r>
            <a:r>
              <a:rPr dirty="0" baseline="27777" sz="1950" spc="15"/>
              <a:t>6</a:t>
            </a:r>
            <a:r>
              <a:rPr dirty="0" sz="1800" spc="10">
                <a:latin typeface="Times New Roman"/>
                <a:cs typeface="Times New Roman"/>
              </a:rPr>
              <a:t>m/s,</a:t>
            </a:r>
            <a:r>
              <a:rPr dirty="0" sz="1800">
                <a:latin typeface="宋体"/>
                <a:cs typeface="宋体"/>
              </a:rPr>
              <a:t>沿着与磁场垂直的方向射入</a:t>
            </a:r>
            <a:r>
              <a:rPr dirty="0" sz="1800" spc="-10"/>
              <a:t>�</a:t>
            </a:r>
            <a:r>
              <a:rPr dirty="0" sz="1800" spc="95"/>
              <a:t> </a:t>
            </a:r>
            <a:r>
              <a:rPr dirty="0" sz="1800"/>
              <a:t>=</a:t>
            </a:r>
            <a:r>
              <a:rPr dirty="0" sz="1800" spc="90"/>
              <a:t> </a:t>
            </a:r>
            <a:r>
              <a:rPr dirty="0" sz="1800" spc="-420"/>
              <a:t>0.10�</a:t>
            </a:r>
            <a:endParaRPr sz="1800">
              <a:latin typeface="宋体"/>
              <a:cs typeface="宋体"/>
            </a:endParaRPr>
          </a:p>
          <a:p>
            <a:pPr marL="444500">
              <a:lnSpc>
                <a:spcPct val="100000"/>
              </a:lnSpc>
              <a:spcBef>
                <a:spcPts val="1145"/>
              </a:spcBef>
            </a:pPr>
            <a:r>
              <a:rPr dirty="0">
                <a:latin typeface="宋体"/>
                <a:cs typeface="宋体"/>
              </a:rPr>
              <a:t>的匀强磁场中，它受到的洛伦兹力多大？</a:t>
            </a:r>
          </a:p>
          <a:p>
            <a:pPr marL="431800">
              <a:lnSpc>
                <a:spcPct val="100000"/>
              </a:lnSpc>
              <a:spcBef>
                <a:spcPts val="35"/>
              </a:spcBef>
            </a:pPr>
            <a:endParaRPr sz="1950">
              <a:latin typeface="Times New Roman"/>
              <a:cs typeface="Times New Roman"/>
            </a:endParaRPr>
          </a:p>
          <a:p>
            <a:pPr marL="709930">
              <a:lnSpc>
                <a:spcPct val="100000"/>
              </a:lnSpc>
            </a:pPr>
            <a:r>
              <a:rPr dirty="0">
                <a:latin typeface="宋体"/>
                <a:cs typeface="宋体"/>
              </a:rPr>
              <a:t>分析：电子电量</a:t>
            </a:r>
            <a:r>
              <a:rPr dirty="0" spc="-445"/>
              <a:t>�</a:t>
            </a:r>
            <a:r>
              <a:rPr dirty="0" spc="100"/>
              <a:t> </a:t>
            </a:r>
            <a:r>
              <a:rPr dirty="0"/>
              <a:t>=</a:t>
            </a:r>
            <a:r>
              <a:rPr dirty="0" spc="100"/>
              <a:t> </a:t>
            </a:r>
            <a:r>
              <a:rPr dirty="0" spc="-5"/>
              <a:t>1.6</a:t>
            </a:r>
            <a:r>
              <a:rPr dirty="0" spc="5"/>
              <a:t> </a:t>
            </a:r>
            <a:r>
              <a:rPr dirty="0">
                <a:latin typeface="宋体"/>
                <a:cs typeface="宋体"/>
              </a:rPr>
              <a:t>×</a:t>
            </a:r>
            <a:r>
              <a:rPr dirty="0" spc="-500">
                <a:latin typeface="宋体"/>
                <a:cs typeface="宋体"/>
              </a:rPr>
              <a:t> </a:t>
            </a:r>
            <a:r>
              <a:rPr dirty="0" spc="5"/>
              <a:t>10</a:t>
            </a:r>
            <a:r>
              <a:rPr dirty="0" baseline="27777" sz="1950" spc="7"/>
              <a:t>−19</a:t>
            </a:r>
            <a:r>
              <a:rPr dirty="0" sz="1800" spc="5"/>
              <a:t>C</a:t>
            </a:r>
            <a:endParaRPr sz="1800">
              <a:latin typeface="宋体"/>
              <a:cs typeface="宋体"/>
            </a:endParaRPr>
          </a:p>
          <a:p>
            <a:pPr marL="431800"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709930">
              <a:lnSpc>
                <a:spcPct val="100000"/>
              </a:lnSpc>
            </a:pPr>
            <a:r>
              <a:rPr dirty="0">
                <a:latin typeface="宋体"/>
                <a:cs typeface="宋体"/>
              </a:rPr>
              <a:t>电子所受的洛伦兹力</a:t>
            </a:r>
            <a:r>
              <a:rPr dirty="0" spc="-130"/>
              <a:t>�</a:t>
            </a:r>
            <a:r>
              <a:rPr dirty="0" spc="95"/>
              <a:t> </a:t>
            </a:r>
            <a:r>
              <a:rPr dirty="0"/>
              <a:t>=</a:t>
            </a:r>
            <a:r>
              <a:rPr dirty="0" spc="100"/>
              <a:t> </a:t>
            </a:r>
            <a:r>
              <a:rPr dirty="0" spc="-254"/>
              <a:t>���</a:t>
            </a:r>
            <a:r>
              <a:rPr dirty="0" spc="-185"/>
              <a:t> </a:t>
            </a:r>
            <a:r>
              <a:rPr dirty="0"/>
              <a:t>=</a:t>
            </a:r>
            <a:r>
              <a:rPr dirty="0" spc="95"/>
              <a:t> </a:t>
            </a:r>
            <a:r>
              <a:rPr dirty="0" spc="-5"/>
              <a:t>4.8</a:t>
            </a:r>
            <a:r>
              <a:rPr dirty="0" spc="5"/>
              <a:t> </a:t>
            </a:r>
            <a:r>
              <a:rPr dirty="0">
                <a:latin typeface="宋体"/>
                <a:cs typeface="宋体"/>
              </a:rPr>
              <a:t>×</a:t>
            </a:r>
            <a:r>
              <a:rPr dirty="0" spc="-505">
                <a:latin typeface="宋体"/>
                <a:cs typeface="宋体"/>
              </a:rPr>
              <a:t> </a:t>
            </a:r>
            <a:r>
              <a:rPr dirty="0" spc="15"/>
              <a:t>10</a:t>
            </a:r>
            <a:r>
              <a:rPr dirty="0" baseline="27777" sz="1950" spc="22"/>
              <a:t>−14</a:t>
            </a:r>
            <a:r>
              <a:rPr dirty="0" sz="1800" spc="15"/>
              <a:t>N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8239" y="1247749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课堂小结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71116" y="1609344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70760" y="1831848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18079" y="1842293"/>
            <a:ext cx="7334884" cy="0"/>
          </a:xfrm>
          <a:custGeom>
            <a:avLst/>
            <a:gdLst/>
            <a:ahLst/>
            <a:cxnLst/>
            <a:rect l="l" t="t" r="r" b="b"/>
            <a:pathLst>
              <a:path w="7334884" h="0">
                <a:moveTo>
                  <a:pt x="0" y="0"/>
                </a:moveTo>
                <a:lnTo>
                  <a:pt x="7334427" y="0"/>
                </a:lnTo>
              </a:path>
            </a:pathLst>
          </a:custGeom>
          <a:ln w="5665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30295" y="2243327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4"/>
                </a:moveTo>
                <a:lnTo>
                  <a:pt x="79248" y="473964"/>
                </a:lnTo>
                <a:lnTo>
                  <a:pt x="48247" y="468082"/>
                </a:lnTo>
                <a:lnTo>
                  <a:pt x="23026" y="451394"/>
                </a:lnTo>
                <a:lnTo>
                  <a:pt x="6104" y="426559"/>
                </a:lnTo>
                <a:lnTo>
                  <a:pt x="0" y="396240"/>
                </a:lnTo>
                <a:lnTo>
                  <a:pt x="0" y="79248"/>
                </a:lnTo>
                <a:lnTo>
                  <a:pt x="6104" y="48625"/>
                </a:lnTo>
                <a:lnTo>
                  <a:pt x="23026" y="23531"/>
                </a:lnTo>
                <a:lnTo>
                  <a:pt x="48247" y="6483"/>
                </a:lnTo>
                <a:lnTo>
                  <a:pt x="79248" y="0"/>
                </a:lnTo>
                <a:lnTo>
                  <a:pt x="3014472" y="0"/>
                </a:lnTo>
                <a:lnTo>
                  <a:pt x="3045174" y="6483"/>
                </a:lnTo>
                <a:lnTo>
                  <a:pt x="3070298" y="23531"/>
                </a:lnTo>
                <a:lnTo>
                  <a:pt x="3087320" y="48625"/>
                </a:lnTo>
                <a:lnTo>
                  <a:pt x="3093720" y="79248"/>
                </a:lnTo>
                <a:lnTo>
                  <a:pt x="3093720" y="396240"/>
                </a:lnTo>
                <a:lnTo>
                  <a:pt x="3087320" y="426559"/>
                </a:lnTo>
                <a:lnTo>
                  <a:pt x="3070298" y="451394"/>
                </a:lnTo>
                <a:lnTo>
                  <a:pt x="3045174" y="468082"/>
                </a:lnTo>
                <a:lnTo>
                  <a:pt x="3014472" y="47396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25495" y="2093976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6"/>
                </a:moveTo>
                <a:lnTo>
                  <a:pt x="0" y="411480"/>
                </a:lnTo>
                <a:lnTo>
                  <a:pt x="348996" y="0"/>
                </a:lnTo>
                <a:lnTo>
                  <a:pt x="760476" y="348996"/>
                </a:lnTo>
                <a:lnTo>
                  <a:pt x="411480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30295" y="3712464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5">
                <a:moveTo>
                  <a:pt x="3014472" y="473963"/>
                </a:moveTo>
                <a:lnTo>
                  <a:pt x="79248" y="473963"/>
                </a:lnTo>
                <a:lnTo>
                  <a:pt x="48247" y="467630"/>
                </a:lnTo>
                <a:lnTo>
                  <a:pt x="23026" y="450632"/>
                </a:lnTo>
                <a:lnTo>
                  <a:pt x="6104" y="425488"/>
                </a:lnTo>
                <a:lnTo>
                  <a:pt x="0" y="394715"/>
                </a:lnTo>
                <a:lnTo>
                  <a:pt x="0" y="79248"/>
                </a:lnTo>
                <a:lnTo>
                  <a:pt x="6104" y="48197"/>
                </a:lnTo>
                <a:lnTo>
                  <a:pt x="23026" y="22960"/>
                </a:lnTo>
                <a:lnTo>
                  <a:pt x="48247" y="6054"/>
                </a:lnTo>
                <a:lnTo>
                  <a:pt x="79248" y="0"/>
                </a:lnTo>
                <a:lnTo>
                  <a:pt x="3014472" y="0"/>
                </a:lnTo>
                <a:lnTo>
                  <a:pt x="3045174" y="6054"/>
                </a:lnTo>
                <a:lnTo>
                  <a:pt x="3070298" y="22960"/>
                </a:lnTo>
                <a:lnTo>
                  <a:pt x="3087320" y="48197"/>
                </a:lnTo>
                <a:lnTo>
                  <a:pt x="3093720" y="79248"/>
                </a:lnTo>
                <a:lnTo>
                  <a:pt x="3093720" y="394715"/>
                </a:lnTo>
                <a:lnTo>
                  <a:pt x="3087320" y="425488"/>
                </a:lnTo>
                <a:lnTo>
                  <a:pt x="3070298" y="450632"/>
                </a:lnTo>
                <a:lnTo>
                  <a:pt x="3045174" y="4676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25495" y="3563111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29">
                <a:moveTo>
                  <a:pt x="411480" y="760476"/>
                </a:moveTo>
                <a:lnTo>
                  <a:pt x="0" y="411479"/>
                </a:lnTo>
                <a:lnTo>
                  <a:pt x="348996" y="0"/>
                </a:lnTo>
                <a:lnTo>
                  <a:pt x="760476" y="347472"/>
                </a:lnTo>
                <a:lnTo>
                  <a:pt x="411480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875521" y="2251392"/>
            <a:ext cx="5511800" cy="2607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4210" indent="-447675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664210" algn="l"/>
                <a:tab pos="664845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洛伦兹力的方向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"/>
              <a:buAutoNum type="arabicPlain"/>
            </a:pPr>
            <a:endParaRPr sz="3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宋体"/>
                <a:cs typeface="宋体"/>
              </a:rPr>
              <a:t>既垂直于磁场方向，也垂直于速度方向；满足左手定则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Times New Roman"/>
              <a:cs typeface="Times New Roman"/>
            </a:endParaRPr>
          </a:p>
          <a:p>
            <a:pPr marL="664210" indent="-447675">
              <a:lnSpc>
                <a:spcPct val="100000"/>
              </a:lnSpc>
              <a:buAutoNum type="arabicPlain" startAt="2"/>
              <a:tabLst>
                <a:tab pos="664210" algn="l"/>
                <a:tab pos="664845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洛伦兹力的大小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Times New Roman"/>
              <a:cs typeface="Times New Roman"/>
            </a:endParaRPr>
          </a:p>
          <a:p>
            <a:pPr algn="ctr"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F=qvBsinθ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2025-04-19T16:20:29Z</dcterms:created>
  <dcterms:modified xsi:type="dcterms:W3CDTF">2025-04-19T16:20:29Z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2025-03-25T00:00:00Z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2025-04-19T00:00:00Z</vt:filetime>
  </property>
</Properties>
</file>