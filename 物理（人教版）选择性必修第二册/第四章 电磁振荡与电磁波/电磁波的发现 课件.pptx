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52715" y="1311021"/>
            <a:ext cx="9886569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47194" y="3627461"/>
            <a:ext cx="1269235" cy="622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929006" y="2189301"/>
            <a:ext cx="9262982" cy="2256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234111" y="4583182"/>
            <a:ext cx="8957945" cy="0"/>
          </a:xfrm>
          <a:custGeom>
            <a:avLst/>
            <a:gdLst/>
            <a:ahLst/>
            <a:cxnLst/>
            <a:rect l="l" t="t" r="r" b="b"/>
            <a:pathLst>
              <a:path w="8957945" h="0">
                <a:moveTo>
                  <a:pt x="0" y="0"/>
                </a:moveTo>
                <a:lnTo>
                  <a:pt x="8957889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9913" y="432526"/>
            <a:ext cx="9805670" cy="146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4397" y="1871218"/>
            <a:ext cx="6691630" cy="2269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7627" y="2525712"/>
            <a:ext cx="33788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微软雅黑"/>
                <a:cs typeface="微软雅黑"/>
              </a:rPr>
              <a:t>电磁波的发</a:t>
            </a:r>
            <a:r>
              <a:rPr dirty="0" sz="4400" spc="5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0202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主讲人：姜连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国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9232" y="3478212"/>
            <a:ext cx="3846829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 年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r>
              <a:rPr dirty="0" sz="2400" spc="-65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选修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3-4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1196" y="1922818"/>
            <a:ext cx="41186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latin typeface="华文楷体"/>
                <a:cs typeface="华文楷体"/>
              </a:rPr>
              <a:t>1.</a:t>
            </a:r>
            <a:r>
              <a:rPr dirty="0" sz="3600" spc="-70" b="1">
                <a:latin typeface="华文楷体"/>
                <a:cs typeface="华文楷体"/>
              </a:rPr>
              <a:t> </a:t>
            </a:r>
            <a:r>
              <a:rPr dirty="0" sz="3600" b="1">
                <a:latin typeface="华文楷体"/>
                <a:cs typeface="华文楷体"/>
              </a:rPr>
              <a:t>类比：神奇的相</a:t>
            </a:r>
            <a:r>
              <a:rPr dirty="0" sz="3600" spc="-5" b="1">
                <a:latin typeface="华文楷体"/>
                <a:cs typeface="华文楷体"/>
              </a:rPr>
              <a:t>似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8551" y="3128517"/>
            <a:ext cx="582295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latin typeface="宋体"/>
                <a:cs typeface="宋体"/>
              </a:rPr>
              <a:t>机械波</a:t>
            </a:r>
            <a:r>
              <a:rPr dirty="0" sz="6000" spc="-60" b="1">
                <a:latin typeface="宋体"/>
                <a:cs typeface="宋体"/>
              </a:rPr>
              <a:t> </a:t>
            </a:r>
            <a:r>
              <a:rPr dirty="0" sz="6000" b="1">
                <a:latin typeface="Times New Roman"/>
                <a:cs typeface="Times New Roman"/>
              </a:rPr>
              <a:t>&amp;</a:t>
            </a:r>
            <a:r>
              <a:rPr dirty="0" sz="6000" spc="-30" b="1">
                <a:latin typeface="Times New Roman"/>
                <a:cs typeface="Times New Roman"/>
              </a:rPr>
              <a:t> </a:t>
            </a:r>
            <a:r>
              <a:rPr dirty="0" sz="6000" b="1">
                <a:latin typeface="宋体"/>
                <a:cs typeface="宋体"/>
              </a:rPr>
              <a:t>电磁</a:t>
            </a:r>
            <a:r>
              <a:rPr dirty="0" sz="6000" spc="-25" b="1">
                <a:latin typeface="宋体"/>
                <a:cs typeface="宋体"/>
              </a:rPr>
              <a:t>波</a:t>
            </a:r>
            <a:endParaRPr sz="6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19476" y="822744"/>
            <a:ext cx="307594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一、学史回</a:t>
            </a:r>
            <a:r>
              <a:rPr dirty="0" sz="4000" spc="-10"/>
              <a:t>顾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2972" y="776770"/>
            <a:ext cx="60648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8165" algn="l"/>
              </a:tabLst>
            </a:pPr>
            <a:r>
              <a:rPr dirty="0" sz="3600" b="1">
                <a:latin typeface="华文楷体"/>
                <a:cs typeface="华文楷体"/>
              </a:rPr>
              <a:t>2</a:t>
            </a:r>
            <a:r>
              <a:rPr dirty="0" sz="3600" spc="-5" b="1">
                <a:latin typeface="华文楷体"/>
                <a:cs typeface="华文楷体"/>
              </a:rPr>
              <a:t>.</a:t>
            </a:r>
            <a:r>
              <a:rPr dirty="0" sz="3600" b="1">
                <a:latin typeface="华文楷体"/>
                <a:cs typeface="华文楷体"/>
              </a:rPr>
              <a:t>	</a:t>
            </a:r>
            <a:r>
              <a:rPr dirty="0" sz="3600" b="1">
                <a:latin typeface="华文楷体"/>
                <a:cs typeface="华文楷体"/>
              </a:rPr>
              <a:t>历史的幸运：感人的忘年</a:t>
            </a:r>
            <a:r>
              <a:rPr dirty="0" sz="3600" spc="-5" b="1">
                <a:latin typeface="华文楷体"/>
                <a:cs typeface="华文楷体"/>
              </a:rPr>
              <a:t>交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43582" y="2226309"/>
            <a:ext cx="658812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latin typeface="宋体"/>
                <a:cs typeface="宋体"/>
              </a:rPr>
              <a:t>法拉第</a:t>
            </a:r>
            <a:r>
              <a:rPr dirty="0" sz="6000" spc="-60" b="1">
                <a:latin typeface="宋体"/>
                <a:cs typeface="宋体"/>
              </a:rPr>
              <a:t> </a:t>
            </a:r>
            <a:r>
              <a:rPr dirty="0" sz="6000" b="1">
                <a:latin typeface="Times New Roman"/>
                <a:cs typeface="Times New Roman"/>
              </a:rPr>
              <a:t>&amp;</a:t>
            </a:r>
            <a:r>
              <a:rPr dirty="0" sz="6000" spc="-30" b="1">
                <a:latin typeface="Times New Roman"/>
                <a:cs typeface="Times New Roman"/>
              </a:rPr>
              <a:t> </a:t>
            </a:r>
            <a:r>
              <a:rPr dirty="0" sz="6000" b="1">
                <a:latin typeface="宋体"/>
                <a:cs typeface="宋体"/>
              </a:rPr>
              <a:t>麦克斯</a:t>
            </a:r>
            <a:r>
              <a:rPr dirty="0" sz="6000" spc="-25" b="1">
                <a:latin typeface="宋体"/>
                <a:cs typeface="宋体"/>
              </a:rPr>
              <a:t>韦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5864" y="149644"/>
            <a:ext cx="561911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二、麦克斯韦电磁场理</a:t>
            </a:r>
            <a:r>
              <a:rPr dirty="0" sz="4000" spc="-10"/>
              <a:t>论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700646" y="4779378"/>
            <a:ext cx="165353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逻辑推理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45148" y="2348102"/>
            <a:ext cx="3270131" cy="21720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30347" y="4010823"/>
            <a:ext cx="2455545" cy="13081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83690">
              <a:lnSpc>
                <a:spcPct val="100000"/>
              </a:lnSpc>
              <a:spcBef>
                <a:spcPts val="135"/>
              </a:spcBef>
            </a:pPr>
            <a:r>
              <a:rPr dirty="0" sz="2900" spc="-1265" b="1" i="1">
                <a:latin typeface="华文楷体"/>
                <a:cs typeface="华文楷体"/>
              </a:rPr>
              <a:t>导</a:t>
            </a:r>
            <a:r>
              <a:rPr dirty="0" sz="2900" spc="-110" b="1" i="1">
                <a:latin typeface="华文楷体"/>
                <a:cs typeface="华文楷体"/>
              </a:rPr>
              <a:t>线</a:t>
            </a:r>
            <a:endParaRPr sz="29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740"/>
              </a:spcBef>
            </a:pPr>
            <a:r>
              <a:rPr dirty="0" sz="3200" b="1">
                <a:latin typeface="华文楷体"/>
                <a:cs typeface="华文楷体"/>
              </a:rPr>
              <a:t>实验基础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15910" y="2368930"/>
            <a:ext cx="2720368" cy="21720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3954" y="797232"/>
            <a:ext cx="7218680" cy="2075814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25"/>
              </a:spcBef>
              <a:tabLst>
                <a:tab pos="703580" algn="l"/>
              </a:tabLst>
            </a:pPr>
            <a:r>
              <a:rPr dirty="0" sz="3600" spc="160" b="1">
                <a:latin typeface="思源黑体 CN"/>
                <a:cs typeface="思源黑体 CN"/>
              </a:rPr>
              <a:t>1.	</a:t>
            </a:r>
            <a:r>
              <a:rPr dirty="0" sz="3600" spc="15" b="1">
                <a:latin typeface="思源黑体 CN"/>
                <a:cs typeface="思源黑体 CN"/>
              </a:rPr>
              <a:t>两个基本观点</a:t>
            </a:r>
            <a:r>
              <a:rPr dirty="0" sz="3600" b="1">
                <a:latin typeface="思源黑体 CN"/>
                <a:cs typeface="思源黑体 CN"/>
              </a:rPr>
              <a:t>：</a:t>
            </a:r>
            <a:endParaRPr sz="3600">
              <a:latin typeface="思源黑体 CN"/>
              <a:cs typeface="思源黑体 CN"/>
            </a:endParaRPr>
          </a:p>
          <a:p>
            <a:pPr marL="964565">
              <a:lnSpc>
                <a:spcPct val="100000"/>
              </a:lnSpc>
              <a:spcBef>
                <a:spcPts val="1490"/>
              </a:spcBef>
            </a:pPr>
            <a:r>
              <a:rPr dirty="0" sz="2800" spc="-70" b="1">
                <a:latin typeface="思源黑体 CN"/>
                <a:cs typeface="思源黑体 CN"/>
              </a:rPr>
              <a:t>（1）</a:t>
            </a:r>
            <a:r>
              <a:rPr dirty="0" sz="2800" spc="15" b="1">
                <a:latin typeface="思源黑体 CN"/>
                <a:cs typeface="思源黑体 CN"/>
              </a:rPr>
              <a:t>变化的磁场产生电场</a:t>
            </a:r>
            <a:r>
              <a:rPr dirty="0" sz="2800" spc="-5" b="1">
                <a:latin typeface="思源黑体 CN"/>
                <a:cs typeface="思源黑体 CN"/>
              </a:rPr>
              <a:t>。</a:t>
            </a:r>
            <a:endParaRPr sz="2800">
              <a:latin typeface="思源黑体 CN"/>
              <a:cs typeface="思源黑体 CN"/>
            </a:endParaRPr>
          </a:p>
          <a:p>
            <a:pPr marL="2767965">
              <a:lnSpc>
                <a:spcPct val="100000"/>
              </a:lnSpc>
              <a:spcBef>
                <a:spcPts val="1685"/>
              </a:spcBef>
              <a:tabLst>
                <a:tab pos="6968490" algn="l"/>
              </a:tabLst>
            </a:pPr>
            <a:r>
              <a:rPr dirty="0" sz="2800" spc="-5" b="1" i="1">
                <a:latin typeface="Times New Roman"/>
                <a:cs typeface="Times New Roman"/>
              </a:rPr>
              <a:t>B</a:t>
            </a:r>
            <a:r>
              <a:rPr dirty="0" sz="2800" spc="-5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1628" y="4065687"/>
            <a:ext cx="884555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00" spc="-1265" b="1" i="1">
                <a:latin typeface="华文楷体"/>
                <a:cs typeface="华文楷体"/>
              </a:rPr>
              <a:t>电</a:t>
            </a:r>
            <a:r>
              <a:rPr dirty="0" sz="2900" spc="-110" b="1" i="1">
                <a:latin typeface="华文楷体"/>
                <a:cs typeface="华文楷体"/>
              </a:rPr>
              <a:t>场</a:t>
            </a:r>
            <a:endParaRPr sz="29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8244" y="2992882"/>
            <a:ext cx="18561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华文楷体"/>
                <a:cs typeface="华文楷体"/>
              </a:rPr>
              <a:t>逆向推</a:t>
            </a:r>
            <a:r>
              <a:rPr dirty="0" sz="3600" spc="-5" b="1">
                <a:latin typeface="华文楷体"/>
                <a:cs typeface="华文楷体"/>
              </a:rPr>
              <a:t>断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2715" y="1311021"/>
            <a:ext cx="57340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华文楷体"/>
                <a:cs typeface="华文楷体"/>
              </a:rPr>
              <a:t>（</a:t>
            </a:r>
            <a:r>
              <a:rPr dirty="0" sz="3600" b="1">
                <a:latin typeface="华文楷体"/>
                <a:cs typeface="华文楷体"/>
              </a:rPr>
              <a:t>2</a:t>
            </a:r>
            <a:r>
              <a:rPr dirty="0" sz="3600" b="1">
                <a:latin typeface="华文楷体"/>
                <a:cs typeface="华文楷体"/>
              </a:rPr>
              <a:t>）变化的电场产生磁场</a:t>
            </a:r>
            <a:r>
              <a:rPr dirty="0" sz="3600" spc="-5" b="1">
                <a:latin typeface="华文楷体"/>
                <a:cs typeface="华文楷体"/>
              </a:rPr>
              <a:t>。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25667" y="2188464"/>
            <a:ext cx="3076956" cy="3031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5739" y="577100"/>
            <a:ext cx="59766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6FC0"/>
                </a:solidFill>
              </a:rPr>
              <a:t>对麦克斯韦电磁场理论的理</a:t>
            </a:r>
            <a:r>
              <a:rPr dirty="0" sz="3600" spc="-5">
                <a:solidFill>
                  <a:srgbClr val="006FC0"/>
                </a:solidFill>
              </a:rPr>
              <a:t>解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475739" y="1329575"/>
            <a:ext cx="7117715" cy="4763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2595" indent="-429895">
              <a:lnSpc>
                <a:spcPct val="100000"/>
              </a:lnSpc>
              <a:spcBef>
                <a:spcPts val="105"/>
              </a:spcBef>
              <a:buSzPct val="96875"/>
              <a:buAutoNum type="arabicParenBoth"/>
              <a:tabLst>
                <a:tab pos="443230" algn="l"/>
              </a:tabLst>
            </a:pPr>
            <a:r>
              <a:rPr dirty="0" sz="3200" b="1">
                <a:latin typeface="华文楷体"/>
                <a:cs typeface="华文楷体"/>
              </a:rPr>
              <a:t>变化的磁场产生电场</a:t>
            </a:r>
            <a:endParaRPr sz="32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b="1">
                <a:latin typeface="华文楷体"/>
                <a:cs typeface="华文楷体"/>
              </a:rPr>
              <a:t>①恒定的磁场不产生电</a:t>
            </a:r>
            <a:r>
              <a:rPr dirty="0" sz="2400" spc="-5" b="1">
                <a:latin typeface="华文楷体"/>
                <a:cs typeface="华文楷体"/>
              </a:rPr>
              <a:t>场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华文楷体"/>
                <a:cs typeface="华文楷体"/>
              </a:rPr>
              <a:t>②均匀变化的磁场产生恒定的电场</a:t>
            </a:r>
            <a:r>
              <a:rPr dirty="0" sz="2400" spc="-5" b="1">
                <a:latin typeface="华文楷体"/>
                <a:cs typeface="华文楷体"/>
              </a:rPr>
              <a:t>.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华文楷体"/>
                <a:cs typeface="华文楷体"/>
              </a:rPr>
              <a:t>③非均匀变化的磁场产生变化的电场</a:t>
            </a:r>
            <a:r>
              <a:rPr dirty="0" sz="2400" spc="-5" b="1">
                <a:latin typeface="华文楷体"/>
                <a:cs typeface="华文楷体"/>
              </a:rPr>
              <a:t>.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华文楷体"/>
                <a:cs typeface="华文楷体"/>
              </a:rPr>
              <a:t>④周期性变化的磁场产生同频率的周期性变化的电场</a:t>
            </a:r>
            <a:r>
              <a:rPr dirty="0" sz="2400" spc="-5" b="1">
                <a:latin typeface="华文楷体"/>
                <a:cs typeface="华文楷体"/>
              </a:rPr>
              <a:t>.</a:t>
            </a:r>
            <a:endParaRPr sz="2400">
              <a:latin typeface="华文楷体"/>
              <a:cs typeface="华文楷体"/>
            </a:endParaRPr>
          </a:p>
          <a:p>
            <a:pPr marL="442595" indent="-429895">
              <a:lnSpc>
                <a:spcPct val="100000"/>
              </a:lnSpc>
              <a:spcBef>
                <a:spcPts val="1105"/>
              </a:spcBef>
              <a:buSzPct val="96875"/>
              <a:buAutoNum type="arabicParenBoth" startAt="2"/>
              <a:tabLst>
                <a:tab pos="443230" algn="l"/>
              </a:tabLst>
            </a:pPr>
            <a:r>
              <a:rPr dirty="0" sz="3200" b="1">
                <a:latin typeface="华文楷体"/>
                <a:cs typeface="华文楷体"/>
              </a:rPr>
              <a:t>变化的电场产生磁场</a:t>
            </a:r>
            <a:endParaRPr sz="32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b="1">
                <a:latin typeface="华文楷体"/>
                <a:cs typeface="华文楷体"/>
              </a:rPr>
              <a:t>①恒定的电场不产生磁</a:t>
            </a:r>
            <a:r>
              <a:rPr dirty="0" sz="2400" spc="-5" b="1">
                <a:latin typeface="华文楷体"/>
                <a:cs typeface="华文楷体"/>
              </a:rPr>
              <a:t>场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华文楷体"/>
                <a:cs typeface="华文楷体"/>
              </a:rPr>
              <a:t>②均匀变化的电场产生恒定的磁场</a:t>
            </a:r>
            <a:r>
              <a:rPr dirty="0" sz="2400" spc="-5" b="1">
                <a:latin typeface="华文楷体"/>
                <a:cs typeface="华文楷体"/>
              </a:rPr>
              <a:t>.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华文楷体"/>
                <a:cs typeface="华文楷体"/>
              </a:rPr>
              <a:t>③非均匀变化的电场产生变化的磁场</a:t>
            </a:r>
            <a:r>
              <a:rPr dirty="0" sz="2400" spc="-5" b="1">
                <a:latin typeface="华文楷体"/>
                <a:cs typeface="华文楷体"/>
              </a:rPr>
              <a:t>.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华文楷体"/>
                <a:cs typeface="华文楷体"/>
              </a:rPr>
              <a:t>④周期性变化的电场产生同频率的周期性变化的磁场</a:t>
            </a:r>
            <a:r>
              <a:rPr dirty="0" sz="2400" spc="-5" b="1">
                <a:latin typeface="华文楷体"/>
                <a:cs typeface="华文楷体"/>
              </a:rPr>
              <a:t>.</a:t>
            </a:r>
            <a:endParaRPr sz="2400">
              <a:latin typeface="华文楷体"/>
              <a:cs typeface="华文楷体"/>
            </a:endParaRPr>
          </a:p>
          <a:p>
            <a:pPr marL="651510">
              <a:lnSpc>
                <a:spcPct val="100000"/>
              </a:lnSpc>
              <a:spcBef>
                <a:spcPts val="965"/>
              </a:spcBef>
              <a:tabLst>
                <a:tab pos="3471545" algn="l"/>
              </a:tabLst>
            </a:pPr>
            <a:r>
              <a:rPr dirty="0" sz="3600" b="1">
                <a:latin typeface="华文楷体"/>
                <a:cs typeface="华文楷体"/>
              </a:rPr>
              <a:t>数学推</a:t>
            </a:r>
            <a:r>
              <a:rPr dirty="0" sz="3600" spc="-5" b="1">
                <a:latin typeface="华文楷体"/>
                <a:cs typeface="华文楷体"/>
              </a:rPr>
              <a:t>算	</a:t>
            </a:r>
            <a:r>
              <a:rPr dirty="0" sz="3600" b="1">
                <a:solidFill>
                  <a:srgbClr val="000099"/>
                </a:solidFill>
                <a:latin typeface="华文楷体"/>
                <a:cs typeface="华文楷体"/>
              </a:rPr>
              <a:t>麦克斯韦方程</a:t>
            </a:r>
            <a:r>
              <a:rPr dirty="0" sz="3600" spc="-5" b="1">
                <a:solidFill>
                  <a:srgbClr val="000099"/>
                </a:solidFill>
                <a:latin typeface="华文楷体"/>
                <a:cs typeface="华文楷体"/>
              </a:rPr>
              <a:t>组</a:t>
            </a:r>
            <a:endParaRPr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057186"/>
            <a:ext cx="32029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/>
              <a:t>3.</a:t>
            </a:r>
            <a:r>
              <a:rPr dirty="0" sz="3600" spc="-75"/>
              <a:t> </a:t>
            </a:r>
            <a:r>
              <a:rPr dirty="0" sz="3600"/>
              <a:t>电磁波的预</a:t>
            </a:r>
            <a:r>
              <a:rPr dirty="0" sz="3600" spc="-5"/>
              <a:t>言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224788" y="1927148"/>
            <a:ext cx="8576945" cy="3524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4620" marR="951865" indent="71628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变化的电场和变化的磁场交替产生，由近</a:t>
            </a:r>
            <a:r>
              <a:rPr dirty="0" sz="2800" spc="-5" b="1">
                <a:latin typeface="华文楷体"/>
                <a:cs typeface="华文楷体"/>
              </a:rPr>
              <a:t>及 </a:t>
            </a:r>
            <a:r>
              <a:rPr dirty="0" sz="2800" b="1">
                <a:latin typeface="华文楷体"/>
                <a:cs typeface="华文楷体"/>
              </a:rPr>
              <a:t>远地向周围传播，形成电磁波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3600" b="1">
                <a:latin typeface="华文楷体"/>
                <a:cs typeface="华文楷体"/>
              </a:rPr>
              <a:t>电磁波的特性</a:t>
            </a:r>
            <a:r>
              <a:rPr dirty="0" sz="3600" spc="-5" b="1">
                <a:latin typeface="华文楷体"/>
                <a:cs typeface="华文楷体"/>
              </a:rPr>
              <a:t>：</a:t>
            </a:r>
            <a:endParaRPr sz="36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400" b="1">
                <a:latin typeface="华文楷体"/>
                <a:cs typeface="华文楷体"/>
              </a:rPr>
              <a:t>传播不需要介</a:t>
            </a:r>
            <a:r>
              <a:rPr dirty="0" sz="2400" spc="-5" b="1">
                <a:latin typeface="华文楷体"/>
                <a:cs typeface="华文楷体"/>
              </a:rPr>
              <a:t>质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ts val="3590"/>
              </a:lnSpc>
              <a:spcBef>
                <a:spcPts val="235"/>
              </a:spcBef>
            </a:pPr>
            <a:r>
              <a:rPr dirty="0" sz="2400" b="1">
                <a:latin typeface="华文楷体"/>
                <a:cs typeface="华文楷体"/>
              </a:rPr>
              <a:t>电场强度与磁感应强度垂直，且都与波的传播方向垂直，是横</a:t>
            </a:r>
            <a:r>
              <a:rPr dirty="0" sz="2400" spc="-5" b="1">
                <a:latin typeface="华文楷体"/>
                <a:cs typeface="华文楷体"/>
              </a:rPr>
              <a:t>波 </a:t>
            </a:r>
            <a:r>
              <a:rPr dirty="0" sz="2400" b="1">
                <a:latin typeface="华文楷体"/>
                <a:cs typeface="华文楷体"/>
              </a:rPr>
              <a:t>传播速度等于光</a:t>
            </a:r>
            <a:r>
              <a:rPr dirty="0" sz="2400" spc="-5" b="1">
                <a:latin typeface="华文楷体"/>
                <a:cs typeface="华文楷体"/>
              </a:rPr>
              <a:t>速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400" b="1">
                <a:latin typeface="华文楷体"/>
                <a:cs typeface="华文楷体"/>
              </a:rPr>
              <a:t>光是一种电磁</a:t>
            </a:r>
            <a:r>
              <a:rPr dirty="0" sz="2400" spc="-5" b="1">
                <a:latin typeface="华文楷体"/>
                <a:cs typeface="华文楷体"/>
              </a:rPr>
              <a:t>波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364" y="930655"/>
            <a:ext cx="414527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电磁波形成示意图</a:t>
            </a:r>
            <a:r>
              <a:rPr dirty="0" sz="3600" spc="-5"/>
              <a:t>：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452274" y="3272472"/>
            <a:ext cx="673100" cy="171450"/>
          </a:xfrm>
          <a:custGeom>
            <a:avLst/>
            <a:gdLst/>
            <a:ahLst/>
            <a:cxnLst/>
            <a:rect l="l" t="t" r="r" b="b"/>
            <a:pathLst>
              <a:path w="673100" h="171450">
                <a:moveTo>
                  <a:pt x="501650" y="171450"/>
                </a:moveTo>
                <a:lnTo>
                  <a:pt x="501650" y="0"/>
                </a:lnTo>
                <a:lnTo>
                  <a:pt x="615950" y="57150"/>
                </a:lnTo>
                <a:lnTo>
                  <a:pt x="544512" y="57150"/>
                </a:lnTo>
                <a:lnTo>
                  <a:pt x="544512" y="114300"/>
                </a:lnTo>
                <a:lnTo>
                  <a:pt x="615950" y="114300"/>
                </a:lnTo>
                <a:lnTo>
                  <a:pt x="501650" y="171450"/>
                </a:lnTo>
                <a:close/>
              </a:path>
              <a:path w="673100" h="171450">
                <a:moveTo>
                  <a:pt x="50165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501650" y="57150"/>
                </a:lnTo>
                <a:lnTo>
                  <a:pt x="501650" y="114300"/>
                </a:lnTo>
                <a:close/>
              </a:path>
              <a:path w="673100" h="171450">
                <a:moveTo>
                  <a:pt x="615950" y="114300"/>
                </a:moveTo>
                <a:lnTo>
                  <a:pt x="544512" y="114300"/>
                </a:lnTo>
                <a:lnTo>
                  <a:pt x="544512" y="57150"/>
                </a:lnTo>
                <a:lnTo>
                  <a:pt x="615950" y="57150"/>
                </a:lnTo>
                <a:lnTo>
                  <a:pt x="673100" y="85725"/>
                </a:lnTo>
                <a:lnTo>
                  <a:pt x="615950" y="11430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69250" y="2555239"/>
            <a:ext cx="534035" cy="171450"/>
          </a:xfrm>
          <a:custGeom>
            <a:avLst/>
            <a:gdLst/>
            <a:ahLst/>
            <a:cxnLst/>
            <a:rect l="l" t="t" r="r" b="b"/>
            <a:pathLst>
              <a:path w="534034" h="171450">
                <a:moveTo>
                  <a:pt x="477490" y="114706"/>
                </a:moveTo>
                <a:lnTo>
                  <a:pt x="404647" y="114706"/>
                </a:lnTo>
                <a:lnTo>
                  <a:pt x="405193" y="57556"/>
                </a:lnTo>
                <a:lnTo>
                  <a:pt x="362335" y="57143"/>
                </a:lnTo>
                <a:lnTo>
                  <a:pt x="362889" y="0"/>
                </a:lnTo>
                <a:lnTo>
                  <a:pt x="533501" y="87376"/>
                </a:lnTo>
                <a:lnTo>
                  <a:pt x="477490" y="114706"/>
                </a:lnTo>
                <a:close/>
              </a:path>
              <a:path w="534034" h="171450">
                <a:moveTo>
                  <a:pt x="361780" y="114293"/>
                </a:moveTo>
                <a:lnTo>
                  <a:pt x="0" y="110807"/>
                </a:lnTo>
                <a:lnTo>
                  <a:pt x="546" y="53657"/>
                </a:lnTo>
                <a:lnTo>
                  <a:pt x="362335" y="57143"/>
                </a:lnTo>
                <a:lnTo>
                  <a:pt x="361780" y="114293"/>
                </a:lnTo>
                <a:close/>
              </a:path>
              <a:path w="534034" h="171450">
                <a:moveTo>
                  <a:pt x="404647" y="114706"/>
                </a:moveTo>
                <a:lnTo>
                  <a:pt x="361780" y="114293"/>
                </a:lnTo>
                <a:lnTo>
                  <a:pt x="362335" y="57143"/>
                </a:lnTo>
                <a:lnTo>
                  <a:pt x="405193" y="57556"/>
                </a:lnTo>
                <a:lnTo>
                  <a:pt x="404647" y="114706"/>
                </a:lnTo>
                <a:close/>
              </a:path>
              <a:path w="534034" h="171450">
                <a:moveTo>
                  <a:pt x="361226" y="171437"/>
                </a:moveTo>
                <a:lnTo>
                  <a:pt x="361780" y="114293"/>
                </a:lnTo>
                <a:lnTo>
                  <a:pt x="477490" y="114706"/>
                </a:lnTo>
                <a:lnTo>
                  <a:pt x="361226" y="171437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50801" y="2560751"/>
            <a:ext cx="675005" cy="171450"/>
          </a:xfrm>
          <a:custGeom>
            <a:avLst/>
            <a:gdLst/>
            <a:ahLst/>
            <a:cxnLst/>
            <a:rect l="l" t="t" r="r" b="b"/>
            <a:pathLst>
              <a:path w="675004" h="171450">
                <a:moveTo>
                  <a:pt x="507796" y="171221"/>
                </a:moveTo>
                <a:lnTo>
                  <a:pt x="504837" y="114146"/>
                </a:lnTo>
                <a:lnTo>
                  <a:pt x="547649" y="111925"/>
                </a:lnTo>
                <a:lnTo>
                  <a:pt x="544677" y="54851"/>
                </a:lnTo>
                <a:lnTo>
                  <a:pt x="501763" y="54851"/>
                </a:lnTo>
                <a:lnTo>
                  <a:pt x="498919" y="0"/>
                </a:lnTo>
                <a:lnTo>
                  <a:pt x="624502" y="54851"/>
                </a:lnTo>
                <a:lnTo>
                  <a:pt x="544677" y="54851"/>
                </a:lnTo>
                <a:lnTo>
                  <a:pt x="501878" y="57071"/>
                </a:lnTo>
                <a:lnTo>
                  <a:pt x="629586" y="57071"/>
                </a:lnTo>
                <a:lnTo>
                  <a:pt x="674573" y="76720"/>
                </a:lnTo>
                <a:lnTo>
                  <a:pt x="507796" y="171221"/>
                </a:lnTo>
                <a:close/>
              </a:path>
              <a:path w="675004" h="171450">
                <a:moveTo>
                  <a:pt x="504837" y="114146"/>
                </a:moveTo>
                <a:lnTo>
                  <a:pt x="501878" y="57071"/>
                </a:lnTo>
                <a:lnTo>
                  <a:pt x="544677" y="54851"/>
                </a:lnTo>
                <a:lnTo>
                  <a:pt x="547649" y="111925"/>
                </a:lnTo>
                <a:lnTo>
                  <a:pt x="504837" y="114146"/>
                </a:lnTo>
                <a:close/>
              </a:path>
              <a:path w="675004" h="171450">
                <a:moveTo>
                  <a:pt x="2959" y="140182"/>
                </a:moveTo>
                <a:lnTo>
                  <a:pt x="0" y="83108"/>
                </a:lnTo>
                <a:lnTo>
                  <a:pt x="501878" y="57071"/>
                </a:lnTo>
                <a:lnTo>
                  <a:pt x="504837" y="114146"/>
                </a:lnTo>
                <a:lnTo>
                  <a:pt x="2959" y="140182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6448" y="2656332"/>
            <a:ext cx="1408430" cy="702945"/>
          </a:xfrm>
          <a:prstGeom prst="rect">
            <a:avLst/>
          </a:prstGeom>
          <a:solidFill>
            <a:srgbClr val="FFCCFF"/>
          </a:solidFill>
        </p:spPr>
        <p:txBody>
          <a:bodyPr wrap="square" lIns="0" tIns="31750" rIns="0" bIns="0" rtlCol="0" vert="horz">
            <a:spAutoFit/>
          </a:bodyPr>
          <a:lstStyle/>
          <a:p>
            <a:pPr marL="192405" marR="186690">
              <a:lnSpc>
                <a:spcPct val="100000"/>
              </a:lnSpc>
              <a:spcBef>
                <a:spcPts val="250"/>
              </a:spcBef>
            </a:pPr>
            <a:r>
              <a:rPr dirty="0" sz="2000" spc="10" b="1">
                <a:latin typeface="思源黑体 CN"/>
                <a:cs typeface="思源黑体 CN"/>
              </a:rPr>
              <a:t>非均匀</a:t>
            </a:r>
            <a:r>
              <a:rPr dirty="0" sz="2000" b="1">
                <a:latin typeface="思源黑体 CN"/>
                <a:cs typeface="思源黑体 CN"/>
              </a:rPr>
              <a:t>变 </a:t>
            </a:r>
            <a:r>
              <a:rPr dirty="0" sz="2000" spc="10" b="1">
                <a:latin typeface="思源黑体 CN"/>
                <a:cs typeface="思源黑体 CN"/>
              </a:rPr>
              <a:t>化的磁</a:t>
            </a:r>
            <a:r>
              <a:rPr dirty="0" sz="2000" spc="5" b="1">
                <a:latin typeface="思源黑体 CN"/>
                <a:cs typeface="思源黑体 CN"/>
              </a:rPr>
              <a:t>场</a:t>
            </a:r>
            <a:endParaRPr sz="2000">
              <a:latin typeface="思源黑体 CN"/>
              <a:cs typeface="思源黑体 C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22183" y="2912110"/>
            <a:ext cx="673100" cy="171450"/>
          </a:xfrm>
          <a:custGeom>
            <a:avLst/>
            <a:gdLst/>
            <a:ahLst/>
            <a:cxnLst/>
            <a:rect l="l" t="t" r="r" b="b"/>
            <a:pathLst>
              <a:path w="673100" h="171450">
                <a:moveTo>
                  <a:pt x="501650" y="171450"/>
                </a:moveTo>
                <a:lnTo>
                  <a:pt x="501650" y="0"/>
                </a:lnTo>
                <a:lnTo>
                  <a:pt x="615950" y="57150"/>
                </a:lnTo>
                <a:lnTo>
                  <a:pt x="544512" y="57150"/>
                </a:lnTo>
                <a:lnTo>
                  <a:pt x="544512" y="114300"/>
                </a:lnTo>
                <a:lnTo>
                  <a:pt x="615950" y="114300"/>
                </a:lnTo>
                <a:lnTo>
                  <a:pt x="501650" y="171450"/>
                </a:lnTo>
                <a:close/>
              </a:path>
              <a:path w="673100" h="171450">
                <a:moveTo>
                  <a:pt x="50165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501650" y="57150"/>
                </a:lnTo>
                <a:lnTo>
                  <a:pt x="501650" y="114300"/>
                </a:lnTo>
                <a:close/>
              </a:path>
              <a:path w="673100" h="171450">
                <a:moveTo>
                  <a:pt x="615950" y="114300"/>
                </a:moveTo>
                <a:lnTo>
                  <a:pt x="544512" y="114300"/>
                </a:lnTo>
                <a:lnTo>
                  <a:pt x="544512" y="57150"/>
                </a:lnTo>
                <a:lnTo>
                  <a:pt x="615950" y="57150"/>
                </a:lnTo>
                <a:lnTo>
                  <a:pt x="673100" y="85725"/>
                </a:lnTo>
                <a:lnTo>
                  <a:pt x="615950" y="11430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57272" y="2528316"/>
            <a:ext cx="492759" cy="1295400"/>
          </a:xfrm>
          <a:custGeom>
            <a:avLst/>
            <a:gdLst/>
            <a:ahLst/>
            <a:cxnLst/>
            <a:rect l="l" t="t" r="r" b="b"/>
            <a:pathLst>
              <a:path w="492760" h="1295400">
                <a:moveTo>
                  <a:pt x="0" y="0"/>
                </a:moveTo>
                <a:lnTo>
                  <a:pt x="492251" y="0"/>
                </a:lnTo>
                <a:lnTo>
                  <a:pt x="492251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71254" y="2653029"/>
            <a:ext cx="280035" cy="1045844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2000" spc="5" b="1">
                <a:latin typeface="思源黑体 CN"/>
                <a:cs typeface="思源黑体 CN"/>
              </a:rPr>
              <a:t>变化电</a:t>
            </a:r>
            <a:r>
              <a:rPr dirty="0" sz="2000" b="1">
                <a:latin typeface="思源黑体 CN"/>
                <a:cs typeface="思源黑体 CN"/>
              </a:rPr>
              <a:t>场</a:t>
            </a:r>
            <a:endParaRPr sz="2000">
              <a:latin typeface="思源黑体 CN"/>
              <a:cs typeface="思源黑体 C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44278" y="2637472"/>
            <a:ext cx="495300" cy="313690"/>
          </a:xfrm>
          <a:custGeom>
            <a:avLst/>
            <a:gdLst/>
            <a:ahLst/>
            <a:cxnLst/>
            <a:rect l="l" t="t" r="r" b="b"/>
            <a:pathLst>
              <a:path w="495300" h="313689">
                <a:moveTo>
                  <a:pt x="333552" y="63863"/>
                </a:moveTo>
                <a:lnTo>
                  <a:pt x="304101" y="14884"/>
                </a:lnTo>
                <a:lnTo>
                  <a:pt x="495211" y="0"/>
                </a:lnTo>
                <a:lnTo>
                  <a:pt x="468687" y="41770"/>
                </a:lnTo>
                <a:lnTo>
                  <a:pt x="370293" y="41770"/>
                </a:lnTo>
                <a:lnTo>
                  <a:pt x="333552" y="63863"/>
                </a:lnTo>
                <a:close/>
              </a:path>
              <a:path w="495300" h="313689">
                <a:moveTo>
                  <a:pt x="363002" y="112840"/>
                </a:moveTo>
                <a:lnTo>
                  <a:pt x="333552" y="63863"/>
                </a:lnTo>
                <a:lnTo>
                  <a:pt x="370293" y="41770"/>
                </a:lnTo>
                <a:lnTo>
                  <a:pt x="399732" y="90754"/>
                </a:lnTo>
                <a:lnTo>
                  <a:pt x="363002" y="112840"/>
                </a:lnTo>
                <a:close/>
              </a:path>
              <a:path w="495300" h="313689">
                <a:moveTo>
                  <a:pt x="392455" y="161823"/>
                </a:moveTo>
                <a:lnTo>
                  <a:pt x="363002" y="112840"/>
                </a:lnTo>
                <a:lnTo>
                  <a:pt x="399732" y="90754"/>
                </a:lnTo>
                <a:lnTo>
                  <a:pt x="370293" y="41770"/>
                </a:lnTo>
                <a:lnTo>
                  <a:pt x="468687" y="41770"/>
                </a:lnTo>
                <a:lnTo>
                  <a:pt x="392455" y="161823"/>
                </a:lnTo>
                <a:close/>
              </a:path>
              <a:path w="495300" h="313689">
                <a:moveTo>
                  <a:pt x="29451" y="313410"/>
                </a:moveTo>
                <a:lnTo>
                  <a:pt x="0" y="264439"/>
                </a:lnTo>
                <a:lnTo>
                  <a:pt x="333552" y="63863"/>
                </a:lnTo>
                <a:lnTo>
                  <a:pt x="363002" y="112840"/>
                </a:lnTo>
                <a:lnTo>
                  <a:pt x="29451" y="31341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528059" y="2456688"/>
            <a:ext cx="1922145" cy="396240"/>
          </a:xfrm>
          <a:prstGeom prst="rect">
            <a:avLst/>
          </a:prstGeom>
          <a:solidFill>
            <a:srgbClr val="FFCCFF"/>
          </a:solidFill>
        </p:spPr>
        <p:txBody>
          <a:bodyPr wrap="square" lIns="0" tIns="31115" rIns="0" bIns="0" rtlCol="0" vert="horz">
            <a:spAutoFit/>
          </a:bodyPr>
          <a:lstStyle/>
          <a:p>
            <a:pPr marL="193675">
              <a:lnSpc>
                <a:spcPct val="100000"/>
              </a:lnSpc>
              <a:spcBef>
                <a:spcPts val="245"/>
              </a:spcBef>
            </a:pPr>
            <a:r>
              <a:rPr dirty="0" sz="2000" spc="10" b="1">
                <a:latin typeface="思源黑体 CN"/>
                <a:cs typeface="思源黑体 CN"/>
              </a:rPr>
              <a:t>若是均匀变</a:t>
            </a:r>
            <a:r>
              <a:rPr dirty="0" sz="2000" spc="5" b="1">
                <a:latin typeface="思源黑体 CN"/>
                <a:cs typeface="思源黑体 CN"/>
              </a:rPr>
              <a:t>化</a:t>
            </a:r>
            <a:endParaRPr sz="2000">
              <a:latin typeface="思源黑体 CN"/>
              <a:cs typeface="思源黑体 C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24955" y="2456688"/>
            <a:ext cx="1605280" cy="396240"/>
          </a:xfrm>
          <a:prstGeom prst="rect">
            <a:avLst/>
          </a:prstGeom>
          <a:solidFill>
            <a:srgbClr val="FFCCFF"/>
          </a:solidFill>
        </p:spPr>
        <p:txBody>
          <a:bodyPr wrap="square" lIns="0" tIns="31115" rIns="0" bIns="0" rtlCol="0" vert="horz">
            <a:spAutoFit/>
          </a:bodyPr>
          <a:lstStyle/>
          <a:p>
            <a:pPr marL="291465">
              <a:lnSpc>
                <a:spcPct val="100000"/>
              </a:lnSpc>
              <a:spcBef>
                <a:spcPts val="245"/>
              </a:spcBef>
            </a:pPr>
            <a:r>
              <a:rPr dirty="0" sz="2000" spc="10" b="1">
                <a:latin typeface="思源黑体 CN"/>
                <a:cs typeface="思源黑体 CN"/>
              </a:rPr>
              <a:t>稳定磁</a:t>
            </a:r>
            <a:r>
              <a:rPr dirty="0" sz="2000" spc="5" b="1">
                <a:latin typeface="思源黑体 CN"/>
                <a:cs typeface="思源黑体 CN"/>
              </a:rPr>
              <a:t>场</a:t>
            </a:r>
            <a:endParaRPr sz="2000">
              <a:latin typeface="思源黑体 CN"/>
              <a:cs typeface="思源黑体 C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82000" y="2456688"/>
            <a:ext cx="1274445" cy="396240"/>
          </a:xfrm>
          <a:prstGeom prst="rect">
            <a:avLst/>
          </a:prstGeom>
          <a:solidFill>
            <a:srgbClr val="FFCCFF"/>
          </a:solidFill>
        </p:spPr>
        <p:txBody>
          <a:bodyPr wrap="square" lIns="0" tIns="31115" rIns="0" bIns="0" rtlCol="0" vert="horz">
            <a:spAutoFit/>
          </a:bodyPr>
          <a:lstStyle/>
          <a:p>
            <a:pPr marL="160655">
              <a:lnSpc>
                <a:spcPct val="100000"/>
              </a:lnSpc>
              <a:spcBef>
                <a:spcPts val="245"/>
              </a:spcBef>
            </a:pPr>
            <a:r>
              <a:rPr dirty="0" sz="2000" spc="10" b="1">
                <a:latin typeface="思源黑体 CN"/>
                <a:cs typeface="思源黑体 CN"/>
              </a:rPr>
              <a:t>不再激</a:t>
            </a:r>
            <a:r>
              <a:rPr dirty="0" sz="2000" spc="5" b="1">
                <a:latin typeface="思源黑体 CN"/>
                <a:cs typeface="思源黑体 CN"/>
              </a:rPr>
              <a:t>发</a:t>
            </a:r>
            <a:endParaRPr sz="2000">
              <a:latin typeface="思源黑体 CN"/>
              <a:cs typeface="思源黑体 C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32086" y="3079711"/>
            <a:ext cx="495300" cy="313690"/>
          </a:xfrm>
          <a:custGeom>
            <a:avLst/>
            <a:gdLst/>
            <a:ahLst/>
            <a:cxnLst/>
            <a:rect l="l" t="t" r="r" b="b"/>
            <a:pathLst>
              <a:path w="495300" h="313689">
                <a:moveTo>
                  <a:pt x="333552" y="249546"/>
                </a:moveTo>
                <a:lnTo>
                  <a:pt x="0" y="48971"/>
                </a:lnTo>
                <a:lnTo>
                  <a:pt x="29451" y="0"/>
                </a:lnTo>
                <a:lnTo>
                  <a:pt x="363005" y="200564"/>
                </a:lnTo>
                <a:lnTo>
                  <a:pt x="333552" y="249546"/>
                </a:lnTo>
                <a:close/>
              </a:path>
              <a:path w="495300" h="313689">
                <a:moveTo>
                  <a:pt x="468687" y="271640"/>
                </a:moveTo>
                <a:lnTo>
                  <a:pt x="370293" y="271640"/>
                </a:lnTo>
                <a:lnTo>
                  <a:pt x="399745" y="222656"/>
                </a:lnTo>
                <a:lnTo>
                  <a:pt x="363005" y="200564"/>
                </a:lnTo>
                <a:lnTo>
                  <a:pt x="392455" y="151587"/>
                </a:lnTo>
                <a:lnTo>
                  <a:pt x="468687" y="271640"/>
                </a:lnTo>
                <a:close/>
              </a:path>
              <a:path w="495300" h="313689">
                <a:moveTo>
                  <a:pt x="370293" y="271640"/>
                </a:moveTo>
                <a:lnTo>
                  <a:pt x="333552" y="249546"/>
                </a:lnTo>
                <a:lnTo>
                  <a:pt x="363005" y="200564"/>
                </a:lnTo>
                <a:lnTo>
                  <a:pt x="399745" y="222656"/>
                </a:lnTo>
                <a:lnTo>
                  <a:pt x="370293" y="271640"/>
                </a:lnTo>
                <a:close/>
              </a:path>
              <a:path w="495300" h="313689">
                <a:moveTo>
                  <a:pt x="495211" y="313410"/>
                </a:moveTo>
                <a:lnTo>
                  <a:pt x="304101" y="298526"/>
                </a:lnTo>
                <a:lnTo>
                  <a:pt x="333552" y="249546"/>
                </a:lnTo>
                <a:lnTo>
                  <a:pt x="370293" y="271640"/>
                </a:lnTo>
                <a:lnTo>
                  <a:pt x="468687" y="271640"/>
                </a:lnTo>
                <a:lnTo>
                  <a:pt x="495211" y="31341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540252" y="3177539"/>
            <a:ext cx="1885314" cy="396240"/>
          </a:xfrm>
          <a:prstGeom prst="rect">
            <a:avLst/>
          </a:prstGeom>
          <a:solidFill>
            <a:srgbClr val="FFCCFF"/>
          </a:solidFill>
        </p:spPr>
        <p:txBody>
          <a:bodyPr wrap="square" lIns="0" tIns="31115" rIns="0" bIns="0" rtlCol="0" vert="horz">
            <a:spAutoFit/>
          </a:bodyPr>
          <a:lstStyle/>
          <a:p>
            <a:pPr marL="175895">
              <a:lnSpc>
                <a:spcPct val="100000"/>
              </a:lnSpc>
              <a:spcBef>
                <a:spcPts val="245"/>
              </a:spcBef>
            </a:pPr>
            <a:r>
              <a:rPr dirty="0" sz="2000" spc="10" b="1">
                <a:latin typeface="思源黑体 CN"/>
                <a:cs typeface="思源黑体 CN"/>
              </a:rPr>
              <a:t>若非均匀变</a:t>
            </a:r>
            <a:r>
              <a:rPr dirty="0" sz="2000" spc="5" b="1">
                <a:latin typeface="思源黑体 CN"/>
                <a:cs typeface="思源黑体 CN"/>
              </a:rPr>
              <a:t>化</a:t>
            </a:r>
            <a:endParaRPr sz="2000">
              <a:latin typeface="思源黑体 CN"/>
              <a:cs typeface="思源黑体 C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24955" y="3177539"/>
            <a:ext cx="1632585" cy="396240"/>
          </a:xfrm>
          <a:prstGeom prst="rect">
            <a:avLst/>
          </a:prstGeom>
          <a:solidFill>
            <a:srgbClr val="FFCCFF"/>
          </a:solidFill>
        </p:spPr>
        <p:txBody>
          <a:bodyPr wrap="square" lIns="0" tIns="31115" rIns="0" bIns="0" rtlCol="0" vert="horz">
            <a:spAutoFit/>
          </a:bodyPr>
          <a:lstStyle/>
          <a:p>
            <a:pPr marL="305435">
              <a:lnSpc>
                <a:spcPct val="100000"/>
              </a:lnSpc>
              <a:spcBef>
                <a:spcPts val="245"/>
              </a:spcBef>
            </a:pPr>
            <a:r>
              <a:rPr dirty="0" sz="2000" spc="10" b="1">
                <a:latin typeface="思源黑体 CN"/>
                <a:cs typeface="思源黑体 CN"/>
              </a:rPr>
              <a:t>变化磁</a:t>
            </a:r>
            <a:r>
              <a:rPr dirty="0" sz="2000" spc="5" b="1">
                <a:latin typeface="思源黑体 CN"/>
                <a:cs typeface="思源黑体 CN"/>
              </a:rPr>
              <a:t>场</a:t>
            </a:r>
            <a:endParaRPr sz="2000">
              <a:latin typeface="思源黑体 CN"/>
              <a:cs typeface="思源黑体 C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785684" y="3181007"/>
            <a:ext cx="488950" cy="205104"/>
          </a:xfrm>
          <a:custGeom>
            <a:avLst/>
            <a:gdLst/>
            <a:ahLst/>
            <a:cxnLst/>
            <a:rect l="l" t="t" r="r" b="b"/>
            <a:pathLst>
              <a:path w="488950" h="205104">
                <a:moveTo>
                  <a:pt x="316290" y="54733"/>
                </a:moveTo>
                <a:lnTo>
                  <a:pt x="299834" y="0"/>
                </a:lnTo>
                <a:lnTo>
                  <a:pt x="488708" y="32727"/>
                </a:lnTo>
                <a:lnTo>
                  <a:pt x="478452" y="42392"/>
                </a:lnTo>
                <a:lnTo>
                  <a:pt x="357339" y="42392"/>
                </a:lnTo>
                <a:lnTo>
                  <a:pt x="316290" y="54733"/>
                </a:lnTo>
                <a:close/>
              </a:path>
              <a:path w="488950" h="205104">
                <a:moveTo>
                  <a:pt x="332744" y="109457"/>
                </a:moveTo>
                <a:lnTo>
                  <a:pt x="316290" y="54733"/>
                </a:lnTo>
                <a:lnTo>
                  <a:pt x="357339" y="42392"/>
                </a:lnTo>
                <a:lnTo>
                  <a:pt x="373786" y="97116"/>
                </a:lnTo>
                <a:lnTo>
                  <a:pt x="332744" y="109457"/>
                </a:lnTo>
                <a:close/>
              </a:path>
              <a:path w="488950" h="205104">
                <a:moveTo>
                  <a:pt x="349199" y="164185"/>
                </a:moveTo>
                <a:lnTo>
                  <a:pt x="332744" y="109457"/>
                </a:lnTo>
                <a:lnTo>
                  <a:pt x="373786" y="97116"/>
                </a:lnTo>
                <a:lnTo>
                  <a:pt x="357339" y="42392"/>
                </a:lnTo>
                <a:lnTo>
                  <a:pt x="478452" y="42392"/>
                </a:lnTo>
                <a:lnTo>
                  <a:pt x="349199" y="164185"/>
                </a:lnTo>
                <a:close/>
              </a:path>
              <a:path w="488950" h="205104">
                <a:moveTo>
                  <a:pt x="16446" y="204558"/>
                </a:moveTo>
                <a:lnTo>
                  <a:pt x="0" y="149821"/>
                </a:lnTo>
                <a:lnTo>
                  <a:pt x="316290" y="54733"/>
                </a:lnTo>
                <a:lnTo>
                  <a:pt x="332744" y="109457"/>
                </a:lnTo>
                <a:lnTo>
                  <a:pt x="16446" y="204558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285988" y="3032760"/>
            <a:ext cx="1858010" cy="396240"/>
          </a:xfrm>
          <a:prstGeom prst="rect">
            <a:avLst/>
          </a:prstGeom>
          <a:solidFill>
            <a:srgbClr val="FFCCFF"/>
          </a:solidFill>
        </p:spPr>
        <p:txBody>
          <a:bodyPr wrap="square" lIns="0" tIns="31750" rIns="0" bIns="0" rtlCol="0" vert="horz">
            <a:spAutoFit/>
          </a:bodyPr>
          <a:lstStyle/>
          <a:p>
            <a:pPr marL="162560">
              <a:lnSpc>
                <a:spcPct val="100000"/>
              </a:lnSpc>
              <a:spcBef>
                <a:spcPts val="250"/>
              </a:spcBef>
            </a:pPr>
            <a:r>
              <a:rPr dirty="0" sz="2000" spc="10" b="1">
                <a:latin typeface="思源黑体 CN"/>
                <a:cs typeface="思源黑体 CN"/>
              </a:rPr>
              <a:t>若是均匀变</a:t>
            </a:r>
            <a:r>
              <a:rPr dirty="0" sz="2000" spc="5" b="1">
                <a:latin typeface="思源黑体 CN"/>
                <a:cs typeface="思源黑体 CN"/>
              </a:rPr>
              <a:t>化</a:t>
            </a:r>
            <a:endParaRPr sz="2000">
              <a:latin typeface="思源黑体 CN"/>
              <a:cs typeface="思源黑体 C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390631" y="2862072"/>
            <a:ext cx="196215" cy="355600"/>
          </a:xfrm>
          <a:custGeom>
            <a:avLst/>
            <a:gdLst/>
            <a:ahLst/>
            <a:cxnLst/>
            <a:rect l="l" t="t" r="r" b="b"/>
            <a:pathLst>
              <a:path w="196215" h="355600">
                <a:moveTo>
                  <a:pt x="0" y="252983"/>
                </a:moveTo>
                <a:lnTo>
                  <a:pt x="38100" y="70103"/>
                </a:lnTo>
                <a:lnTo>
                  <a:pt x="190500" y="0"/>
                </a:lnTo>
                <a:lnTo>
                  <a:pt x="146303" y="57911"/>
                </a:lnTo>
                <a:lnTo>
                  <a:pt x="171343" y="98391"/>
                </a:lnTo>
                <a:lnTo>
                  <a:pt x="187912" y="140793"/>
                </a:lnTo>
                <a:lnTo>
                  <a:pt x="195676" y="183737"/>
                </a:lnTo>
                <a:lnTo>
                  <a:pt x="195357" y="193547"/>
                </a:lnTo>
                <a:lnTo>
                  <a:pt x="44196" y="193547"/>
                </a:lnTo>
                <a:lnTo>
                  <a:pt x="0" y="252983"/>
                </a:lnTo>
                <a:close/>
              </a:path>
              <a:path w="196215" h="355600">
                <a:moveTo>
                  <a:pt x="93116" y="355549"/>
                </a:moveTo>
                <a:lnTo>
                  <a:pt x="93393" y="314764"/>
                </a:lnTo>
                <a:lnTo>
                  <a:pt x="85158" y="273353"/>
                </a:lnTo>
                <a:lnTo>
                  <a:pt x="68672" y="232539"/>
                </a:lnTo>
                <a:lnTo>
                  <a:pt x="44196" y="193547"/>
                </a:lnTo>
                <a:lnTo>
                  <a:pt x="195357" y="193547"/>
                </a:lnTo>
                <a:lnTo>
                  <a:pt x="183471" y="265729"/>
                </a:lnTo>
                <a:lnTo>
                  <a:pt x="162839" y="302018"/>
                </a:lnTo>
                <a:lnTo>
                  <a:pt x="131416" y="333594"/>
                </a:lnTo>
                <a:lnTo>
                  <a:pt x="113015" y="345777"/>
                </a:lnTo>
                <a:lnTo>
                  <a:pt x="93116" y="35554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139171" y="3015995"/>
            <a:ext cx="417575" cy="441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136098" y="2849372"/>
            <a:ext cx="461009" cy="523240"/>
          </a:xfrm>
          <a:custGeom>
            <a:avLst/>
            <a:gdLst/>
            <a:ahLst/>
            <a:cxnLst/>
            <a:rect l="l" t="t" r="r" b="b"/>
            <a:pathLst>
              <a:path w="461009" h="523239">
                <a:moveTo>
                  <a:pt x="245643" y="284480"/>
                </a:moveTo>
                <a:lnTo>
                  <a:pt x="289115" y="77469"/>
                </a:lnTo>
                <a:lnTo>
                  <a:pt x="460882" y="0"/>
                </a:lnTo>
                <a:lnTo>
                  <a:pt x="454135" y="8889"/>
                </a:lnTo>
                <a:lnTo>
                  <a:pt x="441947" y="8889"/>
                </a:lnTo>
                <a:lnTo>
                  <a:pt x="431503" y="22807"/>
                </a:lnTo>
                <a:lnTo>
                  <a:pt x="303429" y="82550"/>
                </a:lnTo>
                <a:lnTo>
                  <a:pt x="297941" y="82550"/>
                </a:lnTo>
                <a:lnTo>
                  <a:pt x="295262" y="86360"/>
                </a:lnTo>
                <a:lnTo>
                  <a:pt x="297143" y="86360"/>
                </a:lnTo>
                <a:lnTo>
                  <a:pt x="264013" y="244431"/>
                </a:lnTo>
                <a:lnTo>
                  <a:pt x="250888" y="261619"/>
                </a:lnTo>
                <a:lnTo>
                  <a:pt x="259140" y="266575"/>
                </a:lnTo>
                <a:lnTo>
                  <a:pt x="245643" y="284480"/>
                </a:lnTo>
                <a:close/>
              </a:path>
              <a:path w="461009" h="523239">
                <a:moveTo>
                  <a:pt x="431503" y="22807"/>
                </a:moveTo>
                <a:lnTo>
                  <a:pt x="441947" y="8889"/>
                </a:lnTo>
                <a:lnTo>
                  <a:pt x="447725" y="15239"/>
                </a:lnTo>
                <a:lnTo>
                  <a:pt x="431503" y="22807"/>
                </a:lnTo>
                <a:close/>
              </a:path>
              <a:path w="461009" h="523239">
                <a:moveTo>
                  <a:pt x="451404" y="250189"/>
                </a:moveTo>
                <a:lnTo>
                  <a:pt x="441820" y="250189"/>
                </a:lnTo>
                <a:lnTo>
                  <a:pt x="443344" y="242569"/>
                </a:lnTo>
                <a:lnTo>
                  <a:pt x="444500" y="234950"/>
                </a:lnTo>
                <a:lnTo>
                  <a:pt x="445338" y="227330"/>
                </a:lnTo>
                <a:lnTo>
                  <a:pt x="445858" y="219710"/>
                </a:lnTo>
                <a:lnTo>
                  <a:pt x="445992" y="208280"/>
                </a:lnTo>
                <a:lnTo>
                  <a:pt x="445871" y="203200"/>
                </a:lnTo>
                <a:lnTo>
                  <a:pt x="445490" y="195580"/>
                </a:lnTo>
                <a:lnTo>
                  <a:pt x="444741" y="187960"/>
                </a:lnTo>
                <a:lnTo>
                  <a:pt x="443687" y="180339"/>
                </a:lnTo>
                <a:lnTo>
                  <a:pt x="442315" y="172719"/>
                </a:lnTo>
                <a:lnTo>
                  <a:pt x="440639" y="165100"/>
                </a:lnTo>
                <a:lnTo>
                  <a:pt x="438670" y="157480"/>
                </a:lnTo>
                <a:lnTo>
                  <a:pt x="436384" y="148589"/>
                </a:lnTo>
                <a:lnTo>
                  <a:pt x="433793" y="140969"/>
                </a:lnTo>
                <a:lnTo>
                  <a:pt x="430910" y="133350"/>
                </a:lnTo>
                <a:lnTo>
                  <a:pt x="427735" y="125730"/>
                </a:lnTo>
                <a:lnTo>
                  <a:pt x="424256" y="118110"/>
                </a:lnTo>
                <a:lnTo>
                  <a:pt x="420484" y="110489"/>
                </a:lnTo>
                <a:lnTo>
                  <a:pt x="416420" y="102869"/>
                </a:lnTo>
                <a:lnTo>
                  <a:pt x="412076" y="95250"/>
                </a:lnTo>
                <a:lnTo>
                  <a:pt x="407441" y="87630"/>
                </a:lnTo>
                <a:lnTo>
                  <a:pt x="402513" y="81280"/>
                </a:lnTo>
                <a:lnTo>
                  <a:pt x="395249" y="71119"/>
                </a:lnTo>
                <a:lnTo>
                  <a:pt x="431503" y="22807"/>
                </a:lnTo>
                <a:lnTo>
                  <a:pt x="447725" y="15239"/>
                </a:lnTo>
                <a:lnTo>
                  <a:pt x="441947" y="8889"/>
                </a:lnTo>
                <a:lnTo>
                  <a:pt x="454135" y="8889"/>
                </a:lnTo>
                <a:lnTo>
                  <a:pt x="409797" y="67310"/>
                </a:lnTo>
                <a:lnTo>
                  <a:pt x="405028" y="67310"/>
                </a:lnTo>
                <a:lnTo>
                  <a:pt x="404977" y="73660"/>
                </a:lnTo>
                <a:lnTo>
                  <a:pt x="409473" y="73660"/>
                </a:lnTo>
                <a:lnTo>
                  <a:pt x="410362" y="74930"/>
                </a:lnTo>
                <a:lnTo>
                  <a:pt x="415467" y="82550"/>
                </a:lnTo>
                <a:lnTo>
                  <a:pt x="420268" y="90169"/>
                </a:lnTo>
                <a:lnTo>
                  <a:pt x="424776" y="97789"/>
                </a:lnTo>
                <a:lnTo>
                  <a:pt x="428993" y="106680"/>
                </a:lnTo>
                <a:lnTo>
                  <a:pt x="432904" y="114300"/>
                </a:lnTo>
                <a:lnTo>
                  <a:pt x="436511" y="121919"/>
                </a:lnTo>
                <a:lnTo>
                  <a:pt x="439813" y="129539"/>
                </a:lnTo>
                <a:lnTo>
                  <a:pt x="442810" y="138430"/>
                </a:lnTo>
                <a:lnTo>
                  <a:pt x="445503" y="146050"/>
                </a:lnTo>
                <a:lnTo>
                  <a:pt x="447878" y="154939"/>
                </a:lnTo>
                <a:lnTo>
                  <a:pt x="449948" y="162560"/>
                </a:lnTo>
                <a:lnTo>
                  <a:pt x="451688" y="171450"/>
                </a:lnTo>
                <a:lnTo>
                  <a:pt x="455529" y="213681"/>
                </a:lnTo>
                <a:lnTo>
                  <a:pt x="455358" y="219710"/>
                </a:lnTo>
                <a:lnTo>
                  <a:pt x="454812" y="228600"/>
                </a:lnTo>
                <a:lnTo>
                  <a:pt x="453936" y="236219"/>
                </a:lnTo>
                <a:lnTo>
                  <a:pt x="452716" y="243839"/>
                </a:lnTo>
                <a:lnTo>
                  <a:pt x="451404" y="250189"/>
                </a:lnTo>
                <a:close/>
              </a:path>
              <a:path w="461009" h="523239">
                <a:moveTo>
                  <a:pt x="404977" y="73660"/>
                </a:moveTo>
                <a:lnTo>
                  <a:pt x="405028" y="67310"/>
                </a:lnTo>
                <a:lnTo>
                  <a:pt x="407316" y="70578"/>
                </a:lnTo>
                <a:lnTo>
                  <a:pt x="404977" y="73660"/>
                </a:lnTo>
                <a:close/>
              </a:path>
              <a:path w="461009" h="523239">
                <a:moveTo>
                  <a:pt x="407316" y="70578"/>
                </a:moveTo>
                <a:lnTo>
                  <a:pt x="405028" y="67310"/>
                </a:lnTo>
                <a:lnTo>
                  <a:pt x="409797" y="67310"/>
                </a:lnTo>
                <a:lnTo>
                  <a:pt x="407316" y="70578"/>
                </a:lnTo>
                <a:close/>
              </a:path>
              <a:path w="461009" h="523239">
                <a:moveTo>
                  <a:pt x="409473" y="73660"/>
                </a:moveTo>
                <a:lnTo>
                  <a:pt x="404977" y="73660"/>
                </a:lnTo>
                <a:lnTo>
                  <a:pt x="407316" y="70578"/>
                </a:lnTo>
                <a:lnTo>
                  <a:pt x="409473" y="73660"/>
                </a:lnTo>
                <a:close/>
              </a:path>
              <a:path w="461009" h="523239">
                <a:moveTo>
                  <a:pt x="295262" y="86360"/>
                </a:moveTo>
                <a:lnTo>
                  <a:pt x="297941" y="82550"/>
                </a:lnTo>
                <a:lnTo>
                  <a:pt x="297347" y="85387"/>
                </a:lnTo>
                <a:lnTo>
                  <a:pt x="295262" y="86360"/>
                </a:lnTo>
                <a:close/>
              </a:path>
              <a:path w="461009" h="523239">
                <a:moveTo>
                  <a:pt x="297347" y="85387"/>
                </a:moveTo>
                <a:lnTo>
                  <a:pt x="297941" y="82550"/>
                </a:lnTo>
                <a:lnTo>
                  <a:pt x="303429" y="82550"/>
                </a:lnTo>
                <a:lnTo>
                  <a:pt x="297347" y="85387"/>
                </a:lnTo>
                <a:close/>
              </a:path>
              <a:path w="461009" h="523239">
                <a:moveTo>
                  <a:pt x="297143" y="86360"/>
                </a:moveTo>
                <a:lnTo>
                  <a:pt x="295262" y="86360"/>
                </a:lnTo>
                <a:lnTo>
                  <a:pt x="297347" y="85387"/>
                </a:lnTo>
                <a:lnTo>
                  <a:pt x="297143" y="86360"/>
                </a:lnTo>
                <a:close/>
              </a:path>
              <a:path w="461009" h="523239">
                <a:moveTo>
                  <a:pt x="445503" y="196850"/>
                </a:moveTo>
                <a:lnTo>
                  <a:pt x="445394" y="195580"/>
                </a:lnTo>
                <a:lnTo>
                  <a:pt x="445503" y="196850"/>
                </a:lnTo>
                <a:close/>
              </a:path>
              <a:path w="461009" h="523239">
                <a:moveTo>
                  <a:pt x="259462" y="266148"/>
                </a:moveTo>
                <a:lnTo>
                  <a:pt x="264013" y="244431"/>
                </a:lnTo>
                <a:lnTo>
                  <a:pt x="299377" y="198119"/>
                </a:lnTo>
                <a:lnTo>
                  <a:pt x="307089" y="208280"/>
                </a:lnTo>
                <a:lnTo>
                  <a:pt x="295414" y="208280"/>
                </a:lnTo>
                <a:lnTo>
                  <a:pt x="299013" y="213681"/>
                </a:lnTo>
                <a:lnTo>
                  <a:pt x="259462" y="266148"/>
                </a:lnTo>
                <a:close/>
              </a:path>
              <a:path w="461009" h="523239">
                <a:moveTo>
                  <a:pt x="299013" y="213681"/>
                </a:moveTo>
                <a:lnTo>
                  <a:pt x="295414" y="208280"/>
                </a:lnTo>
                <a:lnTo>
                  <a:pt x="303085" y="208280"/>
                </a:lnTo>
                <a:lnTo>
                  <a:pt x="299013" y="213681"/>
                </a:lnTo>
                <a:close/>
              </a:path>
              <a:path w="461009" h="523239">
                <a:moveTo>
                  <a:pt x="353694" y="347980"/>
                </a:moveTo>
                <a:lnTo>
                  <a:pt x="344169" y="347980"/>
                </a:lnTo>
                <a:lnTo>
                  <a:pt x="344169" y="346710"/>
                </a:lnTo>
                <a:lnTo>
                  <a:pt x="344079" y="342900"/>
                </a:lnTo>
                <a:lnTo>
                  <a:pt x="343966" y="336550"/>
                </a:lnTo>
                <a:lnTo>
                  <a:pt x="343242" y="327660"/>
                </a:lnTo>
                <a:lnTo>
                  <a:pt x="341998" y="317500"/>
                </a:lnTo>
                <a:lnTo>
                  <a:pt x="340245" y="307339"/>
                </a:lnTo>
                <a:lnTo>
                  <a:pt x="337985" y="297180"/>
                </a:lnTo>
                <a:lnTo>
                  <a:pt x="335216" y="287019"/>
                </a:lnTo>
                <a:lnTo>
                  <a:pt x="331939" y="276860"/>
                </a:lnTo>
                <a:lnTo>
                  <a:pt x="328180" y="266700"/>
                </a:lnTo>
                <a:lnTo>
                  <a:pt x="323926" y="256539"/>
                </a:lnTo>
                <a:lnTo>
                  <a:pt x="319176" y="246380"/>
                </a:lnTo>
                <a:lnTo>
                  <a:pt x="313956" y="237489"/>
                </a:lnTo>
                <a:lnTo>
                  <a:pt x="308241" y="227330"/>
                </a:lnTo>
                <a:lnTo>
                  <a:pt x="302069" y="218439"/>
                </a:lnTo>
                <a:lnTo>
                  <a:pt x="299013" y="213681"/>
                </a:lnTo>
                <a:lnTo>
                  <a:pt x="303085" y="208280"/>
                </a:lnTo>
                <a:lnTo>
                  <a:pt x="307089" y="208280"/>
                </a:lnTo>
                <a:lnTo>
                  <a:pt x="327710" y="242569"/>
                </a:lnTo>
                <a:lnTo>
                  <a:pt x="344373" y="284480"/>
                </a:lnTo>
                <a:lnTo>
                  <a:pt x="352729" y="326389"/>
                </a:lnTo>
                <a:lnTo>
                  <a:pt x="353503" y="337819"/>
                </a:lnTo>
                <a:lnTo>
                  <a:pt x="353694" y="347980"/>
                </a:lnTo>
                <a:close/>
              </a:path>
              <a:path w="461009" h="523239">
                <a:moveTo>
                  <a:pt x="259140" y="266575"/>
                </a:moveTo>
                <a:lnTo>
                  <a:pt x="250888" y="261619"/>
                </a:lnTo>
                <a:lnTo>
                  <a:pt x="264013" y="244431"/>
                </a:lnTo>
                <a:lnTo>
                  <a:pt x="259462" y="266148"/>
                </a:lnTo>
                <a:lnTo>
                  <a:pt x="259140" y="266575"/>
                </a:lnTo>
                <a:close/>
              </a:path>
              <a:path w="461009" h="523239">
                <a:moveTo>
                  <a:pt x="439724" y="285750"/>
                </a:moveTo>
                <a:lnTo>
                  <a:pt x="429450" y="285750"/>
                </a:lnTo>
                <a:lnTo>
                  <a:pt x="432676" y="278130"/>
                </a:lnTo>
                <a:lnTo>
                  <a:pt x="435470" y="271780"/>
                </a:lnTo>
                <a:lnTo>
                  <a:pt x="437934" y="264160"/>
                </a:lnTo>
                <a:lnTo>
                  <a:pt x="440067" y="256539"/>
                </a:lnTo>
                <a:lnTo>
                  <a:pt x="441871" y="248919"/>
                </a:lnTo>
                <a:lnTo>
                  <a:pt x="441820" y="250189"/>
                </a:lnTo>
                <a:lnTo>
                  <a:pt x="451404" y="250189"/>
                </a:lnTo>
                <a:lnTo>
                  <a:pt x="441388" y="281939"/>
                </a:lnTo>
                <a:lnTo>
                  <a:pt x="439724" y="285750"/>
                </a:lnTo>
                <a:close/>
              </a:path>
              <a:path w="461009" h="523239">
                <a:moveTo>
                  <a:pt x="259346" y="266700"/>
                </a:moveTo>
                <a:lnTo>
                  <a:pt x="259140" y="266575"/>
                </a:lnTo>
                <a:lnTo>
                  <a:pt x="259462" y="266148"/>
                </a:lnTo>
                <a:lnTo>
                  <a:pt x="259346" y="266700"/>
                </a:lnTo>
                <a:close/>
              </a:path>
              <a:path w="461009" h="523239">
                <a:moveTo>
                  <a:pt x="421208" y="317500"/>
                </a:moveTo>
                <a:lnTo>
                  <a:pt x="413689" y="311150"/>
                </a:lnTo>
                <a:lnTo>
                  <a:pt x="413499" y="311150"/>
                </a:lnTo>
                <a:lnTo>
                  <a:pt x="418134" y="304800"/>
                </a:lnTo>
                <a:lnTo>
                  <a:pt x="422275" y="298450"/>
                </a:lnTo>
                <a:lnTo>
                  <a:pt x="426084" y="292100"/>
                </a:lnTo>
                <a:lnTo>
                  <a:pt x="429552" y="284480"/>
                </a:lnTo>
                <a:lnTo>
                  <a:pt x="429450" y="285750"/>
                </a:lnTo>
                <a:lnTo>
                  <a:pt x="439724" y="285750"/>
                </a:lnTo>
                <a:lnTo>
                  <a:pt x="438061" y="289560"/>
                </a:lnTo>
                <a:lnTo>
                  <a:pt x="434390" y="295910"/>
                </a:lnTo>
                <a:lnTo>
                  <a:pt x="430352" y="303530"/>
                </a:lnTo>
                <a:lnTo>
                  <a:pt x="425945" y="309880"/>
                </a:lnTo>
                <a:lnTo>
                  <a:pt x="421208" y="317500"/>
                </a:lnTo>
                <a:close/>
              </a:path>
              <a:path w="461009" h="523239">
                <a:moveTo>
                  <a:pt x="412303" y="312847"/>
                </a:moveTo>
                <a:lnTo>
                  <a:pt x="413575" y="311150"/>
                </a:lnTo>
                <a:lnTo>
                  <a:pt x="412303" y="312847"/>
                </a:lnTo>
                <a:close/>
              </a:path>
              <a:path w="461009" h="523239">
                <a:moveTo>
                  <a:pt x="380022" y="355926"/>
                </a:moveTo>
                <a:lnTo>
                  <a:pt x="412303" y="312847"/>
                </a:lnTo>
                <a:lnTo>
                  <a:pt x="413689" y="311150"/>
                </a:lnTo>
                <a:lnTo>
                  <a:pt x="421208" y="317500"/>
                </a:lnTo>
                <a:lnTo>
                  <a:pt x="396709" y="342900"/>
                </a:lnTo>
                <a:lnTo>
                  <a:pt x="392785" y="346710"/>
                </a:lnTo>
                <a:lnTo>
                  <a:pt x="384759" y="353060"/>
                </a:lnTo>
                <a:lnTo>
                  <a:pt x="380022" y="355926"/>
                </a:lnTo>
                <a:close/>
              </a:path>
              <a:path w="461009" h="523239">
                <a:moveTo>
                  <a:pt x="410720" y="314960"/>
                </a:moveTo>
                <a:lnTo>
                  <a:pt x="410578" y="314960"/>
                </a:lnTo>
                <a:lnTo>
                  <a:pt x="412303" y="312847"/>
                </a:lnTo>
                <a:lnTo>
                  <a:pt x="410720" y="314960"/>
                </a:lnTo>
                <a:close/>
              </a:path>
              <a:path w="461009" h="523239">
                <a:moveTo>
                  <a:pt x="394542" y="336550"/>
                </a:moveTo>
                <a:lnTo>
                  <a:pt x="390448" y="336550"/>
                </a:lnTo>
                <a:lnTo>
                  <a:pt x="394144" y="332739"/>
                </a:lnTo>
                <a:lnTo>
                  <a:pt x="397636" y="328930"/>
                </a:lnTo>
                <a:lnTo>
                  <a:pt x="401040" y="326389"/>
                </a:lnTo>
                <a:lnTo>
                  <a:pt x="404355" y="322580"/>
                </a:lnTo>
                <a:lnTo>
                  <a:pt x="407555" y="318769"/>
                </a:lnTo>
                <a:lnTo>
                  <a:pt x="410679" y="314960"/>
                </a:lnTo>
                <a:lnTo>
                  <a:pt x="394542" y="336550"/>
                </a:lnTo>
                <a:close/>
              </a:path>
              <a:path w="461009" h="523239">
                <a:moveTo>
                  <a:pt x="323173" y="447039"/>
                </a:moveTo>
                <a:lnTo>
                  <a:pt x="311746" y="447039"/>
                </a:lnTo>
                <a:lnTo>
                  <a:pt x="380022" y="355926"/>
                </a:lnTo>
                <a:lnTo>
                  <a:pt x="384759" y="353060"/>
                </a:lnTo>
                <a:lnTo>
                  <a:pt x="392785" y="346710"/>
                </a:lnTo>
                <a:lnTo>
                  <a:pt x="396709" y="342900"/>
                </a:lnTo>
                <a:lnTo>
                  <a:pt x="400519" y="340360"/>
                </a:lnTo>
                <a:lnTo>
                  <a:pt x="404228" y="336550"/>
                </a:lnTo>
                <a:lnTo>
                  <a:pt x="421208" y="317500"/>
                </a:lnTo>
                <a:lnTo>
                  <a:pt x="323173" y="447039"/>
                </a:lnTo>
                <a:close/>
              </a:path>
              <a:path w="461009" h="523239">
                <a:moveTo>
                  <a:pt x="187121" y="521970"/>
                </a:moveTo>
                <a:lnTo>
                  <a:pt x="143941" y="521970"/>
                </a:lnTo>
                <a:lnTo>
                  <a:pt x="132956" y="520700"/>
                </a:lnTo>
                <a:lnTo>
                  <a:pt x="88849" y="510539"/>
                </a:lnTo>
                <a:lnTo>
                  <a:pt x="34772" y="486410"/>
                </a:lnTo>
                <a:lnTo>
                  <a:pt x="13995" y="472439"/>
                </a:lnTo>
                <a:lnTo>
                  <a:pt x="8877" y="469900"/>
                </a:lnTo>
                <a:lnTo>
                  <a:pt x="0" y="462279"/>
                </a:lnTo>
                <a:lnTo>
                  <a:pt x="107632" y="320039"/>
                </a:lnTo>
                <a:lnTo>
                  <a:pt x="116395" y="326389"/>
                </a:lnTo>
                <a:lnTo>
                  <a:pt x="119650" y="328930"/>
                </a:lnTo>
                <a:lnTo>
                  <a:pt x="112394" y="328930"/>
                </a:lnTo>
                <a:lnTo>
                  <a:pt x="105765" y="330200"/>
                </a:lnTo>
                <a:lnTo>
                  <a:pt x="109382" y="332947"/>
                </a:lnTo>
                <a:lnTo>
                  <a:pt x="15264" y="458470"/>
                </a:lnTo>
                <a:lnTo>
                  <a:pt x="9525" y="458470"/>
                </a:lnTo>
                <a:lnTo>
                  <a:pt x="10502" y="464820"/>
                </a:lnTo>
                <a:lnTo>
                  <a:pt x="19303" y="464820"/>
                </a:lnTo>
                <a:lnTo>
                  <a:pt x="29463" y="471170"/>
                </a:lnTo>
                <a:lnTo>
                  <a:pt x="29298" y="471170"/>
                </a:lnTo>
                <a:lnTo>
                  <a:pt x="39598" y="477520"/>
                </a:lnTo>
                <a:lnTo>
                  <a:pt x="39433" y="477520"/>
                </a:lnTo>
                <a:lnTo>
                  <a:pt x="49872" y="483870"/>
                </a:lnTo>
                <a:lnTo>
                  <a:pt x="49695" y="483870"/>
                </a:lnTo>
                <a:lnTo>
                  <a:pt x="60261" y="488950"/>
                </a:lnTo>
                <a:lnTo>
                  <a:pt x="60083" y="488950"/>
                </a:lnTo>
                <a:lnTo>
                  <a:pt x="70726" y="492760"/>
                </a:lnTo>
                <a:lnTo>
                  <a:pt x="70548" y="492760"/>
                </a:lnTo>
                <a:lnTo>
                  <a:pt x="81279" y="497839"/>
                </a:lnTo>
                <a:lnTo>
                  <a:pt x="81089" y="497839"/>
                </a:lnTo>
                <a:lnTo>
                  <a:pt x="91871" y="501650"/>
                </a:lnTo>
                <a:lnTo>
                  <a:pt x="95288" y="501650"/>
                </a:lnTo>
                <a:lnTo>
                  <a:pt x="102501" y="504189"/>
                </a:lnTo>
                <a:lnTo>
                  <a:pt x="102311" y="504189"/>
                </a:lnTo>
                <a:lnTo>
                  <a:pt x="113144" y="506729"/>
                </a:lnTo>
                <a:lnTo>
                  <a:pt x="112953" y="506729"/>
                </a:lnTo>
                <a:lnTo>
                  <a:pt x="123786" y="509270"/>
                </a:lnTo>
                <a:lnTo>
                  <a:pt x="123583" y="509270"/>
                </a:lnTo>
                <a:lnTo>
                  <a:pt x="134391" y="510539"/>
                </a:lnTo>
                <a:lnTo>
                  <a:pt x="134188" y="510539"/>
                </a:lnTo>
                <a:lnTo>
                  <a:pt x="144970" y="511810"/>
                </a:lnTo>
                <a:lnTo>
                  <a:pt x="144754" y="511810"/>
                </a:lnTo>
                <a:lnTo>
                  <a:pt x="155473" y="513079"/>
                </a:lnTo>
                <a:lnTo>
                  <a:pt x="231402" y="513079"/>
                </a:lnTo>
                <a:lnTo>
                  <a:pt x="228142" y="514350"/>
                </a:lnTo>
                <a:lnTo>
                  <a:pt x="207975" y="519429"/>
                </a:lnTo>
                <a:lnTo>
                  <a:pt x="187121" y="521970"/>
                </a:lnTo>
                <a:close/>
              </a:path>
              <a:path w="461009" h="523239">
                <a:moveTo>
                  <a:pt x="109382" y="332947"/>
                </a:moveTo>
                <a:lnTo>
                  <a:pt x="105765" y="330200"/>
                </a:lnTo>
                <a:lnTo>
                  <a:pt x="112394" y="328930"/>
                </a:lnTo>
                <a:lnTo>
                  <a:pt x="109382" y="332947"/>
                </a:lnTo>
                <a:close/>
              </a:path>
              <a:path w="461009" h="523239">
                <a:moveTo>
                  <a:pt x="278371" y="387350"/>
                </a:moveTo>
                <a:lnTo>
                  <a:pt x="256768" y="387350"/>
                </a:lnTo>
                <a:lnTo>
                  <a:pt x="223837" y="383539"/>
                </a:lnTo>
                <a:lnTo>
                  <a:pt x="168859" y="367030"/>
                </a:lnTo>
                <a:lnTo>
                  <a:pt x="115887" y="337819"/>
                </a:lnTo>
                <a:lnTo>
                  <a:pt x="109382" y="332947"/>
                </a:lnTo>
                <a:lnTo>
                  <a:pt x="112394" y="328930"/>
                </a:lnTo>
                <a:lnTo>
                  <a:pt x="119650" y="328930"/>
                </a:lnTo>
                <a:lnTo>
                  <a:pt x="121323" y="330200"/>
                </a:lnTo>
                <a:lnTo>
                  <a:pt x="121196" y="330200"/>
                </a:lnTo>
                <a:lnTo>
                  <a:pt x="131356" y="336550"/>
                </a:lnTo>
                <a:lnTo>
                  <a:pt x="131190" y="336550"/>
                </a:lnTo>
                <a:lnTo>
                  <a:pt x="141503" y="342900"/>
                </a:lnTo>
                <a:lnTo>
                  <a:pt x="141325" y="342900"/>
                </a:lnTo>
                <a:lnTo>
                  <a:pt x="151777" y="347980"/>
                </a:lnTo>
                <a:lnTo>
                  <a:pt x="151599" y="347980"/>
                </a:lnTo>
                <a:lnTo>
                  <a:pt x="162153" y="353060"/>
                </a:lnTo>
                <a:lnTo>
                  <a:pt x="161975" y="353060"/>
                </a:lnTo>
                <a:lnTo>
                  <a:pt x="172631" y="358139"/>
                </a:lnTo>
                <a:lnTo>
                  <a:pt x="172440" y="358139"/>
                </a:lnTo>
                <a:lnTo>
                  <a:pt x="183172" y="361950"/>
                </a:lnTo>
                <a:lnTo>
                  <a:pt x="182981" y="361950"/>
                </a:lnTo>
                <a:lnTo>
                  <a:pt x="193763" y="365760"/>
                </a:lnTo>
                <a:lnTo>
                  <a:pt x="193573" y="365760"/>
                </a:lnTo>
                <a:lnTo>
                  <a:pt x="204406" y="369569"/>
                </a:lnTo>
                <a:lnTo>
                  <a:pt x="207818" y="369569"/>
                </a:lnTo>
                <a:lnTo>
                  <a:pt x="215049" y="372110"/>
                </a:lnTo>
                <a:lnTo>
                  <a:pt x="214845" y="372110"/>
                </a:lnTo>
                <a:lnTo>
                  <a:pt x="225678" y="373380"/>
                </a:lnTo>
                <a:lnTo>
                  <a:pt x="225475" y="373380"/>
                </a:lnTo>
                <a:lnTo>
                  <a:pt x="236296" y="375919"/>
                </a:lnTo>
                <a:lnTo>
                  <a:pt x="236092" y="375919"/>
                </a:lnTo>
                <a:lnTo>
                  <a:pt x="246862" y="377189"/>
                </a:lnTo>
                <a:lnTo>
                  <a:pt x="257149" y="377189"/>
                </a:lnTo>
                <a:lnTo>
                  <a:pt x="267671" y="378447"/>
                </a:lnTo>
                <a:lnTo>
                  <a:pt x="330047" y="378460"/>
                </a:lnTo>
                <a:lnTo>
                  <a:pt x="309879" y="383539"/>
                </a:lnTo>
                <a:lnTo>
                  <a:pt x="278371" y="387350"/>
                </a:lnTo>
                <a:close/>
              </a:path>
              <a:path w="461009" h="523239">
                <a:moveTo>
                  <a:pt x="387880" y="345439"/>
                </a:moveTo>
                <a:lnTo>
                  <a:pt x="379107" y="345439"/>
                </a:lnTo>
                <a:lnTo>
                  <a:pt x="386930" y="339089"/>
                </a:lnTo>
                <a:lnTo>
                  <a:pt x="386765" y="339089"/>
                </a:lnTo>
                <a:lnTo>
                  <a:pt x="390550" y="335280"/>
                </a:lnTo>
                <a:lnTo>
                  <a:pt x="390448" y="336550"/>
                </a:lnTo>
                <a:lnTo>
                  <a:pt x="394542" y="336550"/>
                </a:lnTo>
                <a:lnTo>
                  <a:pt x="387880" y="345439"/>
                </a:lnTo>
                <a:close/>
              </a:path>
              <a:path w="461009" h="523239">
                <a:moveTo>
                  <a:pt x="343979" y="337819"/>
                </a:moveTo>
                <a:lnTo>
                  <a:pt x="343887" y="336550"/>
                </a:lnTo>
                <a:lnTo>
                  <a:pt x="343979" y="337819"/>
                </a:lnTo>
                <a:close/>
              </a:path>
              <a:path w="461009" h="523239">
                <a:moveTo>
                  <a:pt x="380267" y="355600"/>
                </a:moveTo>
                <a:lnTo>
                  <a:pt x="362927" y="355600"/>
                </a:lnTo>
                <a:lnTo>
                  <a:pt x="371398" y="350519"/>
                </a:lnTo>
                <a:lnTo>
                  <a:pt x="371170" y="350519"/>
                </a:lnTo>
                <a:lnTo>
                  <a:pt x="379336" y="344169"/>
                </a:lnTo>
                <a:lnTo>
                  <a:pt x="379107" y="345439"/>
                </a:lnTo>
                <a:lnTo>
                  <a:pt x="387880" y="345439"/>
                </a:lnTo>
                <a:lnTo>
                  <a:pt x="380267" y="355600"/>
                </a:lnTo>
                <a:close/>
              </a:path>
              <a:path w="461009" h="523239">
                <a:moveTo>
                  <a:pt x="344155" y="347148"/>
                </a:moveTo>
                <a:lnTo>
                  <a:pt x="344147" y="346710"/>
                </a:lnTo>
                <a:lnTo>
                  <a:pt x="344155" y="347148"/>
                </a:lnTo>
                <a:close/>
              </a:path>
              <a:path w="461009" h="523239">
                <a:moveTo>
                  <a:pt x="343202" y="364292"/>
                </a:moveTo>
                <a:lnTo>
                  <a:pt x="343852" y="356869"/>
                </a:lnTo>
                <a:lnTo>
                  <a:pt x="343858" y="355926"/>
                </a:lnTo>
                <a:lnTo>
                  <a:pt x="344155" y="347148"/>
                </a:lnTo>
                <a:lnTo>
                  <a:pt x="344169" y="347980"/>
                </a:lnTo>
                <a:lnTo>
                  <a:pt x="353694" y="347980"/>
                </a:lnTo>
                <a:lnTo>
                  <a:pt x="353352" y="358139"/>
                </a:lnTo>
                <a:lnTo>
                  <a:pt x="353185" y="360015"/>
                </a:lnTo>
                <a:lnTo>
                  <a:pt x="345579" y="363219"/>
                </a:lnTo>
                <a:lnTo>
                  <a:pt x="345820" y="363219"/>
                </a:lnTo>
                <a:lnTo>
                  <a:pt x="343202" y="364292"/>
                </a:lnTo>
                <a:close/>
              </a:path>
              <a:path w="461009" h="523239">
                <a:moveTo>
                  <a:pt x="358635" y="368300"/>
                </a:moveTo>
                <a:lnTo>
                  <a:pt x="352450" y="368300"/>
                </a:lnTo>
                <a:lnTo>
                  <a:pt x="353185" y="360015"/>
                </a:lnTo>
                <a:lnTo>
                  <a:pt x="354622" y="359410"/>
                </a:lnTo>
                <a:lnTo>
                  <a:pt x="354393" y="359410"/>
                </a:lnTo>
                <a:lnTo>
                  <a:pt x="363156" y="354330"/>
                </a:lnTo>
                <a:lnTo>
                  <a:pt x="362927" y="355600"/>
                </a:lnTo>
                <a:lnTo>
                  <a:pt x="380267" y="355600"/>
                </a:lnTo>
                <a:lnTo>
                  <a:pt x="380022" y="355926"/>
                </a:lnTo>
                <a:lnTo>
                  <a:pt x="376364" y="358139"/>
                </a:lnTo>
                <a:lnTo>
                  <a:pt x="367652" y="363219"/>
                </a:lnTo>
                <a:lnTo>
                  <a:pt x="358635" y="368300"/>
                </a:lnTo>
                <a:close/>
              </a:path>
              <a:path w="461009" h="523239">
                <a:moveTo>
                  <a:pt x="352450" y="368300"/>
                </a:moveTo>
                <a:lnTo>
                  <a:pt x="342963" y="367030"/>
                </a:lnTo>
                <a:lnTo>
                  <a:pt x="343202" y="364292"/>
                </a:lnTo>
                <a:lnTo>
                  <a:pt x="345820" y="363219"/>
                </a:lnTo>
                <a:lnTo>
                  <a:pt x="345579" y="363219"/>
                </a:lnTo>
                <a:lnTo>
                  <a:pt x="353185" y="360015"/>
                </a:lnTo>
                <a:lnTo>
                  <a:pt x="352450" y="368300"/>
                </a:lnTo>
                <a:close/>
              </a:path>
              <a:path w="461009" h="523239">
                <a:moveTo>
                  <a:pt x="330047" y="378460"/>
                </a:moveTo>
                <a:lnTo>
                  <a:pt x="267779" y="378460"/>
                </a:lnTo>
                <a:lnTo>
                  <a:pt x="278104" y="377189"/>
                </a:lnTo>
                <a:lnTo>
                  <a:pt x="288074" y="377189"/>
                </a:lnTo>
                <a:lnTo>
                  <a:pt x="298348" y="375919"/>
                </a:lnTo>
                <a:lnTo>
                  <a:pt x="298119" y="375919"/>
                </a:lnTo>
                <a:lnTo>
                  <a:pt x="308241" y="374650"/>
                </a:lnTo>
                <a:lnTo>
                  <a:pt x="308013" y="374650"/>
                </a:lnTo>
                <a:lnTo>
                  <a:pt x="317957" y="372110"/>
                </a:lnTo>
                <a:lnTo>
                  <a:pt x="317715" y="372110"/>
                </a:lnTo>
                <a:lnTo>
                  <a:pt x="327469" y="369569"/>
                </a:lnTo>
                <a:lnTo>
                  <a:pt x="327228" y="369569"/>
                </a:lnTo>
                <a:lnTo>
                  <a:pt x="336765" y="367030"/>
                </a:lnTo>
                <a:lnTo>
                  <a:pt x="336524" y="367030"/>
                </a:lnTo>
                <a:lnTo>
                  <a:pt x="343202" y="364292"/>
                </a:lnTo>
                <a:lnTo>
                  <a:pt x="342963" y="367030"/>
                </a:lnTo>
                <a:lnTo>
                  <a:pt x="352450" y="368300"/>
                </a:lnTo>
                <a:lnTo>
                  <a:pt x="358635" y="368300"/>
                </a:lnTo>
                <a:lnTo>
                  <a:pt x="349351" y="372110"/>
                </a:lnTo>
                <a:lnTo>
                  <a:pt x="339813" y="375919"/>
                </a:lnTo>
                <a:lnTo>
                  <a:pt x="330047" y="378460"/>
                </a:lnTo>
                <a:close/>
              </a:path>
              <a:path w="461009" h="523239">
                <a:moveTo>
                  <a:pt x="207818" y="369569"/>
                </a:moveTo>
                <a:lnTo>
                  <a:pt x="204406" y="369569"/>
                </a:lnTo>
                <a:lnTo>
                  <a:pt x="204203" y="368300"/>
                </a:lnTo>
                <a:lnTo>
                  <a:pt x="207818" y="369569"/>
                </a:lnTo>
                <a:close/>
              </a:path>
              <a:path w="461009" h="523239">
                <a:moveTo>
                  <a:pt x="267779" y="378460"/>
                </a:moveTo>
                <a:lnTo>
                  <a:pt x="267563" y="378460"/>
                </a:lnTo>
                <a:lnTo>
                  <a:pt x="267779" y="378460"/>
                </a:lnTo>
                <a:close/>
              </a:path>
              <a:path w="461009" h="523239">
                <a:moveTo>
                  <a:pt x="304736" y="468629"/>
                </a:moveTo>
                <a:lnTo>
                  <a:pt x="292138" y="468629"/>
                </a:lnTo>
                <a:lnTo>
                  <a:pt x="295744" y="464820"/>
                </a:lnTo>
                <a:lnTo>
                  <a:pt x="299148" y="461010"/>
                </a:lnTo>
                <a:lnTo>
                  <a:pt x="302450" y="457200"/>
                </a:lnTo>
                <a:lnTo>
                  <a:pt x="305663" y="454660"/>
                </a:lnTo>
                <a:lnTo>
                  <a:pt x="308775" y="450850"/>
                </a:lnTo>
                <a:lnTo>
                  <a:pt x="311784" y="445770"/>
                </a:lnTo>
                <a:lnTo>
                  <a:pt x="311746" y="447039"/>
                </a:lnTo>
                <a:lnTo>
                  <a:pt x="323173" y="447039"/>
                </a:lnTo>
                <a:lnTo>
                  <a:pt x="319328" y="452120"/>
                </a:lnTo>
                <a:lnTo>
                  <a:pt x="316153" y="455929"/>
                </a:lnTo>
                <a:lnTo>
                  <a:pt x="312851" y="459739"/>
                </a:lnTo>
                <a:lnTo>
                  <a:pt x="309448" y="463550"/>
                </a:lnTo>
                <a:lnTo>
                  <a:pt x="305942" y="467360"/>
                </a:lnTo>
                <a:lnTo>
                  <a:pt x="304736" y="468629"/>
                </a:lnTo>
                <a:close/>
              </a:path>
              <a:path w="461009" h="523239">
                <a:moveTo>
                  <a:pt x="10502" y="464820"/>
                </a:moveTo>
                <a:lnTo>
                  <a:pt x="9525" y="458470"/>
                </a:lnTo>
                <a:lnTo>
                  <a:pt x="13673" y="460591"/>
                </a:lnTo>
                <a:lnTo>
                  <a:pt x="10502" y="464820"/>
                </a:lnTo>
                <a:close/>
              </a:path>
              <a:path w="461009" h="523239">
                <a:moveTo>
                  <a:pt x="13673" y="460591"/>
                </a:moveTo>
                <a:lnTo>
                  <a:pt x="9525" y="458470"/>
                </a:lnTo>
                <a:lnTo>
                  <a:pt x="15264" y="458470"/>
                </a:lnTo>
                <a:lnTo>
                  <a:pt x="13673" y="460591"/>
                </a:lnTo>
                <a:close/>
              </a:path>
              <a:path w="461009" h="523239">
                <a:moveTo>
                  <a:pt x="19430" y="464820"/>
                </a:moveTo>
                <a:lnTo>
                  <a:pt x="10502" y="464820"/>
                </a:lnTo>
                <a:lnTo>
                  <a:pt x="13673" y="460591"/>
                </a:lnTo>
                <a:lnTo>
                  <a:pt x="14490" y="461010"/>
                </a:lnTo>
                <a:lnTo>
                  <a:pt x="19430" y="464820"/>
                </a:lnTo>
                <a:close/>
              </a:path>
              <a:path w="461009" h="523239">
                <a:moveTo>
                  <a:pt x="231402" y="513079"/>
                </a:moveTo>
                <a:lnTo>
                  <a:pt x="175983" y="513079"/>
                </a:lnTo>
                <a:lnTo>
                  <a:pt x="186397" y="511810"/>
                </a:lnTo>
                <a:lnTo>
                  <a:pt x="196227" y="511810"/>
                </a:lnTo>
                <a:lnTo>
                  <a:pt x="206349" y="509270"/>
                </a:lnTo>
                <a:lnTo>
                  <a:pt x="206108" y="509270"/>
                </a:lnTo>
                <a:lnTo>
                  <a:pt x="216052" y="508000"/>
                </a:lnTo>
                <a:lnTo>
                  <a:pt x="215823" y="508000"/>
                </a:lnTo>
                <a:lnTo>
                  <a:pt x="225564" y="505460"/>
                </a:lnTo>
                <a:lnTo>
                  <a:pt x="225336" y="505460"/>
                </a:lnTo>
                <a:lnTo>
                  <a:pt x="234861" y="501650"/>
                </a:lnTo>
                <a:lnTo>
                  <a:pt x="234632" y="501650"/>
                </a:lnTo>
                <a:lnTo>
                  <a:pt x="243928" y="499110"/>
                </a:lnTo>
                <a:lnTo>
                  <a:pt x="243687" y="499110"/>
                </a:lnTo>
                <a:lnTo>
                  <a:pt x="252729" y="494029"/>
                </a:lnTo>
                <a:lnTo>
                  <a:pt x="252488" y="494029"/>
                </a:lnTo>
                <a:lnTo>
                  <a:pt x="261264" y="490220"/>
                </a:lnTo>
                <a:lnTo>
                  <a:pt x="261023" y="490220"/>
                </a:lnTo>
                <a:lnTo>
                  <a:pt x="269506" y="485139"/>
                </a:lnTo>
                <a:lnTo>
                  <a:pt x="269265" y="485139"/>
                </a:lnTo>
                <a:lnTo>
                  <a:pt x="277431" y="480060"/>
                </a:lnTo>
                <a:lnTo>
                  <a:pt x="277202" y="480060"/>
                </a:lnTo>
                <a:lnTo>
                  <a:pt x="285038" y="473710"/>
                </a:lnTo>
                <a:lnTo>
                  <a:pt x="284873" y="473710"/>
                </a:lnTo>
                <a:lnTo>
                  <a:pt x="288658" y="471170"/>
                </a:lnTo>
                <a:lnTo>
                  <a:pt x="292239" y="467360"/>
                </a:lnTo>
                <a:lnTo>
                  <a:pt x="292138" y="468629"/>
                </a:lnTo>
                <a:lnTo>
                  <a:pt x="304736" y="468629"/>
                </a:lnTo>
                <a:lnTo>
                  <a:pt x="302323" y="471170"/>
                </a:lnTo>
                <a:lnTo>
                  <a:pt x="298615" y="474979"/>
                </a:lnTo>
                <a:lnTo>
                  <a:pt x="294817" y="478789"/>
                </a:lnTo>
                <a:lnTo>
                  <a:pt x="290893" y="481329"/>
                </a:lnTo>
                <a:lnTo>
                  <a:pt x="282854" y="487679"/>
                </a:lnTo>
                <a:lnTo>
                  <a:pt x="274459" y="492760"/>
                </a:lnTo>
                <a:lnTo>
                  <a:pt x="265747" y="499110"/>
                </a:lnTo>
                <a:lnTo>
                  <a:pt x="256743" y="502920"/>
                </a:lnTo>
                <a:lnTo>
                  <a:pt x="247459" y="506729"/>
                </a:lnTo>
                <a:lnTo>
                  <a:pt x="231402" y="513079"/>
                </a:lnTo>
                <a:close/>
              </a:path>
              <a:path w="461009" h="523239">
                <a:moveTo>
                  <a:pt x="95288" y="501650"/>
                </a:moveTo>
                <a:lnTo>
                  <a:pt x="91871" y="501650"/>
                </a:lnTo>
                <a:lnTo>
                  <a:pt x="91681" y="500379"/>
                </a:lnTo>
                <a:lnTo>
                  <a:pt x="95288" y="501650"/>
                </a:lnTo>
                <a:close/>
              </a:path>
              <a:path w="461009" h="523239">
                <a:moveTo>
                  <a:pt x="165722" y="523239"/>
                </a:moveTo>
                <a:lnTo>
                  <a:pt x="154863" y="521970"/>
                </a:lnTo>
                <a:lnTo>
                  <a:pt x="176479" y="521970"/>
                </a:lnTo>
                <a:lnTo>
                  <a:pt x="165722" y="523239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721595" y="2456688"/>
            <a:ext cx="1507490" cy="396240"/>
          </a:xfrm>
          <a:prstGeom prst="rect">
            <a:avLst/>
          </a:prstGeom>
          <a:solidFill>
            <a:srgbClr val="FFCCFF"/>
          </a:solidFill>
        </p:spPr>
        <p:txBody>
          <a:bodyPr wrap="square" lIns="0" tIns="31115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245"/>
              </a:spcBef>
            </a:pPr>
            <a:r>
              <a:rPr dirty="0" sz="2000" spc="10" b="1">
                <a:latin typeface="思源黑体 CN"/>
                <a:cs typeface="思源黑体 CN"/>
              </a:rPr>
              <a:t>稳定电</a:t>
            </a:r>
            <a:r>
              <a:rPr dirty="0" sz="2000" spc="5" b="1">
                <a:latin typeface="思源黑体 CN"/>
                <a:cs typeface="思源黑体 CN"/>
              </a:rPr>
              <a:t>场</a:t>
            </a:r>
            <a:endParaRPr sz="2000">
              <a:latin typeface="思源黑体 CN"/>
              <a:cs typeface="思源黑体 C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770152" y="3342322"/>
            <a:ext cx="504825" cy="735330"/>
          </a:xfrm>
          <a:custGeom>
            <a:avLst/>
            <a:gdLst/>
            <a:ahLst/>
            <a:cxnLst/>
            <a:rect l="l" t="t" r="r" b="b"/>
            <a:pathLst>
              <a:path w="504825" h="735329">
                <a:moveTo>
                  <a:pt x="385229" y="608326"/>
                </a:moveTo>
                <a:lnTo>
                  <a:pt x="0" y="31750"/>
                </a:lnTo>
                <a:lnTo>
                  <a:pt x="47510" y="0"/>
                </a:lnTo>
                <a:lnTo>
                  <a:pt x="432751" y="576575"/>
                </a:lnTo>
                <a:lnTo>
                  <a:pt x="385229" y="608326"/>
                </a:lnTo>
                <a:close/>
              </a:path>
              <a:path w="504825" h="735329">
                <a:moveTo>
                  <a:pt x="492761" y="643966"/>
                </a:moveTo>
                <a:lnTo>
                  <a:pt x="409041" y="643966"/>
                </a:lnTo>
                <a:lnTo>
                  <a:pt x="456565" y="612216"/>
                </a:lnTo>
                <a:lnTo>
                  <a:pt x="432751" y="576575"/>
                </a:lnTo>
                <a:lnTo>
                  <a:pt x="480263" y="544829"/>
                </a:lnTo>
                <a:lnTo>
                  <a:pt x="492761" y="643966"/>
                </a:lnTo>
                <a:close/>
              </a:path>
              <a:path w="504825" h="735329">
                <a:moveTo>
                  <a:pt x="409041" y="643966"/>
                </a:moveTo>
                <a:lnTo>
                  <a:pt x="385229" y="608326"/>
                </a:lnTo>
                <a:lnTo>
                  <a:pt x="432751" y="576575"/>
                </a:lnTo>
                <a:lnTo>
                  <a:pt x="456565" y="612216"/>
                </a:lnTo>
                <a:lnTo>
                  <a:pt x="409041" y="643966"/>
                </a:lnTo>
                <a:close/>
              </a:path>
              <a:path w="504825" h="735329">
                <a:moveTo>
                  <a:pt x="504240" y="735012"/>
                </a:moveTo>
                <a:lnTo>
                  <a:pt x="337705" y="640079"/>
                </a:lnTo>
                <a:lnTo>
                  <a:pt x="385229" y="608326"/>
                </a:lnTo>
                <a:lnTo>
                  <a:pt x="409041" y="643966"/>
                </a:lnTo>
                <a:lnTo>
                  <a:pt x="492761" y="643966"/>
                </a:lnTo>
                <a:lnTo>
                  <a:pt x="504240" y="735012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285988" y="3790188"/>
            <a:ext cx="1882139" cy="396240"/>
          </a:xfrm>
          <a:prstGeom prst="rect">
            <a:avLst/>
          </a:prstGeom>
          <a:solidFill>
            <a:srgbClr val="FFCCFF"/>
          </a:solidFill>
        </p:spPr>
        <p:txBody>
          <a:bodyPr wrap="square" lIns="0" tIns="31115" rIns="0" bIns="0" rtlCol="0" vert="horz">
            <a:spAutoFit/>
          </a:bodyPr>
          <a:lstStyle/>
          <a:p>
            <a:pPr marL="174625">
              <a:lnSpc>
                <a:spcPct val="100000"/>
              </a:lnSpc>
              <a:spcBef>
                <a:spcPts val="245"/>
              </a:spcBef>
            </a:pPr>
            <a:r>
              <a:rPr dirty="0" sz="2000" spc="10" b="1">
                <a:latin typeface="思源黑体 CN"/>
                <a:cs typeface="思源黑体 CN"/>
              </a:rPr>
              <a:t>若非均匀变</a:t>
            </a:r>
            <a:r>
              <a:rPr dirty="0" sz="2000" spc="5" b="1">
                <a:latin typeface="思源黑体 CN"/>
                <a:cs typeface="思源黑体 CN"/>
              </a:rPr>
              <a:t>化</a:t>
            </a:r>
            <a:endParaRPr sz="2000">
              <a:latin typeface="思源黑体 CN"/>
              <a:cs typeface="思源黑体 C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290304" y="4959096"/>
            <a:ext cx="0" cy="320040"/>
          </a:xfrm>
          <a:custGeom>
            <a:avLst/>
            <a:gdLst/>
            <a:ahLst/>
            <a:cxnLst/>
            <a:rect l="l" t="t" r="r" b="b"/>
            <a:pathLst>
              <a:path w="0" h="320039">
                <a:moveTo>
                  <a:pt x="0" y="0"/>
                </a:moveTo>
                <a:lnTo>
                  <a:pt x="0" y="319722"/>
                </a:lnTo>
              </a:path>
            </a:pathLst>
          </a:custGeom>
          <a:ln w="38100">
            <a:solidFill>
              <a:srgbClr val="00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55585" y="5177535"/>
            <a:ext cx="8035290" cy="120650"/>
          </a:xfrm>
          <a:custGeom>
            <a:avLst/>
            <a:gdLst/>
            <a:ahLst/>
            <a:cxnLst/>
            <a:rect l="l" t="t" r="r" b="b"/>
            <a:pathLst>
              <a:path w="8035290" h="120650">
                <a:moveTo>
                  <a:pt x="8034528" y="120332"/>
                </a:moveTo>
                <a:lnTo>
                  <a:pt x="0" y="38087"/>
                </a:lnTo>
                <a:lnTo>
                  <a:pt x="381" y="0"/>
                </a:lnTo>
                <a:lnTo>
                  <a:pt x="8034908" y="82232"/>
                </a:lnTo>
                <a:lnTo>
                  <a:pt x="8034528" y="120332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98625" y="3352800"/>
            <a:ext cx="114300" cy="1844039"/>
          </a:xfrm>
          <a:custGeom>
            <a:avLst/>
            <a:gdLst/>
            <a:ahLst/>
            <a:cxnLst/>
            <a:rect l="l" t="t" r="r" b="b"/>
            <a:pathLst>
              <a:path w="114300" h="1844039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1844039">
                <a:moveTo>
                  <a:pt x="76200" y="1843786"/>
                </a:moveTo>
                <a:lnTo>
                  <a:pt x="38100" y="1843786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1843786"/>
                </a:lnTo>
                <a:close/>
              </a:path>
              <a:path w="114300" h="1844039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083498" y="2345689"/>
            <a:ext cx="254000" cy="48387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800" spc="10" b="1">
                <a:latin typeface="思源黑体 CN"/>
                <a:cs typeface="思源黑体 CN"/>
              </a:rPr>
              <a:t>激</a:t>
            </a:r>
            <a:r>
              <a:rPr dirty="0" sz="1800" b="1">
                <a:latin typeface="思源黑体 CN"/>
                <a:cs typeface="思源黑体 CN"/>
              </a:rPr>
              <a:t>发</a:t>
            </a:r>
            <a:endParaRPr sz="1800">
              <a:latin typeface="思源黑体 CN"/>
              <a:cs typeface="思源黑体 C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89041" y="2058352"/>
            <a:ext cx="254000" cy="48387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800" spc="10" b="1">
                <a:latin typeface="思源黑体 CN"/>
                <a:cs typeface="思源黑体 CN"/>
              </a:rPr>
              <a:t>激</a:t>
            </a:r>
            <a:r>
              <a:rPr dirty="0" sz="1800" b="1">
                <a:latin typeface="思源黑体 CN"/>
                <a:cs typeface="思源黑体 CN"/>
              </a:rPr>
              <a:t>发</a:t>
            </a:r>
            <a:endParaRPr sz="1800">
              <a:latin typeface="思源黑体 CN"/>
              <a:cs typeface="思源黑体 C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623397" y="2955289"/>
            <a:ext cx="254000" cy="48387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800" spc="10" b="1">
                <a:latin typeface="思源黑体 CN"/>
                <a:cs typeface="思源黑体 CN"/>
              </a:rPr>
              <a:t>激</a:t>
            </a:r>
            <a:r>
              <a:rPr dirty="0" sz="1800" b="1">
                <a:latin typeface="思源黑体 CN"/>
                <a:cs typeface="思源黑体 CN"/>
              </a:rPr>
              <a:t>发</a:t>
            </a:r>
            <a:endParaRPr sz="1800">
              <a:latin typeface="思源黑体 CN"/>
              <a:cs typeface="思源黑体 C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66943" y="3498215"/>
            <a:ext cx="254000" cy="48387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800" spc="10" b="1">
                <a:latin typeface="思源黑体 CN"/>
                <a:cs typeface="思源黑体 CN"/>
              </a:rPr>
              <a:t>激</a:t>
            </a:r>
            <a:r>
              <a:rPr dirty="0" sz="1800" b="1">
                <a:latin typeface="思源黑体 CN"/>
                <a:cs typeface="思源黑体 CN"/>
              </a:rPr>
              <a:t>发</a:t>
            </a:r>
            <a:endParaRPr sz="1800">
              <a:latin typeface="思源黑体 CN"/>
              <a:cs typeface="思源黑体 C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37804" y="4559808"/>
            <a:ext cx="2062480" cy="399415"/>
          </a:xfrm>
          <a:prstGeom prst="rect">
            <a:avLst/>
          </a:prstGeom>
          <a:solidFill>
            <a:srgbClr val="FFCCFF"/>
          </a:solidFill>
        </p:spPr>
        <p:txBody>
          <a:bodyPr wrap="square" lIns="0" tIns="31115" rIns="0" bIns="0" rtlCol="0" vert="horz">
            <a:spAutoFit/>
          </a:bodyPr>
          <a:lstStyle/>
          <a:p>
            <a:pPr marL="520065">
              <a:lnSpc>
                <a:spcPct val="100000"/>
              </a:lnSpc>
              <a:spcBef>
                <a:spcPts val="245"/>
              </a:spcBef>
            </a:pPr>
            <a:r>
              <a:rPr dirty="0" sz="2000" spc="10" b="1">
                <a:latin typeface="思源黑体 CN"/>
                <a:cs typeface="思源黑体 CN"/>
              </a:rPr>
              <a:t>变化电</a:t>
            </a:r>
            <a:r>
              <a:rPr dirty="0" sz="2000" spc="5" b="1">
                <a:latin typeface="思源黑体 CN"/>
                <a:cs typeface="思源黑体 CN"/>
              </a:rPr>
              <a:t>场</a:t>
            </a:r>
            <a:endParaRPr sz="2000">
              <a:latin typeface="思源黑体 CN"/>
              <a:cs typeface="思源黑体 C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118015" y="4156570"/>
            <a:ext cx="171450" cy="403860"/>
          </a:xfrm>
          <a:custGeom>
            <a:avLst/>
            <a:gdLst/>
            <a:ahLst/>
            <a:cxnLst/>
            <a:rect l="l" t="t" r="r" b="b"/>
            <a:pathLst>
              <a:path w="171450" h="403860">
                <a:moveTo>
                  <a:pt x="57147" y="231999"/>
                </a:moveTo>
                <a:lnTo>
                  <a:pt x="55486" y="406"/>
                </a:lnTo>
                <a:lnTo>
                  <a:pt x="112636" y="0"/>
                </a:lnTo>
                <a:lnTo>
                  <a:pt x="114297" y="231588"/>
                </a:lnTo>
                <a:lnTo>
                  <a:pt x="57147" y="231999"/>
                </a:lnTo>
                <a:close/>
              </a:path>
              <a:path w="171450" h="403860">
                <a:moveTo>
                  <a:pt x="149989" y="274853"/>
                </a:moveTo>
                <a:lnTo>
                  <a:pt x="57454" y="274853"/>
                </a:lnTo>
                <a:lnTo>
                  <a:pt x="114604" y="274447"/>
                </a:lnTo>
                <a:lnTo>
                  <a:pt x="114297" y="231588"/>
                </a:lnTo>
                <a:lnTo>
                  <a:pt x="171437" y="231178"/>
                </a:lnTo>
                <a:lnTo>
                  <a:pt x="149989" y="274853"/>
                </a:lnTo>
                <a:close/>
              </a:path>
              <a:path w="171450" h="403860">
                <a:moveTo>
                  <a:pt x="57454" y="274853"/>
                </a:moveTo>
                <a:lnTo>
                  <a:pt x="57147" y="231999"/>
                </a:lnTo>
                <a:lnTo>
                  <a:pt x="114297" y="231588"/>
                </a:lnTo>
                <a:lnTo>
                  <a:pt x="114604" y="274447"/>
                </a:lnTo>
                <a:lnTo>
                  <a:pt x="57454" y="274853"/>
                </a:lnTo>
                <a:close/>
              </a:path>
              <a:path w="171450" h="403860">
                <a:moveTo>
                  <a:pt x="86944" y="403237"/>
                </a:moveTo>
                <a:lnTo>
                  <a:pt x="0" y="232410"/>
                </a:lnTo>
                <a:lnTo>
                  <a:pt x="57147" y="231999"/>
                </a:lnTo>
                <a:lnTo>
                  <a:pt x="57454" y="274853"/>
                </a:lnTo>
                <a:lnTo>
                  <a:pt x="149989" y="274853"/>
                </a:lnTo>
                <a:lnTo>
                  <a:pt x="86944" y="403237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169" y="459422"/>
            <a:ext cx="36874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三、赫兹的电火</a:t>
            </a:r>
            <a:r>
              <a:rPr dirty="0" sz="3600" spc="-5"/>
              <a:t>花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930990" y="1885823"/>
            <a:ext cx="304800" cy="304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00"/>
              </a:lnSpc>
            </a:pPr>
            <a:r>
              <a:rPr dirty="0" sz="2400" b="1">
                <a:solidFill>
                  <a:srgbClr val="CC3300"/>
                </a:solidFill>
                <a:latin typeface="思源黑体 CN"/>
                <a:cs typeface="思源黑体 CN"/>
              </a:rPr>
              <a:t>。</a:t>
            </a:r>
            <a:endParaRPr sz="2400">
              <a:latin typeface="思源黑体 CN"/>
              <a:cs typeface="思源黑体 C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219" y="1231801"/>
            <a:ext cx="8044180" cy="488632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825"/>
              </a:spcBef>
              <a:tabLst>
                <a:tab pos="610870" algn="l"/>
              </a:tabLst>
            </a:pPr>
            <a:r>
              <a:rPr dirty="0" sz="2800" spc="120" b="1">
                <a:latin typeface="思源黑体 CN"/>
                <a:cs typeface="思源黑体 CN"/>
              </a:rPr>
              <a:t>1.	</a:t>
            </a:r>
            <a:r>
              <a:rPr dirty="0" sz="2800" spc="15" b="1">
                <a:latin typeface="思源黑体 CN"/>
                <a:cs typeface="思源黑体 CN"/>
              </a:rPr>
              <a:t>实验装置</a:t>
            </a:r>
            <a:r>
              <a:rPr dirty="0" sz="2800" spc="-5" b="1">
                <a:latin typeface="思源黑体 CN"/>
                <a:cs typeface="思源黑体 CN"/>
              </a:rPr>
              <a:t>：</a:t>
            </a:r>
            <a:endParaRPr sz="2800">
              <a:latin typeface="思源黑体 CN"/>
              <a:cs typeface="思源黑体 CN"/>
            </a:endParaRPr>
          </a:p>
          <a:p>
            <a:pPr marL="877569" indent="-765810">
              <a:lnSpc>
                <a:spcPct val="100000"/>
              </a:lnSpc>
              <a:spcBef>
                <a:spcPts val="625"/>
              </a:spcBef>
              <a:buSzPct val="95833"/>
              <a:buAutoNum type="arabicPlain"/>
              <a:tabLst>
                <a:tab pos="878205" algn="l"/>
              </a:tabLst>
            </a:pPr>
            <a:r>
              <a:rPr dirty="0" sz="2400" spc="10" b="1">
                <a:solidFill>
                  <a:srgbClr val="CC3300"/>
                </a:solidFill>
                <a:latin typeface="思源黑体 CN"/>
                <a:cs typeface="思源黑体 CN"/>
              </a:rPr>
              <a:t>连接感应圈的两个金属</a:t>
            </a:r>
            <a:r>
              <a:rPr dirty="0" sz="2400" b="1">
                <a:solidFill>
                  <a:srgbClr val="CC3300"/>
                </a:solidFill>
                <a:latin typeface="思源黑体 CN"/>
                <a:cs typeface="思源黑体 CN"/>
              </a:rPr>
              <a:t>球</a:t>
            </a:r>
            <a:endParaRPr sz="2400">
              <a:latin typeface="思源黑体 CN"/>
              <a:cs typeface="思源黑体 CN"/>
            </a:endParaRPr>
          </a:p>
          <a:p>
            <a:pPr marL="886460" indent="-765810">
              <a:lnSpc>
                <a:spcPct val="100000"/>
              </a:lnSpc>
              <a:spcBef>
                <a:spcPts val="1085"/>
              </a:spcBef>
              <a:buSzPct val="95833"/>
              <a:buAutoNum type="arabicPlain"/>
              <a:tabLst>
                <a:tab pos="887094" algn="l"/>
              </a:tabLst>
            </a:pPr>
            <a:r>
              <a:rPr dirty="0" sz="2400" spc="10" b="1">
                <a:solidFill>
                  <a:srgbClr val="CC3300"/>
                </a:solidFill>
                <a:latin typeface="思源黑体 CN"/>
                <a:cs typeface="思源黑体 CN"/>
              </a:rPr>
              <a:t>导线环上的两个金属球</a:t>
            </a:r>
            <a:r>
              <a:rPr dirty="0" sz="2400" b="1">
                <a:solidFill>
                  <a:srgbClr val="CC3300"/>
                </a:solidFill>
                <a:latin typeface="思源黑体 CN"/>
                <a:cs typeface="思源黑体 CN"/>
              </a:rPr>
              <a:t>。</a:t>
            </a:r>
            <a:endParaRPr sz="2400">
              <a:latin typeface="思源黑体 CN"/>
              <a:cs typeface="思源黑体 CN"/>
            </a:endParaRPr>
          </a:p>
          <a:p>
            <a:pPr marL="610870" indent="-539115">
              <a:lnSpc>
                <a:spcPct val="100000"/>
              </a:lnSpc>
              <a:spcBef>
                <a:spcPts val="1135"/>
              </a:spcBef>
              <a:buAutoNum type="arabicPeriod" startAt="2"/>
              <a:tabLst>
                <a:tab pos="610870" algn="l"/>
                <a:tab pos="611505" algn="l"/>
              </a:tabLst>
            </a:pPr>
            <a:r>
              <a:rPr dirty="0" sz="2800" spc="15" b="1">
                <a:latin typeface="思源黑体 CN"/>
                <a:cs typeface="思源黑体 CN"/>
              </a:rPr>
              <a:t>实验现象</a:t>
            </a:r>
            <a:r>
              <a:rPr dirty="0" sz="2800" spc="-5" b="1">
                <a:latin typeface="思源黑体 CN"/>
                <a:cs typeface="思源黑体 CN"/>
              </a:rPr>
              <a:t>：</a:t>
            </a:r>
            <a:endParaRPr sz="2800">
              <a:latin typeface="思源黑体 CN"/>
              <a:cs typeface="思源黑体 CN"/>
            </a:endParaRPr>
          </a:p>
          <a:p>
            <a:pPr algn="just" marL="12700" marR="64135" indent="614680">
              <a:lnSpc>
                <a:spcPct val="100000"/>
              </a:lnSpc>
              <a:spcBef>
                <a:spcPts val="869"/>
              </a:spcBef>
            </a:pPr>
            <a:r>
              <a:rPr dirty="0" sz="2400" spc="10" b="1">
                <a:solidFill>
                  <a:srgbClr val="CC3300"/>
                </a:solidFill>
                <a:latin typeface="思源黑体 CN"/>
                <a:cs typeface="思源黑体 CN"/>
              </a:rPr>
              <a:t>当感应圈两个金属球间有火花跳过时，导线环两个小</a:t>
            </a:r>
            <a:r>
              <a:rPr dirty="0" sz="2400" b="1">
                <a:solidFill>
                  <a:srgbClr val="CC3300"/>
                </a:solidFill>
                <a:latin typeface="思源黑体 CN"/>
                <a:cs typeface="思源黑体 CN"/>
              </a:rPr>
              <a:t>球 </a:t>
            </a:r>
            <a:r>
              <a:rPr dirty="0" sz="2400" spc="10" b="1">
                <a:solidFill>
                  <a:srgbClr val="CC3300"/>
                </a:solidFill>
                <a:latin typeface="思源黑体 CN"/>
                <a:cs typeface="思源黑体 CN"/>
              </a:rPr>
              <a:t>间也跳过了火花</a:t>
            </a:r>
            <a:r>
              <a:rPr dirty="0" sz="2400" b="1">
                <a:solidFill>
                  <a:srgbClr val="CC3300"/>
                </a:solidFill>
                <a:latin typeface="思源黑体 CN"/>
                <a:cs typeface="思源黑体 CN"/>
              </a:rPr>
              <a:t>。</a:t>
            </a:r>
            <a:endParaRPr sz="2400">
              <a:latin typeface="思源黑体 CN"/>
              <a:cs typeface="思源黑体 CN"/>
            </a:endParaRPr>
          </a:p>
          <a:p>
            <a:pPr marL="610870" indent="-539115">
              <a:lnSpc>
                <a:spcPct val="100000"/>
              </a:lnSpc>
              <a:spcBef>
                <a:spcPts val="20"/>
              </a:spcBef>
              <a:buAutoNum type="arabicPeriod" startAt="3"/>
              <a:tabLst>
                <a:tab pos="610870" algn="l"/>
                <a:tab pos="611505" algn="l"/>
              </a:tabLst>
            </a:pPr>
            <a:r>
              <a:rPr dirty="0" sz="2800" spc="15" b="1">
                <a:latin typeface="思源黑体 CN"/>
                <a:cs typeface="思源黑体 CN"/>
              </a:rPr>
              <a:t>现象解释</a:t>
            </a:r>
            <a:r>
              <a:rPr dirty="0" sz="2800" spc="-5" b="1">
                <a:latin typeface="思源黑体 CN"/>
                <a:cs typeface="思源黑体 CN"/>
              </a:rPr>
              <a:t>：</a:t>
            </a:r>
            <a:endParaRPr sz="2800">
              <a:latin typeface="思源黑体 CN"/>
              <a:cs typeface="思源黑体 CN"/>
            </a:endParaRPr>
          </a:p>
          <a:p>
            <a:pPr algn="just" marL="71755" marR="5080" indent="614680">
              <a:lnSpc>
                <a:spcPct val="100000"/>
              </a:lnSpc>
              <a:spcBef>
                <a:spcPts val="50"/>
              </a:spcBef>
            </a:pPr>
            <a:r>
              <a:rPr dirty="0" sz="2400" spc="10" b="1">
                <a:solidFill>
                  <a:srgbClr val="CC3300"/>
                </a:solidFill>
                <a:latin typeface="思源黑体 CN"/>
                <a:cs typeface="思源黑体 CN"/>
              </a:rPr>
              <a:t>当感应圈两个金属球间有火花跳过时，立刻产生了一</a:t>
            </a:r>
            <a:r>
              <a:rPr dirty="0" sz="2400" b="1">
                <a:solidFill>
                  <a:srgbClr val="CC3300"/>
                </a:solidFill>
                <a:latin typeface="思源黑体 CN"/>
                <a:cs typeface="思源黑体 CN"/>
              </a:rPr>
              <a:t>个 </a:t>
            </a:r>
            <a:r>
              <a:rPr dirty="0" sz="2400" spc="10" b="1">
                <a:solidFill>
                  <a:srgbClr val="CC3300"/>
                </a:solidFill>
                <a:latin typeface="思源黑体 CN"/>
                <a:cs typeface="思源黑体 CN"/>
              </a:rPr>
              <a:t>交变电磁场，形成电磁波在空间传播，经过导线环时激发</a:t>
            </a:r>
            <a:r>
              <a:rPr dirty="0" sz="2400" b="1">
                <a:solidFill>
                  <a:srgbClr val="CC3300"/>
                </a:solidFill>
                <a:latin typeface="思源黑体 CN"/>
                <a:cs typeface="思源黑体 CN"/>
              </a:rPr>
              <a:t>出 </a:t>
            </a:r>
            <a:r>
              <a:rPr dirty="0" sz="2400" spc="10" b="1">
                <a:solidFill>
                  <a:srgbClr val="CC3300"/>
                </a:solidFill>
                <a:latin typeface="思源黑体 CN"/>
                <a:cs typeface="思源黑体 CN"/>
              </a:rPr>
              <a:t>感应电动势，使得导线环中也产生了火花</a:t>
            </a:r>
            <a:r>
              <a:rPr dirty="0" sz="2400" b="1">
                <a:solidFill>
                  <a:srgbClr val="CC3300"/>
                </a:solidFill>
                <a:latin typeface="思源黑体 CN"/>
                <a:cs typeface="思源黑体 CN"/>
              </a:rPr>
              <a:t>。</a:t>
            </a:r>
            <a:endParaRPr sz="2400">
              <a:latin typeface="思源黑体 CN"/>
              <a:cs typeface="思源黑体 CN"/>
            </a:endParaRPr>
          </a:p>
          <a:p>
            <a:pPr marL="659765" indent="-539115">
              <a:lnSpc>
                <a:spcPct val="100000"/>
              </a:lnSpc>
              <a:spcBef>
                <a:spcPts val="160"/>
              </a:spcBef>
              <a:buAutoNum type="arabicPeriod" startAt="4"/>
              <a:tabLst>
                <a:tab pos="659765" algn="l"/>
                <a:tab pos="660400" algn="l"/>
              </a:tabLst>
            </a:pPr>
            <a:r>
              <a:rPr dirty="0" sz="2800" spc="15" b="1">
                <a:latin typeface="思源黑体 CN"/>
                <a:cs typeface="思源黑体 CN"/>
              </a:rPr>
              <a:t>捕捉电磁波的模拟验</a:t>
            </a:r>
            <a:r>
              <a:rPr dirty="0" sz="2800" spc="-5" b="1">
                <a:latin typeface="思源黑体 CN"/>
                <a:cs typeface="思源黑体 CN"/>
              </a:rPr>
              <a:t>：</a:t>
            </a:r>
            <a:endParaRPr sz="2800">
              <a:latin typeface="思源黑体 CN"/>
              <a:cs typeface="思源黑体 C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32832" y="448055"/>
            <a:ext cx="5324856" cy="28056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7391" y="391959"/>
            <a:ext cx="561911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总结：从库仑到麦克斯</a:t>
            </a:r>
            <a:r>
              <a:rPr dirty="0" sz="4000" spc="-10"/>
              <a:t>韦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07667" y="1139190"/>
            <a:ext cx="8957945" cy="447675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2600" b="1">
                <a:solidFill>
                  <a:srgbClr val="000099"/>
                </a:solidFill>
                <a:latin typeface="华文楷体"/>
                <a:cs typeface="华文楷体"/>
              </a:rPr>
              <a:t>库仑：</a:t>
            </a:r>
            <a:r>
              <a:rPr dirty="0" sz="2600" b="1">
                <a:latin typeface="华文楷体"/>
                <a:cs typeface="华文楷体"/>
              </a:rPr>
              <a:t>实验发现库仑定律，库仑扭秤，电荷量单位。</a:t>
            </a:r>
            <a:endParaRPr sz="2600">
              <a:latin typeface="华文楷体"/>
              <a:cs typeface="华文楷体"/>
            </a:endParaRPr>
          </a:p>
          <a:p>
            <a:pPr marL="12700" marR="5080">
              <a:lnSpc>
                <a:spcPts val="2810"/>
              </a:lnSpc>
              <a:spcBef>
                <a:spcPts val="1040"/>
              </a:spcBef>
            </a:pPr>
            <a:r>
              <a:rPr dirty="0" sz="2600" b="1">
                <a:solidFill>
                  <a:srgbClr val="000099"/>
                </a:solidFill>
                <a:latin typeface="华文楷体"/>
                <a:cs typeface="华文楷体"/>
              </a:rPr>
              <a:t>安培：</a:t>
            </a:r>
            <a:r>
              <a:rPr dirty="0" sz="2600" b="1">
                <a:latin typeface="华文楷体"/>
                <a:cs typeface="华文楷体"/>
              </a:rPr>
              <a:t>安培定则；电流相互作用规律；发明电流计；分子电流 </a:t>
            </a:r>
            <a:r>
              <a:rPr dirty="0" sz="2600" b="1">
                <a:latin typeface="华文楷体"/>
                <a:cs typeface="华文楷体"/>
              </a:rPr>
              <a:t>假说；电流单位。</a:t>
            </a:r>
            <a:endParaRPr sz="26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2600" b="1">
                <a:solidFill>
                  <a:srgbClr val="000099"/>
                </a:solidFill>
                <a:latin typeface="华文楷体"/>
                <a:cs typeface="华文楷体"/>
              </a:rPr>
              <a:t>奥斯特：</a:t>
            </a:r>
            <a:r>
              <a:rPr dirty="0" sz="2600" b="1">
                <a:latin typeface="华文楷体"/>
                <a:cs typeface="华文楷体"/>
              </a:rPr>
              <a:t>发现电流的磁效应。</a:t>
            </a:r>
            <a:endParaRPr sz="2600">
              <a:latin typeface="华文楷体"/>
              <a:cs typeface="华文楷体"/>
            </a:endParaRPr>
          </a:p>
          <a:p>
            <a:pPr marL="12700" marR="5080">
              <a:lnSpc>
                <a:spcPts val="2810"/>
              </a:lnSpc>
              <a:spcBef>
                <a:spcPts val="1040"/>
              </a:spcBef>
            </a:pPr>
            <a:r>
              <a:rPr dirty="0" sz="2600" b="1">
                <a:solidFill>
                  <a:srgbClr val="000099"/>
                </a:solidFill>
                <a:latin typeface="华文楷体"/>
                <a:cs typeface="华文楷体"/>
              </a:rPr>
              <a:t>法拉第：</a:t>
            </a:r>
            <a:r>
              <a:rPr dirty="0" sz="2600" b="1">
                <a:latin typeface="华文楷体"/>
                <a:cs typeface="华文楷体"/>
              </a:rPr>
              <a:t>电动机；电磁感应现象；感应定律；发电机；电场磁 </a:t>
            </a:r>
            <a:r>
              <a:rPr dirty="0" sz="2600" b="1">
                <a:latin typeface="华文楷体"/>
                <a:cs typeface="华文楷体"/>
              </a:rPr>
              <a:t>场概念</a:t>
            </a:r>
            <a:endParaRPr sz="2600">
              <a:latin typeface="华文楷体"/>
              <a:cs typeface="华文楷体"/>
            </a:endParaRPr>
          </a:p>
          <a:p>
            <a:pPr marL="12700" marR="5080">
              <a:lnSpc>
                <a:spcPts val="2810"/>
              </a:lnSpc>
              <a:spcBef>
                <a:spcPts val="990"/>
              </a:spcBef>
            </a:pPr>
            <a:r>
              <a:rPr dirty="0" sz="2600" b="1">
                <a:solidFill>
                  <a:srgbClr val="000099"/>
                </a:solidFill>
                <a:latin typeface="华文楷体"/>
                <a:cs typeface="华文楷体"/>
              </a:rPr>
              <a:t>亨利：</a:t>
            </a:r>
            <a:r>
              <a:rPr dirty="0" sz="2600" b="1">
                <a:latin typeface="华文楷体"/>
                <a:cs typeface="华文楷体"/>
              </a:rPr>
              <a:t>以他的名字作为电感的单位。主要成就：强电磁铁的制 </a:t>
            </a:r>
            <a:r>
              <a:rPr dirty="0" sz="2600" b="1">
                <a:latin typeface="华文楷体"/>
                <a:cs typeface="华文楷体"/>
              </a:rPr>
              <a:t>成；比法拉第早一年发现电磁感应现象；发现了自感现象。</a:t>
            </a:r>
            <a:endParaRPr sz="26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2600" b="1">
                <a:solidFill>
                  <a:srgbClr val="000099"/>
                </a:solidFill>
                <a:latin typeface="华文楷体"/>
                <a:cs typeface="华文楷体"/>
              </a:rPr>
              <a:t>麦克斯韦：</a:t>
            </a:r>
            <a:r>
              <a:rPr dirty="0" sz="2600" b="1">
                <a:latin typeface="华文楷体"/>
                <a:cs typeface="华文楷体"/>
              </a:rPr>
              <a:t>建立经典电磁场理论，预言电磁波。</a:t>
            </a:r>
            <a:endParaRPr sz="26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2600" b="1">
                <a:solidFill>
                  <a:srgbClr val="000099"/>
                </a:solidFill>
                <a:latin typeface="华文楷体"/>
                <a:cs typeface="华文楷体"/>
              </a:rPr>
              <a:t>赫兹：</a:t>
            </a:r>
            <a:r>
              <a:rPr dirty="0" sz="2600" b="1">
                <a:latin typeface="华文楷体"/>
                <a:cs typeface="华文楷体"/>
              </a:rPr>
              <a:t>实验捕捉到电磁波，证实了麦克斯韦的电磁场理论</a:t>
            </a:r>
            <a:endParaRPr sz="2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7335" y="1605724"/>
            <a:ext cx="8394065" cy="3044825"/>
          </a:xfrm>
          <a:prstGeom prst="rect">
            <a:avLst/>
          </a:prstGeom>
        </p:spPr>
        <p:txBody>
          <a:bodyPr wrap="square" lIns="0" tIns="233679" rIns="0" bIns="0" rtlCol="0" vert="horz">
            <a:spAutoFit/>
          </a:bodyPr>
          <a:lstStyle/>
          <a:p>
            <a:pPr marL="535940" indent="-523240">
              <a:lnSpc>
                <a:spcPct val="100000"/>
              </a:lnSpc>
              <a:spcBef>
                <a:spcPts val="1839"/>
              </a:spcBef>
              <a:buFont typeface="Times New Roman"/>
              <a:buAutoNum type="alphaUcPeriod"/>
              <a:tabLst>
                <a:tab pos="535305" algn="l"/>
                <a:tab pos="535940" algn="l"/>
              </a:tabLst>
            </a:pPr>
            <a:r>
              <a:rPr dirty="0" sz="2800" b="1">
                <a:solidFill>
                  <a:srgbClr val="000404"/>
                </a:solidFill>
                <a:latin typeface="华文楷体"/>
                <a:cs typeface="华文楷体"/>
              </a:rPr>
              <a:t>恒定电流能够在周围空间产生稳定的磁</a:t>
            </a:r>
            <a:r>
              <a:rPr dirty="0" sz="2800" spc="-10" b="1">
                <a:solidFill>
                  <a:srgbClr val="000404"/>
                </a:solidFill>
                <a:latin typeface="华文楷体"/>
                <a:cs typeface="华文楷体"/>
              </a:rPr>
              <a:t>场</a:t>
            </a:r>
            <a:endParaRPr sz="2800">
              <a:latin typeface="华文楷体"/>
              <a:cs typeface="华文楷体"/>
            </a:endParaRPr>
          </a:p>
          <a:p>
            <a:pPr marL="516890" indent="-504190">
              <a:lnSpc>
                <a:spcPct val="100000"/>
              </a:lnSpc>
              <a:spcBef>
                <a:spcPts val="1739"/>
              </a:spcBef>
              <a:buFont typeface="Times New Roman"/>
              <a:buAutoNum type="alphaUcPeriod"/>
              <a:tabLst>
                <a:tab pos="516255" algn="l"/>
                <a:tab pos="516890" algn="l"/>
              </a:tabLst>
            </a:pPr>
            <a:r>
              <a:rPr dirty="0" sz="2800" b="1">
                <a:solidFill>
                  <a:srgbClr val="000404"/>
                </a:solidFill>
                <a:latin typeface="华文楷体"/>
                <a:cs typeface="华文楷体"/>
              </a:rPr>
              <a:t>稳定电场能够在周围空间产生稳定的磁</a:t>
            </a:r>
            <a:r>
              <a:rPr dirty="0" sz="2800" spc="-10" b="1">
                <a:solidFill>
                  <a:srgbClr val="000404"/>
                </a:solidFill>
                <a:latin typeface="华文楷体"/>
                <a:cs typeface="华文楷体"/>
              </a:rPr>
              <a:t>场</a:t>
            </a:r>
            <a:endParaRPr sz="2800">
              <a:latin typeface="华文楷体"/>
              <a:cs typeface="华文楷体"/>
            </a:endParaRPr>
          </a:p>
          <a:p>
            <a:pPr marL="535940" indent="-523240">
              <a:lnSpc>
                <a:spcPct val="100000"/>
              </a:lnSpc>
              <a:spcBef>
                <a:spcPts val="1739"/>
              </a:spcBef>
              <a:buFont typeface="Times New Roman"/>
              <a:buAutoNum type="alphaUcPeriod"/>
              <a:tabLst>
                <a:tab pos="535305" algn="l"/>
                <a:tab pos="535940" algn="l"/>
              </a:tabLst>
            </a:pPr>
            <a:r>
              <a:rPr dirty="0" sz="2800" b="1">
                <a:solidFill>
                  <a:srgbClr val="000404"/>
                </a:solidFill>
                <a:latin typeface="华文楷体"/>
                <a:cs typeface="华文楷体"/>
              </a:rPr>
              <a:t>静止电荷能够在周围空间产生稳定的磁</a:t>
            </a:r>
            <a:r>
              <a:rPr dirty="0" sz="2800" spc="-10" b="1">
                <a:solidFill>
                  <a:srgbClr val="000404"/>
                </a:solidFill>
                <a:latin typeface="华文楷体"/>
                <a:cs typeface="华文楷体"/>
              </a:rPr>
              <a:t>场</a:t>
            </a:r>
            <a:endParaRPr sz="2800">
              <a:latin typeface="华文楷体"/>
              <a:cs typeface="华文楷体"/>
            </a:endParaRPr>
          </a:p>
          <a:p>
            <a:pPr marL="288290" marR="5080" indent="-266700">
              <a:lnSpc>
                <a:spcPct val="100000"/>
              </a:lnSpc>
              <a:spcBef>
                <a:spcPts val="1750"/>
              </a:spcBef>
              <a:buFont typeface="Times New Roman"/>
              <a:buAutoNum type="alphaUcPeriod"/>
              <a:tabLst>
                <a:tab pos="544830" algn="l"/>
                <a:tab pos="545465" algn="l"/>
              </a:tabLst>
            </a:pPr>
            <a:r>
              <a:rPr dirty="0" sz="2800" b="1">
                <a:solidFill>
                  <a:srgbClr val="000404"/>
                </a:solidFill>
                <a:latin typeface="华文楷体"/>
                <a:cs typeface="华文楷体"/>
              </a:rPr>
              <a:t>周期性变化的电场和磁场互相激发，形成由近及</a:t>
            </a:r>
            <a:r>
              <a:rPr dirty="0" sz="2800" spc="-5" b="1">
                <a:solidFill>
                  <a:srgbClr val="000404"/>
                </a:solidFill>
                <a:latin typeface="华文楷体"/>
                <a:cs typeface="华文楷体"/>
              </a:rPr>
              <a:t>远 </a:t>
            </a:r>
            <a:r>
              <a:rPr dirty="0" sz="2800" b="1">
                <a:solidFill>
                  <a:srgbClr val="000404"/>
                </a:solidFill>
                <a:latin typeface="华文楷体"/>
                <a:cs typeface="华文楷体"/>
              </a:rPr>
              <a:t>传播的电磁波</a:t>
            </a:r>
            <a:r>
              <a:rPr dirty="0" sz="2800" spc="-10" b="1">
                <a:solidFill>
                  <a:srgbClr val="000404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3294" y="1127696"/>
            <a:ext cx="625538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69035" algn="l"/>
                <a:tab pos="4926330" algn="l"/>
                <a:tab pos="5887085" algn="l"/>
              </a:tabLst>
            </a:pPr>
            <a:r>
              <a:rPr dirty="0" sz="2800">
                <a:solidFill>
                  <a:srgbClr val="000404"/>
                </a:solidFill>
              </a:rPr>
              <a:t>例题</a:t>
            </a:r>
            <a:r>
              <a:rPr dirty="0" sz="2800" spc="-5">
                <a:solidFill>
                  <a:srgbClr val="000404"/>
                </a:solidFill>
                <a:latin typeface="Times New Roman"/>
                <a:cs typeface="Times New Roman"/>
              </a:rPr>
              <a:t>1</a:t>
            </a:r>
            <a:r>
              <a:rPr dirty="0" sz="2800">
                <a:solidFill>
                  <a:srgbClr val="000404"/>
                </a:solidFill>
                <a:latin typeface="Times New Roman"/>
                <a:cs typeface="Times New Roman"/>
              </a:rPr>
              <a:t>	</a:t>
            </a:r>
            <a:r>
              <a:rPr dirty="0" sz="2800">
                <a:solidFill>
                  <a:srgbClr val="000404"/>
                </a:solidFill>
              </a:rPr>
              <a:t>下面说法中正确的是</a:t>
            </a:r>
            <a:r>
              <a:rPr dirty="0" sz="2800" spc="-10">
                <a:solidFill>
                  <a:srgbClr val="000404"/>
                </a:solidFill>
              </a:rPr>
              <a:t>（</a:t>
            </a:r>
            <a:r>
              <a:rPr dirty="0" sz="2800">
                <a:solidFill>
                  <a:srgbClr val="000404"/>
                </a:solidFill>
              </a:rPr>
              <a:t>	</a:t>
            </a:r>
            <a:r>
              <a:rPr dirty="0" baseline="-3472" sz="480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dirty="0" baseline="-3472" sz="4800" spc="-7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3472" sz="480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dirty="0" baseline="-3472" sz="480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spc="-10">
                <a:solidFill>
                  <a:srgbClr val="000404"/>
                </a:solidFill>
              </a:rPr>
              <a:t>）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algn="just" marL="12700" marR="5080">
              <a:lnSpc>
                <a:spcPct val="119600"/>
              </a:lnSpc>
              <a:spcBef>
                <a:spcPts val="165"/>
              </a:spcBef>
            </a:pPr>
            <a:r>
              <a:rPr dirty="0" sz="2800"/>
              <a:t>例题</a:t>
            </a:r>
            <a:r>
              <a:rPr dirty="0" sz="2800" spc="-5">
                <a:latin typeface="Times New Roman"/>
                <a:cs typeface="Times New Roman"/>
              </a:rPr>
              <a:t>2</a:t>
            </a:r>
            <a:r>
              <a:rPr dirty="0" sz="2800" spc="675">
                <a:latin typeface="Times New Roman"/>
                <a:cs typeface="Times New Roman"/>
              </a:rPr>
              <a:t> </a:t>
            </a:r>
            <a:r>
              <a:rPr dirty="0"/>
              <a:t>如图，在竖直向下的匀强磁场中，有一个半径为</a:t>
            </a:r>
            <a:r>
              <a:rPr dirty="0" spc="-5" i="1">
                <a:latin typeface="Times New Roman"/>
                <a:cs typeface="Times New Roman"/>
              </a:rPr>
              <a:t>r</a:t>
            </a:r>
            <a:r>
              <a:rPr dirty="0"/>
              <a:t>的绝缘圆环</a:t>
            </a:r>
            <a:r>
              <a:rPr dirty="0" spc="-10"/>
              <a:t>水 </a:t>
            </a:r>
            <a:r>
              <a:rPr dirty="0"/>
              <a:t>平放置，圆环中有一个带正电的小球，电荷量为</a:t>
            </a:r>
            <a:r>
              <a:rPr dirty="0" i="1">
                <a:latin typeface="Times New Roman"/>
                <a:cs typeface="Times New Roman"/>
              </a:rPr>
              <a:t>q</a:t>
            </a:r>
            <a:r>
              <a:rPr dirty="0"/>
              <a:t>，初速度为零。不</a:t>
            </a:r>
            <a:r>
              <a:rPr dirty="0" spc="-10"/>
              <a:t>计 </a:t>
            </a:r>
            <a:r>
              <a:rPr dirty="0"/>
              <a:t>小球和圆环之间的摩擦，当磁场以</a:t>
            </a:r>
            <a:r>
              <a:rPr dirty="0" spc="-5" i="1">
                <a:latin typeface="Times New Roman"/>
                <a:cs typeface="Times New Roman"/>
              </a:rPr>
              <a:t>B</a:t>
            </a:r>
            <a:r>
              <a:rPr dirty="0" spc="-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=B</a:t>
            </a:r>
            <a:r>
              <a:rPr dirty="0" baseline="-17361" sz="2400">
                <a:latin typeface="Times New Roman"/>
                <a:cs typeface="Times New Roman"/>
              </a:rPr>
              <a:t>0</a:t>
            </a:r>
            <a:r>
              <a:rPr dirty="0" sz="2500">
                <a:latin typeface="Times New Roman"/>
                <a:cs typeface="Times New Roman"/>
              </a:rPr>
              <a:t>+</a:t>
            </a:r>
            <a:r>
              <a:rPr dirty="0" sz="2500" i="1">
                <a:latin typeface="Times New Roman"/>
                <a:cs typeface="Times New Roman"/>
              </a:rPr>
              <a:t>kt</a:t>
            </a:r>
            <a:r>
              <a:rPr dirty="0" sz="2500"/>
              <a:t>的规律逐渐增大时，求</a:t>
            </a:r>
            <a:r>
              <a:rPr dirty="0" sz="2500" spc="-10"/>
              <a:t>：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73894" y="2234819"/>
            <a:ext cx="2527411" cy="2172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80516" y="3755135"/>
            <a:ext cx="4622800" cy="1777364"/>
          </a:xfrm>
          <a:custGeom>
            <a:avLst/>
            <a:gdLst/>
            <a:ahLst/>
            <a:cxnLst/>
            <a:rect l="l" t="t" r="r" b="b"/>
            <a:pathLst>
              <a:path w="4622800" h="1777364">
                <a:moveTo>
                  <a:pt x="0" y="0"/>
                </a:moveTo>
                <a:lnTo>
                  <a:pt x="4622292" y="0"/>
                </a:lnTo>
                <a:lnTo>
                  <a:pt x="4622292" y="1776984"/>
                </a:lnTo>
                <a:lnTo>
                  <a:pt x="0" y="1776984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03904" y="4630928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 h="0">
                <a:moveTo>
                  <a:pt x="0" y="0"/>
                </a:moveTo>
                <a:lnTo>
                  <a:pt x="402882" y="0"/>
                </a:lnTo>
              </a:path>
            </a:pathLst>
          </a:custGeom>
          <a:ln w="14846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54450" y="4626318"/>
            <a:ext cx="29083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>
                <a:solidFill>
                  <a:srgbClr val="FFFF00"/>
                </a:solidFill>
                <a:latin typeface="Symbol"/>
                <a:cs typeface="Symbol"/>
              </a:rPr>
              <a:t>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9800" y="4607648"/>
            <a:ext cx="19748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>
                <a:solidFill>
                  <a:srgbClr val="FFFF00"/>
                </a:solidFill>
                <a:latin typeface="宋体"/>
                <a:cs typeface="宋体"/>
              </a:rPr>
              <a:t>感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040" y="5032488"/>
            <a:ext cx="249745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15"/>
              </a:lnSpc>
              <a:spcBef>
                <a:spcPts val="100"/>
              </a:spcBef>
            </a:pPr>
            <a:r>
              <a:rPr dirty="0" sz="2350" spc="-10">
                <a:solidFill>
                  <a:srgbClr val="FFFF00"/>
                </a:solidFill>
                <a:latin typeface="Symbol"/>
                <a:cs typeface="Symbol"/>
              </a:rPr>
              <a:t></a:t>
            </a:r>
            <a:r>
              <a:rPr dirty="0" sz="2350" spc="-10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baseline="-24691" sz="2025" spc="-15">
                <a:solidFill>
                  <a:srgbClr val="FFFF00"/>
                </a:solidFill>
                <a:latin typeface="宋体"/>
                <a:cs typeface="宋体"/>
              </a:rPr>
              <a:t>k</a:t>
            </a:r>
            <a:r>
              <a:rPr dirty="0" baseline="-24691" sz="2025" spc="127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350" spc="-5">
                <a:solidFill>
                  <a:srgbClr val="FFFF00"/>
                </a:solidFill>
                <a:latin typeface="Symbol"/>
                <a:cs typeface="Symbol"/>
              </a:rPr>
              <a:t></a:t>
            </a:r>
            <a:r>
              <a:rPr dirty="0" sz="2350" spc="-4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i="1">
                <a:solidFill>
                  <a:srgbClr val="FFFF00"/>
                </a:solidFill>
                <a:latin typeface="Times New Roman"/>
                <a:cs typeface="Times New Roman"/>
              </a:rPr>
              <a:t>qE</a:t>
            </a:r>
            <a:r>
              <a:rPr dirty="0" baseline="-28806" sz="2025">
                <a:solidFill>
                  <a:srgbClr val="FFFF00"/>
                </a:solidFill>
                <a:latin typeface="宋体"/>
                <a:cs typeface="宋体"/>
              </a:rPr>
              <a:t>感</a:t>
            </a:r>
            <a:r>
              <a:rPr dirty="0" baseline="-28806" sz="2025" spc="30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350" spc="-5">
                <a:solidFill>
                  <a:srgbClr val="FFFF00"/>
                </a:solidFill>
                <a:latin typeface="Symbol"/>
                <a:cs typeface="Symbol"/>
              </a:rPr>
              <a:t></a:t>
            </a:r>
            <a:r>
              <a:rPr dirty="0" sz="2350" spc="-27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500" spc="-150" i="1">
                <a:solidFill>
                  <a:srgbClr val="FFFF00"/>
                </a:solidFill>
                <a:latin typeface="Symbol"/>
                <a:cs typeface="Symbol"/>
              </a:rPr>
              <a:t></a:t>
            </a:r>
            <a:r>
              <a:rPr dirty="0" sz="2350" spc="-150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350" spc="-9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350" spc="-229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350">
              <a:latin typeface="Times New Roman"/>
              <a:cs typeface="Times New Roman"/>
            </a:endParaRPr>
          </a:p>
          <a:p>
            <a:pPr algn="r" marR="5080">
              <a:lnSpc>
                <a:spcPts val="795"/>
              </a:lnSpc>
            </a:pPr>
            <a:r>
              <a:rPr dirty="0" sz="135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0" rIns="0" bIns="0" rtlCol="0" vert="horz">
            <a:spAutoFit/>
          </a:bodyPr>
          <a:lstStyle/>
          <a:p>
            <a:pPr marL="953135" indent="-795020">
              <a:lnSpc>
                <a:spcPct val="100000"/>
              </a:lnSpc>
              <a:spcBef>
                <a:spcPts val="1300"/>
              </a:spcBef>
              <a:buSzPct val="96000"/>
              <a:buAutoNum type="arabicPlain"/>
              <a:tabLst>
                <a:tab pos="953769" algn="l"/>
              </a:tabLst>
            </a:pPr>
            <a:r>
              <a:rPr dirty="0"/>
              <a:t>小球的运动方向及运动一周增加的动能</a:t>
            </a:r>
            <a:r>
              <a:rPr dirty="0" spc="-10"/>
              <a:t>；</a:t>
            </a:r>
          </a:p>
          <a:p>
            <a:pPr marL="953135" indent="-795020">
              <a:lnSpc>
                <a:spcPct val="100000"/>
              </a:lnSpc>
              <a:spcBef>
                <a:spcPts val="1200"/>
              </a:spcBef>
              <a:buSzPct val="96000"/>
              <a:buAutoNum type="arabicPlain"/>
              <a:tabLst>
                <a:tab pos="953769" algn="l"/>
              </a:tabLst>
            </a:pPr>
            <a:r>
              <a:rPr dirty="0"/>
              <a:t>小球受到的电场力</a:t>
            </a:r>
            <a:r>
              <a:rPr dirty="0" spc="-10"/>
              <a:t>；</a:t>
            </a:r>
          </a:p>
          <a:p>
            <a:pPr marL="953135" indent="-795020">
              <a:lnSpc>
                <a:spcPct val="100000"/>
              </a:lnSpc>
              <a:spcBef>
                <a:spcPts val="1200"/>
              </a:spcBef>
              <a:buSzPct val="96000"/>
              <a:buAutoNum type="arabicPlain"/>
              <a:tabLst>
                <a:tab pos="953769" algn="l"/>
              </a:tabLst>
            </a:pPr>
            <a:r>
              <a:rPr dirty="0"/>
              <a:t>感生电场沿圆环方向上的场强</a:t>
            </a:r>
            <a:r>
              <a:rPr dirty="0" spc="-10"/>
              <a:t>；</a:t>
            </a:r>
          </a:p>
          <a:p>
            <a:pPr algn="ctr" marR="2612390">
              <a:lnSpc>
                <a:spcPct val="100000"/>
              </a:lnSpc>
              <a:spcBef>
                <a:spcPts val="2240"/>
              </a:spcBef>
            </a:pPr>
            <a:r>
              <a:rPr dirty="0" sz="2350" spc="5" b="0">
                <a:solidFill>
                  <a:srgbClr val="FFFF00"/>
                </a:solidFill>
                <a:latin typeface="宋体"/>
                <a:cs typeface="宋体"/>
              </a:rPr>
              <a:t>（1）从上往下看，逆时针加</a:t>
            </a:r>
            <a:r>
              <a:rPr dirty="0" sz="2350" spc="-10" b="0">
                <a:solidFill>
                  <a:srgbClr val="FFFF00"/>
                </a:solidFill>
                <a:latin typeface="宋体"/>
                <a:cs typeface="宋体"/>
              </a:rPr>
              <a:t>速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3668" y="4376381"/>
            <a:ext cx="451548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1235" algn="l"/>
              </a:tabLst>
            </a:pPr>
            <a:r>
              <a:rPr dirty="0" sz="2350" spc="5">
                <a:solidFill>
                  <a:srgbClr val="FFFF00"/>
                </a:solidFill>
                <a:latin typeface="宋体"/>
                <a:cs typeface="宋体"/>
              </a:rPr>
              <a:t>感应电动势</a:t>
            </a:r>
            <a:r>
              <a:rPr dirty="0" sz="235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350" i="1">
                <a:solidFill>
                  <a:srgbClr val="FFFF00"/>
                </a:solidFill>
                <a:latin typeface="Times New Roman"/>
                <a:cs typeface="Times New Roman"/>
              </a:rPr>
              <a:t>E	</a:t>
            </a:r>
            <a:r>
              <a:rPr dirty="0" sz="2350" spc="-5">
                <a:solidFill>
                  <a:srgbClr val="FFFF00"/>
                </a:solidFill>
                <a:latin typeface="Symbol"/>
                <a:cs typeface="Symbol"/>
              </a:rPr>
              <a:t></a:t>
            </a:r>
            <a:r>
              <a:rPr dirty="0" sz="2350" spc="-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35460" sz="3525" spc="-7">
                <a:solidFill>
                  <a:srgbClr val="FFFF00"/>
                </a:solidFill>
                <a:latin typeface="Symbol"/>
                <a:cs typeface="Symbol"/>
              </a:rPr>
              <a:t></a:t>
            </a:r>
            <a:r>
              <a:rPr dirty="0" baseline="35460" sz="3525" spc="-7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350" spc="-325">
                <a:solidFill>
                  <a:srgbClr val="FFFF00"/>
                </a:solidFill>
                <a:latin typeface="Symbol"/>
                <a:cs typeface="Symbol"/>
              </a:rPr>
              <a:t></a:t>
            </a:r>
            <a:r>
              <a:rPr dirty="0" sz="2500" spc="-325" i="1">
                <a:solidFill>
                  <a:srgbClr val="FFFF00"/>
                </a:solidFill>
                <a:latin typeface="Symbol"/>
                <a:cs typeface="Symbol"/>
              </a:rPr>
              <a:t></a:t>
            </a:r>
            <a:r>
              <a:rPr dirty="0" sz="2350" spc="-325" i="1">
                <a:solidFill>
                  <a:srgbClr val="FFFF00"/>
                </a:solidFill>
                <a:latin typeface="Times New Roman"/>
                <a:cs typeface="Times New Roman"/>
              </a:rPr>
              <a:t>r </a:t>
            </a:r>
            <a:r>
              <a:rPr dirty="0" baseline="43209" sz="2025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350" spc="-5">
                <a:solidFill>
                  <a:srgbClr val="FFFF00"/>
                </a:solidFill>
                <a:latin typeface="Symbol"/>
                <a:cs typeface="Symbol"/>
              </a:rPr>
              <a:t></a:t>
            </a:r>
            <a:r>
              <a:rPr dirty="0" sz="2350" spc="-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500" spc="-145" i="1">
                <a:solidFill>
                  <a:srgbClr val="FFFF00"/>
                </a:solidFill>
                <a:latin typeface="Symbol"/>
                <a:cs typeface="Symbol"/>
              </a:rPr>
              <a:t></a:t>
            </a:r>
            <a:r>
              <a:rPr dirty="0" sz="2350" spc="-145" i="1">
                <a:solidFill>
                  <a:srgbClr val="FFFF00"/>
                </a:solidFill>
                <a:latin typeface="Times New Roman"/>
                <a:cs typeface="Times New Roman"/>
              </a:rPr>
              <a:t>k 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350" spc="-46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43209" sz="2025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baseline="43209" sz="202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29639" y="5727191"/>
            <a:ext cx="4798060" cy="775970"/>
          </a:xfrm>
          <a:custGeom>
            <a:avLst/>
            <a:gdLst/>
            <a:ahLst/>
            <a:cxnLst/>
            <a:rect l="l" t="t" r="r" b="b"/>
            <a:pathLst>
              <a:path w="4798060" h="775970">
                <a:moveTo>
                  <a:pt x="0" y="0"/>
                </a:moveTo>
                <a:lnTo>
                  <a:pt x="4797552" y="0"/>
                </a:lnTo>
                <a:lnTo>
                  <a:pt x="4797552" y="775715"/>
                </a:lnTo>
                <a:lnTo>
                  <a:pt x="0" y="775715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23586" y="6127572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 h="0">
                <a:moveTo>
                  <a:pt x="0" y="0"/>
                </a:moveTo>
                <a:lnTo>
                  <a:pt x="178028" y="0"/>
                </a:lnTo>
              </a:path>
            </a:pathLst>
          </a:custGeom>
          <a:ln w="14846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929632" y="6123051"/>
            <a:ext cx="17462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-5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06091" y="6093383"/>
            <a:ext cx="11176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>
                <a:solidFill>
                  <a:srgbClr val="FFFF00"/>
                </a:solidFill>
                <a:latin typeface="宋体"/>
                <a:cs typeface="宋体"/>
              </a:rPr>
              <a:t>k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3572" y="5873038"/>
            <a:ext cx="485457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9725" algn="l"/>
                <a:tab pos="3009900" algn="l"/>
              </a:tabLst>
            </a:pPr>
            <a:r>
              <a:rPr dirty="0" sz="2350" spc="5">
                <a:solidFill>
                  <a:srgbClr val="FFFF00"/>
                </a:solidFill>
                <a:latin typeface="宋体"/>
                <a:cs typeface="宋体"/>
              </a:rPr>
              <a:t>（2）由</a:t>
            </a:r>
            <a:r>
              <a:rPr dirty="0" sz="2350" spc="-5">
                <a:solidFill>
                  <a:srgbClr val="FFFF00"/>
                </a:solidFill>
                <a:latin typeface="Symbol"/>
                <a:cs typeface="Symbol"/>
              </a:rPr>
              <a:t>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E	</a:t>
            </a:r>
            <a:r>
              <a:rPr dirty="0" sz="2350" spc="-5">
                <a:solidFill>
                  <a:srgbClr val="FFFF00"/>
                </a:solidFill>
                <a:latin typeface="Symbol"/>
                <a:cs typeface="Symbol"/>
              </a:rPr>
              <a:t></a:t>
            </a:r>
            <a:r>
              <a:rPr dirty="0" sz="2350" spc="-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350" spc="-4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705">
                <a:solidFill>
                  <a:srgbClr val="FFFF00"/>
                </a:solidFill>
                <a:latin typeface="Symbol"/>
                <a:cs typeface="Symbol"/>
              </a:rPr>
              <a:t></a:t>
            </a:r>
            <a:r>
              <a:rPr dirty="0" sz="2350" spc="-22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19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2500" spc="-190" i="1">
                <a:solidFill>
                  <a:srgbClr val="FFFF00"/>
                </a:solidFill>
                <a:latin typeface="Symbol"/>
                <a:cs typeface="Symbol"/>
              </a:rPr>
              <a:t></a:t>
            </a:r>
            <a:r>
              <a:rPr dirty="0" sz="2350" spc="-190" i="1">
                <a:solidFill>
                  <a:srgbClr val="FFFF00"/>
                </a:solidFill>
                <a:latin typeface="Times New Roman"/>
                <a:cs typeface="Times New Roman"/>
              </a:rPr>
              <a:t>r	</a:t>
            </a:r>
            <a:r>
              <a:rPr dirty="0" sz="2350" spc="5">
                <a:solidFill>
                  <a:srgbClr val="FFFF00"/>
                </a:solidFill>
                <a:latin typeface="宋体"/>
                <a:cs typeface="宋体"/>
              </a:rPr>
              <a:t>得</a:t>
            </a:r>
            <a:r>
              <a:rPr dirty="0" sz="2350" spc="-75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350" spc="-75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350" spc="140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5">
                <a:solidFill>
                  <a:srgbClr val="FFFF00"/>
                </a:solidFill>
                <a:latin typeface="Symbol"/>
                <a:cs typeface="Symbol"/>
              </a:rPr>
              <a:t></a:t>
            </a:r>
            <a:r>
              <a:rPr dirty="0" sz="2350" spc="27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35460" sz="3525" spc="-7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baseline="35460" sz="3525" spc="-397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350" spc="-10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sz="2350" spc="-23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99276" y="4800600"/>
            <a:ext cx="4223385" cy="775970"/>
          </a:xfrm>
          <a:custGeom>
            <a:avLst/>
            <a:gdLst/>
            <a:ahLst/>
            <a:cxnLst/>
            <a:rect l="l" t="t" r="r" b="b"/>
            <a:pathLst>
              <a:path w="4223384" h="775970">
                <a:moveTo>
                  <a:pt x="0" y="0"/>
                </a:moveTo>
                <a:lnTo>
                  <a:pt x="4223004" y="0"/>
                </a:lnTo>
                <a:lnTo>
                  <a:pt x="4223004" y="775715"/>
                </a:lnTo>
                <a:lnTo>
                  <a:pt x="0" y="775715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961371" y="5201094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 h="0">
                <a:moveTo>
                  <a:pt x="0" y="0"/>
                </a:moveTo>
                <a:lnTo>
                  <a:pt x="178041" y="0"/>
                </a:lnTo>
              </a:path>
            </a:pathLst>
          </a:custGeom>
          <a:ln w="14846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962730" y="4772621"/>
            <a:ext cx="17462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-5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63144" y="4961915"/>
            <a:ext cx="211772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5">
                <a:solidFill>
                  <a:srgbClr val="FFFF00"/>
                </a:solidFill>
                <a:latin typeface="宋体"/>
                <a:cs typeface="宋体"/>
              </a:rPr>
              <a:t>（3）由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2350" spc="14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5">
                <a:solidFill>
                  <a:srgbClr val="FFFF00"/>
                </a:solidFill>
                <a:latin typeface="Symbol"/>
                <a:cs typeface="Symbol"/>
              </a:rPr>
              <a:t></a:t>
            </a:r>
            <a:r>
              <a:rPr dirty="0" sz="2350" spc="-9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105" i="1">
                <a:solidFill>
                  <a:srgbClr val="FFFF00"/>
                </a:solidFill>
                <a:latin typeface="Times New Roman"/>
                <a:cs typeface="Times New Roman"/>
              </a:rPr>
              <a:t>qE</a:t>
            </a:r>
            <a:r>
              <a:rPr dirty="0" baseline="-28806" sz="2025">
                <a:solidFill>
                  <a:srgbClr val="FFFF00"/>
                </a:solidFill>
                <a:latin typeface="宋体"/>
                <a:cs typeface="宋体"/>
              </a:rPr>
              <a:t>场</a:t>
            </a:r>
            <a:endParaRPr baseline="-28806" sz="2025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59520" y="4961915"/>
            <a:ext cx="1888489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5">
                <a:solidFill>
                  <a:srgbClr val="FFFF00"/>
                </a:solidFill>
                <a:latin typeface="宋体"/>
                <a:cs typeface="宋体"/>
              </a:rPr>
              <a:t>得</a:t>
            </a:r>
            <a:r>
              <a:rPr dirty="0" sz="2350" spc="-10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350" spc="-10" i="1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dirty="0" baseline="-28806" sz="2025">
                <a:solidFill>
                  <a:srgbClr val="FFFF00"/>
                </a:solidFill>
                <a:latin typeface="宋体"/>
                <a:cs typeface="宋体"/>
              </a:rPr>
              <a:t>场</a:t>
            </a:r>
            <a:r>
              <a:rPr dirty="0" baseline="-28806" sz="2025" spc="-82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350" spc="-5">
                <a:solidFill>
                  <a:srgbClr val="FFFF00"/>
                </a:solidFill>
                <a:latin typeface="Symbol"/>
                <a:cs typeface="Symbol"/>
              </a:rPr>
              <a:t></a:t>
            </a:r>
            <a:r>
              <a:rPr dirty="0" sz="2350" spc="26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-43735" sz="3525" spc="-7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baseline="-43735" sz="3525" spc="-434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dirty="0" sz="2350" spc="325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350" spc="-5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3282" y="463633"/>
            <a:ext cx="4805680" cy="11252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00" b="0">
                <a:solidFill>
                  <a:srgbClr val="387CB3"/>
                </a:solidFill>
                <a:latin typeface="宋体"/>
                <a:cs typeface="宋体"/>
              </a:rPr>
              <a:t>皋</a:t>
            </a:r>
            <a:r>
              <a:rPr dirty="0" sz="3000" spc="245" b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145" b="0">
                <a:solidFill>
                  <a:srgbClr val="387CB3"/>
                </a:solidFill>
                <a:latin typeface="宋体"/>
                <a:cs typeface="宋体"/>
              </a:rPr>
              <a:t>国</a:t>
            </a:r>
            <a:r>
              <a:rPr dirty="0" sz="3000" spc="-210" b="0">
                <a:solidFill>
                  <a:srgbClr val="387CB3"/>
                </a:solidFill>
                <a:latin typeface="宋体"/>
                <a:cs typeface="宋体"/>
              </a:rPr>
              <a:t>家中小学网络今</a:t>
            </a:r>
            <a:r>
              <a:rPr dirty="0" sz="3000" spc="-520" b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-355" b="0">
                <a:solidFill>
                  <a:srgbClr val="387CB3"/>
                </a:solidFill>
                <a:latin typeface="宋体"/>
                <a:cs typeface="宋体"/>
              </a:rPr>
              <a:t>廿</a:t>
            </a:r>
            <a:r>
              <a:rPr dirty="0" sz="5600" spc="-1605" b="0">
                <a:solidFill>
                  <a:srgbClr val="387CB3"/>
                </a:solidFill>
                <a:latin typeface="Arial"/>
                <a:cs typeface="Arial"/>
              </a:rPr>
              <a:t>P</a:t>
            </a:r>
            <a:r>
              <a:rPr dirty="0" sz="6200" spc="-2915" b="0">
                <a:solidFill>
                  <a:srgbClr val="387CB3"/>
                </a:solidFill>
                <a:latin typeface="宋体"/>
                <a:cs typeface="宋体"/>
              </a:rPr>
              <a:t>生</a:t>
            </a:r>
            <a:r>
              <a:rPr dirty="0" sz="7200" spc="-940" b="0">
                <a:solidFill>
                  <a:srgbClr val="387CB3"/>
                </a:solidFill>
                <a:latin typeface="Times New Roman"/>
                <a:cs typeface="Times New Roman"/>
              </a:rPr>
              <a:t>t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2025-04-20T11:57:33Z</dcterms:created>
  <dcterms:modified xsi:type="dcterms:W3CDTF">2025-04-20T11:57:33Z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