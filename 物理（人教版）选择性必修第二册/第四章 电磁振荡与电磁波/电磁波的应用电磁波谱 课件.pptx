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Default Extension="jpg" ContentType="image/jpg"/>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x="12192000" cy="6858000"/>
  <p:notesSz cx="12192000" cy="6858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viewProps" Target="viewProps.xml"/><Relationship Id="rId4" Type="http://schemas.openxmlformats.org/officeDocument/2006/relationships/presProps" Target="presProps.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obj">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1840" y="-31432"/>
            <a:ext cx="10688319" cy="634365"/>
          </a:xfrm>
          <a:prstGeom prst="rect">
            <a:avLst/>
          </a:prstGeom>
        </p:spPr>
        <p:txBody>
          <a:bodyPr wrap="square" lIns="0" tIns="0" rIns="0" bIns="0">
            <a:spAutoFit/>
          </a:bodyPr>
          <a:lstStyle>
            <a:lvl1pPr>
              <a:defRPr b="0" i="0">
                <a:solidFill>
                  <a:schemeClr val="tx1"/>
                </a:solidFill>
              </a:defRPr>
            </a:lvl1pPr>
          </a:lstStyle>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p:txBody>
      </p:sp>
      <p:sp>
        <p:nvSpPr>
          <p:cNvPr id="4" name="Holder 4"/>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1">
                <a:solidFill>
                  <a:schemeClr val="bg1"/>
                </a:solidFill>
                <a:latin typeface="微软雅黑"/>
                <a:cs typeface="微软雅黑"/>
              </a:defRPr>
            </a:lvl1pPr>
          </a:lstStyle>
          <a:p/>
        </p:txBody>
      </p:sp>
      <p:sp>
        <p:nvSpPr>
          <p:cNvPr id="3" name="Holder 3"/>
          <p:cNvSpPr>
            <a:spLocks noGrp="1"/>
          </p:cNvSpPr>
          <p:nvPr>
            <p:ph type="body" idx="1"/>
          </p:nvPr>
        </p:nvSpPr>
        <p:spPr/>
        <p:txBody>
          <a:bodyPr lIns="0" tIns="0" rIns="0" bIns="0"/>
          <a:lstStyle>
            <a:lvl1pPr>
              <a:defRPr sz="2400" b="0" i="0">
                <a:solidFill>
                  <a:schemeClr val="tx1"/>
                </a:solidFill>
                <a:latin typeface="微软雅黑"/>
                <a:cs typeface="微软雅黑"/>
              </a:defRPr>
            </a:lvl1pPr>
          </a:lstStyle>
          <a:p/>
        </p:txBody>
      </p:sp>
      <p:sp>
        <p:nvSpPr>
          <p:cNvPr id="4" name="Holder 4"/>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1">
                <a:solidFill>
                  <a:schemeClr val="bg1"/>
                </a:solidFill>
                <a:latin typeface="微软雅黑"/>
                <a:cs typeface="微软雅黑"/>
              </a:defRPr>
            </a:lvl1pPr>
          </a:lstStyle>
          <a:p/>
        </p:txBody>
      </p:sp>
      <p:sp>
        <p:nvSpPr>
          <p:cNvPr id="3" name="Holder 3"/>
          <p:cNvSpPr>
            <a:spLocks noGrp="1"/>
          </p:cNvSpPr>
          <p:nvPr>
            <p:ph idx="2" sz="half"/>
          </p:nvPr>
        </p:nvSpPr>
        <p:spPr>
          <a:xfrm>
            <a:off x="609600" y="1577340"/>
            <a:ext cx="5303520" cy="4526280"/>
          </a:xfrm>
          <a:prstGeom prst="rect">
            <a:avLst/>
          </a:prstGeom>
        </p:spPr>
        <p:txBody>
          <a:bodyPr wrap="square" lIns="0" tIns="0" rIns="0" bIns="0">
            <a:spAutoFit/>
          </a:bodyPr>
          <a:lstStyle>
            <a:lvl1pPr>
              <a:defRPr/>
            </a:lvl1pPr>
          </a:lstStyle>
          <a:p/>
        </p:txBody>
      </p:sp>
      <p:sp>
        <p:nvSpPr>
          <p:cNvPr id="4" name="Holder 4"/>
          <p:cNvSpPr>
            <a:spLocks noGrp="1"/>
          </p:cNvSpPr>
          <p:nvPr>
            <p:ph idx="3" sz="half"/>
          </p:nvPr>
        </p:nvSpPr>
        <p:spPr>
          <a:xfrm>
            <a:off x="6278880" y="1577340"/>
            <a:ext cx="5303520" cy="4526280"/>
          </a:xfrm>
          <a:prstGeom prst="rect">
            <a:avLst/>
          </a:prstGeom>
        </p:spPr>
        <p:txBody>
          <a:bodyPr wrap="square" lIns="0" tIns="0" rIns="0" bIns="0">
            <a:spAutoFit/>
          </a:bodyPr>
          <a:lstStyle>
            <a:lvl1pPr>
              <a:defRPr/>
            </a:lvl1pPr>
          </a:lstStyle>
          <a:p/>
        </p:txBody>
      </p:sp>
      <p:sp>
        <p:nvSpPr>
          <p:cNvPr id="5" name="Holder 5"/>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7" name="Holder 7"/>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1">
                <a:solidFill>
                  <a:schemeClr val="bg1"/>
                </a:solidFill>
                <a:latin typeface="微软雅黑"/>
                <a:cs typeface="微软雅黑"/>
              </a:defRPr>
            </a:lvl1pPr>
          </a:lstStyle>
          <a:p/>
        </p:txBody>
      </p:sp>
      <p:sp>
        <p:nvSpPr>
          <p:cNvPr id="3" name="Holder 3"/>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5" name="Holder 5"/>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obj">
  <p:cSld name="Blank">
    <p:spTree>
      <p:nvGrpSpPr>
        <p:cNvPr id="1" name=""/>
        <p:cNvGrpSpPr/>
        <p:nvPr/>
      </p:nvGrpSpPr>
      <p:grpSpPr>
        <a:xfrm>
          <a:off x="0" y="0"/>
          <a:ext cx="0" cy="0"/>
          <a:chOff x="0" y="0"/>
          <a:chExt cx="0" cy="0"/>
        </a:xfrm>
      </p:grpSpPr>
      <p:sp>
        <p:nvSpPr>
          <p:cNvPr id="2" name="Holder 2"/>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4" name="Holder 4"/>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0"/>
            <a:ext cx="12192000" cy="6858000"/>
          </a:xfrm>
          <a:prstGeom prst="rect">
            <a:avLst/>
          </a:prstGeom>
          <a:blipFill>
            <a:blip r:embed="rId7" cstate="print"/>
            <a:stretch>
              <a:fillRect/>
            </a:stretch>
          </a:blipFill>
        </p:spPr>
        <p:txBody>
          <a:bodyPr wrap="square" lIns="0" tIns="0" rIns="0" bIns="0" rtlCol="0"/>
          <a:lstStyle/>
          <a:p/>
        </p:txBody>
      </p:sp>
      <p:sp>
        <p:nvSpPr>
          <p:cNvPr id="2" name="Holder 2"/>
          <p:cNvSpPr>
            <a:spLocks noGrp="1"/>
          </p:cNvSpPr>
          <p:nvPr>
            <p:ph type="title"/>
          </p:nvPr>
        </p:nvSpPr>
        <p:spPr>
          <a:xfrm>
            <a:off x="2594292" y="2420937"/>
            <a:ext cx="7003415" cy="697230"/>
          </a:xfrm>
          <a:prstGeom prst="rect">
            <a:avLst/>
          </a:prstGeom>
        </p:spPr>
        <p:txBody>
          <a:bodyPr wrap="square" lIns="0" tIns="0" rIns="0" bIns="0">
            <a:spAutoFit/>
          </a:bodyPr>
          <a:lstStyle>
            <a:lvl1pPr>
              <a:defRPr sz="4400" b="1" i="1">
                <a:solidFill>
                  <a:schemeClr val="bg1"/>
                </a:solidFill>
                <a:latin typeface="微软雅黑"/>
                <a:cs typeface="微软雅黑"/>
              </a:defRPr>
            </a:lvl1pPr>
          </a:lstStyle>
          <a:p/>
        </p:txBody>
      </p:sp>
      <p:sp>
        <p:nvSpPr>
          <p:cNvPr id="3" name="Holder 3"/>
          <p:cNvSpPr>
            <a:spLocks noGrp="1"/>
          </p:cNvSpPr>
          <p:nvPr>
            <p:ph type="body" idx="1"/>
          </p:nvPr>
        </p:nvSpPr>
        <p:spPr>
          <a:xfrm>
            <a:off x="423862" y="1748472"/>
            <a:ext cx="11386820" cy="1854200"/>
          </a:xfrm>
          <a:prstGeom prst="rect">
            <a:avLst/>
          </a:prstGeom>
        </p:spPr>
        <p:txBody>
          <a:bodyPr wrap="square" lIns="0" tIns="0" rIns="0" bIns="0">
            <a:spAutoFit/>
          </a:bodyPr>
          <a:lstStyle>
            <a:lvl1pPr>
              <a:defRPr sz="2400" b="0" i="0">
                <a:solidFill>
                  <a:schemeClr val="tx1"/>
                </a:solidFill>
                <a:latin typeface="微软雅黑"/>
                <a:cs typeface="微软雅黑"/>
              </a:defRPr>
            </a:lvl1pPr>
          </a:lstStyle>
          <a:p/>
        </p:txBody>
      </p:sp>
      <p:sp>
        <p:nvSpPr>
          <p:cNvPr id="4" name="Holder 4"/>
          <p:cNvSpPr>
            <a:spLocks noGrp="1"/>
          </p:cNvSpPr>
          <p:nvPr>
            <p:ph type="ftr" idx="5" sz="quarter"/>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idx="6" sz="half"/>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p>
        </p:txBody>
      </p:sp>
    </p:spTree>
  </p:cSld>
  <p:clrMap folHlink="folHlink" hlink="hlink" accent1="accent1" accent2="accent2" accent3="accent3" accent4="accent4" accent5="accent5" accent6="accent6" tx2="dk2" bg2="lt2" tx1="dk1" bg1="lt1"/>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g"/><Relationship Id="rId3"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jpg"/><Relationship Id="rId3" Type="http://schemas.openxmlformats.org/officeDocument/2006/relationships/image" Target="../media/image7.jpg"/><Relationship Id="rId4" Type="http://schemas.openxmlformats.org/officeDocument/2006/relationships/image" Target="../media/image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jpg"/><Relationship Id="rId3" Type="http://schemas.openxmlformats.org/officeDocument/2006/relationships/image" Target="../media/image1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image" Target="../media/image1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jpg"/><Relationship Id="rId3" Type="http://schemas.openxmlformats.org/officeDocument/2006/relationships/image" Target="../media/image2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jpg"/><Relationship Id="rId3" Type="http://schemas.openxmlformats.org/officeDocument/2006/relationships/image" Target="../media/image26.jpg"/><Relationship Id="rId4" Type="http://schemas.openxmlformats.org/officeDocument/2006/relationships/image" Target="../media/image27.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jpg"/><Relationship Id="rId3" Type="http://schemas.openxmlformats.org/officeDocument/2006/relationships/image" Target="../media/image29.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jp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prstGeom prst="rect">
            <a:avLst/>
          </a:prstGeom>
          <a:blipFill>
            <a:blip r:embed="rId2" cstate="print"/>
            <a:stretch>
              <a:fillRect/>
            </a:stretch>
          </a:blipFill>
        </p:spPr>
        <p:txBody>
          <a:bodyPr wrap="square" lIns="0" tIns="0" rIns="0" bIns="0" rtlCol="0"/>
          <a:lstStyle/>
          <a:p/>
        </p:txBody>
      </p:sp>
      <p:sp>
        <p:nvSpPr>
          <p:cNvPr id="3" name="object 3"/>
          <p:cNvSpPr txBox="1">
            <a:spLocks noGrp="1"/>
          </p:cNvSpPr>
          <p:nvPr>
            <p:ph type="title"/>
          </p:nvPr>
        </p:nvSpPr>
        <p:spPr>
          <a:prstGeom prst="rect"/>
        </p:spPr>
        <p:txBody>
          <a:bodyPr wrap="square" lIns="0" tIns="13335" rIns="0" bIns="0" rtlCol="0" vert="horz">
            <a:spAutoFit/>
          </a:bodyPr>
          <a:lstStyle/>
          <a:p>
            <a:pPr marL="1235710">
              <a:lnSpc>
                <a:spcPct val="100000"/>
              </a:lnSpc>
              <a:spcBef>
                <a:spcPts val="105"/>
              </a:spcBef>
            </a:pPr>
            <a:r>
              <a:rPr dirty="0"/>
              <a:t>电磁波的应</a:t>
            </a:r>
            <a:r>
              <a:rPr dirty="0" spc="5"/>
              <a:t>用</a:t>
            </a:r>
            <a:r>
              <a:rPr dirty="0" spc="-105"/>
              <a:t> </a:t>
            </a:r>
            <a:r>
              <a:rPr dirty="0"/>
              <a:t>电磁波</a:t>
            </a:r>
            <a:r>
              <a:rPr dirty="0" spc="5"/>
              <a:t>谱</a:t>
            </a:r>
          </a:p>
        </p:txBody>
      </p:sp>
      <p:graphicFrame>
        <p:nvGraphicFramePr>
          <p:cNvPr id="4" name="object 4"/>
          <p:cNvGraphicFramePr>
            <a:graphicFrameLocks noGrp="1"/>
          </p:cNvGraphicFramePr>
          <p:nvPr/>
        </p:nvGraphicFramePr>
        <p:xfrm>
          <a:off x="4141152" y="3585349"/>
          <a:ext cx="7404734" cy="852805"/>
        </p:xfrm>
        <a:graphic>
          <a:graphicData uri="http://schemas.openxmlformats.org/drawingml/2006/table">
            <a:tbl>
              <a:tblPr firstRow="1" bandRow="1">
                <a:tableStyleId>{2D5ABB26-0587-4C30-8999-92F81FD0307C}</a:tableStyleId>
              </a:tblPr>
              <a:tblGrid>
                <a:gridCol w="3547110"/>
                <a:gridCol w="615950"/>
                <a:gridCol w="3242944"/>
              </a:tblGrid>
              <a:tr h="426237">
                <a:tc>
                  <a:txBody>
                    <a:bodyPr/>
                    <a:lstStyle/>
                    <a:p>
                      <a:pPr marL="31750">
                        <a:lnSpc>
                          <a:spcPts val="2845"/>
                        </a:lnSpc>
                      </a:pPr>
                      <a:r>
                        <a:rPr dirty="0" sz="2400" b="1">
                          <a:solidFill>
                            <a:srgbClr val="FFFFFF"/>
                          </a:solidFill>
                          <a:latin typeface="华文楷体"/>
                          <a:cs typeface="华文楷体"/>
                        </a:rPr>
                        <a:t>主讲人：王朝</a:t>
                      </a:r>
                      <a:r>
                        <a:rPr dirty="0" sz="2400" spc="-5" b="1">
                          <a:solidFill>
                            <a:srgbClr val="FFFFFF"/>
                          </a:solidFill>
                          <a:latin typeface="华文楷体"/>
                          <a:cs typeface="华文楷体"/>
                        </a:rPr>
                        <a:t>祥</a:t>
                      </a:r>
                      <a:endParaRPr sz="2400">
                        <a:latin typeface="华文楷体"/>
                        <a:cs typeface="华文楷体"/>
                      </a:endParaRPr>
                    </a:p>
                  </a:txBody>
                  <a:tcPr marL="0" marR="0" marB="0" marT="0"/>
                </a:tc>
                <a:tc>
                  <a:txBody>
                    <a:bodyPr/>
                    <a:lstStyle/>
                    <a:p>
                      <a:pPr algn="ctr" marL="8255">
                        <a:lnSpc>
                          <a:spcPts val="2845"/>
                        </a:lnSpc>
                      </a:pPr>
                      <a:r>
                        <a:rPr dirty="0" sz="2400" b="1">
                          <a:solidFill>
                            <a:srgbClr val="FFFFFF"/>
                          </a:solidFill>
                          <a:latin typeface="华文楷体"/>
                          <a:cs typeface="华文楷体"/>
                        </a:rPr>
                        <a:t>学</a:t>
                      </a:r>
                      <a:endParaRPr sz="2400">
                        <a:latin typeface="华文楷体"/>
                        <a:cs typeface="华文楷体"/>
                      </a:endParaRPr>
                    </a:p>
                  </a:txBody>
                  <a:tcPr marL="0" marR="0" marB="0" marT="0"/>
                </a:tc>
                <a:tc>
                  <a:txBody>
                    <a:bodyPr/>
                    <a:lstStyle/>
                    <a:p>
                      <a:pPr marL="156210">
                        <a:lnSpc>
                          <a:spcPts val="2845"/>
                        </a:lnSpc>
                      </a:pPr>
                      <a:r>
                        <a:rPr dirty="0" sz="2400" b="1">
                          <a:solidFill>
                            <a:srgbClr val="FFFFFF"/>
                          </a:solidFill>
                          <a:latin typeface="华文楷体"/>
                          <a:cs typeface="华文楷体"/>
                        </a:rPr>
                        <a:t>校：北京市第八十中</a:t>
                      </a:r>
                      <a:r>
                        <a:rPr dirty="0" sz="2400" spc="-5" b="1">
                          <a:solidFill>
                            <a:srgbClr val="FFFFFF"/>
                          </a:solidFill>
                          <a:latin typeface="华文楷体"/>
                          <a:cs typeface="华文楷体"/>
                        </a:rPr>
                        <a:t>学</a:t>
                      </a:r>
                      <a:endParaRPr sz="2400">
                        <a:latin typeface="华文楷体"/>
                        <a:cs typeface="华文楷体"/>
                      </a:endParaRPr>
                    </a:p>
                  </a:txBody>
                  <a:tcPr marL="0" marR="0" marB="0" marT="0"/>
                </a:tc>
              </a:tr>
              <a:tr h="426237">
                <a:tc>
                  <a:txBody>
                    <a:bodyPr/>
                    <a:lstStyle/>
                    <a:p>
                      <a:pPr marL="31750">
                        <a:lnSpc>
                          <a:spcPct val="100000"/>
                        </a:lnSpc>
                        <a:spcBef>
                          <a:spcPts val="200"/>
                        </a:spcBef>
                        <a:tabLst>
                          <a:tab pos="643890" algn="l"/>
                        </a:tabLst>
                      </a:pPr>
                      <a:r>
                        <a:rPr dirty="0" sz="2400" spc="-5" b="1">
                          <a:solidFill>
                            <a:srgbClr val="FFFFFF"/>
                          </a:solidFill>
                          <a:latin typeface="华文楷体"/>
                          <a:cs typeface="华文楷体"/>
                        </a:rPr>
                        <a:t>学	</a:t>
                      </a:r>
                      <a:r>
                        <a:rPr dirty="0" sz="2400" b="1">
                          <a:solidFill>
                            <a:srgbClr val="FFFFFF"/>
                          </a:solidFill>
                          <a:latin typeface="华文楷体"/>
                          <a:cs typeface="华文楷体"/>
                        </a:rPr>
                        <a:t>科：物理（人教版</a:t>
                      </a:r>
                      <a:r>
                        <a:rPr dirty="0" sz="2400" spc="-5" b="1">
                          <a:solidFill>
                            <a:srgbClr val="FFFFFF"/>
                          </a:solidFill>
                          <a:latin typeface="华文楷体"/>
                          <a:cs typeface="华文楷体"/>
                        </a:rPr>
                        <a:t>）</a:t>
                      </a:r>
                      <a:endParaRPr sz="2400">
                        <a:latin typeface="华文楷体"/>
                        <a:cs typeface="华文楷体"/>
                      </a:endParaRPr>
                    </a:p>
                  </a:txBody>
                  <a:tcPr marL="0" marR="0" marB="0" marT="25400"/>
                </a:tc>
                <a:tc>
                  <a:txBody>
                    <a:bodyPr/>
                    <a:lstStyle/>
                    <a:p>
                      <a:pPr algn="ctr">
                        <a:lnSpc>
                          <a:spcPct val="100000"/>
                        </a:lnSpc>
                        <a:spcBef>
                          <a:spcPts val="200"/>
                        </a:spcBef>
                      </a:pPr>
                      <a:r>
                        <a:rPr dirty="0" sz="2400" b="1">
                          <a:solidFill>
                            <a:srgbClr val="FFFFFF"/>
                          </a:solidFill>
                          <a:latin typeface="华文楷体"/>
                          <a:cs typeface="华文楷体"/>
                        </a:rPr>
                        <a:t>年</a:t>
                      </a:r>
                      <a:endParaRPr sz="2400">
                        <a:latin typeface="华文楷体"/>
                        <a:cs typeface="华文楷体"/>
                      </a:endParaRPr>
                    </a:p>
                  </a:txBody>
                  <a:tcPr marL="0" marR="0" marB="0" marT="25400"/>
                </a:tc>
                <a:tc>
                  <a:txBody>
                    <a:bodyPr/>
                    <a:lstStyle/>
                    <a:p>
                      <a:pPr marL="150495">
                        <a:lnSpc>
                          <a:spcPct val="100000"/>
                        </a:lnSpc>
                        <a:spcBef>
                          <a:spcPts val="200"/>
                        </a:spcBef>
                      </a:pPr>
                      <a:r>
                        <a:rPr dirty="0" sz="2400" b="1">
                          <a:solidFill>
                            <a:srgbClr val="FFFFFF"/>
                          </a:solidFill>
                          <a:latin typeface="华文楷体"/>
                          <a:cs typeface="华文楷体"/>
                        </a:rPr>
                        <a:t>级：高二下学</a:t>
                      </a:r>
                      <a:r>
                        <a:rPr dirty="0" sz="2400" spc="-5" b="1">
                          <a:solidFill>
                            <a:srgbClr val="FFFFFF"/>
                          </a:solidFill>
                          <a:latin typeface="华文楷体"/>
                          <a:cs typeface="华文楷体"/>
                        </a:rPr>
                        <a:t>期</a:t>
                      </a:r>
                      <a:endParaRPr sz="2400">
                        <a:latin typeface="华文楷体"/>
                        <a:cs typeface="华文楷体"/>
                      </a:endParaRPr>
                    </a:p>
                  </a:txBody>
                  <a:tcPr marL="0" marR="0" marB="0" marT="25400"/>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1840" y="0"/>
            <a:ext cx="2058670" cy="634365"/>
          </a:xfrm>
          <a:prstGeom prst="rect"/>
        </p:spPr>
        <p:txBody>
          <a:bodyPr wrap="square" lIns="0" tIns="12065" rIns="0" bIns="0" rtlCol="0" vert="horz">
            <a:spAutoFit/>
          </a:bodyPr>
          <a:lstStyle/>
          <a:p>
            <a:pPr marL="12700">
              <a:lnSpc>
                <a:spcPct val="100000"/>
              </a:lnSpc>
              <a:spcBef>
                <a:spcPts val="95"/>
              </a:spcBef>
            </a:pPr>
            <a:r>
              <a:rPr dirty="0" sz="4000" i="0">
                <a:solidFill>
                  <a:srgbClr val="F1F1F1"/>
                </a:solidFill>
                <a:latin typeface="华文楷体"/>
                <a:cs typeface="华文楷体"/>
              </a:rPr>
              <a:t>高中物</a:t>
            </a:r>
            <a:r>
              <a:rPr dirty="0" sz="4000" spc="-10" i="0">
                <a:solidFill>
                  <a:srgbClr val="F1F1F1"/>
                </a:solidFill>
                <a:latin typeface="华文楷体"/>
                <a:cs typeface="华文楷体"/>
              </a:rPr>
              <a:t>理</a:t>
            </a:r>
            <a:endParaRPr sz="4000">
              <a:latin typeface="华文楷体"/>
              <a:cs typeface="华文楷体"/>
            </a:endParaRPr>
          </a:p>
        </p:txBody>
      </p:sp>
      <p:sp>
        <p:nvSpPr>
          <p:cNvPr id="3" name="object 3"/>
          <p:cNvSpPr/>
          <p:nvPr/>
        </p:nvSpPr>
        <p:spPr>
          <a:xfrm>
            <a:off x="5711952" y="4460747"/>
            <a:ext cx="6216396" cy="1639824"/>
          </a:xfrm>
          <a:prstGeom prst="rect">
            <a:avLst/>
          </a:prstGeom>
          <a:blipFill>
            <a:blip r:embed="rId2" cstate="print"/>
            <a:stretch>
              <a:fillRect/>
            </a:stretch>
          </a:blipFill>
        </p:spPr>
        <p:txBody>
          <a:bodyPr wrap="square" lIns="0" tIns="0" rIns="0" bIns="0" rtlCol="0"/>
          <a:lstStyle/>
          <a:p/>
        </p:txBody>
      </p:sp>
      <p:sp>
        <p:nvSpPr>
          <p:cNvPr id="4" name="object 4"/>
          <p:cNvSpPr/>
          <p:nvPr/>
        </p:nvSpPr>
        <p:spPr>
          <a:xfrm>
            <a:off x="256031" y="3977640"/>
            <a:ext cx="5335524" cy="2595372"/>
          </a:xfrm>
          <a:prstGeom prst="rect">
            <a:avLst/>
          </a:prstGeom>
          <a:blipFill>
            <a:blip r:embed="rId3" cstate="print"/>
            <a:stretch>
              <a:fillRect/>
            </a:stretch>
          </a:blipFill>
        </p:spPr>
        <p:txBody>
          <a:bodyPr wrap="square" lIns="0" tIns="0" rIns="0" bIns="0" rtlCol="0"/>
          <a:lstStyle/>
          <a:p/>
        </p:txBody>
      </p:sp>
      <p:sp>
        <p:nvSpPr>
          <p:cNvPr id="5" name="object 5"/>
          <p:cNvSpPr txBox="1"/>
          <p:nvPr/>
        </p:nvSpPr>
        <p:spPr>
          <a:xfrm>
            <a:off x="798982" y="6246914"/>
            <a:ext cx="4902200" cy="391160"/>
          </a:xfrm>
          <a:prstGeom prst="rect">
            <a:avLst/>
          </a:prstGeom>
        </p:spPr>
        <p:txBody>
          <a:bodyPr wrap="square" lIns="0" tIns="12700" rIns="0" bIns="0" rtlCol="0" vert="horz">
            <a:spAutoFit/>
          </a:bodyPr>
          <a:lstStyle/>
          <a:p>
            <a:pPr marL="12700">
              <a:lnSpc>
                <a:spcPct val="100000"/>
              </a:lnSpc>
              <a:spcBef>
                <a:spcPts val="100"/>
              </a:spcBef>
            </a:pPr>
            <a:r>
              <a:rPr dirty="0" sz="2400" b="1" i="1">
                <a:solidFill>
                  <a:srgbClr val="001F5F"/>
                </a:solidFill>
                <a:latin typeface="微软雅黑"/>
                <a:cs typeface="微软雅黑"/>
              </a:rPr>
              <a:t>离振源较远处正弦电磁波的波形曲线</a:t>
            </a:r>
            <a:endParaRPr sz="2400">
              <a:latin typeface="微软雅黑"/>
              <a:cs typeface="微软雅黑"/>
            </a:endParaRPr>
          </a:p>
        </p:txBody>
      </p:sp>
      <p:sp>
        <p:nvSpPr>
          <p:cNvPr id="6" name="object 6"/>
          <p:cNvSpPr txBox="1"/>
          <p:nvPr/>
        </p:nvSpPr>
        <p:spPr>
          <a:xfrm>
            <a:off x="8037982" y="6246914"/>
            <a:ext cx="1549400" cy="391160"/>
          </a:xfrm>
          <a:prstGeom prst="rect">
            <a:avLst/>
          </a:prstGeom>
        </p:spPr>
        <p:txBody>
          <a:bodyPr wrap="square" lIns="0" tIns="12700" rIns="0" bIns="0" rtlCol="0" vert="horz">
            <a:spAutoFit/>
          </a:bodyPr>
          <a:lstStyle/>
          <a:p>
            <a:pPr marL="12700">
              <a:lnSpc>
                <a:spcPct val="100000"/>
              </a:lnSpc>
              <a:spcBef>
                <a:spcPts val="100"/>
              </a:spcBef>
            </a:pPr>
            <a:r>
              <a:rPr dirty="0" sz="2400" b="1" i="1">
                <a:solidFill>
                  <a:srgbClr val="001F5F"/>
                </a:solidFill>
                <a:latin typeface="微软雅黑"/>
                <a:cs typeface="微软雅黑"/>
              </a:rPr>
              <a:t>赫兹的实验</a:t>
            </a:r>
            <a:endParaRPr sz="2400">
              <a:latin typeface="微软雅黑"/>
              <a:cs typeface="微软雅黑"/>
            </a:endParaRPr>
          </a:p>
        </p:txBody>
      </p:sp>
      <p:sp>
        <p:nvSpPr>
          <p:cNvPr id="7" name="object 7"/>
          <p:cNvSpPr txBox="1"/>
          <p:nvPr/>
        </p:nvSpPr>
        <p:spPr>
          <a:xfrm>
            <a:off x="280987" y="959484"/>
            <a:ext cx="11654790" cy="3173095"/>
          </a:xfrm>
          <a:prstGeom prst="rect">
            <a:avLst/>
          </a:prstGeom>
        </p:spPr>
        <p:txBody>
          <a:bodyPr wrap="square" lIns="0" tIns="12700" rIns="0" bIns="0" rtlCol="0" vert="horz">
            <a:spAutoFit/>
          </a:bodyPr>
          <a:lstStyle/>
          <a:p>
            <a:pPr marL="12700" marR="240029" indent="609600">
              <a:lnSpc>
                <a:spcPct val="120000"/>
              </a:lnSpc>
              <a:spcBef>
                <a:spcPts val="100"/>
              </a:spcBef>
            </a:pPr>
            <a:r>
              <a:rPr dirty="0" sz="2400" spc="25">
                <a:latin typeface="微软雅黑"/>
                <a:cs typeface="微软雅黑"/>
              </a:rPr>
              <a:t>在前人研究的基础上，麦克斯韦建立了完整的</a:t>
            </a:r>
            <a:r>
              <a:rPr dirty="0" sz="2400" spc="30">
                <a:latin typeface="微软雅黑"/>
                <a:cs typeface="微软雅黑"/>
              </a:rPr>
              <a:t>电磁场理论，从而预言了电磁波</a:t>
            </a:r>
            <a:r>
              <a:rPr dirty="0" sz="2400">
                <a:latin typeface="微软雅黑"/>
                <a:cs typeface="微软雅黑"/>
              </a:rPr>
              <a:t>的 存在，并指出光是一种电磁波。</a:t>
            </a:r>
            <a:endParaRPr sz="2400">
              <a:latin typeface="微软雅黑"/>
              <a:cs typeface="微软雅黑"/>
            </a:endParaRPr>
          </a:p>
          <a:p>
            <a:pPr marL="622300">
              <a:lnSpc>
                <a:spcPct val="100000"/>
              </a:lnSpc>
              <a:spcBef>
                <a:spcPts val="575"/>
              </a:spcBef>
            </a:pPr>
            <a:r>
              <a:rPr dirty="0" sz="2400">
                <a:latin typeface="微软雅黑"/>
                <a:cs typeface="微软雅黑"/>
              </a:rPr>
              <a:t>根据麦克斯韦理论，电磁波具有如下特点：</a:t>
            </a:r>
            <a:endParaRPr sz="2400">
              <a:latin typeface="微软雅黑"/>
              <a:cs typeface="微软雅黑"/>
            </a:endParaRPr>
          </a:p>
          <a:p>
            <a:pPr marL="1232535" indent="-762635">
              <a:lnSpc>
                <a:spcPct val="100000"/>
              </a:lnSpc>
              <a:spcBef>
                <a:spcPts val="575"/>
              </a:spcBef>
              <a:buSzPct val="95833"/>
              <a:buAutoNum type="arabicPlain"/>
              <a:tabLst>
                <a:tab pos="1232535" algn="l"/>
              </a:tabLst>
            </a:pPr>
            <a:r>
              <a:rPr dirty="0" sz="2400">
                <a:latin typeface="微软雅黑"/>
                <a:cs typeface="微软雅黑"/>
              </a:rPr>
              <a:t>电磁波是横波。电场强度</a:t>
            </a:r>
            <a:r>
              <a:rPr dirty="0" sz="2400" spc="-5" b="1" i="1">
                <a:latin typeface="Times New Roman"/>
                <a:cs typeface="Times New Roman"/>
              </a:rPr>
              <a:t>E</a:t>
            </a:r>
            <a:r>
              <a:rPr dirty="0" sz="2400">
                <a:latin typeface="微软雅黑"/>
                <a:cs typeface="微软雅黑"/>
              </a:rPr>
              <a:t>、磁感应强度</a:t>
            </a:r>
            <a:r>
              <a:rPr dirty="0" sz="2400" spc="-5" b="1" i="1">
                <a:latin typeface="Times New Roman"/>
                <a:cs typeface="Times New Roman"/>
              </a:rPr>
              <a:t>B</a:t>
            </a:r>
            <a:r>
              <a:rPr dirty="0" sz="2400">
                <a:latin typeface="微软雅黑"/>
                <a:cs typeface="微软雅黑"/>
              </a:rPr>
              <a:t>、电磁波的传播方向两两垂直。</a:t>
            </a:r>
            <a:endParaRPr sz="2400">
              <a:latin typeface="微软雅黑"/>
              <a:cs typeface="微软雅黑"/>
            </a:endParaRPr>
          </a:p>
          <a:p>
            <a:pPr marL="1232535" indent="-762635">
              <a:lnSpc>
                <a:spcPct val="100000"/>
              </a:lnSpc>
              <a:spcBef>
                <a:spcPts val="575"/>
              </a:spcBef>
              <a:buSzPct val="95833"/>
              <a:buAutoNum type="arabicPlain"/>
              <a:tabLst>
                <a:tab pos="1232535" algn="l"/>
              </a:tabLst>
            </a:pPr>
            <a:r>
              <a:rPr dirty="0" sz="2400">
                <a:latin typeface="微软雅黑"/>
                <a:cs typeface="微软雅黑"/>
              </a:rPr>
              <a:t>电磁波的传播不需要介质，电磁波在真空中的传播速度等于光速</a:t>
            </a:r>
            <a:r>
              <a:rPr dirty="0" sz="2400" spc="-5" b="1" i="1">
                <a:latin typeface="Times New Roman"/>
                <a:cs typeface="Times New Roman"/>
              </a:rPr>
              <a:t>c</a:t>
            </a:r>
            <a:r>
              <a:rPr dirty="0" sz="2400">
                <a:latin typeface="微软雅黑"/>
                <a:cs typeface="微软雅黑"/>
              </a:rPr>
              <a:t>。</a:t>
            </a:r>
            <a:endParaRPr sz="2400">
              <a:latin typeface="微软雅黑"/>
              <a:cs typeface="微软雅黑"/>
            </a:endParaRPr>
          </a:p>
          <a:p>
            <a:pPr marL="1232535" indent="-762635">
              <a:lnSpc>
                <a:spcPct val="100000"/>
              </a:lnSpc>
              <a:spcBef>
                <a:spcPts val="570"/>
              </a:spcBef>
              <a:buSzPct val="95833"/>
              <a:buAutoNum type="arabicPlain"/>
              <a:tabLst>
                <a:tab pos="1232535" algn="l"/>
              </a:tabLst>
            </a:pPr>
            <a:r>
              <a:rPr dirty="0" sz="2400">
                <a:latin typeface="微软雅黑"/>
                <a:cs typeface="微软雅黑"/>
              </a:rPr>
              <a:t>电磁场具有物质性，贮存电磁能。</a:t>
            </a:r>
            <a:r>
              <a:rPr dirty="0" sz="2400" b="1" i="1">
                <a:solidFill>
                  <a:srgbClr val="001F5F"/>
                </a:solidFill>
                <a:latin typeface="微软雅黑"/>
                <a:cs typeface="微软雅黑"/>
              </a:rPr>
              <a:t>电磁波的传播过程就是能量的传播过程</a:t>
            </a:r>
            <a:r>
              <a:rPr dirty="0" sz="2400">
                <a:latin typeface="微软雅黑"/>
                <a:cs typeface="微软雅黑"/>
              </a:rPr>
              <a:t>。</a:t>
            </a:r>
            <a:endParaRPr sz="2400">
              <a:latin typeface="微软雅黑"/>
              <a:cs typeface="微软雅黑"/>
            </a:endParaRPr>
          </a:p>
          <a:p>
            <a:pPr marL="669290">
              <a:lnSpc>
                <a:spcPct val="100000"/>
              </a:lnSpc>
              <a:spcBef>
                <a:spcPts val="1180"/>
              </a:spcBef>
            </a:pPr>
            <a:r>
              <a:rPr dirty="0" sz="2400">
                <a:latin typeface="微软雅黑"/>
                <a:cs typeface="微软雅黑"/>
              </a:rPr>
              <a:t>赫兹通过实验证实了麦克斯韦的电磁场理论，这使</a:t>
            </a:r>
            <a:r>
              <a:rPr dirty="0" sz="2400" b="1" i="1">
                <a:solidFill>
                  <a:srgbClr val="001F5F"/>
                </a:solidFill>
                <a:latin typeface="微软雅黑"/>
                <a:cs typeface="微软雅黑"/>
              </a:rPr>
              <a:t>利用电磁波传递信息</a:t>
            </a:r>
            <a:r>
              <a:rPr dirty="0" sz="2400">
                <a:latin typeface="微软雅黑"/>
                <a:cs typeface="微软雅黑"/>
              </a:rPr>
              <a:t>成为可能。</a:t>
            </a:r>
            <a:endParaRPr sz="2400">
              <a:latin typeface="微软雅黑"/>
              <a:cs typeface="微软雅黑"/>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1840" y="0"/>
            <a:ext cx="2058670" cy="634365"/>
          </a:xfrm>
          <a:prstGeom prst="rect"/>
        </p:spPr>
        <p:txBody>
          <a:bodyPr wrap="square" lIns="0" tIns="12065" rIns="0" bIns="0" rtlCol="0" vert="horz">
            <a:spAutoFit/>
          </a:bodyPr>
          <a:lstStyle/>
          <a:p>
            <a:pPr marL="12700">
              <a:lnSpc>
                <a:spcPct val="100000"/>
              </a:lnSpc>
              <a:spcBef>
                <a:spcPts val="95"/>
              </a:spcBef>
            </a:pPr>
            <a:r>
              <a:rPr dirty="0" sz="4000" i="0">
                <a:solidFill>
                  <a:srgbClr val="F1F1F1"/>
                </a:solidFill>
                <a:latin typeface="华文楷体"/>
                <a:cs typeface="华文楷体"/>
              </a:rPr>
              <a:t>高中物</a:t>
            </a:r>
            <a:r>
              <a:rPr dirty="0" sz="4000" spc="-10" i="0">
                <a:solidFill>
                  <a:srgbClr val="F1F1F1"/>
                </a:solidFill>
                <a:latin typeface="华文楷体"/>
                <a:cs typeface="华文楷体"/>
              </a:rPr>
              <a:t>理</a:t>
            </a:r>
            <a:endParaRPr sz="4000">
              <a:latin typeface="华文楷体"/>
              <a:cs typeface="华文楷体"/>
            </a:endParaRPr>
          </a:p>
        </p:txBody>
      </p:sp>
      <p:sp>
        <p:nvSpPr>
          <p:cNvPr id="3" name="object 3"/>
          <p:cNvSpPr/>
          <p:nvPr/>
        </p:nvSpPr>
        <p:spPr>
          <a:xfrm>
            <a:off x="6544056" y="2987039"/>
            <a:ext cx="5647944" cy="3619500"/>
          </a:xfrm>
          <a:prstGeom prst="rect">
            <a:avLst/>
          </a:prstGeom>
          <a:blipFill>
            <a:blip r:embed="rId2" cstate="print"/>
            <a:stretch>
              <a:fillRect/>
            </a:stretch>
          </a:blipFill>
        </p:spPr>
        <p:txBody>
          <a:bodyPr wrap="square" lIns="0" tIns="0" rIns="0" bIns="0" rtlCol="0"/>
          <a:lstStyle/>
          <a:p/>
        </p:txBody>
      </p:sp>
      <p:sp>
        <p:nvSpPr>
          <p:cNvPr id="4" name="object 4"/>
          <p:cNvSpPr txBox="1"/>
          <p:nvPr/>
        </p:nvSpPr>
        <p:spPr>
          <a:xfrm>
            <a:off x="493077" y="981677"/>
            <a:ext cx="11120120" cy="5527675"/>
          </a:xfrm>
          <a:prstGeom prst="rect">
            <a:avLst/>
          </a:prstGeom>
        </p:spPr>
        <p:txBody>
          <a:bodyPr wrap="square" lIns="0" tIns="46990" rIns="0" bIns="0" rtlCol="0" vert="horz">
            <a:spAutoFit/>
          </a:bodyPr>
          <a:lstStyle/>
          <a:p>
            <a:pPr marL="12700">
              <a:lnSpc>
                <a:spcPct val="100000"/>
              </a:lnSpc>
              <a:spcBef>
                <a:spcPts val="370"/>
              </a:spcBef>
            </a:pPr>
            <a:r>
              <a:rPr dirty="0" sz="2800">
                <a:latin typeface="微软雅黑"/>
                <a:cs typeface="微软雅黑"/>
              </a:rPr>
              <a:t>一</a:t>
            </a:r>
            <a:r>
              <a:rPr dirty="0" sz="2800" spc="-5">
                <a:latin typeface="微软雅黑"/>
                <a:cs typeface="微软雅黑"/>
              </a:rPr>
              <a:t>.</a:t>
            </a:r>
            <a:r>
              <a:rPr dirty="0" sz="2800">
                <a:latin typeface="微软雅黑"/>
                <a:cs typeface="微软雅黑"/>
              </a:rPr>
              <a:t>电磁波与信息化社</a:t>
            </a:r>
            <a:r>
              <a:rPr dirty="0" sz="2800" spc="-5">
                <a:latin typeface="微软雅黑"/>
                <a:cs typeface="微软雅黑"/>
              </a:rPr>
              <a:t>会</a:t>
            </a:r>
            <a:endParaRPr sz="2800">
              <a:latin typeface="微软雅黑"/>
              <a:cs typeface="微软雅黑"/>
            </a:endParaRPr>
          </a:p>
          <a:p>
            <a:pPr marL="96520">
              <a:lnSpc>
                <a:spcPct val="100000"/>
              </a:lnSpc>
              <a:spcBef>
                <a:spcPts val="240"/>
              </a:spcBef>
            </a:pPr>
            <a:r>
              <a:rPr dirty="0" sz="2400" spc="-5">
                <a:latin typeface="微软雅黑"/>
                <a:cs typeface="微软雅黑"/>
              </a:rPr>
              <a:t>1.</a:t>
            </a:r>
            <a:r>
              <a:rPr dirty="0" sz="2400">
                <a:latin typeface="微软雅黑"/>
                <a:cs typeface="微软雅黑"/>
              </a:rPr>
              <a:t>电磁波与信息的传递</a:t>
            </a:r>
            <a:endParaRPr sz="2400">
              <a:latin typeface="微软雅黑"/>
              <a:cs typeface="微软雅黑"/>
            </a:endParaRPr>
          </a:p>
          <a:p>
            <a:pPr algn="just" marL="96520" marR="5080" indent="541020">
              <a:lnSpc>
                <a:spcPct val="125000"/>
              </a:lnSpc>
            </a:pPr>
            <a:r>
              <a:rPr dirty="0" sz="2400">
                <a:latin typeface="微软雅黑"/>
                <a:cs typeface="微软雅黑"/>
              </a:rPr>
              <a:t>随着电磁学的进步，人们开始利用电信号来传递信息。</a:t>
            </a:r>
            <a:r>
              <a:rPr dirty="0" sz="2400" spc="-5">
                <a:latin typeface="微软雅黑"/>
                <a:cs typeface="微软雅黑"/>
              </a:rPr>
              <a:t>1844</a:t>
            </a:r>
            <a:r>
              <a:rPr dirty="0" sz="2400">
                <a:latin typeface="微软雅黑"/>
                <a:cs typeface="微软雅黑"/>
              </a:rPr>
              <a:t>年，</a:t>
            </a:r>
            <a:r>
              <a:rPr dirty="0" sz="2400" b="1" i="1">
                <a:solidFill>
                  <a:srgbClr val="001F5F"/>
                </a:solidFill>
                <a:latin typeface="微软雅黑"/>
                <a:cs typeface="微软雅黑"/>
              </a:rPr>
              <a:t>有线</a:t>
            </a:r>
            <a:r>
              <a:rPr dirty="0" sz="2400" spc="5" b="1" i="1">
                <a:solidFill>
                  <a:srgbClr val="001F5F"/>
                </a:solidFill>
                <a:latin typeface="微软雅黑"/>
                <a:cs typeface="微软雅黑"/>
              </a:rPr>
              <a:t>电报</a:t>
            </a:r>
            <a:r>
              <a:rPr dirty="0" sz="2400" spc="5">
                <a:latin typeface="微软雅黑"/>
                <a:cs typeface="微软雅黑"/>
              </a:rPr>
              <a:t>的</a:t>
            </a:r>
            <a:r>
              <a:rPr dirty="0" sz="2400">
                <a:latin typeface="微软雅黑"/>
                <a:cs typeface="微软雅黑"/>
              </a:rPr>
              <a:t>发 </a:t>
            </a:r>
            <a:r>
              <a:rPr dirty="0" sz="2400" spc="65">
                <a:latin typeface="微软雅黑"/>
                <a:cs typeface="微软雅黑"/>
              </a:rPr>
              <a:t>明揭开了电信的序幕。电磁波的发现又实现了</a:t>
            </a:r>
            <a:r>
              <a:rPr dirty="0" sz="2400" spc="65" b="1" i="1">
                <a:solidFill>
                  <a:srgbClr val="001F5F"/>
                </a:solidFill>
                <a:latin typeface="微软雅黑"/>
                <a:cs typeface="微软雅黑"/>
              </a:rPr>
              <a:t>无线通信。</a:t>
            </a:r>
            <a:r>
              <a:rPr dirty="0" sz="2400" spc="65">
                <a:latin typeface="微软雅黑"/>
                <a:cs typeface="微软雅黑"/>
              </a:rPr>
              <a:t>进入</a:t>
            </a:r>
            <a:r>
              <a:rPr dirty="0" sz="2400" spc="60">
                <a:latin typeface="微软雅黑"/>
                <a:cs typeface="微软雅黑"/>
              </a:rPr>
              <a:t>20</a:t>
            </a:r>
            <a:r>
              <a:rPr dirty="0" sz="2400" spc="65">
                <a:latin typeface="微软雅黑"/>
                <a:cs typeface="微软雅黑"/>
              </a:rPr>
              <a:t>世纪，无</a:t>
            </a:r>
            <a:r>
              <a:rPr dirty="0" sz="2400" spc="70">
                <a:latin typeface="微软雅黑"/>
                <a:cs typeface="微软雅黑"/>
              </a:rPr>
              <a:t>线电</a:t>
            </a:r>
            <a:r>
              <a:rPr dirty="0" sz="2400">
                <a:latin typeface="微软雅黑"/>
                <a:cs typeface="微软雅黑"/>
              </a:rPr>
              <a:t>广 播、雷达、电视、移动电话相继出现。</a:t>
            </a:r>
            <a:endParaRPr sz="2400">
              <a:latin typeface="微软雅黑"/>
              <a:cs typeface="微软雅黑"/>
            </a:endParaRPr>
          </a:p>
          <a:p>
            <a:pPr algn="just" marL="92075" marR="5146675" indent="450850">
              <a:lnSpc>
                <a:spcPct val="125000"/>
              </a:lnSpc>
              <a:spcBef>
                <a:spcPts val="395"/>
              </a:spcBef>
            </a:pPr>
            <a:r>
              <a:rPr dirty="0" sz="2400" spc="114">
                <a:latin typeface="微软雅黑"/>
                <a:cs typeface="微软雅黑"/>
              </a:rPr>
              <a:t>电磁波的频</a:t>
            </a:r>
            <a:r>
              <a:rPr dirty="0" sz="2400" spc="120">
                <a:latin typeface="微软雅黑"/>
                <a:cs typeface="微软雅黑"/>
              </a:rPr>
              <a:t>率越高，相同时间内传递</a:t>
            </a:r>
            <a:r>
              <a:rPr dirty="0" sz="2400">
                <a:latin typeface="微软雅黑"/>
                <a:cs typeface="微软雅黑"/>
              </a:rPr>
              <a:t>的 </a:t>
            </a:r>
            <a:r>
              <a:rPr dirty="0" sz="2400" spc="35">
                <a:latin typeface="微软雅黑"/>
                <a:cs typeface="微软雅黑"/>
              </a:rPr>
              <a:t>信息量越大。光的频率比无线电波</a:t>
            </a:r>
            <a:r>
              <a:rPr dirty="0" sz="2400" spc="40">
                <a:latin typeface="微软雅黑"/>
                <a:cs typeface="微软雅黑"/>
              </a:rPr>
              <a:t>频率高</a:t>
            </a:r>
            <a:r>
              <a:rPr dirty="0" sz="2400">
                <a:latin typeface="微软雅黑"/>
                <a:cs typeface="微软雅黑"/>
              </a:rPr>
              <a:t>得 多，因此光缆可以传递大量信息。</a:t>
            </a:r>
            <a:endParaRPr sz="2400">
              <a:latin typeface="微软雅黑"/>
              <a:cs typeface="微软雅黑"/>
            </a:endParaRPr>
          </a:p>
          <a:p>
            <a:pPr algn="just" marL="92075" marR="5146675" indent="454025">
              <a:lnSpc>
                <a:spcPct val="100000"/>
              </a:lnSpc>
              <a:spcBef>
                <a:spcPts val="720"/>
              </a:spcBef>
            </a:pPr>
            <a:r>
              <a:rPr dirty="0" sz="2400" spc="114" b="1" i="1">
                <a:solidFill>
                  <a:srgbClr val="001F5F"/>
                </a:solidFill>
                <a:latin typeface="微软雅黑"/>
                <a:cs typeface="微软雅黑"/>
              </a:rPr>
              <a:t>移动通信</a:t>
            </a:r>
            <a:r>
              <a:rPr dirty="0" sz="2400" spc="114">
                <a:latin typeface="微软雅黑"/>
                <a:cs typeface="微软雅黑"/>
              </a:rPr>
              <a:t>、</a:t>
            </a:r>
            <a:r>
              <a:rPr dirty="0" sz="2400" spc="114" b="1" i="1">
                <a:solidFill>
                  <a:srgbClr val="001F5F"/>
                </a:solidFill>
                <a:latin typeface="微软雅黑"/>
                <a:cs typeface="微软雅黑"/>
              </a:rPr>
              <a:t>光纤通信</a:t>
            </a:r>
            <a:r>
              <a:rPr dirty="0" sz="2400" spc="114">
                <a:latin typeface="微软雅黑"/>
                <a:cs typeface="微软雅黑"/>
              </a:rPr>
              <a:t>和</a:t>
            </a:r>
            <a:r>
              <a:rPr dirty="0" sz="2400" spc="120" b="1" i="1">
                <a:solidFill>
                  <a:srgbClr val="001F5F"/>
                </a:solidFill>
                <a:latin typeface="微软雅黑"/>
                <a:cs typeface="微软雅黑"/>
              </a:rPr>
              <a:t>卫星通信</a:t>
            </a:r>
            <a:r>
              <a:rPr dirty="0" sz="2400" spc="120">
                <a:latin typeface="微软雅黑"/>
                <a:cs typeface="微软雅黑"/>
              </a:rPr>
              <a:t>，是</a:t>
            </a:r>
            <a:r>
              <a:rPr dirty="0" sz="2400">
                <a:latin typeface="微软雅黑"/>
                <a:cs typeface="微软雅黑"/>
              </a:rPr>
              <a:t>现 代通信的三大主要方向。</a:t>
            </a:r>
            <a:endParaRPr sz="2400">
              <a:latin typeface="微软雅黑"/>
              <a:cs typeface="微软雅黑"/>
            </a:endParaRPr>
          </a:p>
          <a:p>
            <a:pPr marL="2146300" marR="5160645" indent="363220">
              <a:lnSpc>
                <a:spcPct val="100000"/>
              </a:lnSpc>
              <a:spcBef>
                <a:spcPts val="2335"/>
              </a:spcBef>
            </a:pPr>
            <a:r>
              <a:rPr dirty="0" sz="2400" spc="65" b="1" i="1">
                <a:solidFill>
                  <a:srgbClr val="001F5F"/>
                </a:solidFill>
                <a:latin typeface="微软雅黑"/>
                <a:cs typeface="微软雅黑"/>
              </a:rPr>
              <a:t>鹊</a:t>
            </a:r>
            <a:r>
              <a:rPr dirty="0" sz="2400" spc="70" b="1" i="1">
                <a:solidFill>
                  <a:srgbClr val="001F5F"/>
                </a:solidFill>
                <a:latin typeface="微软雅黑"/>
                <a:cs typeface="微软雅黑"/>
              </a:rPr>
              <a:t>桥号中继卫星为嫦娥</a:t>
            </a:r>
            <a:r>
              <a:rPr dirty="0" sz="2400" b="1" i="1">
                <a:solidFill>
                  <a:srgbClr val="001F5F"/>
                </a:solidFill>
                <a:latin typeface="微软雅黑"/>
                <a:cs typeface="微软雅黑"/>
              </a:rPr>
              <a:t>四 号提供通信服务示意图</a:t>
            </a:r>
            <a:endParaRPr sz="2400">
              <a:latin typeface="微软雅黑"/>
              <a:cs typeface="微软雅黑"/>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1840" y="0"/>
            <a:ext cx="2058670" cy="634365"/>
          </a:xfrm>
          <a:prstGeom prst="rect"/>
        </p:spPr>
        <p:txBody>
          <a:bodyPr wrap="square" lIns="0" tIns="12065" rIns="0" bIns="0" rtlCol="0" vert="horz">
            <a:spAutoFit/>
          </a:bodyPr>
          <a:lstStyle/>
          <a:p>
            <a:pPr marL="12700">
              <a:lnSpc>
                <a:spcPct val="100000"/>
              </a:lnSpc>
              <a:spcBef>
                <a:spcPts val="95"/>
              </a:spcBef>
            </a:pPr>
            <a:r>
              <a:rPr dirty="0" sz="4000" i="0">
                <a:solidFill>
                  <a:srgbClr val="F1F1F1"/>
                </a:solidFill>
                <a:latin typeface="华文楷体"/>
                <a:cs typeface="华文楷体"/>
              </a:rPr>
              <a:t>高中物</a:t>
            </a:r>
            <a:r>
              <a:rPr dirty="0" sz="4000" spc="-10" i="0">
                <a:solidFill>
                  <a:srgbClr val="F1F1F1"/>
                </a:solidFill>
                <a:latin typeface="华文楷体"/>
                <a:cs typeface="华文楷体"/>
              </a:rPr>
              <a:t>理</a:t>
            </a:r>
            <a:endParaRPr sz="4000">
              <a:latin typeface="华文楷体"/>
              <a:cs typeface="华文楷体"/>
            </a:endParaRPr>
          </a:p>
        </p:txBody>
      </p:sp>
      <p:sp>
        <p:nvSpPr>
          <p:cNvPr id="3" name="object 3"/>
          <p:cNvSpPr txBox="1"/>
          <p:nvPr/>
        </p:nvSpPr>
        <p:spPr>
          <a:xfrm>
            <a:off x="362902" y="1039651"/>
            <a:ext cx="11340465" cy="2620645"/>
          </a:xfrm>
          <a:prstGeom prst="rect">
            <a:avLst/>
          </a:prstGeom>
        </p:spPr>
        <p:txBody>
          <a:bodyPr wrap="square" lIns="0" tIns="63500" rIns="0" bIns="0" rtlCol="0" vert="horz">
            <a:spAutoFit/>
          </a:bodyPr>
          <a:lstStyle/>
          <a:p>
            <a:pPr marL="142875">
              <a:lnSpc>
                <a:spcPct val="100000"/>
              </a:lnSpc>
              <a:spcBef>
                <a:spcPts val="500"/>
              </a:spcBef>
            </a:pPr>
            <a:r>
              <a:rPr dirty="0" sz="2800">
                <a:latin typeface="微软雅黑"/>
                <a:cs typeface="微软雅黑"/>
              </a:rPr>
              <a:t>一</a:t>
            </a:r>
            <a:r>
              <a:rPr dirty="0" sz="2800" spc="-5">
                <a:latin typeface="微软雅黑"/>
                <a:cs typeface="微软雅黑"/>
              </a:rPr>
              <a:t>.</a:t>
            </a:r>
            <a:r>
              <a:rPr dirty="0" sz="2800">
                <a:latin typeface="微软雅黑"/>
                <a:cs typeface="微软雅黑"/>
              </a:rPr>
              <a:t>电磁波与信息化社</a:t>
            </a:r>
            <a:r>
              <a:rPr dirty="0" sz="2800" spc="-5">
                <a:latin typeface="微软雅黑"/>
                <a:cs typeface="微软雅黑"/>
              </a:rPr>
              <a:t>会</a:t>
            </a:r>
            <a:endParaRPr sz="2800">
              <a:latin typeface="微软雅黑"/>
              <a:cs typeface="微软雅黑"/>
            </a:endParaRPr>
          </a:p>
          <a:p>
            <a:pPr marL="102235">
              <a:lnSpc>
                <a:spcPct val="100000"/>
              </a:lnSpc>
              <a:spcBef>
                <a:spcPts val="350"/>
              </a:spcBef>
            </a:pPr>
            <a:r>
              <a:rPr dirty="0" sz="2400" spc="-5">
                <a:latin typeface="微软雅黑"/>
                <a:cs typeface="微软雅黑"/>
              </a:rPr>
              <a:t>2.</a:t>
            </a:r>
            <a:r>
              <a:rPr dirty="0" sz="2400">
                <a:latin typeface="微软雅黑"/>
                <a:cs typeface="微软雅黑"/>
              </a:rPr>
              <a:t>电视</a:t>
            </a:r>
            <a:endParaRPr sz="2400">
              <a:latin typeface="微软雅黑"/>
              <a:cs typeface="微软雅黑"/>
            </a:endParaRPr>
          </a:p>
          <a:p>
            <a:pPr marL="12700" marR="5080" indent="450850">
              <a:lnSpc>
                <a:spcPct val="100000"/>
              </a:lnSpc>
              <a:spcBef>
                <a:spcPts val="720"/>
              </a:spcBef>
            </a:pPr>
            <a:r>
              <a:rPr dirty="0" sz="2400" spc="15">
                <a:latin typeface="微软雅黑"/>
                <a:cs typeface="微软雅黑"/>
              </a:rPr>
              <a:t>1927</a:t>
            </a:r>
            <a:r>
              <a:rPr dirty="0" sz="2400" spc="20">
                <a:latin typeface="微软雅黑"/>
                <a:cs typeface="微软雅黑"/>
              </a:rPr>
              <a:t>年，英国发明家贝尔德首次在伦敦公开表演了用电向远处传递活动图像</a:t>
            </a:r>
            <a:r>
              <a:rPr dirty="0" sz="2400" spc="25">
                <a:latin typeface="微软雅黑"/>
                <a:cs typeface="微软雅黑"/>
              </a:rPr>
              <a:t>的</a:t>
            </a:r>
            <a:r>
              <a:rPr dirty="0" sz="2400">
                <a:latin typeface="微软雅黑"/>
                <a:cs typeface="微软雅黑"/>
              </a:rPr>
              <a:t>技 术，这标志着电视的诞生。</a:t>
            </a:r>
            <a:endParaRPr sz="2400">
              <a:latin typeface="微软雅黑"/>
              <a:cs typeface="微软雅黑"/>
            </a:endParaRPr>
          </a:p>
          <a:p>
            <a:pPr marL="546100" marR="59690" indent="7620">
              <a:lnSpc>
                <a:spcPct val="120800"/>
              </a:lnSpc>
              <a:spcBef>
                <a:spcPts val="5"/>
              </a:spcBef>
            </a:pPr>
            <a:r>
              <a:rPr dirty="0" sz="2400" b="1" i="1">
                <a:solidFill>
                  <a:srgbClr val="001F5F"/>
                </a:solidFill>
                <a:latin typeface="微软雅黑"/>
                <a:cs typeface="微软雅黑"/>
              </a:rPr>
              <a:t>摄像管：光信号</a:t>
            </a:r>
            <a:r>
              <a:rPr dirty="0" sz="2400" b="1">
                <a:solidFill>
                  <a:srgbClr val="001F5F"/>
                </a:solidFill>
                <a:latin typeface="Times New Roman"/>
                <a:cs typeface="Times New Roman"/>
              </a:rPr>
              <a:t>→</a:t>
            </a:r>
            <a:r>
              <a:rPr dirty="0" sz="2400" b="1" i="1">
                <a:solidFill>
                  <a:srgbClr val="001F5F"/>
                </a:solidFill>
                <a:latin typeface="微软雅黑"/>
                <a:cs typeface="微软雅黑"/>
              </a:rPr>
              <a:t>电信号</a:t>
            </a:r>
            <a:r>
              <a:rPr dirty="0" sz="2000">
                <a:latin typeface="微软雅黑"/>
                <a:cs typeface="微软雅黑"/>
              </a:rPr>
              <a:t>（原理：电子束对每帧图像逐行、逐点扫描，光亮暗</a:t>
            </a:r>
            <a:r>
              <a:rPr dirty="0" sz="2000" b="1">
                <a:solidFill>
                  <a:srgbClr val="001F5F"/>
                </a:solidFill>
                <a:latin typeface="Times New Roman"/>
                <a:cs typeface="Times New Roman"/>
              </a:rPr>
              <a:t>→</a:t>
            </a:r>
            <a:r>
              <a:rPr dirty="0" sz="2000">
                <a:latin typeface="微软雅黑"/>
                <a:cs typeface="微软雅黑"/>
              </a:rPr>
              <a:t>电流大小</a:t>
            </a:r>
            <a:r>
              <a:rPr dirty="0" sz="2000">
                <a:latin typeface="微软雅黑"/>
                <a:cs typeface="微软雅黑"/>
              </a:rPr>
              <a:t>） </a:t>
            </a:r>
            <a:r>
              <a:rPr dirty="0" sz="2400" b="1" i="1">
                <a:solidFill>
                  <a:srgbClr val="001F5F"/>
                </a:solidFill>
                <a:latin typeface="微软雅黑"/>
                <a:cs typeface="微软雅黑"/>
              </a:rPr>
              <a:t>显像管：电信号</a:t>
            </a:r>
            <a:r>
              <a:rPr dirty="0" sz="2400" b="1">
                <a:solidFill>
                  <a:srgbClr val="001F5F"/>
                </a:solidFill>
                <a:latin typeface="Times New Roman"/>
                <a:cs typeface="Times New Roman"/>
              </a:rPr>
              <a:t>→</a:t>
            </a:r>
            <a:r>
              <a:rPr dirty="0" sz="2400" b="1" i="1">
                <a:solidFill>
                  <a:srgbClr val="001F5F"/>
                </a:solidFill>
                <a:latin typeface="微软雅黑"/>
                <a:cs typeface="微软雅黑"/>
              </a:rPr>
              <a:t>光信号</a:t>
            </a:r>
            <a:r>
              <a:rPr dirty="0" sz="2000">
                <a:latin typeface="微软雅黑"/>
                <a:cs typeface="微软雅黑"/>
              </a:rPr>
              <a:t>（原理：电子束在电信号控制下与摄像管</a:t>
            </a:r>
            <a:r>
              <a:rPr dirty="0" sz="2000" b="1" i="1">
                <a:solidFill>
                  <a:srgbClr val="001F5F"/>
                </a:solidFill>
                <a:latin typeface="微软雅黑"/>
                <a:cs typeface="微软雅黑"/>
              </a:rPr>
              <a:t>“同步扫描”</a:t>
            </a:r>
            <a:r>
              <a:rPr dirty="0" sz="2000" b="1">
                <a:solidFill>
                  <a:srgbClr val="001F5F"/>
                </a:solidFill>
                <a:latin typeface="Times New Roman"/>
                <a:cs typeface="Times New Roman"/>
              </a:rPr>
              <a:t>,</a:t>
            </a:r>
            <a:r>
              <a:rPr dirty="0" sz="2000" spc="-50" b="1">
                <a:solidFill>
                  <a:srgbClr val="001F5F"/>
                </a:solidFill>
                <a:latin typeface="Times New Roman"/>
                <a:cs typeface="Times New Roman"/>
              </a:rPr>
              <a:t> </a:t>
            </a:r>
            <a:r>
              <a:rPr dirty="0" sz="2000" spc="-5" b="1">
                <a:solidFill>
                  <a:srgbClr val="001F5F"/>
                </a:solidFill>
                <a:latin typeface="Times New Roman"/>
                <a:cs typeface="Times New Roman"/>
              </a:rPr>
              <a:t>25</a:t>
            </a:r>
            <a:r>
              <a:rPr dirty="0" sz="2000" b="1" i="1">
                <a:solidFill>
                  <a:srgbClr val="001F5F"/>
                </a:solidFill>
                <a:latin typeface="微软雅黑"/>
                <a:cs typeface="微软雅黑"/>
              </a:rPr>
              <a:t>帧</a:t>
            </a:r>
            <a:r>
              <a:rPr dirty="0" sz="2000" spc="-5" b="1">
                <a:solidFill>
                  <a:srgbClr val="001F5F"/>
                </a:solidFill>
                <a:latin typeface="Times New Roman"/>
                <a:cs typeface="Times New Roman"/>
              </a:rPr>
              <a:t>/</a:t>
            </a:r>
            <a:r>
              <a:rPr dirty="0" sz="2000" b="1" i="1">
                <a:solidFill>
                  <a:srgbClr val="001F5F"/>
                </a:solidFill>
                <a:latin typeface="微软雅黑"/>
                <a:cs typeface="微软雅黑"/>
              </a:rPr>
              <a:t>秒</a:t>
            </a:r>
            <a:r>
              <a:rPr dirty="0" sz="2000" spc="5">
                <a:latin typeface="微软雅黑"/>
                <a:cs typeface="微软雅黑"/>
              </a:rPr>
              <a:t>）</a:t>
            </a:r>
            <a:endParaRPr sz="2000">
              <a:latin typeface="微软雅黑"/>
              <a:cs typeface="微软雅黑"/>
            </a:endParaRPr>
          </a:p>
        </p:txBody>
      </p:sp>
      <p:sp>
        <p:nvSpPr>
          <p:cNvPr id="4" name="object 4"/>
          <p:cNvSpPr/>
          <p:nvPr/>
        </p:nvSpPr>
        <p:spPr>
          <a:xfrm>
            <a:off x="562355" y="3707891"/>
            <a:ext cx="3718560" cy="2467356"/>
          </a:xfrm>
          <a:prstGeom prst="rect">
            <a:avLst/>
          </a:prstGeom>
          <a:blipFill>
            <a:blip r:embed="rId2" cstate="print"/>
            <a:stretch>
              <a:fillRect/>
            </a:stretch>
          </a:blipFill>
        </p:spPr>
        <p:txBody>
          <a:bodyPr wrap="square" lIns="0" tIns="0" rIns="0" bIns="0" rtlCol="0"/>
          <a:lstStyle/>
          <a:p/>
        </p:txBody>
      </p:sp>
      <p:sp>
        <p:nvSpPr>
          <p:cNvPr id="5" name="object 5"/>
          <p:cNvSpPr/>
          <p:nvPr/>
        </p:nvSpPr>
        <p:spPr>
          <a:xfrm>
            <a:off x="4498847" y="3654552"/>
            <a:ext cx="3014472" cy="2467356"/>
          </a:xfrm>
          <a:prstGeom prst="rect">
            <a:avLst/>
          </a:prstGeom>
          <a:blipFill>
            <a:blip r:embed="rId3" cstate="print"/>
            <a:stretch>
              <a:fillRect/>
            </a:stretch>
          </a:blipFill>
        </p:spPr>
        <p:txBody>
          <a:bodyPr wrap="square" lIns="0" tIns="0" rIns="0" bIns="0" rtlCol="0"/>
          <a:lstStyle/>
          <a:p/>
        </p:txBody>
      </p:sp>
      <p:sp>
        <p:nvSpPr>
          <p:cNvPr id="6" name="object 6"/>
          <p:cNvSpPr/>
          <p:nvPr/>
        </p:nvSpPr>
        <p:spPr>
          <a:xfrm>
            <a:off x="7778495" y="3662171"/>
            <a:ext cx="3899915" cy="2417064"/>
          </a:xfrm>
          <a:prstGeom prst="rect">
            <a:avLst/>
          </a:prstGeom>
          <a:blipFill>
            <a:blip r:embed="rId4" cstate="print"/>
            <a:stretch>
              <a:fillRect/>
            </a:stretch>
          </a:blipFill>
        </p:spPr>
        <p:txBody>
          <a:bodyPr wrap="square" lIns="0" tIns="0" rIns="0" bIns="0" rtlCol="0"/>
          <a:lstStyle/>
          <a:p/>
        </p:txBody>
      </p:sp>
      <p:sp>
        <p:nvSpPr>
          <p:cNvPr id="7" name="object 7"/>
          <p:cNvSpPr txBox="1"/>
          <p:nvPr/>
        </p:nvSpPr>
        <p:spPr>
          <a:xfrm>
            <a:off x="1936991" y="6216738"/>
            <a:ext cx="939800" cy="391160"/>
          </a:xfrm>
          <a:prstGeom prst="rect">
            <a:avLst/>
          </a:prstGeom>
        </p:spPr>
        <p:txBody>
          <a:bodyPr wrap="square" lIns="0" tIns="12700" rIns="0" bIns="0" rtlCol="0" vert="horz">
            <a:spAutoFit/>
          </a:bodyPr>
          <a:lstStyle/>
          <a:p>
            <a:pPr marL="12700">
              <a:lnSpc>
                <a:spcPct val="100000"/>
              </a:lnSpc>
              <a:spcBef>
                <a:spcPts val="100"/>
              </a:spcBef>
            </a:pPr>
            <a:r>
              <a:rPr dirty="0" sz="2400" b="1" i="1">
                <a:solidFill>
                  <a:srgbClr val="001F5F"/>
                </a:solidFill>
                <a:latin typeface="微软雅黑"/>
                <a:cs typeface="微软雅黑"/>
              </a:rPr>
              <a:t>摄像管</a:t>
            </a:r>
            <a:endParaRPr sz="2400">
              <a:latin typeface="微软雅黑"/>
              <a:cs typeface="微软雅黑"/>
            </a:endParaRPr>
          </a:p>
        </p:txBody>
      </p:sp>
      <p:sp>
        <p:nvSpPr>
          <p:cNvPr id="8" name="object 8"/>
          <p:cNvSpPr txBox="1"/>
          <p:nvPr/>
        </p:nvSpPr>
        <p:spPr>
          <a:xfrm>
            <a:off x="4849101" y="6216738"/>
            <a:ext cx="2463800" cy="391160"/>
          </a:xfrm>
          <a:prstGeom prst="rect">
            <a:avLst/>
          </a:prstGeom>
        </p:spPr>
        <p:txBody>
          <a:bodyPr wrap="square" lIns="0" tIns="12700" rIns="0" bIns="0" rtlCol="0" vert="horz">
            <a:spAutoFit/>
          </a:bodyPr>
          <a:lstStyle/>
          <a:p>
            <a:pPr marL="12700">
              <a:lnSpc>
                <a:spcPct val="100000"/>
              </a:lnSpc>
              <a:spcBef>
                <a:spcPts val="100"/>
              </a:spcBef>
            </a:pPr>
            <a:r>
              <a:rPr dirty="0" sz="2400" b="1" i="1">
                <a:solidFill>
                  <a:srgbClr val="001F5F"/>
                </a:solidFill>
                <a:latin typeface="微软雅黑"/>
                <a:cs typeface="微软雅黑"/>
              </a:rPr>
              <a:t>电子束扫描的路径</a:t>
            </a:r>
            <a:endParaRPr sz="2400">
              <a:latin typeface="微软雅黑"/>
              <a:cs typeface="微软雅黑"/>
            </a:endParaRPr>
          </a:p>
        </p:txBody>
      </p:sp>
      <p:sp>
        <p:nvSpPr>
          <p:cNvPr id="9" name="object 9"/>
          <p:cNvSpPr txBox="1"/>
          <p:nvPr/>
        </p:nvSpPr>
        <p:spPr>
          <a:xfrm>
            <a:off x="9376016" y="6216738"/>
            <a:ext cx="939800" cy="391160"/>
          </a:xfrm>
          <a:prstGeom prst="rect">
            <a:avLst/>
          </a:prstGeom>
        </p:spPr>
        <p:txBody>
          <a:bodyPr wrap="square" lIns="0" tIns="12700" rIns="0" bIns="0" rtlCol="0" vert="horz">
            <a:spAutoFit/>
          </a:bodyPr>
          <a:lstStyle/>
          <a:p>
            <a:pPr marL="12700">
              <a:lnSpc>
                <a:spcPct val="100000"/>
              </a:lnSpc>
              <a:spcBef>
                <a:spcPts val="100"/>
              </a:spcBef>
            </a:pPr>
            <a:r>
              <a:rPr dirty="0" sz="2400" b="1" i="1">
                <a:solidFill>
                  <a:srgbClr val="001F5F"/>
                </a:solidFill>
                <a:latin typeface="微软雅黑"/>
                <a:cs typeface="微软雅黑"/>
              </a:rPr>
              <a:t>显像管</a:t>
            </a:r>
            <a:endParaRPr sz="2400">
              <a:latin typeface="微软雅黑"/>
              <a:cs typeface="微软雅黑"/>
            </a:endParaRPr>
          </a:p>
        </p:txBody>
      </p:sp>
      <p:sp>
        <p:nvSpPr>
          <p:cNvPr id="10" name="object 10"/>
          <p:cNvSpPr txBox="1"/>
          <p:nvPr/>
        </p:nvSpPr>
        <p:spPr>
          <a:xfrm>
            <a:off x="4000182" y="4035742"/>
            <a:ext cx="280035" cy="1550035"/>
          </a:xfrm>
          <a:prstGeom prst="rect">
            <a:avLst/>
          </a:prstGeom>
        </p:spPr>
        <p:txBody>
          <a:bodyPr wrap="square" lIns="0" tIns="0" rIns="0" bIns="0" rtlCol="0" vert="eaVert">
            <a:spAutoFit/>
          </a:bodyPr>
          <a:lstStyle/>
          <a:p>
            <a:pPr marL="12700">
              <a:lnSpc>
                <a:spcPct val="65000"/>
              </a:lnSpc>
            </a:pPr>
            <a:r>
              <a:rPr dirty="0" sz="2000" spc="-5" b="1">
                <a:solidFill>
                  <a:srgbClr val="538235"/>
                </a:solidFill>
                <a:latin typeface="微软雅黑"/>
                <a:cs typeface="微软雅黑"/>
              </a:rPr>
              <a:t>（光敏物质</a:t>
            </a:r>
            <a:r>
              <a:rPr dirty="0" sz="2000" b="1">
                <a:solidFill>
                  <a:srgbClr val="538235"/>
                </a:solidFill>
                <a:latin typeface="微软雅黑"/>
                <a:cs typeface="微软雅黑"/>
              </a:rPr>
              <a:t>）</a:t>
            </a:r>
            <a:endParaRPr sz="2000">
              <a:latin typeface="微软雅黑"/>
              <a:cs typeface="微软雅黑"/>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1840" y="0"/>
            <a:ext cx="2058670" cy="634365"/>
          </a:xfrm>
          <a:prstGeom prst="rect"/>
        </p:spPr>
        <p:txBody>
          <a:bodyPr wrap="square" lIns="0" tIns="12065" rIns="0" bIns="0" rtlCol="0" vert="horz">
            <a:spAutoFit/>
          </a:bodyPr>
          <a:lstStyle/>
          <a:p>
            <a:pPr marL="12700">
              <a:lnSpc>
                <a:spcPct val="100000"/>
              </a:lnSpc>
              <a:spcBef>
                <a:spcPts val="95"/>
              </a:spcBef>
            </a:pPr>
            <a:r>
              <a:rPr dirty="0" sz="4000" i="0">
                <a:solidFill>
                  <a:srgbClr val="F1F1F1"/>
                </a:solidFill>
                <a:latin typeface="华文楷体"/>
                <a:cs typeface="华文楷体"/>
              </a:rPr>
              <a:t>高中物</a:t>
            </a:r>
            <a:r>
              <a:rPr dirty="0" sz="4000" spc="-10" i="0">
                <a:solidFill>
                  <a:srgbClr val="F1F1F1"/>
                </a:solidFill>
                <a:latin typeface="华文楷体"/>
                <a:cs typeface="华文楷体"/>
              </a:rPr>
              <a:t>理</a:t>
            </a:r>
            <a:endParaRPr sz="4000">
              <a:latin typeface="华文楷体"/>
              <a:cs typeface="华文楷体"/>
            </a:endParaRPr>
          </a:p>
        </p:txBody>
      </p:sp>
      <p:sp>
        <p:nvSpPr>
          <p:cNvPr id="3" name="object 3"/>
          <p:cNvSpPr txBox="1"/>
          <p:nvPr/>
        </p:nvSpPr>
        <p:spPr>
          <a:xfrm>
            <a:off x="493077" y="1091564"/>
            <a:ext cx="3666490" cy="451484"/>
          </a:xfrm>
          <a:prstGeom prst="rect">
            <a:avLst/>
          </a:prstGeom>
        </p:spPr>
        <p:txBody>
          <a:bodyPr wrap="square" lIns="0" tIns="12065" rIns="0" bIns="0" rtlCol="0" vert="horz">
            <a:spAutoFit/>
          </a:bodyPr>
          <a:lstStyle/>
          <a:p>
            <a:pPr marL="12700">
              <a:lnSpc>
                <a:spcPct val="100000"/>
              </a:lnSpc>
              <a:spcBef>
                <a:spcPts val="95"/>
              </a:spcBef>
            </a:pPr>
            <a:r>
              <a:rPr dirty="0" sz="2800">
                <a:latin typeface="微软雅黑"/>
                <a:cs typeface="微软雅黑"/>
              </a:rPr>
              <a:t>一</a:t>
            </a:r>
            <a:r>
              <a:rPr dirty="0" sz="2800" spc="-5">
                <a:latin typeface="微软雅黑"/>
                <a:cs typeface="微软雅黑"/>
              </a:rPr>
              <a:t>.</a:t>
            </a:r>
            <a:r>
              <a:rPr dirty="0" sz="2800">
                <a:latin typeface="微软雅黑"/>
                <a:cs typeface="微软雅黑"/>
              </a:rPr>
              <a:t>电磁波与信息化社</a:t>
            </a:r>
            <a:r>
              <a:rPr dirty="0" sz="2800" spc="-5">
                <a:latin typeface="微软雅黑"/>
                <a:cs typeface="微软雅黑"/>
              </a:rPr>
              <a:t>会</a:t>
            </a:r>
            <a:endParaRPr sz="2800">
              <a:latin typeface="微软雅黑"/>
              <a:cs typeface="微软雅黑"/>
            </a:endParaRPr>
          </a:p>
        </p:txBody>
      </p:sp>
      <p:sp>
        <p:nvSpPr>
          <p:cNvPr id="4" name="object 4"/>
          <p:cNvSpPr/>
          <p:nvPr/>
        </p:nvSpPr>
        <p:spPr>
          <a:xfrm>
            <a:off x="214884" y="1690116"/>
            <a:ext cx="11775948" cy="3467100"/>
          </a:xfrm>
          <a:prstGeom prst="rect">
            <a:avLst/>
          </a:prstGeom>
          <a:blipFill>
            <a:blip r:embed="rId2" cstate="print"/>
            <a:stretch>
              <a:fillRect/>
            </a:stretch>
          </a:blipFill>
        </p:spPr>
        <p:txBody>
          <a:bodyPr wrap="square" lIns="0" tIns="0" rIns="0" bIns="0" rtlCol="0"/>
          <a:lstStyle/>
          <a:p/>
        </p:txBody>
      </p:sp>
      <p:sp>
        <p:nvSpPr>
          <p:cNvPr id="5" name="object 5"/>
          <p:cNvSpPr txBox="1"/>
          <p:nvPr/>
        </p:nvSpPr>
        <p:spPr>
          <a:xfrm>
            <a:off x="2792285" y="2484069"/>
            <a:ext cx="534035" cy="331470"/>
          </a:xfrm>
          <a:prstGeom prst="rect">
            <a:avLst/>
          </a:prstGeom>
        </p:spPr>
        <p:txBody>
          <a:bodyPr wrap="square" lIns="0" tIns="13335" rIns="0" bIns="0" rtlCol="0" vert="horz">
            <a:spAutoFit/>
          </a:bodyPr>
          <a:lstStyle/>
          <a:p>
            <a:pPr marL="12700">
              <a:lnSpc>
                <a:spcPct val="100000"/>
              </a:lnSpc>
              <a:spcBef>
                <a:spcPts val="105"/>
              </a:spcBef>
            </a:pPr>
            <a:r>
              <a:rPr dirty="0" sz="2000" b="1" i="1">
                <a:solidFill>
                  <a:srgbClr val="001F5F"/>
                </a:solidFill>
                <a:latin typeface="微软雅黑"/>
                <a:cs typeface="微软雅黑"/>
              </a:rPr>
              <a:t>调</a:t>
            </a:r>
            <a:r>
              <a:rPr dirty="0" sz="2000" spc="5" b="1" i="1">
                <a:solidFill>
                  <a:srgbClr val="001F5F"/>
                </a:solidFill>
                <a:latin typeface="微软雅黑"/>
                <a:cs typeface="微软雅黑"/>
              </a:rPr>
              <a:t>制</a:t>
            </a:r>
            <a:endParaRPr sz="2000">
              <a:latin typeface="微软雅黑"/>
              <a:cs typeface="微软雅黑"/>
            </a:endParaRPr>
          </a:p>
        </p:txBody>
      </p:sp>
      <p:sp>
        <p:nvSpPr>
          <p:cNvPr id="6" name="object 6"/>
          <p:cNvSpPr txBox="1"/>
          <p:nvPr/>
        </p:nvSpPr>
        <p:spPr>
          <a:xfrm>
            <a:off x="8673109" y="2801467"/>
            <a:ext cx="1296035" cy="331470"/>
          </a:xfrm>
          <a:prstGeom prst="rect">
            <a:avLst/>
          </a:prstGeom>
        </p:spPr>
        <p:txBody>
          <a:bodyPr wrap="square" lIns="0" tIns="13335" rIns="0" bIns="0" rtlCol="0" vert="horz">
            <a:spAutoFit/>
          </a:bodyPr>
          <a:lstStyle/>
          <a:p>
            <a:pPr marL="12700">
              <a:lnSpc>
                <a:spcPct val="100000"/>
              </a:lnSpc>
              <a:spcBef>
                <a:spcPts val="105"/>
              </a:spcBef>
            </a:pPr>
            <a:r>
              <a:rPr dirty="0" sz="2000" b="1" i="1">
                <a:solidFill>
                  <a:srgbClr val="001F5F"/>
                </a:solidFill>
                <a:latin typeface="微软雅黑"/>
                <a:cs typeface="微软雅黑"/>
              </a:rPr>
              <a:t>解调、检</a:t>
            </a:r>
            <a:r>
              <a:rPr dirty="0" sz="2000" spc="5" b="1" i="1">
                <a:solidFill>
                  <a:srgbClr val="001F5F"/>
                </a:solidFill>
                <a:latin typeface="微软雅黑"/>
                <a:cs typeface="微软雅黑"/>
              </a:rPr>
              <a:t>波</a:t>
            </a:r>
            <a:endParaRPr sz="2000">
              <a:latin typeface="微软雅黑"/>
              <a:cs typeface="微软雅黑"/>
            </a:endParaRPr>
          </a:p>
        </p:txBody>
      </p:sp>
      <p:sp>
        <p:nvSpPr>
          <p:cNvPr id="7" name="object 7"/>
          <p:cNvSpPr txBox="1"/>
          <p:nvPr/>
        </p:nvSpPr>
        <p:spPr>
          <a:xfrm>
            <a:off x="8101012" y="3491255"/>
            <a:ext cx="534035" cy="331470"/>
          </a:xfrm>
          <a:prstGeom prst="rect">
            <a:avLst/>
          </a:prstGeom>
        </p:spPr>
        <p:txBody>
          <a:bodyPr wrap="square" lIns="0" tIns="13335" rIns="0" bIns="0" rtlCol="0" vert="horz">
            <a:spAutoFit/>
          </a:bodyPr>
          <a:lstStyle/>
          <a:p>
            <a:pPr marL="12700">
              <a:lnSpc>
                <a:spcPct val="100000"/>
              </a:lnSpc>
              <a:spcBef>
                <a:spcPts val="105"/>
              </a:spcBef>
            </a:pPr>
            <a:r>
              <a:rPr dirty="0" sz="2000" b="1" i="1">
                <a:solidFill>
                  <a:srgbClr val="001F5F"/>
                </a:solidFill>
                <a:latin typeface="微软雅黑"/>
                <a:cs typeface="微软雅黑"/>
              </a:rPr>
              <a:t>调</a:t>
            </a:r>
            <a:r>
              <a:rPr dirty="0" sz="2000" spc="5" b="1" i="1">
                <a:solidFill>
                  <a:srgbClr val="001F5F"/>
                </a:solidFill>
                <a:latin typeface="微软雅黑"/>
                <a:cs typeface="微软雅黑"/>
              </a:rPr>
              <a:t>谐</a:t>
            </a:r>
            <a:endParaRPr sz="2000">
              <a:latin typeface="微软雅黑"/>
              <a:cs typeface="微软雅黑"/>
            </a:endParaRPr>
          </a:p>
        </p:txBody>
      </p:sp>
      <p:sp>
        <p:nvSpPr>
          <p:cNvPr id="8" name="object 8"/>
          <p:cNvSpPr txBox="1"/>
          <p:nvPr/>
        </p:nvSpPr>
        <p:spPr>
          <a:xfrm>
            <a:off x="1475727" y="2666504"/>
            <a:ext cx="1042035" cy="331470"/>
          </a:xfrm>
          <a:prstGeom prst="rect">
            <a:avLst/>
          </a:prstGeom>
        </p:spPr>
        <p:txBody>
          <a:bodyPr wrap="square" lIns="0" tIns="13335" rIns="0" bIns="0" rtlCol="0" vert="horz">
            <a:spAutoFit/>
          </a:bodyPr>
          <a:lstStyle/>
          <a:p>
            <a:pPr marL="12700">
              <a:lnSpc>
                <a:spcPct val="100000"/>
              </a:lnSpc>
              <a:spcBef>
                <a:spcPts val="105"/>
              </a:spcBef>
            </a:pPr>
            <a:r>
              <a:rPr dirty="0" sz="2000" b="1" i="1">
                <a:solidFill>
                  <a:srgbClr val="001F5F"/>
                </a:solidFill>
                <a:latin typeface="微软雅黑"/>
                <a:cs typeface="微软雅黑"/>
              </a:rPr>
              <a:t>图像信</a:t>
            </a:r>
            <a:r>
              <a:rPr dirty="0" sz="2000" spc="5" b="1" i="1">
                <a:solidFill>
                  <a:srgbClr val="001F5F"/>
                </a:solidFill>
                <a:latin typeface="微软雅黑"/>
                <a:cs typeface="微软雅黑"/>
              </a:rPr>
              <a:t>号</a:t>
            </a:r>
            <a:endParaRPr sz="2000">
              <a:latin typeface="微软雅黑"/>
              <a:cs typeface="微软雅黑"/>
            </a:endParaRPr>
          </a:p>
        </p:txBody>
      </p:sp>
      <p:sp>
        <p:nvSpPr>
          <p:cNvPr id="9" name="object 9"/>
          <p:cNvSpPr txBox="1"/>
          <p:nvPr/>
        </p:nvSpPr>
        <p:spPr>
          <a:xfrm>
            <a:off x="1448244" y="3913632"/>
            <a:ext cx="1042035" cy="331470"/>
          </a:xfrm>
          <a:prstGeom prst="rect">
            <a:avLst/>
          </a:prstGeom>
        </p:spPr>
        <p:txBody>
          <a:bodyPr wrap="square" lIns="0" tIns="13335" rIns="0" bIns="0" rtlCol="0" vert="horz">
            <a:spAutoFit/>
          </a:bodyPr>
          <a:lstStyle/>
          <a:p>
            <a:pPr marL="12700">
              <a:lnSpc>
                <a:spcPct val="100000"/>
              </a:lnSpc>
              <a:spcBef>
                <a:spcPts val="105"/>
              </a:spcBef>
            </a:pPr>
            <a:r>
              <a:rPr dirty="0" sz="2000" b="1" i="1">
                <a:solidFill>
                  <a:srgbClr val="001F5F"/>
                </a:solidFill>
                <a:latin typeface="微软雅黑"/>
                <a:cs typeface="微软雅黑"/>
              </a:rPr>
              <a:t>伴音信</a:t>
            </a:r>
            <a:r>
              <a:rPr dirty="0" sz="2000" spc="5" b="1" i="1">
                <a:solidFill>
                  <a:srgbClr val="001F5F"/>
                </a:solidFill>
                <a:latin typeface="微软雅黑"/>
                <a:cs typeface="微软雅黑"/>
              </a:rPr>
              <a:t>号</a:t>
            </a:r>
            <a:endParaRPr sz="2000">
              <a:latin typeface="微软雅黑"/>
              <a:cs typeface="微软雅黑"/>
            </a:endParaRPr>
          </a:p>
        </p:txBody>
      </p:sp>
      <p:sp>
        <p:nvSpPr>
          <p:cNvPr id="10" name="object 10"/>
          <p:cNvSpPr txBox="1"/>
          <p:nvPr/>
        </p:nvSpPr>
        <p:spPr>
          <a:xfrm>
            <a:off x="753109" y="5001539"/>
            <a:ext cx="7071359" cy="1682750"/>
          </a:xfrm>
          <a:prstGeom prst="rect">
            <a:avLst/>
          </a:prstGeom>
        </p:spPr>
        <p:txBody>
          <a:bodyPr wrap="square" lIns="0" tIns="208279" rIns="0" bIns="0" rtlCol="0" vert="horz">
            <a:spAutoFit/>
          </a:bodyPr>
          <a:lstStyle/>
          <a:p>
            <a:pPr marL="3400425">
              <a:lnSpc>
                <a:spcPct val="100000"/>
              </a:lnSpc>
              <a:spcBef>
                <a:spcPts val="1639"/>
              </a:spcBef>
            </a:pPr>
            <a:r>
              <a:rPr dirty="0" sz="2400" b="1" i="1">
                <a:solidFill>
                  <a:srgbClr val="001F5F"/>
                </a:solidFill>
                <a:latin typeface="微软雅黑"/>
                <a:cs typeface="微软雅黑"/>
              </a:rPr>
              <a:t>电视广播的发射和接收过程</a:t>
            </a:r>
            <a:endParaRPr sz="2400">
              <a:latin typeface="微软雅黑"/>
              <a:cs typeface="微软雅黑"/>
            </a:endParaRPr>
          </a:p>
          <a:p>
            <a:pPr marL="12700">
              <a:lnSpc>
                <a:spcPct val="100000"/>
              </a:lnSpc>
              <a:spcBef>
                <a:spcPts val="1545"/>
              </a:spcBef>
            </a:pPr>
            <a:r>
              <a:rPr dirty="0" sz="2400">
                <a:latin typeface="微软雅黑"/>
                <a:cs typeface="微软雅黑"/>
              </a:rPr>
              <a:t>电视技术的发展：无线传输</a:t>
            </a:r>
            <a:r>
              <a:rPr dirty="0" sz="2400">
                <a:latin typeface="Times New Roman"/>
                <a:cs typeface="Times New Roman"/>
              </a:rPr>
              <a:t>→</a:t>
            </a:r>
            <a:r>
              <a:rPr dirty="0" sz="2400">
                <a:latin typeface="微软雅黑"/>
                <a:cs typeface="微软雅黑"/>
              </a:rPr>
              <a:t>有线传输、卫星传输</a:t>
            </a:r>
            <a:endParaRPr sz="2400">
              <a:latin typeface="微软雅黑"/>
              <a:cs typeface="微软雅黑"/>
            </a:endParaRPr>
          </a:p>
          <a:p>
            <a:pPr marL="2436495">
              <a:lnSpc>
                <a:spcPct val="100000"/>
              </a:lnSpc>
              <a:spcBef>
                <a:spcPts val="1320"/>
              </a:spcBef>
            </a:pPr>
            <a:r>
              <a:rPr dirty="0" sz="2400">
                <a:latin typeface="微软雅黑"/>
                <a:cs typeface="微软雅黑"/>
              </a:rPr>
              <a:t>模拟信号</a:t>
            </a:r>
            <a:r>
              <a:rPr dirty="0" sz="2400">
                <a:latin typeface="Times New Roman"/>
                <a:cs typeface="Times New Roman"/>
              </a:rPr>
              <a:t>→</a:t>
            </a:r>
            <a:r>
              <a:rPr dirty="0" sz="2400">
                <a:latin typeface="微软雅黑"/>
                <a:cs typeface="微软雅黑"/>
              </a:rPr>
              <a:t>数字信号</a:t>
            </a:r>
            <a:endParaRPr sz="2400">
              <a:latin typeface="微软雅黑"/>
              <a:cs typeface="微软雅黑"/>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1840" y="0"/>
            <a:ext cx="2058670" cy="634365"/>
          </a:xfrm>
          <a:prstGeom prst="rect"/>
        </p:spPr>
        <p:txBody>
          <a:bodyPr wrap="square" lIns="0" tIns="12065" rIns="0" bIns="0" rtlCol="0" vert="horz">
            <a:spAutoFit/>
          </a:bodyPr>
          <a:lstStyle/>
          <a:p>
            <a:pPr marL="12700">
              <a:lnSpc>
                <a:spcPct val="100000"/>
              </a:lnSpc>
              <a:spcBef>
                <a:spcPts val="95"/>
              </a:spcBef>
            </a:pPr>
            <a:r>
              <a:rPr dirty="0" sz="4000" i="0">
                <a:solidFill>
                  <a:srgbClr val="F1F1F1"/>
                </a:solidFill>
                <a:latin typeface="华文楷体"/>
                <a:cs typeface="华文楷体"/>
              </a:rPr>
              <a:t>高中物</a:t>
            </a:r>
            <a:r>
              <a:rPr dirty="0" sz="4000" spc="-10" i="0">
                <a:solidFill>
                  <a:srgbClr val="F1F1F1"/>
                </a:solidFill>
                <a:latin typeface="华文楷体"/>
                <a:cs typeface="华文楷体"/>
              </a:rPr>
              <a:t>理</a:t>
            </a:r>
            <a:endParaRPr sz="4000">
              <a:latin typeface="华文楷体"/>
              <a:cs typeface="华文楷体"/>
            </a:endParaRPr>
          </a:p>
        </p:txBody>
      </p:sp>
      <p:sp>
        <p:nvSpPr>
          <p:cNvPr id="3" name="object 3"/>
          <p:cNvSpPr/>
          <p:nvPr/>
        </p:nvSpPr>
        <p:spPr>
          <a:xfrm>
            <a:off x="0" y="2522220"/>
            <a:ext cx="6810756" cy="4194048"/>
          </a:xfrm>
          <a:prstGeom prst="rect">
            <a:avLst/>
          </a:prstGeom>
          <a:blipFill>
            <a:blip r:embed="rId2" cstate="print"/>
            <a:stretch>
              <a:fillRect/>
            </a:stretch>
          </a:blipFill>
        </p:spPr>
        <p:txBody>
          <a:bodyPr wrap="square" lIns="0" tIns="0" rIns="0" bIns="0" rtlCol="0"/>
          <a:lstStyle/>
          <a:p/>
        </p:txBody>
      </p:sp>
      <p:sp>
        <p:nvSpPr>
          <p:cNvPr id="4" name="object 4"/>
          <p:cNvSpPr/>
          <p:nvPr/>
        </p:nvSpPr>
        <p:spPr>
          <a:xfrm>
            <a:off x="1885569" y="3121342"/>
            <a:ext cx="3241040" cy="1598295"/>
          </a:xfrm>
          <a:custGeom>
            <a:avLst/>
            <a:gdLst/>
            <a:ahLst/>
            <a:cxnLst/>
            <a:rect l="l" t="t" r="r" b="b"/>
            <a:pathLst>
              <a:path w="3241040" h="1598295">
                <a:moveTo>
                  <a:pt x="16637" y="1597977"/>
                </a:moveTo>
                <a:lnTo>
                  <a:pt x="0" y="1563687"/>
                </a:lnTo>
                <a:lnTo>
                  <a:pt x="137134" y="1497190"/>
                </a:lnTo>
                <a:lnTo>
                  <a:pt x="153758" y="1531467"/>
                </a:lnTo>
                <a:lnTo>
                  <a:pt x="16637" y="1597977"/>
                </a:lnTo>
                <a:close/>
              </a:path>
              <a:path w="3241040" h="1598295">
                <a:moveTo>
                  <a:pt x="256603" y="1481594"/>
                </a:moveTo>
                <a:lnTo>
                  <a:pt x="239979" y="1447317"/>
                </a:lnTo>
                <a:lnTo>
                  <a:pt x="377101" y="1380807"/>
                </a:lnTo>
                <a:lnTo>
                  <a:pt x="393725" y="1415084"/>
                </a:lnTo>
                <a:lnTo>
                  <a:pt x="256603" y="1481594"/>
                </a:lnTo>
                <a:close/>
              </a:path>
              <a:path w="3241040" h="1598295">
                <a:moveTo>
                  <a:pt x="496569" y="1365211"/>
                </a:moveTo>
                <a:lnTo>
                  <a:pt x="479945" y="1330934"/>
                </a:lnTo>
                <a:lnTo>
                  <a:pt x="617067" y="1264424"/>
                </a:lnTo>
                <a:lnTo>
                  <a:pt x="633691" y="1298714"/>
                </a:lnTo>
                <a:lnTo>
                  <a:pt x="496569" y="1365211"/>
                </a:lnTo>
                <a:close/>
              </a:path>
              <a:path w="3241040" h="1598295">
                <a:moveTo>
                  <a:pt x="736536" y="1248829"/>
                </a:moveTo>
                <a:lnTo>
                  <a:pt x="719912" y="1214551"/>
                </a:lnTo>
                <a:lnTo>
                  <a:pt x="857034" y="1148041"/>
                </a:lnTo>
                <a:lnTo>
                  <a:pt x="873658" y="1182331"/>
                </a:lnTo>
                <a:lnTo>
                  <a:pt x="736536" y="1248829"/>
                </a:lnTo>
                <a:close/>
              </a:path>
              <a:path w="3241040" h="1598295">
                <a:moveTo>
                  <a:pt x="976503" y="1132446"/>
                </a:moveTo>
                <a:lnTo>
                  <a:pt x="959878" y="1098169"/>
                </a:lnTo>
                <a:lnTo>
                  <a:pt x="1097000" y="1031671"/>
                </a:lnTo>
                <a:lnTo>
                  <a:pt x="1113624" y="1065949"/>
                </a:lnTo>
                <a:lnTo>
                  <a:pt x="976503" y="1132446"/>
                </a:lnTo>
                <a:close/>
              </a:path>
              <a:path w="3241040" h="1598295">
                <a:moveTo>
                  <a:pt x="1216469" y="1016076"/>
                </a:moveTo>
                <a:lnTo>
                  <a:pt x="1199845" y="981786"/>
                </a:lnTo>
                <a:lnTo>
                  <a:pt x="1336967" y="915289"/>
                </a:lnTo>
                <a:lnTo>
                  <a:pt x="1353591" y="949566"/>
                </a:lnTo>
                <a:lnTo>
                  <a:pt x="1216469" y="1016076"/>
                </a:lnTo>
                <a:close/>
              </a:path>
              <a:path w="3241040" h="1598295">
                <a:moveTo>
                  <a:pt x="1456435" y="899693"/>
                </a:moveTo>
                <a:lnTo>
                  <a:pt x="1439811" y="865416"/>
                </a:lnTo>
                <a:lnTo>
                  <a:pt x="1576933" y="798906"/>
                </a:lnTo>
                <a:lnTo>
                  <a:pt x="1593557" y="833183"/>
                </a:lnTo>
                <a:lnTo>
                  <a:pt x="1456435" y="899693"/>
                </a:lnTo>
                <a:close/>
              </a:path>
              <a:path w="3241040" h="1598295">
                <a:moveTo>
                  <a:pt x="1696402" y="783310"/>
                </a:moveTo>
                <a:lnTo>
                  <a:pt x="1679778" y="749033"/>
                </a:lnTo>
                <a:lnTo>
                  <a:pt x="1816900" y="682523"/>
                </a:lnTo>
                <a:lnTo>
                  <a:pt x="1833524" y="716813"/>
                </a:lnTo>
                <a:lnTo>
                  <a:pt x="1696402" y="783310"/>
                </a:lnTo>
                <a:close/>
              </a:path>
              <a:path w="3241040" h="1598295">
                <a:moveTo>
                  <a:pt x="1936369" y="666927"/>
                </a:moveTo>
                <a:lnTo>
                  <a:pt x="1919744" y="632650"/>
                </a:lnTo>
                <a:lnTo>
                  <a:pt x="2056866" y="566140"/>
                </a:lnTo>
                <a:lnTo>
                  <a:pt x="2073503" y="600430"/>
                </a:lnTo>
                <a:lnTo>
                  <a:pt x="1936369" y="666927"/>
                </a:lnTo>
                <a:close/>
              </a:path>
              <a:path w="3241040" h="1598295">
                <a:moveTo>
                  <a:pt x="2176335" y="550545"/>
                </a:moveTo>
                <a:lnTo>
                  <a:pt x="2159711" y="516267"/>
                </a:lnTo>
                <a:lnTo>
                  <a:pt x="2296845" y="449770"/>
                </a:lnTo>
                <a:lnTo>
                  <a:pt x="2313470" y="484047"/>
                </a:lnTo>
                <a:lnTo>
                  <a:pt x="2176335" y="550545"/>
                </a:lnTo>
                <a:close/>
              </a:path>
              <a:path w="3241040" h="1598295">
                <a:moveTo>
                  <a:pt x="2416314" y="434174"/>
                </a:moveTo>
                <a:lnTo>
                  <a:pt x="2399677" y="399884"/>
                </a:lnTo>
                <a:lnTo>
                  <a:pt x="2536812" y="333387"/>
                </a:lnTo>
                <a:lnTo>
                  <a:pt x="2553436" y="367665"/>
                </a:lnTo>
                <a:lnTo>
                  <a:pt x="2416314" y="434174"/>
                </a:lnTo>
                <a:close/>
              </a:path>
              <a:path w="3241040" h="1598295">
                <a:moveTo>
                  <a:pt x="2656281" y="317792"/>
                </a:moveTo>
                <a:lnTo>
                  <a:pt x="2639656" y="283514"/>
                </a:lnTo>
                <a:lnTo>
                  <a:pt x="2776778" y="217004"/>
                </a:lnTo>
                <a:lnTo>
                  <a:pt x="2793403" y="251282"/>
                </a:lnTo>
                <a:lnTo>
                  <a:pt x="2656281" y="317792"/>
                </a:lnTo>
                <a:close/>
              </a:path>
              <a:path w="3241040" h="1598295">
                <a:moveTo>
                  <a:pt x="2896247" y="201409"/>
                </a:moveTo>
                <a:lnTo>
                  <a:pt x="2879623" y="167132"/>
                </a:lnTo>
                <a:lnTo>
                  <a:pt x="3016745" y="100622"/>
                </a:lnTo>
                <a:lnTo>
                  <a:pt x="3033369" y="134912"/>
                </a:lnTo>
                <a:lnTo>
                  <a:pt x="2896247" y="201409"/>
                </a:lnTo>
                <a:close/>
              </a:path>
              <a:path w="3241040" h="1598295">
                <a:moveTo>
                  <a:pt x="3136214" y="85026"/>
                </a:moveTo>
                <a:lnTo>
                  <a:pt x="3119589" y="50749"/>
                </a:lnTo>
                <a:lnTo>
                  <a:pt x="3224212" y="0"/>
                </a:lnTo>
                <a:lnTo>
                  <a:pt x="3240836" y="34290"/>
                </a:lnTo>
                <a:lnTo>
                  <a:pt x="3136214" y="85026"/>
                </a:lnTo>
                <a:close/>
              </a:path>
            </a:pathLst>
          </a:custGeom>
          <a:solidFill>
            <a:srgbClr val="006FC0"/>
          </a:solidFill>
        </p:spPr>
        <p:txBody>
          <a:bodyPr wrap="square" lIns="0" tIns="0" rIns="0" bIns="0" rtlCol="0"/>
          <a:lstStyle/>
          <a:p/>
        </p:txBody>
      </p:sp>
      <p:sp>
        <p:nvSpPr>
          <p:cNvPr id="5" name="object 5"/>
          <p:cNvSpPr/>
          <p:nvPr/>
        </p:nvSpPr>
        <p:spPr>
          <a:xfrm>
            <a:off x="4629911" y="4573523"/>
            <a:ext cx="2238756" cy="2142744"/>
          </a:xfrm>
          <a:prstGeom prst="rect">
            <a:avLst/>
          </a:prstGeom>
          <a:blipFill>
            <a:blip r:embed="rId3" cstate="print"/>
            <a:stretch>
              <a:fillRect/>
            </a:stretch>
          </a:blipFill>
        </p:spPr>
        <p:txBody>
          <a:bodyPr wrap="square" lIns="0" tIns="0" rIns="0" bIns="0" rtlCol="0"/>
          <a:lstStyle/>
          <a:p/>
        </p:txBody>
      </p:sp>
      <p:sp>
        <p:nvSpPr>
          <p:cNvPr id="6" name="object 6"/>
          <p:cNvSpPr txBox="1"/>
          <p:nvPr/>
        </p:nvSpPr>
        <p:spPr>
          <a:xfrm>
            <a:off x="2018118" y="3210636"/>
            <a:ext cx="939800" cy="391160"/>
          </a:xfrm>
          <a:prstGeom prst="rect">
            <a:avLst/>
          </a:prstGeom>
        </p:spPr>
        <p:txBody>
          <a:bodyPr wrap="square" lIns="0" tIns="12700" rIns="0" bIns="0" rtlCol="0" vert="horz">
            <a:spAutoFit/>
          </a:bodyPr>
          <a:lstStyle/>
          <a:p>
            <a:pPr marL="12700">
              <a:lnSpc>
                <a:spcPct val="100000"/>
              </a:lnSpc>
              <a:spcBef>
                <a:spcPts val="100"/>
              </a:spcBef>
            </a:pPr>
            <a:r>
              <a:rPr dirty="0" sz="2400" b="1" i="1">
                <a:latin typeface="微软雅黑"/>
                <a:cs typeface="微软雅黑"/>
              </a:rPr>
              <a:t>发射波</a:t>
            </a:r>
            <a:endParaRPr sz="2400">
              <a:latin typeface="微软雅黑"/>
              <a:cs typeface="微软雅黑"/>
            </a:endParaRPr>
          </a:p>
        </p:txBody>
      </p:sp>
      <p:sp>
        <p:nvSpPr>
          <p:cNvPr id="7" name="object 7"/>
          <p:cNvSpPr txBox="1"/>
          <p:nvPr/>
        </p:nvSpPr>
        <p:spPr>
          <a:xfrm>
            <a:off x="4630229" y="3867530"/>
            <a:ext cx="939800" cy="391160"/>
          </a:xfrm>
          <a:prstGeom prst="rect">
            <a:avLst/>
          </a:prstGeom>
        </p:spPr>
        <p:txBody>
          <a:bodyPr wrap="square" lIns="0" tIns="12700" rIns="0" bIns="0" rtlCol="0" vert="horz">
            <a:spAutoFit/>
          </a:bodyPr>
          <a:lstStyle/>
          <a:p>
            <a:pPr marL="12700">
              <a:lnSpc>
                <a:spcPct val="100000"/>
              </a:lnSpc>
              <a:spcBef>
                <a:spcPts val="100"/>
              </a:spcBef>
            </a:pPr>
            <a:r>
              <a:rPr dirty="0" sz="2400" b="1" i="1">
                <a:latin typeface="微软雅黑"/>
                <a:cs typeface="微软雅黑"/>
              </a:rPr>
              <a:t>反射波</a:t>
            </a:r>
            <a:endParaRPr sz="2400">
              <a:latin typeface="微软雅黑"/>
              <a:cs typeface="微软雅黑"/>
            </a:endParaRPr>
          </a:p>
        </p:txBody>
      </p:sp>
      <p:sp>
        <p:nvSpPr>
          <p:cNvPr id="8" name="object 8"/>
          <p:cNvSpPr/>
          <p:nvPr/>
        </p:nvSpPr>
        <p:spPr>
          <a:xfrm>
            <a:off x="5045868" y="5330787"/>
            <a:ext cx="0" cy="756285"/>
          </a:xfrm>
          <a:custGeom>
            <a:avLst/>
            <a:gdLst/>
            <a:ahLst/>
            <a:cxnLst/>
            <a:rect l="l" t="t" r="r" b="b"/>
            <a:pathLst>
              <a:path w="0" h="756285">
                <a:moveTo>
                  <a:pt x="0" y="0"/>
                </a:moveTo>
                <a:lnTo>
                  <a:pt x="0" y="755726"/>
                </a:lnTo>
              </a:path>
            </a:pathLst>
          </a:custGeom>
          <a:ln w="39687">
            <a:solidFill>
              <a:srgbClr val="006FC0"/>
            </a:solidFill>
          </a:ln>
        </p:spPr>
        <p:txBody>
          <a:bodyPr wrap="square" lIns="0" tIns="0" rIns="0" bIns="0" rtlCol="0"/>
          <a:lstStyle/>
          <a:p/>
        </p:txBody>
      </p:sp>
      <p:sp>
        <p:nvSpPr>
          <p:cNvPr id="9" name="object 9"/>
          <p:cNvSpPr/>
          <p:nvPr/>
        </p:nvSpPr>
        <p:spPr>
          <a:xfrm>
            <a:off x="6128543" y="5324437"/>
            <a:ext cx="0" cy="757555"/>
          </a:xfrm>
          <a:custGeom>
            <a:avLst/>
            <a:gdLst/>
            <a:ahLst/>
            <a:cxnLst/>
            <a:rect l="l" t="t" r="r" b="b"/>
            <a:pathLst>
              <a:path w="0" h="757554">
                <a:moveTo>
                  <a:pt x="0" y="0"/>
                </a:moveTo>
                <a:lnTo>
                  <a:pt x="0" y="757313"/>
                </a:lnTo>
              </a:path>
            </a:pathLst>
          </a:custGeom>
          <a:ln w="39687">
            <a:solidFill>
              <a:srgbClr val="006FC0"/>
            </a:solidFill>
          </a:ln>
        </p:spPr>
        <p:txBody>
          <a:bodyPr wrap="square" lIns="0" tIns="0" rIns="0" bIns="0" rtlCol="0"/>
          <a:lstStyle/>
          <a:p/>
        </p:txBody>
      </p:sp>
      <p:sp>
        <p:nvSpPr>
          <p:cNvPr id="10" name="object 10"/>
          <p:cNvSpPr/>
          <p:nvPr/>
        </p:nvSpPr>
        <p:spPr>
          <a:xfrm>
            <a:off x="5060950" y="5796191"/>
            <a:ext cx="1073150" cy="172720"/>
          </a:xfrm>
          <a:custGeom>
            <a:avLst/>
            <a:gdLst/>
            <a:ahLst/>
            <a:cxnLst/>
            <a:rect l="l" t="t" r="r" b="b"/>
            <a:pathLst>
              <a:path w="1073150" h="172720">
                <a:moveTo>
                  <a:pt x="151891" y="171450"/>
                </a:moveTo>
                <a:lnTo>
                  <a:pt x="148589" y="171132"/>
                </a:lnTo>
                <a:lnTo>
                  <a:pt x="145389" y="170256"/>
                </a:lnTo>
                <a:lnTo>
                  <a:pt x="142379" y="168833"/>
                </a:lnTo>
                <a:lnTo>
                  <a:pt x="0" y="85496"/>
                </a:lnTo>
                <a:lnTo>
                  <a:pt x="142633" y="2578"/>
                </a:lnTo>
                <a:lnTo>
                  <a:pt x="145630" y="1168"/>
                </a:lnTo>
                <a:lnTo>
                  <a:pt x="148844" y="292"/>
                </a:lnTo>
                <a:lnTo>
                  <a:pt x="152146" y="0"/>
                </a:lnTo>
                <a:lnTo>
                  <a:pt x="155508" y="292"/>
                </a:lnTo>
                <a:lnTo>
                  <a:pt x="171168" y="20066"/>
                </a:lnTo>
                <a:lnTo>
                  <a:pt x="170980" y="22301"/>
                </a:lnTo>
                <a:lnTo>
                  <a:pt x="108495" y="66497"/>
                </a:lnTo>
                <a:lnTo>
                  <a:pt x="37833" y="66497"/>
                </a:lnTo>
                <a:lnTo>
                  <a:pt x="37782" y="104597"/>
                </a:lnTo>
                <a:lnTo>
                  <a:pt x="108238" y="104702"/>
                </a:lnTo>
                <a:lnTo>
                  <a:pt x="161632" y="135953"/>
                </a:lnTo>
                <a:lnTo>
                  <a:pt x="170956" y="153593"/>
                </a:lnTo>
                <a:lnTo>
                  <a:pt x="170751" y="155816"/>
                </a:lnTo>
                <a:lnTo>
                  <a:pt x="155206" y="171170"/>
                </a:lnTo>
                <a:lnTo>
                  <a:pt x="151891" y="171450"/>
                </a:lnTo>
                <a:close/>
              </a:path>
              <a:path w="1073150" h="172720">
                <a:moveTo>
                  <a:pt x="1040468" y="106083"/>
                </a:moveTo>
                <a:lnTo>
                  <a:pt x="1035316" y="106083"/>
                </a:lnTo>
                <a:lnTo>
                  <a:pt x="1035367" y="67983"/>
                </a:lnTo>
                <a:lnTo>
                  <a:pt x="964911" y="67878"/>
                </a:lnTo>
                <a:lnTo>
                  <a:pt x="911517" y="36626"/>
                </a:lnTo>
                <a:lnTo>
                  <a:pt x="902193" y="18986"/>
                </a:lnTo>
                <a:lnTo>
                  <a:pt x="902398" y="16764"/>
                </a:lnTo>
                <a:lnTo>
                  <a:pt x="921258" y="1130"/>
                </a:lnTo>
                <a:lnTo>
                  <a:pt x="924560" y="1447"/>
                </a:lnTo>
                <a:lnTo>
                  <a:pt x="927760" y="2324"/>
                </a:lnTo>
                <a:lnTo>
                  <a:pt x="930770" y="3746"/>
                </a:lnTo>
                <a:lnTo>
                  <a:pt x="1073150" y="87083"/>
                </a:lnTo>
                <a:lnTo>
                  <a:pt x="1040468" y="106083"/>
                </a:lnTo>
                <a:close/>
              </a:path>
              <a:path w="1073150" h="172720">
                <a:moveTo>
                  <a:pt x="108238" y="104702"/>
                </a:moveTo>
                <a:lnTo>
                  <a:pt x="37782" y="104597"/>
                </a:lnTo>
                <a:lnTo>
                  <a:pt x="37833" y="66497"/>
                </a:lnTo>
                <a:lnTo>
                  <a:pt x="108314" y="66602"/>
                </a:lnTo>
                <a:lnTo>
                  <a:pt x="103994" y="69113"/>
                </a:lnTo>
                <a:lnTo>
                  <a:pt x="47434" y="69113"/>
                </a:lnTo>
                <a:lnTo>
                  <a:pt x="47383" y="102019"/>
                </a:lnTo>
                <a:lnTo>
                  <a:pt x="103654" y="102019"/>
                </a:lnTo>
                <a:lnTo>
                  <a:pt x="108238" y="104702"/>
                </a:lnTo>
                <a:close/>
              </a:path>
              <a:path w="1073150" h="172720">
                <a:moveTo>
                  <a:pt x="108314" y="66602"/>
                </a:moveTo>
                <a:lnTo>
                  <a:pt x="37833" y="66497"/>
                </a:lnTo>
                <a:lnTo>
                  <a:pt x="108495" y="66497"/>
                </a:lnTo>
                <a:lnTo>
                  <a:pt x="108314" y="66602"/>
                </a:lnTo>
                <a:close/>
              </a:path>
              <a:path w="1073150" h="172720">
                <a:moveTo>
                  <a:pt x="964835" y="105978"/>
                </a:moveTo>
                <a:lnTo>
                  <a:pt x="108238" y="104702"/>
                </a:lnTo>
                <a:lnTo>
                  <a:pt x="75616" y="85608"/>
                </a:lnTo>
                <a:lnTo>
                  <a:pt x="108314" y="66602"/>
                </a:lnTo>
                <a:lnTo>
                  <a:pt x="964911" y="67878"/>
                </a:lnTo>
                <a:lnTo>
                  <a:pt x="997533" y="86971"/>
                </a:lnTo>
                <a:lnTo>
                  <a:pt x="964835" y="105978"/>
                </a:lnTo>
                <a:close/>
              </a:path>
              <a:path w="1073150" h="172720">
                <a:moveTo>
                  <a:pt x="997533" y="86971"/>
                </a:moveTo>
                <a:lnTo>
                  <a:pt x="964911" y="67878"/>
                </a:lnTo>
                <a:lnTo>
                  <a:pt x="1035367" y="67983"/>
                </a:lnTo>
                <a:lnTo>
                  <a:pt x="1035364" y="70561"/>
                </a:lnTo>
                <a:lnTo>
                  <a:pt x="1025766" y="70561"/>
                </a:lnTo>
                <a:lnTo>
                  <a:pt x="997533" y="86971"/>
                </a:lnTo>
                <a:close/>
              </a:path>
              <a:path w="1073150" h="172720">
                <a:moveTo>
                  <a:pt x="47383" y="102019"/>
                </a:moveTo>
                <a:lnTo>
                  <a:pt x="47434" y="69113"/>
                </a:lnTo>
                <a:lnTo>
                  <a:pt x="75616" y="85608"/>
                </a:lnTo>
                <a:lnTo>
                  <a:pt x="47383" y="102019"/>
                </a:lnTo>
                <a:close/>
              </a:path>
              <a:path w="1073150" h="172720">
                <a:moveTo>
                  <a:pt x="75616" y="85608"/>
                </a:moveTo>
                <a:lnTo>
                  <a:pt x="47434" y="69113"/>
                </a:lnTo>
                <a:lnTo>
                  <a:pt x="103994" y="69113"/>
                </a:lnTo>
                <a:lnTo>
                  <a:pt x="75616" y="85608"/>
                </a:lnTo>
                <a:close/>
              </a:path>
              <a:path w="1073150" h="172720">
                <a:moveTo>
                  <a:pt x="1025715" y="103466"/>
                </a:moveTo>
                <a:lnTo>
                  <a:pt x="997533" y="86971"/>
                </a:lnTo>
                <a:lnTo>
                  <a:pt x="1025766" y="70561"/>
                </a:lnTo>
                <a:lnTo>
                  <a:pt x="1025715" y="103466"/>
                </a:lnTo>
                <a:close/>
              </a:path>
              <a:path w="1073150" h="172720">
                <a:moveTo>
                  <a:pt x="1035320" y="103466"/>
                </a:moveTo>
                <a:lnTo>
                  <a:pt x="1025715" y="103466"/>
                </a:lnTo>
                <a:lnTo>
                  <a:pt x="1025766" y="70561"/>
                </a:lnTo>
                <a:lnTo>
                  <a:pt x="1035364" y="70561"/>
                </a:lnTo>
                <a:lnTo>
                  <a:pt x="1035320" y="103466"/>
                </a:lnTo>
                <a:close/>
              </a:path>
              <a:path w="1073150" h="172720">
                <a:moveTo>
                  <a:pt x="103654" y="102019"/>
                </a:moveTo>
                <a:lnTo>
                  <a:pt x="47383" y="102019"/>
                </a:lnTo>
                <a:lnTo>
                  <a:pt x="75616" y="85608"/>
                </a:lnTo>
                <a:lnTo>
                  <a:pt x="103654" y="102019"/>
                </a:lnTo>
                <a:close/>
              </a:path>
              <a:path w="1073150" h="172720">
                <a:moveTo>
                  <a:pt x="1035316" y="106083"/>
                </a:moveTo>
                <a:lnTo>
                  <a:pt x="964835" y="105978"/>
                </a:lnTo>
                <a:lnTo>
                  <a:pt x="997533" y="86971"/>
                </a:lnTo>
                <a:lnTo>
                  <a:pt x="1025715" y="103466"/>
                </a:lnTo>
                <a:lnTo>
                  <a:pt x="1035320" y="103466"/>
                </a:lnTo>
                <a:lnTo>
                  <a:pt x="1035316" y="106083"/>
                </a:lnTo>
                <a:close/>
              </a:path>
              <a:path w="1073150" h="172720">
                <a:moveTo>
                  <a:pt x="921003" y="172580"/>
                </a:moveTo>
                <a:lnTo>
                  <a:pt x="901981" y="152514"/>
                </a:lnTo>
                <a:lnTo>
                  <a:pt x="902169" y="150279"/>
                </a:lnTo>
                <a:lnTo>
                  <a:pt x="964835" y="105978"/>
                </a:lnTo>
                <a:lnTo>
                  <a:pt x="1040468" y="106083"/>
                </a:lnTo>
                <a:lnTo>
                  <a:pt x="930516" y="170002"/>
                </a:lnTo>
                <a:lnTo>
                  <a:pt x="927519" y="171411"/>
                </a:lnTo>
                <a:lnTo>
                  <a:pt x="924305" y="172288"/>
                </a:lnTo>
                <a:lnTo>
                  <a:pt x="921003" y="172580"/>
                </a:lnTo>
                <a:close/>
              </a:path>
            </a:pathLst>
          </a:custGeom>
          <a:solidFill>
            <a:srgbClr val="006FC0"/>
          </a:solidFill>
        </p:spPr>
        <p:txBody>
          <a:bodyPr wrap="square" lIns="0" tIns="0" rIns="0" bIns="0" rtlCol="0"/>
          <a:lstStyle/>
          <a:p/>
        </p:txBody>
      </p:sp>
      <p:sp>
        <p:nvSpPr>
          <p:cNvPr id="11" name="object 11"/>
          <p:cNvSpPr txBox="1"/>
          <p:nvPr/>
        </p:nvSpPr>
        <p:spPr>
          <a:xfrm>
            <a:off x="3476396" y="3236747"/>
            <a:ext cx="249554" cy="721995"/>
          </a:xfrm>
          <a:prstGeom prst="rect">
            <a:avLst/>
          </a:prstGeom>
        </p:spPr>
        <p:txBody>
          <a:bodyPr wrap="square" lIns="0" tIns="15240" rIns="0" bIns="0" rtlCol="0" vert="horz">
            <a:spAutoFit/>
          </a:bodyPr>
          <a:lstStyle/>
          <a:p>
            <a:pPr marL="12700">
              <a:lnSpc>
                <a:spcPct val="100000"/>
              </a:lnSpc>
              <a:spcBef>
                <a:spcPts val="120"/>
              </a:spcBef>
            </a:pPr>
            <a:r>
              <a:rPr dirty="0" sz="4550" spc="-10" i="1">
                <a:latin typeface="Times New Roman"/>
                <a:cs typeface="Times New Roman"/>
              </a:rPr>
              <a:t>s</a:t>
            </a:r>
            <a:endParaRPr sz="4550">
              <a:latin typeface="Times New Roman"/>
              <a:cs typeface="Times New Roman"/>
            </a:endParaRPr>
          </a:p>
        </p:txBody>
      </p:sp>
      <p:sp>
        <p:nvSpPr>
          <p:cNvPr id="12" name="object 12"/>
          <p:cNvSpPr txBox="1"/>
          <p:nvPr/>
        </p:nvSpPr>
        <p:spPr>
          <a:xfrm>
            <a:off x="5450065" y="5733237"/>
            <a:ext cx="185420" cy="721995"/>
          </a:xfrm>
          <a:prstGeom prst="rect">
            <a:avLst/>
          </a:prstGeom>
        </p:spPr>
        <p:txBody>
          <a:bodyPr wrap="square" lIns="0" tIns="15240" rIns="0" bIns="0" rtlCol="0" vert="horz">
            <a:spAutoFit/>
          </a:bodyPr>
          <a:lstStyle/>
          <a:p>
            <a:pPr marL="12700">
              <a:lnSpc>
                <a:spcPct val="100000"/>
              </a:lnSpc>
              <a:spcBef>
                <a:spcPts val="120"/>
              </a:spcBef>
            </a:pPr>
            <a:r>
              <a:rPr dirty="0" sz="4550" spc="-10" i="1">
                <a:latin typeface="Times New Roman"/>
                <a:cs typeface="Times New Roman"/>
              </a:rPr>
              <a:t>t</a:t>
            </a:r>
            <a:endParaRPr sz="4550">
              <a:latin typeface="Times New Roman"/>
              <a:cs typeface="Times New Roman"/>
            </a:endParaRPr>
          </a:p>
        </p:txBody>
      </p:sp>
      <p:sp>
        <p:nvSpPr>
          <p:cNvPr id="13" name="object 13"/>
          <p:cNvSpPr/>
          <p:nvPr/>
        </p:nvSpPr>
        <p:spPr>
          <a:xfrm>
            <a:off x="3965117" y="5918276"/>
            <a:ext cx="583565" cy="0"/>
          </a:xfrm>
          <a:custGeom>
            <a:avLst/>
            <a:gdLst/>
            <a:ahLst/>
            <a:cxnLst/>
            <a:rect l="l" t="t" r="r" b="b"/>
            <a:pathLst>
              <a:path w="583564" h="0">
                <a:moveTo>
                  <a:pt x="0" y="0"/>
                </a:moveTo>
                <a:lnTo>
                  <a:pt x="583425" y="0"/>
                </a:lnTo>
              </a:path>
            </a:pathLst>
          </a:custGeom>
          <a:ln w="31115">
            <a:solidFill>
              <a:srgbClr val="000000"/>
            </a:solidFill>
          </a:ln>
        </p:spPr>
        <p:txBody>
          <a:bodyPr wrap="square" lIns="0" tIns="0" rIns="0" bIns="0" rtlCol="0"/>
          <a:lstStyle/>
          <a:p/>
        </p:txBody>
      </p:sp>
      <p:sp>
        <p:nvSpPr>
          <p:cNvPr id="14" name="object 14"/>
          <p:cNvSpPr txBox="1"/>
          <p:nvPr/>
        </p:nvSpPr>
        <p:spPr>
          <a:xfrm>
            <a:off x="4085018" y="5923457"/>
            <a:ext cx="313690" cy="721995"/>
          </a:xfrm>
          <a:prstGeom prst="rect">
            <a:avLst/>
          </a:prstGeom>
        </p:spPr>
        <p:txBody>
          <a:bodyPr wrap="square" lIns="0" tIns="15240" rIns="0" bIns="0" rtlCol="0" vert="horz">
            <a:spAutoFit/>
          </a:bodyPr>
          <a:lstStyle/>
          <a:p>
            <a:pPr marL="12700">
              <a:lnSpc>
                <a:spcPct val="100000"/>
              </a:lnSpc>
              <a:spcBef>
                <a:spcPts val="120"/>
              </a:spcBef>
            </a:pPr>
            <a:r>
              <a:rPr dirty="0" sz="4550" spc="-10">
                <a:latin typeface="Times New Roman"/>
                <a:cs typeface="Times New Roman"/>
              </a:rPr>
              <a:t>2</a:t>
            </a:r>
            <a:endParaRPr sz="4550">
              <a:latin typeface="Times New Roman"/>
              <a:cs typeface="Times New Roman"/>
            </a:endParaRPr>
          </a:p>
        </p:txBody>
      </p:sp>
      <p:sp>
        <p:nvSpPr>
          <p:cNvPr id="15" name="object 15"/>
          <p:cNvSpPr txBox="1"/>
          <p:nvPr/>
        </p:nvSpPr>
        <p:spPr>
          <a:xfrm>
            <a:off x="3984244" y="5106746"/>
            <a:ext cx="482600" cy="721995"/>
          </a:xfrm>
          <a:prstGeom prst="rect">
            <a:avLst/>
          </a:prstGeom>
        </p:spPr>
        <p:txBody>
          <a:bodyPr wrap="square" lIns="0" tIns="15240" rIns="0" bIns="0" rtlCol="0" vert="horz">
            <a:spAutoFit/>
          </a:bodyPr>
          <a:lstStyle/>
          <a:p>
            <a:pPr marL="12700">
              <a:lnSpc>
                <a:spcPct val="100000"/>
              </a:lnSpc>
              <a:spcBef>
                <a:spcPts val="120"/>
              </a:spcBef>
            </a:pPr>
            <a:r>
              <a:rPr dirty="0" sz="4550" spc="315" i="1">
                <a:latin typeface="Times New Roman"/>
                <a:cs typeface="Times New Roman"/>
              </a:rPr>
              <a:t>c</a:t>
            </a:r>
            <a:r>
              <a:rPr dirty="0" sz="4550" spc="-10" i="1">
                <a:latin typeface="Times New Roman"/>
                <a:cs typeface="Times New Roman"/>
              </a:rPr>
              <a:t>t</a:t>
            </a:r>
            <a:endParaRPr sz="4550">
              <a:latin typeface="Times New Roman"/>
              <a:cs typeface="Times New Roman"/>
            </a:endParaRPr>
          </a:p>
        </p:txBody>
      </p:sp>
      <p:sp>
        <p:nvSpPr>
          <p:cNvPr id="16" name="object 16"/>
          <p:cNvSpPr txBox="1"/>
          <p:nvPr/>
        </p:nvSpPr>
        <p:spPr>
          <a:xfrm>
            <a:off x="2976511" y="5471401"/>
            <a:ext cx="776605" cy="721995"/>
          </a:xfrm>
          <a:prstGeom prst="rect">
            <a:avLst/>
          </a:prstGeom>
        </p:spPr>
        <p:txBody>
          <a:bodyPr wrap="square" lIns="0" tIns="15240" rIns="0" bIns="0" rtlCol="0" vert="horz">
            <a:spAutoFit/>
          </a:bodyPr>
          <a:lstStyle/>
          <a:p>
            <a:pPr marL="12700">
              <a:lnSpc>
                <a:spcPct val="100000"/>
              </a:lnSpc>
              <a:spcBef>
                <a:spcPts val="120"/>
              </a:spcBef>
            </a:pPr>
            <a:r>
              <a:rPr dirty="0" sz="4550" spc="-10" i="1">
                <a:latin typeface="Times New Roman"/>
                <a:cs typeface="Times New Roman"/>
              </a:rPr>
              <a:t>s</a:t>
            </a:r>
            <a:r>
              <a:rPr dirty="0" sz="4550" spc="430" i="1">
                <a:latin typeface="Times New Roman"/>
                <a:cs typeface="Times New Roman"/>
              </a:rPr>
              <a:t> </a:t>
            </a:r>
            <a:r>
              <a:rPr dirty="0" sz="4550" spc="-15">
                <a:latin typeface="Symbol"/>
                <a:cs typeface="Symbol"/>
              </a:rPr>
              <a:t></a:t>
            </a:r>
            <a:endParaRPr sz="4550">
              <a:latin typeface="Symbol"/>
              <a:cs typeface="Symbol"/>
            </a:endParaRPr>
          </a:p>
        </p:txBody>
      </p:sp>
      <p:sp>
        <p:nvSpPr>
          <p:cNvPr id="17" name="object 17"/>
          <p:cNvSpPr txBox="1"/>
          <p:nvPr/>
        </p:nvSpPr>
        <p:spPr>
          <a:xfrm>
            <a:off x="453072" y="947212"/>
            <a:ext cx="11388090" cy="1965960"/>
          </a:xfrm>
          <a:prstGeom prst="rect">
            <a:avLst/>
          </a:prstGeom>
        </p:spPr>
        <p:txBody>
          <a:bodyPr wrap="square" lIns="0" tIns="156210" rIns="0" bIns="0" rtlCol="0" vert="horz">
            <a:spAutoFit/>
          </a:bodyPr>
          <a:lstStyle/>
          <a:p>
            <a:pPr marL="52705">
              <a:lnSpc>
                <a:spcPct val="100000"/>
              </a:lnSpc>
              <a:spcBef>
                <a:spcPts val="1230"/>
              </a:spcBef>
            </a:pPr>
            <a:r>
              <a:rPr dirty="0" sz="2800">
                <a:latin typeface="微软雅黑"/>
                <a:cs typeface="微软雅黑"/>
              </a:rPr>
              <a:t>一</a:t>
            </a:r>
            <a:r>
              <a:rPr dirty="0" sz="2800" spc="-5">
                <a:latin typeface="微软雅黑"/>
                <a:cs typeface="微软雅黑"/>
              </a:rPr>
              <a:t>.</a:t>
            </a:r>
            <a:r>
              <a:rPr dirty="0" sz="2800">
                <a:latin typeface="微软雅黑"/>
                <a:cs typeface="微软雅黑"/>
              </a:rPr>
              <a:t>电磁波与信息化社</a:t>
            </a:r>
            <a:r>
              <a:rPr dirty="0" sz="2800" spc="-5">
                <a:latin typeface="微软雅黑"/>
                <a:cs typeface="微软雅黑"/>
              </a:rPr>
              <a:t>会</a:t>
            </a:r>
            <a:endParaRPr sz="2800">
              <a:latin typeface="微软雅黑"/>
              <a:cs typeface="微软雅黑"/>
            </a:endParaRPr>
          </a:p>
          <a:p>
            <a:pPr marL="12700">
              <a:lnSpc>
                <a:spcPct val="100000"/>
              </a:lnSpc>
              <a:spcBef>
                <a:spcPts val="975"/>
              </a:spcBef>
            </a:pPr>
            <a:r>
              <a:rPr dirty="0" sz="2400" spc="-5">
                <a:latin typeface="微软雅黑"/>
                <a:cs typeface="微软雅黑"/>
              </a:rPr>
              <a:t>3.</a:t>
            </a:r>
            <a:r>
              <a:rPr dirty="0" sz="2400">
                <a:latin typeface="微软雅黑"/>
                <a:cs typeface="微软雅黑"/>
              </a:rPr>
              <a:t>雷达</a:t>
            </a:r>
            <a:endParaRPr sz="2400">
              <a:latin typeface="微软雅黑"/>
              <a:cs typeface="微软雅黑"/>
            </a:endParaRPr>
          </a:p>
          <a:p>
            <a:pPr marL="260350">
              <a:lnSpc>
                <a:spcPct val="100000"/>
              </a:lnSpc>
              <a:spcBef>
                <a:spcPts val="720"/>
              </a:spcBef>
            </a:pPr>
            <a:r>
              <a:rPr dirty="0" sz="2400">
                <a:latin typeface="微软雅黑"/>
                <a:cs typeface="微软雅黑"/>
              </a:rPr>
              <a:t>雷达利用微波遇到障碍物的反射现象来确定物体位置。</a:t>
            </a:r>
            <a:endParaRPr sz="2400">
              <a:latin typeface="微软雅黑"/>
              <a:cs typeface="微软雅黑"/>
            </a:endParaRPr>
          </a:p>
          <a:p>
            <a:pPr marL="6769100">
              <a:lnSpc>
                <a:spcPct val="100000"/>
              </a:lnSpc>
              <a:spcBef>
                <a:spcPts val="930"/>
              </a:spcBef>
            </a:pPr>
            <a:r>
              <a:rPr dirty="0" sz="2000" spc="15">
                <a:latin typeface="微软雅黑"/>
                <a:cs typeface="微软雅黑"/>
              </a:rPr>
              <a:t>雷达工作时，利用天线沿一定方向发</a:t>
            </a:r>
            <a:r>
              <a:rPr dirty="0" sz="2000" spc="20">
                <a:latin typeface="微软雅黑"/>
                <a:cs typeface="微软雅黑"/>
              </a:rPr>
              <a:t>射</a:t>
            </a:r>
            <a:r>
              <a:rPr dirty="0" sz="2000" spc="5">
                <a:latin typeface="微软雅黑"/>
                <a:cs typeface="微软雅黑"/>
              </a:rPr>
              <a:t>无</a:t>
            </a:r>
            <a:endParaRPr sz="2000">
              <a:latin typeface="微软雅黑"/>
              <a:cs typeface="微软雅黑"/>
            </a:endParaRPr>
          </a:p>
        </p:txBody>
      </p:sp>
      <p:sp>
        <p:nvSpPr>
          <p:cNvPr id="18" name="object 18"/>
          <p:cNvSpPr txBox="1"/>
          <p:nvPr/>
        </p:nvSpPr>
        <p:spPr>
          <a:xfrm>
            <a:off x="6904990" y="2917634"/>
            <a:ext cx="4935855" cy="2951480"/>
          </a:xfrm>
          <a:prstGeom prst="rect">
            <a:avLst/>
          </a:prstGeom>
        </p:spPr>
        <p:txBody>
          <a:bodyPr wrap="square" lIns="0" tIns="12700" rIns="0" bIns="0" rtlCol="0" vert="horz">
            <a:spAutoFit/>
          </a:bodyPr>
          <a:lstStyle/>
          <a:p>
            <a:pPr marL="12700" marR="5080">
              <a:lnSpc>
                <a:spcPct val="120000"/>
              </a:lnSpc>
              <a:spcBef>
                <a:spcPts val="100"/>
              </a:spcBef>
            </a:pPr>
            <a:r>
              <a:rPr dirty="0" sz="2000" spc="35">
                <a:latin typeface="微软雅黑"/>
                <a:cs typeface="微软雅黑"/>
              </a:rPr>
              <a:t>线电脉冲，所发出的无线电</a:t>
            </a:r>
            <a:r>
              <a:rPr dirty="0" sz="2000" spc="40">
                <a:latin typeface="微软雅黑"/>
                <a:cs typeface="微软雅黑"/>
              </a:rPr>
              <a:t>波遇到障碍物</a:t>
            </a:r>
            <a:r>
              <a:rPr dirty="0" sz="2000">
                <a:latin typeface="微软雅黑"/>
                <a:cs typeface="微软雅黑"/>
              </a:rPr>
              <a:t>发 </a:t>
            </a:r>
            <a:r>
              <a:rPr dirty="0" sz="2000">
                <a:latin typeface="微软雅黑"/>
                <a:cs typeface="微软雅黑"/>
              </a:rPr>
              <a:t>生反射</a:t>
            </a:r>
            <a:r>
              <a:rPr dirty="0" sz="2000" spc="5">
                <a:latin typeface="微软雅黑"/>
                <a:cs typeface="微软雅黑"/>
              </a:rPr>
              <a:t>。</a:t>
            </a:r>
            <a:endParaRPr sz="2000">
              <a:latin typeface="微软雅黑"/>
              <a:cs typeface="微软雅黑"/>
            </a:endParaRPr>
          </a:p>
          <a:p>
            <a:pPr algn="just" marL="12700" marR="5080" indent="254000">
              <a:lnSpc>
                <a:spcPct val="120000"/>
              </a:lnSpc>
            </a:pPr>
            <a:r>
              <a:rPr dirty="0" sz="2000" spc="35">
                <a:latin typeface="微软雅黑"/>
                <a:cs typeface="微软雅黑"/>
              </a:rPr>
              <a:t>测量从发</a:t>
            </a:r>
            <a:r>
              <a:rPr dirty="0" sz="2000" spc="40">
                <a:latin typeface="微软雅黑"/>
                <a:cs typeface="微软雅黑"/>
              </a:rPr>
              <a:t>射无线电波到接收反射波的延</a:t>
            </a:r>
            <a:r>
              <a:rPr dirty="0" sz="2000">
                <a:latin typeface="微软雅黑"/>
                <a:cs typeface="微软雅黑"/>
              </a:rPr>
              <a:t>迟 </a:t>
            </a:r>
            <a:r>
              <a:rPr dirty="0" sz="2000" spc="40">
                <a:latin typeface="微软雅黑"/>
                <a:cs typeface="微软雅黑"/>
              </a:rPr>
              <a:t>时间</a:t>
            </a:r>
            <a:r>
              <a:rPr dirty="0" sz="2000" b="1" i="1">
                <a:latin typeface="Times New Roman"/>
                <a:cs typeface="Times New Roman"/>
              </a:rPr>
              <a:t>t</a:t>
            </a:r>
            <a:r>
              <a:rPr dirty="0" sz="2000" spc="-15" b="1" i="1">
                <a:latin typeface="Times New Roman"/>
                <a:cs typeface="Times New Roman"/>
              </a:rPr>
              <a:t> </a:t>
            </a:r>
            <a:r>
              <a:rPr dirty="0" sz="2000" spc="40">
                <a:latin typeface="微软雅黑"/>
                <a:cs typeface="微软雅黑"/>
              </a:rPr>
              <a:t>能测定障碍物的</a:t>
            </a:r>
            <a:r>
              <a:rPr dirty="0" sz="2000" spc="40" b="1" i="1">
                <a:solidFill>
                  <a:srgbClr val="001F5F"/>
                </a:solidFill>
                <a:latin typeface="微软雅黑"/>
                <a:cs typeface="微软雅黑"/>
              </a:rPr>
              <a:t>距离</a:t>
            </a:r>
            <a:r>
              <a:rPr dirty="0" sz="2000" spc="35" b="1" i="1">
                <a:latin typeface="Times New Roman"/>
                <a:cs typeface="Times New Roman"/>
              </a:rPr>
              <a:t>s</a:t>
            </a:r>
            <a:r>
              <a:rPr dirty="0" sz="2000" spc="35">
                <a:latin typeface="微软雅黑"/>
                <a:cs typeface="微软雅黑"/>
              </a:rPr>
              <a:t>；</a:t>
            </a:r>
            <a:r>
              <a:rPr dirty="0" sz="2000" spc="45">
                <a:latin typeface="微软雅黑"/>
                <a:cs typeface="微软雅黑"/>
              </a:rPr>
              <a:t>再利用发射</a:t>
            </a:r>
            <a:r>
              <a:rPr dirty="0" sz="2000" spc="5">
                <a:latin typeface="微软雅黑"/>
                <a:cs typeface="微软雅黑"/>
              </a:rPr>
              <a:t>无 </a:t>
            </a:r>
            <a:r>
              <a:rPr dirty="0" sz="2000" spc="35">
                <a:latin typeface="微软雅黑"/>
                <a:cs typeface="微软雅黑"/>
              </a:rPr>
              <a:t>线电波的</a:t>
            </a:r>
            <a:r>
              <a:rPr dirty="0" sz="2000" spc="35" b="1" i="1">
                <a:solidFill>
                  <a:srgbClr val="001F5F"/>
                </a:solidFill>
                <a:latin typeface="微软雅黑"/>
                <a:cs typeface="微软雅黑"/>
              </a:rPr>
              <a:t>方位角</a:t>
            </a:r>
            <a:r>
              <a:rPr dirty="0" sz="2000" spc="35">
                <a:latin typeface="微软雅黑"/>
                <a:cs typeface="微软雅黑"/>
              </a:rPr>
              <a:t>和</a:t>
            </a:r>
            <a:r>
              <a:rPr dirty="0" sz="2000" spc="35" b="1" i="1">
                <a:solidFill>
                  <a:srgbClr val="001F5F"/>
                </a:solidFill>
                <a:latin typeface="微软雅黑"/>
                <a:cs typeface="微软雅黑"/>
              </a:rPr>
              <a:t>仰角</a:t>
            </a:r>
            <a:r>
              <a:rPr dirty="0" sz="2000" spc="35">
                <a:latin typeface="微软雅黑"/>
                <a:cs typeface="微软雅黑"/>
              </a:rPr>
              <a:t>，就</a:t>
            </a:r>
            <a:r>
              <a:rPr dirty="0" sz="2000" spc="40">
                <a:latin typeface="微软雅黑"/>
                <a:cs typeface="微软雅黑"/>
              </a:rPr>
              <a:t>可以确定障碍</a:t>
            </a:r>
            <a:r>
              <a:rPr dirty="0" sz="2000">
                <a:latin typeface="微软雅黑"/>
                <a:cs typeface="微软雅黑"/>
              </a:rPr>
              <a:t>物 </a:t>
            </a:r>
            <a:r>
              <a:rPr dirty="0" sz="2000">
                <a:latin typeface="微软雅黑"/>
                <a:cs typeface="微软雅黑"/>
              </a:rPr>
              <a:t>的位置</a:t>
            </a:r>
            <a:r>
              <a:rPr dirty="0" sz="2000" spc="5">
                <a:latin typeface="微软雅黑"/>
                <a:cs typeface="微软雅黑"/>
              </a:rPr>
              <a:t>。</a:t>
            </a:r>
            <a:endParaRPr sz="2000">
              <a:latin typeface="微软雅黑"/>
              <a:cs typeface="微软雅黑"/>
            </a:endParaRPr>
          </a:p>
          <a:p>
            <a:pPr algn="just" marL="12700" marR="5080" indent="254000">
              <a:lnSpc>
                <a:spcPct val="120000"/>
              </a:lnSpc>
            </a:pPr>
            <a:r>
              <a:rPr dirty="0" sz="2000" spc="35">
                <a:latin typeface="微软雅黑"/>
                <a:cs typeface="微软雅黑"/>
              </a:rPr>
              <a:t>根据多普</a:t>
            </a:r>
            <a:r>
              <a:rPr dirty="0" sz="2000" spc="40">
                <a:latin typeface="微软雅黑"/>
                <a:cs typeface="微软雅黑"/>
              </a:rPr>
              <a:t>勒效应，利用回波的频率还可</a:t>
            </a:r>
            <a:r>
              <a:rPr dirty="0" sz="2000">
                <a:latin typeface="微软雅黑"/>
                <a:cs typeface="微软雅黑"/>
              </a:rPr>
              <a:t>以 </a:t>
            </a:r>
            <a:r>
              <a:rPr dirty="0" sz="2000">
                <a:latin typeface="微软雅黑"/>
                <a:cs typeface="微软雅黑"/>
              </a:rPr>
              <a:t>确定障碍物的</a:t>
            </a:r>
            <a:r>
              <a:rPr dirty="0" sz="2000" b="1" i="1">
                <a:solidFill>
                  <a:srgbClr val="001F5F"/>
                </a:solidFill>
                <a:latin typeface="微软雅黑"/>
                <a:cs typeface="微软雅黑"/>
              </a:rPr>
              <a:t>径向速度</a:t>
            </a:r>
            <a:r>
              <a:rPr dirty="0" sz="2000" spc="5">
                <a:latin typeface="微软雅黑"/>
                <a:cs typeface="微软雅黑"/>
              </a:rPr>
              <a:t>。</a:t>
            </a:r>
            <a:endParaRPr sz="2000">
              <a:latin typeface="微软雅黑"/>
              <a:cs typeface="微软雅黑"/>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1840" y="0"/>
            <a:ext cx="2058670" cy="634365"/>
          </a:xfrm>
          <a:prstGeom prst="rect"/>
        </p:spPr>
        <p:txBody>
          <a:bodyPr wrap="square" lIns="0" tIns="12065" rIns="0" bIns="0" rtlCol="0" vert="horz">
            <a:spAutoFit/>
          </a:bodyPr>
          <a:lstStyle/>
          <a:p>
            <a:pPr marL="12700">
              <a:lnSpc>
                <a:spcPct val="100000"/>
              </a:lnSpc>
              <a:spcBef>
                <a:spcPts val="95"/>
              </a:spcBef>
            </a:pPr>
            <a:r>
              <a:rPr dirty="0" sz="4000" i="0">
                <a:solidFill>
                  <a:srgbClr val="F1F1F1"/>
                </a:solidFill>
                <a:latin typeface="华文楷体"/>
                <a:cs typeface="华文楷体"/>
              </a:rPr>
              <a:t>高中物</a:t>
            </a:r>
            <a:r>
              <a:rPr dirty="0" sz="4000" spc="-10" i="0">
                <a:solidFill>
                  <a:srgbClr val="F1F1F1"/>
                </a:solidFill>
                <a:latin typeface="华文楷体"/>
                <a:cs typeface="华文楷体"/>
              </a:rPr>
              <a:t>理</a:t>
            </a:r>
            <a:endParaRPr sz="4000">
              <a:latin typeface="华文楷体"/>
              <a:cs typeface="华文楷体"/>
            </a:endParaRPr>
          </a:p>
        </p:txBody>
      </p:sp>
      <p:sp>
        <p:nvSpPr>
          <p:cNvPr id="3" name="object 3"/>
          <p:cNvSpPr txBox="1"/>
          <p:nvPr/>
        </p:nvSpPr>
        <p:spPr>
          <a:xfrm>
            <a:off x="394652" y="903951"/>
            <a:ext cx="11358880" cy="2043430"/>
          </a:xfrm>
          <a:prstGeom prst="rect">
            <a:avLst/>
          </a:prstGeom>
        </p:spPr>
        <p:txBody>
          <a:bodyPr wrap="square" lIns="0" tIns="199390" rIns="0" bIns="0" rtlCol="0" vert="horz">
            <a:spAutoFit/>
          </a:bodyPr>
          <a:lstStyle/>
          <a:p>
            <a:pPr marL="111125">
              <a:lnSpc>
                <a:spcPct val="100000"/>
              </a:lnSpc>
              <a:spcBef>
                <a:spcPts val="1570"/>
              </a:spcBef>
            </a:pPr>
            <a:r>
              <a:rPr dirty="0" sz="2800">
                <a:latin typeface="微软雅黑"/>
                <a:cs typeface="微软雅黑"/>
              </a:rPr>
              <a:t>一</a:t>
            </a:r>
            <a:r>
              <a:rPr dirty="0" sz="2800" spc="-5">
                <a:latin typeface="微软雅黑"/>
                <a:cs typeface="微软雅黑"/>
              </a:rPr>
              <a:t>.</a:t>
            </a:r>
            <a:r>
              <a:rPr dirty="0" sz="2800">
                <a:latin typeface="微软雅黑"/>
                <a:cs typeface="微软雅黑"/>
              </a:rPr>
              <a:t>电磁波与信息化社</a:t>
            </a:r>
            <a:r>
              <a:rPr dirty="0" sz="2800" spc="-5">
                <a:latin typeface="微软雅黑"/>
                <a:cs typeface="微软雅黑"/>
              </a:rPr>
              <a:t>会</a:t>
            </a:r>
            <a:endParaRPr sz="2800">
              <a:latin typeface="微软雅黑"/>
              <a:cs typeface="微软雅黑"/>
            </a:endParaRPr>
          </a:p>
          <a:p>
            <a:pPr algn="just" marL="12700" marR="5080" indent="360680">
              <a:lnSpc>
                <a:spcPct val="120000"/>
              </a:lnSpc>
              <a:spcBef>
                <a:spcPts val="690"/>
              </a:spcBef>
            </a:pPr>
            <a:r>
              <a:rPr dirty="0" sz="2400">
                <a:latin typeface="微软雅黑"/>
                <a:cs typeface="微软雅黑"/>
              </a:rPr>
              <a:t>雷达是重要的军事电子设备，能全天候、全天时的远距离探测飞机、潜艇、导弹等 目标。除此之外，雷达在交通运输导航、气象服务、资源探测、环境监测、天体研究 等方面也有广泛的应用。</a:t>
            </a:r>
            <a:endParaRPr sz="2400">
              <a:latin typeface="微软雅黑"/>
              <a:cs typeface="微软雅黑"/>
            </a:endParaRPr>
          </a:p>
        </p:txBody>
      </p:sp>
      <p:sp>
        <p:nvSpPr>
          <p:cNvPr id="4" name="object 4"/>
          <p:cNvSpPr/>
          <p:nvPr/>
        </p:nvSpPr>
        <p:spPr>
          <a:xfrm>
            <a:off x="446531" y="3083051"/>
            <a:ext cx="3294888" cy="2520696"/>
          </a:xfrm>
          <a:prstGeom prst="rect">
            <a:avLst/>
          </a:prstGeom>
          <a:blipFill>
            <a:blip r:embed="rId2" cstate="print"/>
            <a:stretch>
              <a:fillRect/>
            </a:stretch>
          </a:blipFill>
        </p:spPr>
        <p:txBody>
          <a:bodyPr wrap="square" lIns="0" tIns="0" rIns="0" bIns="0" rtlCol="0"/>
          <a:lstStyle/>
          <a:p/>
        </p:txBody>
      </p:sp>
      <p:sp>
        <p:nvSpPr>
          <p:cNvPr id="5" name="object 5"/>
          <p:cNvSpPr txBox="1"/>
          <p:nvPr/>
        </p:nvSpPr>
        <p:spPr>
          <a:xfrm>
            <a:off x="815479" y="6027788"/>
            <a:ext cx="2463800" cy="391160"/>
          </a:xfrm>
          <a:prstGeom prst="rect">
            <a:avLst/>
          </a:prstGeom>
        </p:spPr>
        <p:txBody>
          <a:bodyPr wrap="square" lIns="0" tIns="12700" rIns="0" bIns="0" rtlCol="0" vert="horz">
            <a:spAutoFit/>
          </a:bodyPr>
          <a:lstStyle/>
          <a:p>
            <a:pPr marL="12700">
              <a:lnSpc>
                <a:spcPct val="100000"/>
              </a:lnSpc>
              <a:spcBef>
                <a:spcPts val="100"/>
              </a:spcBef>
            </a:pPr>
            <a:r>
              <a:rPr dirty="0" sz="2400" b="1" i="1">
                <a:solidFill>
                  <a:srgbClr val="001F5F"/>
                </a:solidFill>
                <a:latin typeface="微软雅黑"/>
                <a:cs typeface="微软雅黑"/>
              </a:rPr>
              <a:t>车载雷达测速系统</a:t>
            </a:r>
            <a:endParaRPr sz="2400">
              <a:latin typeface="微软雅黑"/>
              <a:cs typeface="微软雅黑"/>
            </a:endParaRPr>
          </a:p>
        </p:txBody>
      </p:sp>
      <p:sp>
        <p:nvSpPr>
          <p:cNvPr id="6" name="object 6"/>
          <p:cNvSpPr txBox="1"/>
          <p:nvPr/>
        </p:nvSpPr>
        <p:spPr>
          <a:xfrm>
            <a:off x="4979174" y="6027788"/>
            <a:ext cx="1854200" cy="391160"/>
          </a:xfrm>
          <a:prstGeom prst="rect">
            <a:avLst/>
          </a:prstGeom>
        </p:spPr>
        <p:txBody>
          <a:bodyPr wrap="square" lIns="0" tIns="12700" rIns="0" bIns="0" rtlCol="0" vert="horz">
            <a:spAutoFit/>
          </a:bodyPr>
          <a:lstStyle/>
          <a:p>
            <a:pPr marL="12700">
              <a:lnSpc>
                <a:spcPct val="100000"/>
              </a:lnSpc>
              <a:spcBef>
                <a:spcPts val="100"/>
              </a:spcBef>
            </a:pPr>
            <a:r>
              <a:rPr dirty="0" sz="2400" b="1" i="1">
                <a:solidFill>
                  <a:srgbClr val="001F5F"/>
                </a:solidFill>
                <a:latin typeface="微软雅黑"/>
                <a:cs typeface="微软雅黑"/>
              </a:rPr>
              <a:t>海基预警雷达</a:t>
            </a:r>
            <a:endParaRPr sz="2400">
              <a:latin typeface="微软雅黑"/>
              <a:cs typeface="微软雅黑"/>
            </a:endParaRPr>
          </a:p>
        </p:txBody>
      </p:sp>
      <p:sp>
        <p:nvSpPr>
          <p:cNvPr id="7" name="object 7"/>
          <p:cNvSpPr txBox="1"/>
          <p:nvPr/>
        </p:nvSpPr>
        <p:spPr>
          <a:xfrm>
            <a:off x="9350514" y="6027788"/>
            <a:ext cx="1244600" cy="391160"/>
          </a:xfrm>
          <a:prstGeom prst="rect">
            <a:avLst/>
          </a:prstGeom>
        </p:spPr>
        <p:txBody>
          <a:bodyPr wrap="square" lIns="0" tIns="12700" rIns="0" bIns="0" rtlCol="0" vert="horz">
            <a:spAutoFit/>
          </a:bodyPr>
          <a:lstStyle/>
          <a:p>
            <a:pPr marL="12700">
              <a:lnSpc>
                <a:spcPct val="100000"/>
              </a:lnSpc>
              <a:spcBef>
                <a:spcPts val="100"/>
              </a:spcBef>
            </a:pPr>
            <a:r>
              <a:rPr dirty="0" sz="2400" b="1" i="1">
                <a:solidFill>
                  <a:srgbClr val="001F5F"/>
                </a:solidFill>
                <a:latin typeface="微软雅黑"/>
                <a:cs typeface="微软雅黑"/>
              </a:rPr>
              <a:t>机载雷达</a:t>
            </a:r>
            <a:endParaRPr sz="2400">
              <a:latin typeface="微软雅黑"/>
              <a:cs typeface="微软雅黑"/>
            </a:endParaRPr>
          </a:p>
        </p:txBody>
      </p:sp>
      <p:sp>
        <p:nvSpPr>
          <p:cNvPr id="8" name="object 8"/>
          <p:cNvSpPr/>
          <p:nvPr/>
        </p:nvSpPr>
        <p:spPr>
          <a:xfrm>
            <a:off x="4576571" y="3142488"/>
            <a:ext cx="2711196" cy="2520695"/>
          </a:xfrm>
          <a:prstGeom prst="rect">
            <a:avLst/>
          </a:prstGeom>
          <a:blipFill>
            <a:blip r:embed="rId3" cstate="print"/>
            <a:stretch>
              <a:fillRect/>
            </a:stretch>
          </a:blipFill>
        </p:spPr>
        <p:txBody>
          <a:bodyPr wrap="square" lIns="0" tIns="0" rIns="0" bIns="0" rtlCol="0"/>
          <a:lstStyle/>
          <a:p/>
        </p:txBody>
      </p:sp>
      <p:sp>
        <p:nvSpPr>
          <p:cNvPr id="9" name="object 9"/>
          <p:cNvSpPr/>
          <p:nvPr/>
        </p:nvSpPr>
        <p:spPr>
          <a:xfrm>
            <a:off x="8020811" y="3204972"/>
            <a:ext cx="3726179" cy="2520695"/>
          </a:xfrm>
          <a:prstGeom prst="rect">
            <a:avLst/>
          </a:prstGeom>
          <a:blipFill>
            <a:blip r:embed="rId4" cstate="print"/>
            <a:stretch>
              <a:fillRect/>
            </a:stretch>
          </a:blipFill>
        </p:spPr>
        <p:txBody>
          <a:bodyPr wrap="square" lIns="0" tIns="0" rIns="0" bIns="0" rtlCol="0"/>
          <a:lstStyle/>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1840" y="0"/>
            <a:ext cx="2058670" cy="634365"/>
          </a:xfrm>
          <a:prstGeom prst="rect"/>
        </p:spPr>
        <p:txBody>
          <a:bodyPr wrap="square" lIns="0" tIns="12065" rIns="0" bIns="0" rtlCol="0" vert="horz">
            <a:spAutoFit/>
          </a:bodyPr>
          <a:lstStyle/>
          <a:p>
            <a:pPr marL="12700">
              <a:lnSpc>
                <a:spcPct val="100000"/>
              </a:lnSpc>
              <a:spcBef>
                <a:spcPts val="95"/>
              </a:spcBef>
            </a:pPr>
            <a:r>
              <a:rPr dirty="0" sz="4000" i="0">
                <a:solidFill>
                  <a:srgbClr val="F1F1F1"/>
                </a:solidFill>
                <a:latin typeface="华文楷体"/>
                <a:cs typeface="华文楷体"/>
              </a:rPr>
              <a:t>高中物</a:t>
            </a:r>
            <a:r>
              <a:rPr dirty="0" sz="4000" spc="-10" i="0">
                <a:solidFill>
                  <a:srgbClr val="F1F1F1"/>
                </a:solidFill>
                <a:latin typeface="华文楷体"/>
                <a:cs typeface="华文楷体"/>
              </a:rPr>
              <a:t>理</a:t>
            </a:r>
            <a:endParaRPr sz="4000">
              <a:latin typeface="华文楷体"/>
              <a:cs typeface="华文楷体"/>
            </a:endParaRPr>
          </a:p>
        </p:txBody>
      </p:sp>
      <p:sp>
        <p:nvSpPr>
          <p:cNvPr id="3" name="object 3"/>
          <p:cNvSpPr txBox="1"/>
          <p:nvPr/>
        </p:nvSpPr>
        <p:spPr>
          <a:xfrm>
            <a:off x="7690802" y="2411799"/>
            <a:ext cx="304800" cy="402590"/>
          </a:xfrm>
          <a:prstGeom prst="rect">
            <a:avLst/>
          </a:prstGeom>
        </p:spPr>
        <p:txBody>
          <a:bodyPr wrap="square" lIns="0" tIns="17780" rIns="0" bIns="0" rtlCol="0" vert="horz">
            <a:spAutoFit/>
          </a:bodyPr>
          <a:lstStyle/>
          <a:p>
            <a:pPr>
              <a:lnSpc>
                <a:spcPct val="100000"/>
              </a:lnSpc>
              <a:spcBef>
                <a:spcPts val="140"/>
              </a:spcBef>
            </a:pPr>
            <a:r>
              <a:rPr dirty="0" sz="2400">
                <a:latin typeface="微软雅黑"/>
                <a:cs typeface="微软雅黑"/>
              </a:rPr>
              <a:t>。</a:t>
            </a:r>
            <a:endParaRPr sz="2400">
              <a:latin typeface="微软雅黑"/>
              <a:cs typeface="微软雅黑"/>
            </a:endParaRPr>
          </a:p>
        </p:txBody>
      </p:sp>
      <p:sp>
        <p:nvSpPr>
          <p:cNvPr id="4" name="object 4"/>
          <p:cNvSpPr/>
          <p:nvPr/>
        </p:nvSpPr>
        <p:spPr>
          <a:xfrm>
            <a:off x="7828788" y="2537460"/>
            <a:ext cx="3910584" cy="4180332"/>
          </a:xfrm>
          <a:prstGeom prst="rect">
            <a:avLst/>
          </a:prstGeom>
          <a:blipFill>
            <a:blip r:embed="rId2" cstate="print"/>
            <a:stretch>
              <a:fillRect/>
            </a:stretch>
          </a:blipFill>
        </p:spPr>
        <p:txBody>
          <a:bodyPr wrap="square" lIns="0" tIns="0" rIns="0" bIns="0" rtlCol="0"/>
          <a:lstStyle/>
          <a:p/>
        </p:txBody>
      </p:sp>
      <p:sp>
        <p:nvSpPr>
          <p:cNvPr id="5" name="object 5"/>
          <p:cNvSpPr txBox="1"/>
          <p:nvPr/>
        </p:nvSpPr>
        <p:spPr>
          <a:xfrm>
            <a:off x="362902" y="1002675"/>
            <a:ext cx="11340465" cy="5200650"/>
          </a:xfrm>
          <a:prstGeom prst="rect">
            <a:avLst/>
          </a:prstGeom>
        </p:spPr>
        <p:txBody>
          <a:bodyPr wrap="square" lIns="0" tIns="100965" rIns="0" bIns="0" rtlCol="0" vert="horz">
            <a:spAutoFit/>
          </a:bodyPr>
          <a:lstStyle/>
          <a:p>
            <a:pPr marL="142875">
              <a:lnSpc>
                <a:spcPct val="100000"/>
              </a:lnSpc>
              <a:spcBef>
                <a:spcPts val="795"/>
              </a:spcBef>
            </a:pPr>
            <a:r>
              <a:rPr dirty="0" sz="2800">
                <a:latin typeface="微软雅黑"/>
                <a:cs typeface="微软雅黑"/>
              </a:rPr>
              <a:t>一</a:t>
            </a:r>
            <a:r>
              <a:rPr dirty="0" sz="2800" spc="-5">
                <a:latin typeface="微软雅黑"/>
                <a:cs typeface="微软雅黑"/>
              </a:rPr>
              <a:t>.</a:t>
            </a:r>
            <a:r>
              <a:rPr dirty="0" sz="2800">
                <a:latin typeface="微软雅黑"/>
                <a:cs typeface="微软雅黑"/>
              </a:rPr>
              <a:t>电磁波与信息化社</a:t>
            </a:r>
            <a:r>
              <a:rPr dirty="0" sz="2800" spc="-5">
                <a:latin typeface="微软雅黑"/>
                <a:cs typeface="微软雅黑"/>
              </a:rPr>
              <a:t>会</a:t>
            </a:r>
            <a:endParaRPr sz="2800">
              <a:latin typeface="微软雅黑"/>
              <a:cs typeface="微软雅黑"/>
            </a:endParaRPr>
          </a:p>
          <a:p>
            <a:pPr marL="102235">
              <a:lnSpc>
                <a:spcPct val="100000"/>
              </a:lnSpc>
              <a:spcBef>
                <a:spcPts val="600"/>
              </a:spcBef>
            </a:pPr>
            <a:r>
              <a:rPr dirty="0" sz="2400" spc="-5">
                <a:latin typeface="微软雅黑"/>
                <a:cs typeface="微软雅黑"/>
              </a:rPr>
              <a:t>4.</a:t>
            </a:r>
            <a:r>
              <a:rPr dirty="0" sz="2400">
                <a:latin typeface="微软雅黑"/>
                <a:cs typeface="微软雅黑"/>
              </a:rPr>
              <a:t>移动电话</a:t>
            </a:r>
            <a:endParaRPr sz="2400">
              <a:latin typeface="微软雅黑"/>
              <a:cs typeface="微软雅黑"/>
            </a:endParaRPr>
          </a:p>
          <a:p>
            <a:pPr marL="12700" marR="5080" indent="450850">
              <a:lnSpc>
                <a:spcPct val="100000"/>
              </a:lnSpc>
              <a:spcBef>
                <a:spcPts val="720"/>
              </a:spcBef>
            </a:pPr>
            <a:r>
              <a:rPr dirty="0" sz="2400" spc="5">
                <a:latin typeface="微软雅黑"/>
                <a:cs typeface="微软雅黑"/>
              </a:rPr>
              <a:t>自从</a:t>
            </a:r>
            <a:r>
              <a:rPr dirty="0" sz="2400">
                <a:latin typeface="微软雅黑"/>
                <a:cs typeface="微软雅黑"/>
              </a:rPr>
              <a:t>1978</a:t>
            </a:r>
            <a:r>
              <a:rPr dirty="0" sz="2400" spc="5">
                <a:latin typeface="微软雅黑"/>
                <a:cs typeface="微软雅黑"/>
              </a:rPr>
              <a:t>年贝尔实验</a:t>
            </a:r>
            <a:r>
              <a:rPr dirty="0" sz="2400" spc="10">
                <a:latin typeface="微软雅黑"/>
                <a:cs typeface="微软雅黑"/>
              </a:rPr>
              <a:t>室研制成功世界上第一个蜂窝移动通信系统，</a:t>
            </a:r>
            <a:r>
              <a:rPr dirty="0" sz="2400" spc="5">
                <a:latin typeface="微软雅黑"/>
                <a:cs typeface="微软雅黑"/>
              </a:rPr>
              <a:t>40</a:t>
            </a:r>
            <a:r>
              <a:rPr dirty="0" sz="2400" spc="10">
                <a:latin typeface="微软雅黑"/>
                <a:cs typeface="微软雅黑"/>
              </a:rPr>
              <a:t>多年间移</a:t>
            </a:r>
            <a:r>
              <a:rPr dirty="0" sz="2400">
                <a:latin typeface="微软雅黑"/>
                <a:cs typeface="微软雅黑"/>
              </a:rPr>
              <a:t>动 通信得到迅猛发展，移动电话的使用现在已经十分普遍</a:t>
            </a:r>
            <a:endParaRPr sz="2400">
              <a:latin typeface="微软雅黑"/>
              <a:cs typeface="微软雅黑"/>
            </a:endParaRPr>
          </a:p>
          <a:p>
            <a:pPr algn="just" marL="137795" marR="4014470" indent="360680">
              <a:lnSpc>
                <a:spcPct val="120000"/>
              </a:lnSpc>
              <a:spcBef>
                <a:spcPts val="415"/>
              </a:spcBef>
            </a:pPr>
            <a:r>
              <a:rPr dirty="0" sz="2400" spc="40">
                <a:latin typeface="微软雅黑"/>
                <a:cs typeface="微软雅黑"/>
              </a:rPr>
              <a:t>每一部移动电话都是一</a:t>
            </a:r>
            <a:r>
              <a:rPr dirty="0" sz="2400" spc="45">
                <a:latin typeface="微软雅黑"/>
                <a:cs typeface="微软雅黑"/>
              </a:rPr>
              <a:t>个无线电台，它将用户的</a:t>
            </a:r>
            <a:r>
              <a:rPr dirty="0" sz="2400">
                <a:latin typeface="微软雅黑"/>
                <a:cs typeface="微软雅黑"/>
              </a:rPr>
              <a:t>声 </a:t>
            </a:r>
            <a:r>
              <a:rPr dirty="0" sz="2400" spc="60">
                <a:latin typeface="微软雅黑"/>
                <a:cs typeface="微软雅黑"/>
              </a:rPr>
              <a:t>音转变为高频电信号发射到空中；同时，它</a:t>
            </a:r>
            <a:r>
              <a:rPr dirty="0" sz="2400" spc="65">
                <a:latin typeface="微软雅黑"/>
                <a:cs typeface="微软雅黑"/>
              </a:rPr>
              <a:t>又相当</a:t>
            </a:r>
            <a:r>
              <a:rPr dirty="0" sz="2400">
                <a:latin typeface="微软雅黑"/>
                <a:cs typeface="微软雅黑"/>
              </a:rPr>
              <a:t>于 </a:t>
            </a:r>
            <a:r>
              <a:rPr dirty="0" sz="2400" spc="60">
                <a:latin typeface="微软雅黑"/>
                <a:cs typeface="微软雅黑"/>
              </a:rPr>
              <a:t>一台收音机，捕捉空中的电磁波，使用户接</a:t>
            </a:r>
            <a:r>
              <a:rPr dirty="0" sz="2400" spc="65">
                <a:latin typeface="微软雅黑"/>
                <a:cs typeface="微软雅黑"/>
              </a:rPr>
              <a:t>收到对</a:t>
            </a:r>
            <a:r>
              <a:rPr dirty="0" sz="2400">
                <a:latin typeface="微软雅黑"/>
                <a:cs typeface="微软雅黑"/>
              </a:rPr>
              <a:t>方 的通话信息。</a:t>
            </a:r>
            <a:endParaRPr sz="2400">
              <a:latin typeface="微软雅黑"/>
              <a:cs typeface="微软雅黑"/>
            </a:endParaRPr>
          </a:p>
          <a:p>
            <a:pPr algn="just" marL="137795" marR="4014470" indent="360680">
              <a:lnSpc>
                <a:spcPct val="120000"/>
              </a:lnSpc>
              <a:spcBef>
                <a:spcPts val="600"/>
              </a:spcBef>
            </a:pPr>
            <a:r>
              <a:rPr dirty="0" sz="2400" spc="40">
                <a:latin typeface="微软雅黑"/>
                <a:cs typeface="微软雅黑"/>
              </a:rPr>
              <a:t>移动电话的功率小、天</a:t>
            </a:r>
            <a:r>
              <a:rPr dirty="0" sz="2400" spc="45">
                <a:latin typeface="微软雅黑"/>
                <a:cs typeface="微软雅黑"/>
              </a:rPr>
              <a:t>线简单，与其他用户的通</a:t>
            </a:r>
            <a:r>
              <a:rPr dirty="0" sz="2400">
                <a:latin typeface="微软雅黑"/>
                <a:cs typeface="微软雅黑"/>
              </a:rPr>
              <a:t>话 需要基站转接。</a:t>
            </a:r>
            <a:endParaRPr sz="2400">
              <a:latin typeface="微软雅黑"/>
              <a:cs typeface="微软雅黑"/>
            </a:endParaRPr>
          </a:p>
          <a:p>
            <a:pPr algn="ctr" marL="57150">
              <a:lnSpc>
                <a:spcPct val="100000"/>
              </a:lnSpc>
              <a:spcBef>
                <a:spcPts val="2105"/>
              </a:spcBef>
            </a:pPr>
            <a:r>
              <a:rPr dirty="0" sz="2400" b="1" i="1">
                <a:solidFill>
                  <a:srgbClr val="001F5F"/>
                </a:solidFill>
                <a:latin typeface="微软雅黑"/>
                <a:cs typeface="微软雅黑"/>
              </a:rPr>
              <a:t>第一款便携式移动电话</a:t>
            </a:r>
            <a:endParaRPr sz="2400">
              <a:latin typeface="微软雅黑"/>
              <a:cs typeface="微软雅黑"/>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1840" y="0"/>
            <a:ext cx="2058670" cy="634365"/>
          </a:xfrm>
          <a:prstGeom prst="rect"/>
        </p:spPr>
        <p:txBody>
          <a:bodyPr wrap="square" lIns="0" tIns="12065" rIns="0" bIns="0" rtlCol="0" vert="horz">
            <a:spAutoFit/>
          </a:bodyPr>
          <a:lstStyle/>
          <a:p>
            <a:pPr marL="12700">
              <a:lnSpc>
                <a:spcPct val="100000"/>
              </a:lnSpc>
              <a:spcBef>
                <a:spcPts val="95"/>
              </a:spcBef>
            </a:pPr>
            <a:r>
              <a:rPr dirty="0" sz="4000" i="0">
                <a:solidFill>
                  <a:srgbClr val="F1F1F1"/>
                </a:solidFill>
                <a:latin typeface="华文楷体"/>
                <a:cs typeface="华文楷体"/>
              </a:rPr>
              <a:t>高中物</a:t>
            </a:r>
            <a:r>
              <a:rPr dirty="0" sz="4000" spc="-10" i="0">
                <a:solidFill>
                  <a:srgbClr val="F1F1F1"/>
                </a:solidFill>
                <a:latin typeface="华文楷体"/>
                <a:cs typeface="华文楷体"/>
              </a:rPr>
              <a:t>理</a:t>
            </a:r>
            <a:endParaRPr sz="4000">
              <a:latin typeface="华文楷体"/>
              <a:cs typeface="华文楷体"/>
            </a:endParaRPr>
          </a:p>
        </p:txBody>
      </p:sp>
      <p:sp>
        <p:nvSpPr>
          <p:cNvPr id="3" name="object 3"/>
          <p:cNvSpPr txBox="1"/>
          <p:nvPr/>
        </p:nvSpPr>
        <p:spPr>
          <a:xfrm>
            <a:off x="493077" y="1091564"/>
            <a:ext cx="3666490" cy="451484"/>
          </a:xfrm>
          <a:prstGeom prst="rect">
            <a:avLst/>
          </a:prstGeom>
        </p:spPr>
        <p:txBody>
          <a:bodyPr wrap="square" lIns="0" tIns="12065" rIns="0" bIns="0" rtlCol="0" vert="horz">
            <a:spAutoFit/>
          </a:bodyPr>
          <a:lstStyle/>
          <a:p>
            <a:pPr marL="12700">
              <a:lnSpc>
                <a:spcPct val="100000"/>
              </a:lnSpc>
              <a:spcBef>
                <a:spcPts val="95"/>
              </a:spcBef>
            </a:pPr>
            <a:r>
              <a:rPr dirty="0" sz="2800">
                <a:latin typeface="微软雅黑"/>
                <a:cs typeface="微软雅黑"/>
              </a:rPr>
              <a:t>一</a:t>
            </a:r>
            <a:r>
              <a:rPr dirty="0" sz="2800" spc="-5">
                <a:latin typeface="微软雅黑"/>
                <a:cs typeface="微软雅黑"/>
              </a:rPr>
              <a:t>.</a:t>
            </a:r>
            <a:r>
              <a:rPr dirty="0" sz="2800">
                <a:latin typeface="微软雅黑"/>
                <a:cs typeface="微软雅黑"/>
              </a:rPr>
              <a:t>电磁波与信息化社</a:t>
            </a:r>
            <a:r>
              <a:rPr dirty="0" sz="2800" spc="-5">
                <a:latin typeface="微软雅黑"/>
                <a:cs typeface="微软雅黑"/>
              </a:rPr>
              <a:t>会</a:t>
            </a:r>
            <a:endParaRPr sz="2800">
              <a:latin typeface="微软雅黑"/>
              <a:cs typeface="微软雅黑"/>
            </a:endParaRPr>
          </a:p>
        </p:txBody>
      </p:sp>
      <p:sp>
        <p:nvSpPr>
          <p:cNvPr id="4" name="object 4"/>
          <p:cNvSpPr/>
          <p:nvPr/>
        </p:nvSpPr>
        <p:spPr>
          <a:xfrm>
            <a:off x="976883" y="1603247"/>
            <a:ext cx="9980676" cy="4709160"/>
          </a:xfrm>
          <a:prstGeom prst="rect">
            <a:avLst/>
          </a:prstGeom>
          <a:blipFill>
            <a:blip r:embed="rId2" cstate="print"/>
            <a:stretch>
              <a:fillRect/>
            </a:stretch>
          </a:blipFill>
        </p:spPr>
        <p:txBody>
          <a:bodyPr wrap="square" lIns="0" tIns="0" rIns="0" bIns="0" rtlCol="0"/>
          <a:lstStyle/>
          <a:p/>
        </p:txBody>
      </p:sp>
      <p:sp>
        <p:nvSpPr>
          <p:cNvPr id="5" name="object 5"/>
          <p:cNvSpPr txBox="1"/>
          <p:nvPr/>
        </p:nvSpPr>
        <p:spPr>
          <a:xfrm>
            <a:off x="2018157" y="6253416"/>
            <a:ext cx="7369809" cy="391160"/>
          </a:xfrm>
          <a:prstGeom prst="rect">
            <a:avLst/>
          </a:prstGeom>
        </p:spPr>
        <p:txBody>
          <a:bodyPr wrap="square" lIns="0" tIns="12700" rIns="0" bIns="0" rtlCol="0" vert="horz">
            <a:spAutoFit/>
          </a:bodyPr>
          <a:lstStyle/>
          <a:p>
            <a:pPr marL="12700">
              <a:lnSpc>
                <a:spcPct val="100000"/>
              </a:lnSpc>
              <a:spcBef>
                <a:spcPts val="100"/>
              </a:spcBef>
            </a:pPr>
            <a:r>
              <a:rPr dirty="0" sz="2400" b="1">
                <a:solidFill>
                  <a:srgbClr val="001F5F"/>
                </a:solidFill>
                <a:latin typeface="黑体"/>
                <a:cs typeface="黑体"/>
              </a:rPr>
              <a:t>移动通信系统是一个有线与无线相结合的综合通信系</a:t>
            </a:r>
            <a:r>
              <a:rPr dirty="0" sz="2400" spc="-10" b="1">
                <a:solidFill>
                  <a:srgbClr val="001F5F"/>
                </a:solidFill>
                <a:latin typeface="黑体"/>
                <a:cs typeface="黑体"/>
              </a:rPr>
              <a:t>统</a:t>
            </a:r>
            <a:endParaRPr sz="2400">
              <a:latin typeface="黑体"/>
              <a:cs typeface="黑体"/>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1840" y="0"/>
            <a:ext cx="2058670" cy="634365"/>
          </a:xfrm>
          <a:prstGeom prst="rect"/>
        </p:spPr>
        <p:txBody>
          <a:bodyPr wrap="square" lIns="0" tIns="12065" rIns="0" bIns="0" rtlCol="0" vert="horz">
            <a:spAutoFit/>
          </a:bodyPr>
          <a:lstStyle/>
          <a:p>
            <a:pPr marL="12700">
              <a:lnSpc>
                <a:spcPct val="100000"/>
              </a:lnSpc>
              <a:spcBef>
                <a:spcPts val="95"/>
              </a:spcBef>
            </a:pPr>
            <a:r>
              <a:rPr dirty="0" sz="4000" i="0">
                <a:solidFill>
                  <a:srgbClr val="F1F1F1"/>
                </a:solidFill>
                <a:latin typeface="华文楷体"/>
                <a:cs typeface="华文楷体"/>
              </a:rPr>
              <a:t>高中物</a:t>
            </a:r>
            <a:r>
              <a:rPr dirty="0" sz="4000" spc="-10" i="0">
                <a:solidFill>
                  <a:srgbClr val="F1F1F1"/>
                </a:solidFill>
                <a:latin typeface="华文楷体"/>
                <a:cs typeface="华文楷体"/>
              </a:rPr>
              <a:t>理</a:t>
            </a:r>
            <a:endParaRPr sz="4000">
              <a:latin typeface="华文楷体"/>
              <a:cs typeface="华文楷体"/>
            </a:endParaRPr>
          </a:p>
        </p:txBody>
      </p:sp>
      <p:sp>
        <p:nvSpPr>
          <p:cNvPr id="3" name="object 3"/>
          <p:cNvSpPr/>
          <p:nvPr/>
        </p:nvSpPr>
        <p:spPr>
          <a:xfrm>
            <a:off x="5745479" y="2488692"/>
            <a:ext cx="6446520" cy="4369308"/>
          </a:xfrm>
          <a:prstGeom prst="rect">
            <a:avLst/>
          </a:prstGeom>
          <a:blipFill>
            <a:blip r:embed="rId2" cstate="print"/>
            <a:stretch>
              <a:fillRect/>
            </a:stretch>
          </a:blipFill>
        </p:spPr>
        <p:txBody>
          <a:bodyPr wrap="square" lIns="0" tIns="0" rIns="0" bIns="0" rtlCol="0"/>
          <a:lstStyle/>
          <a:p/>
        </p:txBody>
      </p:sp>
      <p:sp>
        <p:nvSpPr>
          <p:cNvPr id="4" name="object 4"/>
          <p:cNvSpPr txBox="1"/>
          <p:nvPr/>
        </p:nvSpPr>
        <p:spPr>
          <a:xfrm>
            <a:off x="355282" y="965700"/>
            <a:ext cx="11280140" cy="4315460"/>
          </a:xfrm>
          <a:prstGeom prst="rect">
            <a:avLst/>
          </a:prstGeom>
        </p:spPr>
        <p:txBody>
          <a:bodyPr wrap="square" lIns="0" tIns="137795" rIns="0" bIns="0" rtlCol="0" vert="horz">
            <a:spAutoFit/>
          </a:bodyPr>
          <a:lstStyle/>
          <a:p>
            <a:pPr marL="150495">
              <a:lnSpc>
                <a:spcPct val="100000"/>
              </a:lnSpc>
              <a:spcBef>
                <a:spcPts val="1085"/>
              </a:spcBef>
            </a:pPr>
            <a:r>
              <a:rPr dirty="0" sz="2800">
                <a:latin typeface="微软雅黑"/>
                <a:cs typeface="微软雅黑"/>
              </a:rPr>
              <a:t>一</a:t>
            </a:r>
            <a:r>
              <a:rPr dirty="0" sz="2800" spc="-5">
                <a:latin typeface="微软雅黑"/>
                <a:cs typeface="微软雅黑"/>
              </a:rPr>
              <a:t>.</a:t>
            </a:r>
            <a:r>
              <a:rPr dirty="0" sz="2800">
                <a:latin typeface="微软雅黑"/>
                <a:cs typeface="微软雅黑"/>
              </a:rPr>
              <a:t>电磁波与信息化社</a:t>
            </a:r>
            <a:r>
              <a:rPr dirty="0" sz="2800" spc="-5">
                <a:latin typeface="微软雅黑"/>
                <a:cs typeface="微软雅黑"/>
              </a:rPr>
              <a:t>会</a:t>
            </a:r>
            <a:endParaRPr sz="2800">
              <a:latin typeface="微软雅黑"/>
              <a:cs typeface="微软雅黑"/>
            </a:endParaRPr>
          </a:p>
          <a:p>
            <a:pPr marL="19685" marR="5080" indent="457200">
              <a:lnSpc>
                <a:spcPct val="125000"/>
              </a:lnSpc>
              <a:spcBef>
                <a:spcPts val="130"/>
              </a:spcBef>
            </a:pPr>
            <a:r>
              <a:rPr dirty="0" sz="2400" spc="25">
                <a:latin typeface="微软雅黑"/>
                <a:cs typeface="微软雅黑"/>
              </a:rPr>
              <a:t>随着计算机网络的发展和智</a:t>
            </a:r>
            <a:r>
              <a:rPr dirty="0" sz="2400" spc="30">
                <a:latin typeface="微软雅黑"/>
                <a:cs typeface="微软雅黑"/>
              </a:rPr>
              <a:t>能手机的出现，负责通话的电信网、广播电视网和</a:t>
            </a:r>
            <a:r>
              <a:rPr dirty="0" sz="2400">
                <a:latin typeface="微软雅黑"/>
                <a:cs typeface="微软雅黑"/>
              </a:rPr>
              <a:t>互 联网相互渗透、相互兼容，逐步整合成统一的信息通信网络。</a:t>
            </a:r>
            <a:endParaRPr sz="2400">
              <a:latin typeface="微软雅黑"/>
              <a:cs typeface="微软雅黑"/>
            </a:endParaRPr>
          </a:p>
          <a:p>
            <a:pPr algn="just" marL="12700" marR="6083935" indent="381000">
              <a:lnSpc>
                <a:spcPct val="125000"/>
              </a:lnSpc>
              <a:spcBef>
                <a:spcPts val="500"/>
              </a:spcBef>
            </a:pPr>
            <a:r>
              <a:rPr dirty="0" sz="2400" spc="125">
                <a:latin typeface="微软雅黑"/>
                <a:cs typeface="微软雅黑"/>
              </a:rPr>
              <a:t>移动电话的主要业务已经发</a:t>
            </a:r>
            <a:r>
              <a:rPr dirty="0" sz="2400" spc="130">
                <a:latin typeface="微软雅黑"/>
                <a:cs typeface="微软雅黑"/>
              </a:rPr>
              <a:t>展成</a:t>
            </a:r>
            <a:r>
              <a:rPr dirty="0" sz="2400">
                <a:latin typeface="微软雅黑"/>
                <a:cs typeface="微软雅黑"/>
              </a:rPr>
              <a:t>以 </a:t>
            </a:r>
            <a:r>
              <a:rPr dirty="0" sz="2400" spc="155">
                <a:latin typeface="微软雅黑"/>
                <a:cs typeface="微软雅黑"/>
              </a:rPr>
              <a:t>互联网为基础的综</a:t>
            </a:r>
            <a:r>
              <a:rPr dirty="0" sz="2400" spc="160">
                <a:latin typeface="微软雅黑"/>
                <a:cs typeface="微软雅黑"/>
              </a:rPr>
              <a:t>合信息业务。人</a:t>
            </a:r>
            <a:r>
              <a:rPr dirty="0" sz="2400">
                <a:latin typeface="微软雅黑"/>
                <a:cs typeface="微软雅黑"/>
              </a:rPr>
              <a:t>们 </a:t>
            </a:r>
            <a:r>
              <a:rPr dirty="0" sz="2400" spc="155">
                <a:latin typeface="微软雅黑"/>
                <a:cs typeface="微软雅黑"/>
              </a:rPr>
              <a:t>通过接入互联网的</a:t>
            </a:r>
            <a:r>
              <a:rPr dirty="0" sz="2400" spc="160">
                <a:latin typeface="微软雅黑"/>
                <a:cs typeface="微软雅黑"/>
              </a:rPr>
              <a:t>手机看电影、视</a:t>
            </a:r>
            <a:r>
              <a:rPr dirty="0" sz="2400">
                <a:latin typeface="微软雅黑"/>
                <a:cs typeface="微软雅黑"/>
              </a:rPr>
              <a:t>频 </a:t>
            </a:r>
            <a:r>
              <a:rPr dirty="0" sz="2400" spc="155">
                <a:latin typeface="微软雅黑"/>
                <a:cs typeface="微软雅黑"/>
              </a:rPr>
              <a:t>通话、购物、查阅</a:t>
            </a:r>
            <a:r>
              <a:rPr dirty="0" sz="2400" spc="160">
                <a:latin typeface="微软雅黑"/>
                <a:cs typeface="微软雅黑"/>
              </a:rPr>
              <a:t>资料、远程教学</a:t>
            </a:r>
            <a:r>
              <a:rPr dirty="0" sz="2400">
                <a:latin typeface="微软雅黑"/>
                <a:cs typeface="微软雅黑"/>
              </a:rPr>
              <a:t>、 远程医疗</a:t>
            </a:r>
            <a:r>
              <a:rPr dirty="0" sz="2400">
                <a:latin typeface="Times New Roman"/>
                <a:cs typeface="Times New Roman"/>
              </a:rPr>
              <a:t>……</a:t>
            </a:r>
            <a:endParaRPr sz="2400">
              <a:latin typeface="Times New Roman"/>
              <a:cs typeface="Times New Roman"/>
            </a:endParaRPr>
          </a:p>
          <a:p>
            <a:pPr marL="509270">
              <a:lnSpc>
                <a:spcPct val="100000"/>
              </a:lnSpc>
              <a:spcBef>
                <a:spcPts val="720"/>
              </a:spcBef>
            </a:pPr>
            <a:r>
              <a:rPr dirty="0" sz="2400">
                <a:latin typeface="微软雅黑"/>
                <a:cs typeface="微软雅黑"/>
              </a:rPr>
              <a:t>这些信息都是通过电磁波来传递的。</a:t>
            </a:r>
            <a:endParaRPr sz="2400">
              <a:latin typeface="微软雅黑"/>
              <a:cs typeface="微软雅黑"/>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1840" y="0"/>
            <a:ext cx="2058670" cy="634365"/>
          </a:xfrm>
          <a:prstGeom prst="rect">
            <a:avLst/>
          </a:prstGeom>
        </p:spPr>
        <p:txBody>
          <a:bodyPr wrap="square" lIns="0" tIns="12065" rIns="0" bIns="0" rtlCol="0" vert="horz">
            <a:spAutoFit/>
          </a:bodyPr>
          <a:lstStyle/>
          <a:p>
            <a:pPr marL="12700">
              <a:lnSpc>
                <a:spcPct val="100000"/>
              </a:lnSpc>
              <a:spcBef>
                <a:spcPts val="95"/>
              </a:spcBef>
            </a:pPr>
            <a:r>
              <a:rPr dirty="0" sz="4000" b="1">
                <a:solidFill>
                  <a:srgbClr val="F1F1F1"/>
                </a:solidFill>
                <a:latin typeface="华文楷体"/>
                <a:cs typeface="华文楷体"/>
              </a:rPr>
              <a:t>高中物</a:t>
            </a:r>
            <a:r>
              <a:rPr dirty="0" sz="4000" spc="-10" b="1">
                <a:solidFill>
                  <a:srgbClr val="F1F1F1"/>
                </a:solidFill>
                <a:latin typeface="华文楷体"/>
                <a:cs typeface="华文楷体"/>
              </a:rPr>
              <a:t>理</a:t>
            </a:r>
            <a:endParaRPr sz="4000">
              <a:latin typeface="华文楷体"/>
              <a:cs typeface="华文楷体"/>
            </a:endParaRPr>
          </a:p>
        </p:txBody>
      </p:sp>
      <p:sp>
        <p:nvSpPr>
          <p:cNvPr id="3" name="object 3"/>
          <p:cNvSpPr txBox="1"/>
          <p:nvPr/>
        </p:nvSpPr>
        <p:spPr>
          <a:xfrm>
            <a:off x="493077" y="1091564"/>
            <a:ext cx="1888489" cy="451484"/>
          </a:xfrm>
          <a:prstGeom prst="rect">
            <a:avLst/>
          </a:prstGeom>
        </p:spPr>
        <p:txBody>
          <a:bodyPr wrap="square" lIns="0" tIns="12065" rIns="0" bIns="0" rtlCol="0" vert="horz">
            <a:spAutoFit/>
          </a:bodyPr>
          <a:lstStyle/>
          <a:p>
            <a:pPr marL="12700">
              <a:lnSpc>
                <a:spcPct val="100000"/>
              </a:lnSpc>
              <a:spcBef>
                <a:spcPts val="95"/>
              </a:spcBef>
            </a:pPr>
            <a:r>
              <a:rPr dirty="0" sz="2800">
                <a:latin typeface="微软雅黑"/>
                <a:cs typeface="微软雅黑"/>
              </a:rPr>
              <a:t>二</a:t>
            </a:r>
            <a:r>
              <a:rPr dirty="0" sz="2800" spc="-5">
                <a:latin typeface="微软雅黑"/>
                <a:cs typeface="微软雅黑"/>
              </a:rPr>
              <a:t>.</a:t>
            </a:r>
            <a:r>
              <a:rPr dirty="0" sz="2800">
                <a:latin typeface="微软雅黑"/>
                <a:cs typeface="微软雅黑"/>
              </a:rPr>
              <a:t>电磁波</a:t>
            </a:r>
            <a:r>
              <a:rPr dirty="0" sz="2800" spc="-5">
                <a:latin typeface="微软雅黑"/>
                <a:cs typeface="微软雅黑"/>
              </a:rPr>
              <a:t>谱</a:t>
            </a:r>
            <a:endParaRPr sz="2800">
              <a:latin typeface="微软雅黑"/>
              <a:cs typeface="微软雅黑"/>
            </a:endParaRPr>
          </a:p>
        </p:txBody>
      </p:sp>
      <p:sp>
        <p:nvSpPr>
          <p:cNvPr id="4" name="object 4"/>
          <p:cNvSpPr txBox="1"/>
          <p:nvPr/>
        </p:nvSpPr>
        <p:spPr>
          <a:xfrm>
            <a:off x="1182052" y="6002337"/>
            <a:ext cx="9592945" cy="391160"/>
          </a:xfrm>
          <a:prstGeom prst="rect">
            <a:avLst/>
          </a:prstGeom>
        </p:spPr>
        <p:txBody>
          <a:bodyPr wrap="square" lIns="0" tIns="12700" rIns="0" bIns="0" rtlCol="0" vert="horz">
            <a:spAutoFit/>
          </a:bodyPr>
          <a:lstStyle/>
          <a:p>
            <a:pPr marL="12700">
              <a:lnSpc>
                <a:spcPct val="100000"/>
              </a:lnSpc>
              <a:spcBef>
                <a:spcPts val="100"/>
              </a:spcBef>
            </a:pPr>
            <a:r>
              <a:rPr dirty="0" sz="2400">
                <a:latin typeface="微软雅黑"/>
                <a:cs typeface="微软雅黑"/>
              </a:rPr>
              <a:t>无线电波、红外线、可见光、紫外线、</a:t>
            </a:r>
            <a:r>
              <a:rPr dirty="0" sz="2400">
                <a:latin typeface="Times New Roman"/>
                <a:cs typeface="Times New Roman"/>
              </a:rPr>
              <a:t>X</a:t>
            </a:r>
            <a:r>
              <a:rPr dirty="0" sz="2400">
                <a:latin typeface="微软雅黑"/>
                <a:cs typeface="微软雅黑"/>
              </a:rPr>
              <a:t>射线、</a:t>
            </a:r>
            <a:r>
              <a:rPr dirty="0" sz="2400" spc="-200">
                <a:latin typeface="微软雅黑"/>
                <a:cs typeface="微软雅黑"/>
              </a:rPr>
              <a:t> </a:t>
            </a:r>
            <a:r>
              <a:rPr dirty="0" sz="2400" b="1" i="1">
                <a:latin typeface="Times New Roman"/>
                <a:cs typeface="Times New Roman"/>
              </a:rPr>
              <a:t>γ</a:t>
            </a:r>
            <a:r>
              <a:rPr dirty="0" sz="2400">
                <a:latin typeface="微软雅黑"/>
                <a:cs typeface="微软雅黑"/>
              </a:rPr>
              <a:t>射线，组成电磁波谱。</a:t>
            </a:r>
            <a:endParaRPr sz="2400">
              <a:latin typeface="微软雅黑"/>
              <a:cs typeface="微软雅黑"/>
            </a:endParaRPr>
          </a:p>
        </p:txBody>
      </p:sp>
      <p:sp>
        <p:nvSpPr>
          <p:cNvPr id="5" name="object 5"/>
          <p:cNvSpPr/>
          <p:nvPr/>
        </p:nvSpPr>
        <p:spPr>
          <a:xfrm>
            <a:off x="0" y="1642872"/>
            <a:ext cx="12192000" cy="4191000"/>
          </a:xfrm>
          <a:prstGeom prst="rect">
            <a:avLst/>
          </a:prstGeom>
          <a:blipFill>
            <a:blip r:embed="rId2" cstate="print"/>
            <a:stretch>
              <a:fillRect/>
            </a:stretch>
          </a:blipFill>
        </p:spPr>
        <p:txBody>
          <a:bodyPr wrap="square" lIns="0" tIns="0" rIns="0" bIns="0" rtlCol="0"/>
          <a:lstStyle/>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1840" y="0"/>
            <a:ext cx="2058670" cy="634365"/>
          </a:xfrm>
          <a:prstGeom prst="rect"/>
        </p:spPr>
        <p:txBody>
          <a:bodyPr wrap="square" lIns="0" tIns="12065" rIns="0" bIns="0" rtlCol="0" vert="horz">
            <a:spAutoFit/>
          </a:bodyPr>
          <a:lstStyle/>
          <a:p>
            <a:pPr marL="12700">
              <a:lnSpc>
                <a:spcPct val="100000"/>
              </a:lnSpc>
              <a:spcBef>
                <a:spcPts val="95"/>
              </a:spcBef>
            </a:pPr>
            <a:r>
              <a:rPr dirty="0" sz="4000" i="0">
                <a:solidFill>
                  <a:srgbClr val="F1F1F1"/>
                </a:solidFill>
                <a:latin typeface="华文楷体"/>
                <a:cs typeface="华文楷体"/>
              </a:rPr>
              <a:t>高中物</a:t>
            </a:r>
            <a:r>
              <a:rPr dirty="0" sz="4000" spc="-10" i="0">
                <a:solidFill>
                  <a:srgbClr val="F1F1F1"/>
                </a:solidFill>
                <a:latin typeface="华文楷体"/>
                <a:cs typeface="华文楷体"/>
              </a:rPr>
              <a:t>理</a:t>
            </a:r>
            <a:endParaRPr sz="4000">
              <a:latin typeface="华文楷体"/>
              <a:cs typeface="华文楷体"/>
            </a:endParaRPr>
          </a:p>
        </p:txBody>
      </p:sp>
      <p:sp>
        <p:nvSpPr>
          <p:cNvPr id="3" name="object 3"/>
          <p:cNvSpPr/>
          <p:nvPr/>
        </p:nvSpPr>
        <p:spPr>
          <a:xfrm>
            <a:off x="7077456" y="3653028"/>
            <a:ext cx="4212336" cy="3157728"/>
          </a:xfrm>
          <a:prstGeom prst="rect">
            <a:avLst/>
          </a:prstGeom>
          <a:blipFill>
            <a:blip r:embed="rId2" cstate="print"/>
            <a:stretch>
              <a:fillRect/>
            </a:stretch>
          </a:blipFill>
        </p:spPr>
        <p:txBody>
          <a:bodyPr wrap="square" lIns="0" tIns="0" rIns="0" bIns="0" rtlCol="0"/>
          <a:lstStyle/>
          <a:p/>
        </p:txBody>
      </p:sp>
      <p:sp>
        <p:nvSpPr>
          <p:cNvPr id="4" name="object 4"/>
          <p:cNvSpPr txBox="1"/>
          <p:nvPr/>
        </p:nvSpPr>
        <p:spPr>
          <a:xfrm>
            <a:off x="493077" y="923621"/>
            <a:ext cx="11090275" cy="5033645"/>
          </a:xfrm>
          <a:prstGeom prst="rect">
            <a:avLst/>
          </a:prstGeom>
        </p:spPr>
        <p:txBody>
          <a:bodyPr wrap="square" lIns="0" tIns="132080" rIns="0" bIns="0" rtlCol="0" vert="horz">
            <a:spAutoFit/>
          </a:bodyPr>
          <a:lstStyle/>
          <a:p>
            <a:pPr marL="12700">
              <a:lnSpc>
                <a:spcPct val="100000"/>
              </a:lnSpc>
              <a:spcBef>
                <a:spcPts val="1040"/>
              </a:spcBef>
            </a:pPr>
            <a:r>
              <a:rPr dirty="0" sz="2800">
                <a:latin typeface="微软雅黑"/>
                <a:cs typeface="微软雅黑"/>
              </a:rPr>
              <a:t>二</a:t>
            </a:r>
            <a:r>
              <a:rPr dirty="0" sz="2800" spc="-5">
                <a:latin typeface="微软雅黑"/>
                <a:cs typeface="微软雅黑"/>
              </a:rPr>
              <a:t>.</a:t>
            </a:r>
            <a:r>
              <a:rPr dirty="0" sz="2800">
                <a:latin typeface="微软雅黑"/>
                <a:cs typeface="微软雅黑"/>
              </a:rPr>
              <a:t>电磁波</a:t>
            </a:r>
            <a:r>
              <a:rPr dirty="0" sz="2800" spc="-5">
                <a:latin typeface="微软雅黑"/>
                <a:cs typeface="微软雅黑"/>
              </a:rPr>
              <a:t>谱</a:t>
            </a:r>
            <a:endParaRPr sz="2800">
              <a:latin typeface="微软雅黑"/>
              <a:cs typeface="微软雅黑"/>
            </a:endParaRPr>
          </a:p>
          <a:p>
            <a:pPr marL="96520">
              <a:lnSpc>
                <a:spcPct val="100000"/>
              </a:lnSpc>
              <a:spcBef>
                <a:spcPts val="815"/>
              </a:spcBef>
            </a:pPr>
            <a:r>
              <a:rPr dirty="0" sz="2400" spc="-5">
                <a:latin typeface="微软雅黑"/>
                <a:cs typeface="微软雅黑"/>
              </a:rPr>
              <a:t>1.</a:t>
            </a:r>
            <a:r>
              <a:rPr dirty="0" sz="2400">
                <a:latin typeface="微软雅黑"/>
                <a:cs typeface="微软雅黑"/>
              </a:rPr>
              <a:t>无线电波</a:t>
            </a:r>
            <a:endParaRPr sz="2400">
              <a:latin typeface="微软雅黑"/>
              <a:cs typeface="微软雅黑"/>
            </a:endParaRPr>
          </a:p>
          <a:p>
            <a:pPr algn="just" marL="96520" marR="5080" indent="360680">
              <a:lnSpc>
                <a:spcPct val="100000"/>
              </a:lnSpc>
              <a:spcBef>
                <a:spcPts val="720"/>
              </a:spcBef>
            </a:pPr>
            <a:r>
              <a:rPr dirty="0" sz="2400" spc="35">
                <a:latin typeface="微软雅黑"/>
                <a:cs typeface="微软雅黑"/>
              </a:rPr>
              <a:t>波长</a:t>
            </a:r>
            <a:r>
              <a:rPr dirty="0" sz="2400" spc="30" b="1" i="1">
                <a:latin typeface="Times New Roman"/>
                <a:cs typeface="Times New Roman"/>
              </a:rPr>
              <a:t>λ</a:t>
            </a:r>
            <a:r>
              <a:rPr dirty="0" sz="2400" spc="35">
                <a:latin typeface="微软雅黑"/>
                <a:cs typeface="微软雅黑"/>
              </a:rPr>
              <a:t>大于</a:t>
            </a:r>
            <a:r>
              <a:rPr dirty="0" sz="2400" spc="35">
                <a:latin typeface="Times New Roman"/>
                <a:cs typeface="Times New Roman"/>
              </a:rPr>
              <a:t>1</a:t>
            </a:r>
            <a:r>
              <a:rPr dirty="0" sz="2400" spc="30">
                <a:latin typeface="Times New Roman"/>
                <a:cs typeface="Times New Roman"/>
              </a:rPr>
              <a:t>mm</a:t>
            </a:r>
            <a:r>
              <a:rPr dirty="0" sz="2400" spc="35">
                <a:latin typeface="微软雅黑"/>
                <a:cs typeface="微软雅黑"/>
              </a:rPr>
              <a:t>的电磁波是无线电</a:t>
            </a:r>
            <a:r>
              <a:rPr dirty="0" sz="2400" spc="40">
                <a:latin typeface="微软雅黑"/>
                <a:cs typeface="微软雅黑"/>
              </a:rPr>
              <a:t>波，其中波长小于</a:t>
            </a:r>
            <a:r>
              <a:rPr dirty="0" sz="2400" spc="40">
                <a:latin typeface="Times New Roman"/>
                <a:cs typeface="Times New Roman"/>
              </a:rPr>
              <a:t>10</a:t>
            </a:r>
            <a:r>
              <a:rPr dirty="0" sz="2400" spc="35">
                <a:latin typeface="Times New Roman"/>
                <a:cs typeface="Times New Roman"/>
              </a:rPr>
              <a:t>m</a:t>
            </a:r>
            <a:r>
              <a:rPr dirty="0" sz="2400" spc="40">
                <a:latin typeface="微软雅黑"/>
                <a:cs typeface="微软雅黑"/>
              </a:rPr>
              <a:t>的无线电波称为</a:t>
            </a:r>
            <a:r>
              <a:rPr dirty="0" sz="2400" spc="40" b="1" i="1">
                <a:solidFill>
                  <a:srgbClr val="001F5F"/>
                </a:solidFill>
                <a:latin typeface="微软雅黑"/>
                <a:cs typeface="微软雅黑"/>
              </a:rPr>
              <a:t>微波</a:t>
            </a:r>
            <a:r>
              <a:rPr dirty="0" sz="2400">
                <a:latin typeface="微软雅黑"/>
                <a:cs typeface="微软雅黑"/>
              </a:rPr>
              <a:t>。 无线电波用于电报、广播电视、雷达、移动电话的信号传输。</a:t>
            </a:r>
            <a:endParaRPr sz="2400">
              <a:latin typeface="微软雅黑"/>
              <a:cs typeface="微软雅黑"/>
            </a:endParaRPr>
          </a:p>
          <a:p>
            <a:pPr algn="just" marL="96520" marR="5080" indent="381000">
              <a:lnSpc>
                <a:spcPct val="100000"/>
              </a:lnSpc>
              <a:spcBef>
                <a:spcPts val="600"/>
              </a:spcBef>
            </a:pPr>
            <a:r>
              <a:rPr dirty="0" sz="2400" spc="55">
                <a:latin typeface="微软雅黑"/>
                <a:cs typeface="微软雅黑"/>
              </a:rPr>
              <a:t>许多自然过程也辐射无线电波，射电望远镜就是通过接</a:t>
            </a:r>
            <a:r>
              <a:rPr dirty="0" sz="2400" spc="60">
                <a:latin typeface="微软雅黑"/>
                <a:cs typeface="微软雅黑"/>
              </a:rPr>
              <a:t>收天然辐射的无线电</a:t>
            </a:r>
            <a:r>
              <a:rPr dirty="0" sz="2400">
                <a:latin typeface="微软雅黑"/>
                <a:cs typeface="微软雅黑"/>
              </a:rPr>
              <a:t>波 进行天体物理研究的。射电望远镜大多有抛物面形的</a:t>
            </a:r>
            <a:r>
              <a:rPr dirty="0" sz="2400" spc="5">
                <a:latin typeface="微软雅黑"/>
                <a:cs typeface="微软雅黑"/>
              </a:rPr>
              <a:t>天线，用来汇聚无线电波，</a:t>
            </a:r>
            <a:r>
              <a:rPr dirty="0" sz="2400">
                <a:latin typeface="微软雅黑"/>
                <a:cs typeface="微软雅黑"/>
              </a:rPr>
              <a:t>天 线口径越大，分辨能力越高。</a:t>
            </a:r>
            <a:endParaRPr sz="2400">
              <a:latin typeface="微软雅黑"/>
              <a:cs typeface="微软雅黑"/>
            </a:endParaRPr>
          </a:p>
          <a:p>
            <a:pPr>
              <a:lnSpc>
                <a:spcPct val="100000"/>
              </a:lnSpc>
            </a:pPr>
            <a:endParaRPr sz="3100">
              <a:latin typeface="Times New Roman"/>
              <a:cs typeface="Times New Roman"/>
            </a:endParaRPr>
          </a:p>
          <a:p>
            <a:pPr>
              <a:lnSpc>
                <a:spcPct val="100000"/>
              </a:lnSpc>
              <a:spcBef>
                <a:spcPts val="5"/>
              </a:spcBef>
            </a:pPr>
            <a:endParaRPr sz="3050">
              <a:latin typeface="Times New Roman"/>
              <a:cs typeface="Times New Roman"/>
            </a:endParaRPr>
          </a:p>
          <a:p>
            <a:pPr marL="894080" marR="4505325" indent="348615">
              <a:lnSpc>
                <a:spcPct val="100000"/>
              </a:lnSpc>
            </a:pPr>
            <a:r>
              <a:rPr dirty="0" sz="2400" b="1" i="1">
                <a:solidFill>
                  <a:srgbClr val="001F5F"/>
                </a:solidFill>
                <a:latin typeface="微软雅黑"/>
                <a:cs typeface="微软雅黑"/>
              </a:rPr>
              <a:t>中国天眼，</a:t>
            </a:r>
            <a:r>
              <a:rPr dirty="0" sz="2400" b="1">
                <a:solidFill>
                  <a:srgbClr val="001F5F"/>
                </a:solidFill>
                <a:latin typeface="Times New Roman"/>
                <a:cs typeface="Times New Roman"/>
              </a:rPr>
              <a:t>500</a:t>
            </a:r>
            <a:r>
              <a:rPr dirty="0" sz="2400" b="1" i="1">
                <a:solidFill>
                  <a:srgbClr val="001F5F"/>
                </a:solidFill>
                <a:latin typeface="微软雅黑"/>
                <a:cs typeface="微软雅黑"/>
              </a:rPr>
              <a:t>米口径球面射电望远镜， </a:t>
            </a:r>
            <a:r>
              <a:rPr dirty="0" sz="2400" spc="110" b="1" i="1">
                <a:solidFill>
                  <a:srgbClr val="001F5F"/>
                </a:solidFill>
                <a:latin typeface="微软雅黑"/>
                <a:cs typeface="微软雅黑"/>
              </a:rPr>
              <a:t>截至</a:t>
            </a:r>
            <a:r>
              <a:rPr dirty="0" sz="2400" spc="110" b="1">
                <a:solidFill>
                  <a:srgbClr val="001F5F"/>
                </a:solidFill>
                <a:latin typeface="Times New Roman"/>
                <a:cs typeface="Times New Roman"/>
              </a:rPr>
              <a:t>2020</a:t>
            </a:r>
            <a:r>
              <a:rPr dirty="0" sz="2400" spc="110" b="1" i="1">
                <a:solidFill>
                  <a:srgbClr val="001F5F"/>
                </a:solidFill>
                <a:latin typeface="微软雅黑"/>
                <a:cs typeface="微软雅黑"/>
              </a:rPr>
              <a:t>年</a:t>
            </a:r>
            <a:r>
              <a:rPr dirty="0" sz="2400" spc="110" b="1">
                <a:solidFill>
                  <a:srgbClr val="001F5F"/>
                </a:solidFill>
                <a:latin typeface="Times New Roman"/>
                <a:cs typeface="Times New Roman"/>
              </a:rPr>
              <a:t>3</a:t>
            </a:r>
            <a:r>
              <a:rPr dirty="0" sz="2400" spc="110" b="1" i="1">
                <a:solidFill>
                  <a:srgbClr val="001F5F"/>
                </a:solidFill>
                <a:latin typeface="微软雅黑"/>
                <a:cs typeface="微软雅黑"/>
              </a:rPr>
              <a:t>月</a:t>
            </a:r>
            <a:r>
              <a:rPr dirty="0" sz="2400" spc="110" b="1">
                <a:solidFill>
                  <a:srgbClr val="001F5F"/>
                </a:solidFill>
                <a:latin typeface="Times New Roman"/>
                <a:cs typeface="Times New Roman"/>
              </a:rPr>
              <a:t>23</a:t>
            </a:r>
            <a:r>
              <a:rPr dirty="0" sz="2400" spc="110" b="1" i="1">
                <a:solidFill>
                  <a:srgbClr val="001F5F"/>
                </a:solidFill>
                <a:latin typeface="微软雅黑"/>
                <a:cs typeface="微软雅黑"/>
              </a:rPr>
              <a:t>日，已发</a:t>
            </a:r>
            <a:r>
              <a:rPr dirty="0" sz="2400" spc="114" b="1" i="1">
                <a:solidFill>
                  <a:srgbClr val="001F5F"/>
                </a:solidFill>
                <a:latin typeface="微软雅黑"/>
                <a:cs typeface="微软雅黑"/>
              </a:rPr>
              <a:t>现并认证</a:t>
            </a:r>
            <a:r>
              <a:rPr dirty="0" sz="2400" spc="30" b="1">
                <a:solidFill>
                  <a:srgbClr val="001F5F"/>
                </a:solidFill>
                <a:latin typeface="Times New Roman"/>
                <a:cs typeface="Times New Roman"/>
              </a:rPr>
              <a:t>114  </a:t>
            </a:r>
            <a:r>
              <a:rPr dirty="0" sz="2400" b="1" i="1">
                <a:solidFill>
                  <a:srgbClr val="001F5F"/>
                </a:solidFill>
                <a:latin typeface="微软雅黑"/>
                <a:cs typeface="微软雅黑"/>
              </a:rPr>
              <a:t>颗脉冲星。</a:t>
            </a:r>
            <a:endParaRPr sz="2400">
              <a:latin typeface="微软雅黑"/>
              <a:cs typeface="微软雅黑"/>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1840" y="0"/>
            <a:ext cx="2058670" cy="634365"/>
          </a:xfrm>
          <a:prstGeom prst="rect"/>
        </p:spPr>
        <p:txBody>
          <a:bodyPr wrap="square" lIns="0" tIns="12065" rIns="0" bIns="0" rtlCol="0" vert="horz">
            <a:spAutoFit/>
          </a:bodyPr>
          <a:lstStyle/>
          <a:p>
            <a:pPr marL="12700">
              <a:lnSpc>
                <a:spcPct val="100000"/>
              </a:lnSpc>
              <a:spcBef>
                <a:spcPts val="95"/>
              </a:spcBef>
            </a:pPr>
            <a:r>
              <a:rPr dirty="0" sz="4000" i="0">
                <a:solidFill>
                  <a:srgbClr val="F1F1F1"/>
                </a:solidFill>
                <a:latin typeface="华文楷体"/>
                <a:cs typeface="华文楷体"/>
              </a:rPr>
              <a:t>高中物</a:t>
            </a:r>
            <a:r>
              <a:rPr dirty="0" sz="4000" spc="-10" i="0">
                <a:solidFill>
                  <a:srgbClr val="F1F1F1"/>
                </a:solidFill>
                <a:latin typeface="华文楷体"/>
                <a:cs typeface="华文楷体"/>
              </a:rPr>
              <a:t>理</a:t>
            </a:r>
            <a:endParaRPr sz="4000">
              <a:latin typeface="华文楷体"/>
              <a:cs typeface="华文楷体"/>
            </a:endParaRPr>
          </a:p>
        </p:txBody>
      </p:sp>
      <p:sp>
        <p:nvSpPr>
          <p:cNvPr id="3" name="object 3"/>
          <p:cNvSpPr txBox="1"/>
          <p:nvPr/>
        </p:nvSpPr>
        <p:spPr>
          <a:xfrm>
            <a:off x="493077" y="1091564"/>
            <a:ext cx="1888489" cy="451484"/>
          </a:xfrm>
          <a:prstGeom prst="rect">
            <a:avLst/>
          </a:prstGeom>
        </p:spPr>
        <p:txBody>
          <a:bodyPr wrap="square" lIns="0" tIns="12065" rIns="0" bIns="0" rtlCol="0" vert="horz">
            <a:spAutoFit/>
          </a:bodyPr>
          <a:lstStyle/>
          <a:p>
            <a:pPr marL="12700">
              <a:lnSpc>
                <a:spcPct val="100000"/>
              </a:lnSpc>
              <a:spcBef>
                <a:spcPts val="95"/>
              </a:spcBef>
            </a:pPr>
            <a:r>
              <a:rPr dirty="0" sz="2800">
                <a:latin typeface="微软雅黑"/>
                <a:cs typeface="微软雅黑"/>
              </a:rPr>
              <a:t>二</a:t>
            </a:r>
            <a:r>
              <a:rPr dirty="0" sz="2800" spc="-5">
                <a:latin typeface="微软雅黑"/>
                <a:cs typeface="微软雅黑"/>
              </a:rPr>
              <a:t>.</a:t>
            </a:r>
            <a:r>
              <a:rPr dirty="0" sz="2800">
                <a:latin typeface="微软雅黑"/>
                <a:cs typeface="微软雅黑"/>
              </a:rPr>
              <a:t>电磁波</a:t>
            </a:r>
            <a:r>
              <a:rPr dirty="0" sz="2800" spc="-5">
                <a:latin typeface="微软雅黑"/>
                <a:cs typeface="微软雅黑"/>
              </a:rPr>
              <a:t>谱</a:t>
            </a:r>
            <a:endParaRPr sz="2800">
              <a:latin typeface="微软雅黑"/>
              <a:cs typeface="微软雅黑"/>
            </a:endParaRPr>
          </a:p>
        </p:txBody>
      </p:sp>
      <p:sp>
        <p:nvSpPr>
          <p:cNvPr id="4" name="object 4"/>
          <p:cNvSpPr txBox="1"/>
          <p:nvPr/>
        </p:nvSpPr>
        <p:spPr>
          <a:xfrm>
            <a:off x="4966652" y="1318577"/>
            <a:ext cx="2158365" cy="451484"/>
          </a:xfrm>
          <a:prstGeom prst="rect">
            <a:avLst/>
          </a:prstGeom>
        </p:spPr>
        <p:txBody>
          <a:bodyPr wrap="square" lIns="0" tIns="12065" rIns="0" bIns="0" rtlCol="0" vert="horz">
            <a:spAutoFit/>
          </a:bodyPr>
          <a:lstStyle/>
          <a:p>
            <a:pPr marL="12700">
              <a:lnSpc>
                <a:spcPct val="100000"/>
              </a:lnSpc>
              <a:spcBef>
                <a:spcPts val="95"/>
              </a:spcBef>
            </a:pPr>
            <a:r>
              <a:rPr dirty="0" sz="2800" b="1" i="1">
                <a:solidFill>
                  <a:srgbClr val="001F5F"/>
                </a:solidFill>
                <a:latin typeface="微软雅黑"/>
                <a:cs typeface="微软雅黑"/>
              </a:rPr>
              <a:t>微波加热原</a:t>
            </a:r>
            <a:r>
              <a:rPr dirty="0" sz="2800" spc="-5" b="1" i="1">
                <a:solidFill>
                  <a:srgbClr val="001F5F"/>
                </a:solidFill>
                <a:latin typeface="微软雅黑"/>
                <a:cs typeface="微软雅黑"/>
              </a:rPr>
              <a:t>理</a:t>
            </a:r>
            <a:endParaRPr sz="2800">
              <a:latin typeface="微软雅黑"/>
              <a:cs typeface="微软雅黑"/>
            </a:endParaRPr>
          </a:p>
        </p:txBody>
      </p:sp>
      <p:sp>
        <p:nvSpPr>
          <p:cNvPr id="5" name="object 5"/>
          <p:cNvSpPr txBox="1">
            <a:spLocks noGrp="1"/>
          </p:cNvSpPr>
          <p:nvPr>
            <p:ph type="body" idx="1"/>
          </p:nvPr>
        </p:nvSpPr>
        <p:spPr>
          <a:prstGeom prst="rect"/>
        </p:spPr>
        <p:txBody>
          <a:bodyPr wrap="square" lIns="0" tIns="12700" rIns="0" bIns="0" rtlCol="0" vert="horz">
            <a:spAutoFit/>
          </a:bodyPr>
          <a:lstStyle/>
          <a:p>
            <a:pPr marL="12700" marR="5080" indent="388620">
              <a:lnSpc>
                <a:spcPct val="125000"/>
              </a:lnSpc>
              <a:spcBef>
                <a:spcPts val="100"/>
              </a:spcBef>
            </a:pPr>
            <a:r>
              <a:rPr dirty="0"/>
              <a:t>食物中有水分子。水分子是极性分子，加上电场后，水分子的取向由无序变有序。 若电场方向周期性变化，水分子将快速翻转。</a:t>
            </a:r>
          </a:p>
          <a:p>
            <a:pPr marL="12700" marR="146685" indent="360680">
              <a:lnSpc>
                <a:spcPct val="125000"/>
              </a:lnSpc>
            </a:pPr>
            <a:r>
              <a:rPr dirty="0" spc="35"/>
              <a:t>用微波（</a:t>
            </a:r>
            <a:r>
              <a:rPr dirty="0" spc="35">
                <a:latin typeface="Times New Roman"/>
                <a:cs typeface="Times New Roman"/>
              </a:rPr>
              <a:t>2450MH</a:t>
            </a:r>
            <a:r>
              <a:rPr dirty="0" spc="30">
                <a:latin typeface="Times New Roman"/>
                <a:cs typeface="Times New Roman"/>
              </a:rPr>
              <a:t>z</a:t>
            </a:r>
            <a:r>
              <a:rPr dirty="0" spc="35"/>
              <a:t>）加热食物时，</a:t>
            </a:r>
            <a:r>
              <a:rPr dirty="0" spc="35" b="1" i="1">
                <a:solidFill>
                  <a:srgbClr val="001F5F"/>
                </a:solidFill>
                <a:latin typeface="微软雅黑"/>
                <a:cs typeface="微软雅黑"/>
              </a:rPr>
              <a:t>微波能引</a:t>
            </a:r>
            <a:r>
              <a:rPr dirty="0" spc="40" b="1" i="1">
                <a:solidFill>
                  <a:srgbClr val="001F5F"/>
                </a:solidFill>
                <a:latin typeface="微软雅黑"/>
                <a:cs typeface="微软雅黑"/>
              </a:rPr>
              <a:t>起食物内水分子的共振</a:t>
            </a:r>
            <a:r>
              <a:rPr dirty="0" spc="40"/>
              <a:t>，水分子每</a:t>
            </a:r>
            <a:r>
              <a:rPr dirty="0"/>
              <a:t>秒 钟翻转</a:t>
            </a:r>
            <a:r>
              <a:rPr dirty="0">
                <a:latin typeface="Times New Roman"/>
                <a:cs typeface="Times New Roman"/>
              </a:rPr>
              <a:t>24.5</a:t>
            </a:r>
            <a:r>
              <a:rPr dirty="0"/>
              <a:t>亿次，分子热运动加剧、温度升高，实现食物的内外均匀加热。</a:t>
            </a:r>
          </a:p>
        </p:txBody>
      </p:sp>
      <p:sp>
        <p:nvSpPr>
          <p:cNvPr id="6" name="object 6"/>
          <p:cNvSpPr/>
          <p:nvPr/>
        </p:nvSpPr>
        <p:spPr>
          <a:xfrm>
            <a:off x="0" y="3680459"/>
            <a:ext cx="12192000" cy="2557272"/>
          </a:xfrm>
          <a:prstGeom prst="rect">
            <a:avLst/>
          </a:prstGeom>
          <a:blipFill>
            <a:blip r:embed="rId2" cstate="print"/>
            <a:stretch>
              <a:fillRect/>
            </a:stretch>
          </a:blipFill>
        </p:spPr>
        <p:txBody>
          <a:bodyPr wrap="square" lIns="0" tIns="0" rIns="0" bIns="0" rtlCol="0"/>
          <a:lstStyle/>
          <a:p/>
        </p:txBody>
      </p:sp>
      <p:sp>
        <p:nvSpPr>
          <p:cNvPr id="7" name="object 7"/>
          <p:cNvSpPr txBox="1"/>
          <p:nvPr/>
        </p:nvSpPr>
        <p:spPr>
          <a:xfrm>
            <a:off x="1276934" y="6283833"/>
            <a:ext cx="939800" cy="391160"/>
          </a:xfrm>
          <a:prstGeom prst="rect">
            <a:avLst/>
          </a:prstGeom>
        </p:spPr>
        <p:txBody>
          <a:bodyPr wrap="square" lIns="0" tIns="12700" rIns="0" bIns="0" rtlCol="0" vert="horz">
            <a:spAutoFit/>
          </a:bodyPr>
          <a:lstStyle/>
          <a:p>
            <a:pPr marL="12700">
              <a:lnSpc>
                <a:spcPct val="100000"/>
              </a:lnSpc>
              <a:spcBef>
                <a:spcPts val="100"/>
              </a:spcBef>
            </a:pPr>
            <a:r>
              <a:rPr dirty="0" sz="2400" b="1" i="1">
                <a:solidFill>
                  <a:srgbClr val="001F5F"/>
                </a:solidFill>
                <a:latin typeface="微软雅黑"/>
                <a:cs typeface="微软雅黑"/>
              </a:rPr>
              <a:t>无电场</a:t>
            </a:r>
            <a:endParaRPr sz="2400">
              <a:latin typeface="微软雅黑"/>
              <a:cs typeface="微软雅黑"/>
            </a:endParaRPr>
          </a:p>
        </p:txBody>
      </p:sp>
      <p:sp>
        <p:nvSpPr>
          <p:cNvPr id="8" name="object 8"/>
          <p:cNvSpPr txBox="1"/>
          <p:nvPr/>
        </p:nvSpPr>
        <p:spPr>
          <a:xfrm>
            <a:off x="4824679" y="6283833"/>
            <a:ext cx="1244600" cy="391160"/>
          </a:xfrm>
          <a:prstGeom prst="rect">
            <a:avLst/>
          </a:prstGeom>
        </p:spPr>
        <p:txBody>
          <a:bodyPr wrap="square" lIns="0" tIns="12700" rIns="0" bIns="0" rtlCol="0" vert="horz">
            <a:spAutoFit/>
          </a:bodyPr>
          <a:lstStyle/>
          <a:p>
            <a:pPr marL="12700">
              <a:lnSpc>
                <a:spcPct val="100000"/>
              </a:lnSpc>
              <a:spcBef>
                <a:spcPts val="100"/>
              </a:spcBef>
            </a:pPr>
            <a:r>
              <a:rPr dirty="0" sz="2400" b="1" i="1">
                <a:solidFill>
                  <a:srgbClr val="001F5F"/>
                </a:solidFill>
                <a:latin typeface="微软雅黑"/>
                <a:cs typeface="微软雅黑"/>
              </a:rPr>
              <a:t>电场向上</a:t>
            </a:r>
            <a:endParaRPr sz="2400">
              <a:latin typeface="微软雅黑"/>
              <a:cs typeface="微软雅黑"/>
            </a:endParaRPr>
          </a:p>
        </p:txBody>
      </p:sp>
      <p:sp>
        <p:nvSpPr>
          <p:cNvPr id="9" name="object 9"/>
          <p:cNvSpPr txBox="1"/>
          <p:nvPr/>
        </p:nvSpPr>
        <p:spPr>
          <a:xfrm>
            <a:off x="9766884" y="6283833"/>
            <a:ext cx="1244600" cy="391160"/>
          </a:xfrm>
          <a:prstGeom prst="rect">
            <a:avLst/>
          </a:prstGeom>
        </p:spPr>
        <p:txBody>
          <a:bodyPr wrap="square" lIns="0" tIns="12700" rIns="0" bIns="0" rtlCol="0" vert="horz">
            <a:spAutoFit/>
          </a:bodyPr>
          <a:lstStyle/>
          <a:p>
            <a:pPr marL="12700">
              <a:lnSpc>
                <a:spcPct val="100000"/>
              </a:lnSpc>
              <a:spcBef>
                <a:spcPts val="100"/>
              </a:spcBef>
            </a:pPr>
            <a:r>
              <a:rPr dirty="0" sz="2400" b="1" i="1">
                <a:solidFill>
                  <a:srgbClr val="001F5F"/>
                </a:solidFill>
                <a:latin typeface="微软雅黑"/>
                <a:cs typeface="微软雅黑"/>
              </a:rPr>
              <a:t>电场向下</a:t>
            </a:r>
            <a:endParaRPr sz="2400">
              <a:latin typeface="微软雅黑"/>
              <a:cs typeface="微软雅黑"/>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1840" y="0"/>
            <a:ext cx="2058670" cy="634365"/>
          </a:xfrm>
          <a:prstGeom prst="rect"/>
        </p:spPr>
        <p:txBody>
          <a:bodyPr wrap="square" lIns="0" tIns="12065" rIns="0" bIns="0" rtlCol="0" vert="horz">
            <a:spAutoFit/>
          </a:bodyPr>
          <a:lstStyle/>
          <a:p>
            <a:pPr marL="12700">
              <a:lnSpc>
                <a:spcPct val="100000"/>
              </a:lnSpc>
              <a:spcBef>
                <a:spcPts val="95"/>
              </a:spcBef>
            </a:pPr>
            <a:r>
              <a:rPr dirty="0" sz="4000" i="0">
                <a:solidFill>
                  <a:srgbClr val="F1F1F1"/>
                </a:solidFill>
                <a:latin typeface="华文楷体"/>
                <a:cs typeface="华文楷体"/>
              </a:rPr>
              <a:t>高中物</a:t>
            </a:r>
            <a:r>
              <a:rPr dirty="0" sz="4000" spc="-10" i="0">
                <a:solidFill>
                  <a:srgbClr val="F1F1F1"/>
                </a:solidFill>
                <a:latin typeface="华文楷体"/>
                <a:cs typeface="华文楷体"/>
              </a:rPr>
              <a:t>理</a:t>
            </a:r>
            <a:endParaRPr sz="4000">
              <a:latin typeface="华文楷体"/>
              <a:cs typeface="华文楷体"/>
            </a:endParaRPr>
          </a:p>
        </p:txBody>
      </p:sp>
      <p:sp>
        <p:nvSpPr>
          <p:cNvPr id="3" name="object 3"/>
          <p:cNvSpPr/>
          <p:nvPr/>
        </p:nvSpPr>
        <p:spPr>
          <a:xfrm>
            <a:off x="720851" y="4114800"/>
            <a:ext cx="2948940" cy="2159508"/>
          </a:xfrm>
          <a:prstGeom prst="rect">
            <a:avLst/>
          </a:prstGeom>
          <a:blipFill>
            <a:blip r:embed="rId2" cstate="print"/>
            <a:stretch>
              <a:fillRect/>
            </a:stretch>
          </a:blipFill>
        </p:spPr>
        <p:txBody>
          <a:bodyPr wrap="square" lIns="0" tIns="0" rIns="0" bIns="0" rtlCol="0"/>
          <a:lstStyle/>
          <a:p/>
        </p:txBody>
      </p:sp>
      <p:sp>
        <p:nvSpPr>
          <p:cNvPr id="4" name="object 4"/>
          <p:cNvSpPr/>
          <p:nvPr/>
        </p:nvSpPr>
        <p:spPr>
          <a:xfrm>
            <a:off x="4082796" y="4099559"/>
            <a:ext cx="5190744" cy="2159508"/>
          </a:xfrm>
          <a:prstGeom prst="rect">
            <a:avLst/>
          </a:prstGeom>
          <a:blipFill>
            <a:blip r:embed="rId3" cstate="print"/>
            <a:stretch>
              <a:fillRect/>
            </a:stretch>
          </a:blipFill>
        </p:spPr>
        <p:txBody>
          <a:bodyPr wrap="square" lIns="0" tIns="0" rIns="0" bIns="0" rtlCol="0"/>
          <a:lstStyle/>
          <a:p/>
        </p:txBody>
      </p:sp>
      <p:sp>
        <p:nvSpPr>
          <p:cNvPr id="5" name="object 5"/>
          <p:cNvSpPr txBox="1"/>
          <p:nvPr/>
        </p:nvSpPr>
        <p:spPr>
          <a:xfrm>
            <a:off x="424815" y="919785"/>
            <a:ext cx="11740515" cy="5834380"/>
          </a:xfrm>
          <a:prstGeom prst="rect">
            <a:avLst/>
          </a:prstGeom>
        </p:spPr>
        <p:txBody>
          <a:bodyPr wrap="square" lIns="0" tIns="58419" rIns="0" bIns="0" rtlCol="0" vert="horz">
            <a:spAutoFit/>
          </a:bodyPr>
          <a:lstStyle/>
          <a:p>
            <a:pPr marL="80645">
              <a:lnSpc>
                <a:spcPct val="100000"/>
              </a:lnSpc>
              <a:spcBef>
                <a:spcPts val="459"/>
              </a:spcBef>
            </a:pPr>
            <a:r>
              <a:rPr dirty="0" sz="2800">
                <a:latin typeface="微软雅黑"/>
                <a:cs typeface="微软雅黑"/>
              </a:rPr>
              <a:t>二</a:t>
            </a:r>
            <a:r>
              <a:rPr dirty="0" sz="2800" spc="-5">
                <a:latin typeface="微软雅黑"/>
                <a:cs typeface="微软雅黑"/>
              </a:rPr>
              <a:t>.</a:t>
            </a:r>
            <a:r>
              <a:rPr dirty="0" sz="2800">
                <a:latin typeface="微软雅黑"/>
                <a:cs typeface="微软雅黑"/>
              </a:rPr>
              <a:t>电磁波</a:t>
            </a:r>
            <a:r>
              <a:rPr dirty="0" sz="2800" spc="-5">
                <a:latin typeface="微软雅黑"/>
                <a:cs typeface="微软雅黑"/>
              </a:rPr>
              <a:t>谱</a:t>
            </a:r>
            <a:endParaRPr sz="2800">
              <a:latin typeface="微软雅黑"/>
              <a:cs typeface="微软雅黑"/>
            </a:endParaRPr>
          </a:p>
          <a:p>
            <a:pPr marL="12700">
              <a:lnSpc>
                <a:spcPct val="100000"/>
              </a:lnSpc>
              <a:spcBef>
                <a:spcPts val="310"/>
              </a:spcBef>
            </a:pPr>
            <a:r>
              <a:rPr dirty="0" sz="2400" spc="-5">
                <a:latin typeface="微软雅黑"/>
                <a:cs typeface="微软雅黑"/>
              </a:rPr>
              <a:t>2.</a:t>
            </a:r>
            <a:r>
              <a:rPr dirty="0" sz="2400">
                <a:latin typeface="微软雅黑"/>
                <a:cs typeface="微软雅黑"/>
              </a:rPr>
              <a:t>红外线</a:t>
            </a:r>
            <a:endParaRPr sz="2400">
              <a:latin typeface="微软雅黑"/>
              <a:cs typeface="微软雅黑"/>
            </a:endParaRPr>
          </a:p>
          <a:p>
            <a:pPr marL="12700" marR="259079" indent="460375">
              <a:lnSpc>
                <a:spcPct val="100000"/>
              </a:lnSpc>
              <a:spcBef>
                <a:spcPts val="130"/>
              </a:spcBef>
            </a:pPr>
            <a:r>
              <a:rPr dirty="0" sz="2200">
                <a:latin typeface="微软雅黑"/>
                <a:cs typeface="微软雅黑"/>
              </a:rPr>
              <a:t>红外线的波长范围很宽，约为</a:t>
            </a:r>
            <a:r>
              <a:rPr dirty="0" sz="2200" spc="-5">
                <a:latin typeface="Times New Roman"/>
                <a:cs typeface="Times New Roman"/>
              </a:rPr>
              <a:t>770nm~1mm</a:t>
            </a:r>
            <a:r>
              <a:rPr dirty="0" sz="2200">
                <a:latin typeface="微软雅黑"/>
                <a:cs typeface="微软雅黑"/>
              </a:rPr>
              <a:t>。一切物体都在辐射红外线。物体的温度越高</a:t>
            </a:r>
            <a:r>
              <a:rPr dirty="0" sz="2200" spc="-5">
                <a:latin typeface="微软雅黑"/>
                <a:cs typeface="微软雅黑"/>
              </a:rPr>
              <a:t>， </a:t>
            </a:r>
            <a:r>
              <a:rPr dirty="0" sz="2200">
                <a:latin typeface="微软雅黑"/>
                <a:cs typeface="微软雅黑"/>
              </a:rPr>
              <a:t>它辐射的红外线越强、波长越短</a:t>
            </a:r>
            <a:r>
              <a:rPr dirty="0" sz="2200" spc="-5">
                <a:latin typeface="微软雅黑"/>
                <a:cs typeface="微软雅黑"/>
              </a:rPr>
              <a:t>。</a:t>
            </a:r>
            <a:endParaRPr sz="2200">
              <a:latin typeface="微软雅黑"/>
              <a:cs typeface="微软雅黑"/>
            </a:endParaRPr>
          </a:p>
          <a:p>
            <a:pPr marL="431800">
              <a:lnSpc>
                <a:spcPct val="100000"/>
              </a:lnSpc>
              <a:spcBef>
                <a:spcPts val="600"/>
              </a:spcBef>
            </a:pPr>
            <a:r>
              <a:rPr dirty="0" sz="2200">
                <a:latin typeface="微软雅黑"/>
                <a:cs typeface="微软雅黑"/>
              </a:rPr>
              <a:t>红外线具有明显的</a:t>
            </a:r>
            <a:r>
              <a:rPr dirty="0" sz="2200" b="1" i="1">
                <a:solidFill>
                  <a:srgbClr val="001F5F"/>
                </a:solidFill>
                <a:latin typeface="微软雅黑"/>
                <a:cs typeface="微软雅黑"/>
              </a:rPr>
              <a:t>热效应</a:t>
            </a:r>
            <a:r>
              <a:rPr dirty="0" sz="2200">
                <a:latin typeface="微软雅黑"/>
                <a:cs typeface="微软雅黑"/>
              </a:rPr>
              <a:t>，可以用于加热</a:t>
            </a:r>
            <a:r>
              <a:rPr dirty="0" sz="2200" spc="-5">
                <a:latin typeface="微软雅黑"/>
                <a:cs typeface="微软雅黑"/>
              </a:rPr>
              <a:t>。</a:t>
            </a:r>
            <a:endParaRPr sz="2200">
              <a:latin typeface="微软雅黑"/>
              <a:cs typeface="微软雅黑"/>
            </a:endParaRPr>
          </a:p>
          <a:p>
            <a:pPr marL="431800" marR="404495">
              <a:lnSpc>
                <a:spcPct val="122700"/>
              </a:lnSpc>
            </a:pPr>
            <a:r>
              <a:rPr dirty="0" sz="2200">
                <a:latin typeface="微软雅黑"/>
                <a:cs typeface="微软雅黑"/>
              </a:rPr>
              <a:t>红外探测器能在较冷背景上探测出较热物体的红外线，这是</a:t>
            </a:r>
            <a:r>
              <a:rPr dirty="0" sz="2200" b="1" i="1">
                <a:solidFill>
                  <a:srgbClr val="001F5F"/>
                </a:solidFill>
                <a:latin typeface="微软雅黑"/>
                <a:cs typeface="微软雅黑"/>
              </a:rPr>
              <a:t>红外摄影</a:t>
            </a:r>
            <a:r>
              <a:rPr dirty="0" sz="2200">
                <a:latin typeface="微软雅黑"/>
                <a:cs typeface="微软雅黑"/>
              </a:rPr>
              <a:t>和</a:t>
            </a:r>
            <a:r>
              <a:rPr dirty="0" sz="2200" b="1" i="1">
                <a:solidFill>
                  <a:srgbClr val="001F5F"/>
                </a:solidFill>
                <a:latin typeface="微软雅黑"/>
                <a:cs typeface="微软雅黑"/>
              </a:rPr>
              <a:t>夜视仪器</a:t>
            </a:r>
            <a:r>
              <a:rPr dirty="0" sz="2200">
                <a:latin typeface="微软雅黑"/>
                <a:cs typeface="微软雅黑"/>
              </a:rPr>
              <a:t>的基础</a:t>
            </a:r>
            <a:r>
              <a:rPr dirty="0" sz="2200" spc="-5">
                <a:latin typeface="微软雅黑"/>
                <a:cs typeface="微软雅黑"/>
              </a:rPr>
              <a:t>。 </a:t>
            </a:r>
            <a:r>
              <a:rPr dirty="0" sz="2200" spc="45">
                <a:latin typeface="微软雅黑"/>
                <a:cs typeface="微软雅黑"/>
              </a:rPr>
              <a:t>红外线的波长较长，以用于</a:t>
            </a:r>
            <a:r>
              <a:rPr dirty="0" sz="2200" spc="45" b="1" i="1">
                <a:solidFill>
                  <a:srgbClr val="001F5F"/>
                </a:solidFill>
                <a:latin typeface="微软雅黑"/>
                <a:cs typeface="微软雅黑"/>
              </a:rPr>
              <a:t>遥控</a:t>
            </a:r>
            <a:r>
              <a:rPr dirty="0" sz="2200" spc="45">
                <a:latin typeface="微软雅黑"/>
                <a:cs typeface="微软雅黑"/>
              </a:rPr>
              <a:t>和</a:t>
            </a:r>
            <a:r>
              <a:rPr dirty="0" sz="2200" spc="45" b="1" i="1">
                <a:solidFill>
                  <a:srgbClr val="001F5F"/>
                </a:solidFill>
                <a:latin typeface="微软雅黑"/>
                <a:cs typeface="微软雅黑"/>
              </a:rPr>
              <a:t>遥感</a:t>
            </a:r>
            <a:r>
              <a:rPr dirty="0" sz="2200" spc="45">
                <a:latin typeface="微软雅黑"/>
                <a:cs typeface="微软雅黑"/>
              </a:rPr>
              <a:t>。红外遥感技术在军事、</a:t>
            </a:r>
            <a:r>
              <a:rPr dirty="0" sz="2200" spc="50">
                <a:latin typeface="微软雅黑"/>
                <a:cs typeface="微软雅黑"/>
              </a:rPr>
              <a:t>地热勘探、寻找水源</a:t>
            </a:r>
            <a:r>
              <a:rPr dirty="0" sz="2200" spc="-5">
                <a:latin typeface="微软雅黑"/>
                <a:cs typeface="微软雅黑"/>
              </a:rPr>
              <a:t>、</a:t>
            </a:r>
            <a:endParaRPr sz="2200">
              <a:latin typeface="微软雅黑"/>
              <a:cs typeface="微软雅黑"/>
            </a:endParaRPr>
          </a:p>
          <a:p>
            <a:pPr marL="12700">
              <a:lnSpc>
                <a:spcPct val="100000"/>
              </a:lnSpc>
            </a:pPr>
            <a:r>
              <a:rPr dirty="0" sz="2200">
                <a:latin typeface="微软雅黑"/>
                <a:cs typeface="微软雅黑"/>
              </a:rPr>
              <a:t>火情监测、气象服务等方面有广泛应用</a:t>
            </a:r>
            <a:r>
              <a:rPr dirty="0" sz="2200" spc="-5">
                <a:latin typeface="微软雅黑"/>
                <a:cs typeface="微软雅黑"/>
              </a:rPr>
              <a:t>。</a:t>
            </a:r>
            <a:endParaRPr sz="2200">
              <a:latin typeface="微软雅黑"/>
              <a:cs typeface="微软雅黑"/>
            </a:endParaRPr>
          </a:p>
          <a:p>
            <a:pPr marL="8983980">
              <a:lnSpc>
                <a:spcPct val="100000"/>
              </a:lnSpc>
              <a:spcBef>
                <a:spcPts val="1675"/>
              </a:spcBef>
            </a:pPr>
            <a:r>
              <a:rPr dirty="0" sz="2400" b="1" i="1">
                <a:solidFill>
                  <a:srgbClr val="001F5F"/>
                </a:solidFill>
                <a:latin typeface="微软雅黑"/>
                <a:cs typeface="微软雅黑"/>
              </a:rPr>
              <a:t>说明：</a:t>
            </a:r>
            <a:endParaRPr sz="2400">
              <a:latin typeface="微软雅黑"/>
              <a:cs typeface="微软雅黑"/>
            </a:endParaRPr>
          </a:p>
          <a:p>
            <a:pPr marL="8983980" marR="5080" indent="363220">
              <a:lnSpc>
                <a:spcPct val="100000"/>
              </a:lnSpc>
            </a:pPr>
            <a:r>
              <a:rPr dirty="0" sz="2400" spc="409" b="1" i="1">
                <a:solidFill>
                  <a:srgbClr val="001F5F"/>
                </a:solidFill>
                <a:latin typeface="微软雅黑"/>
                <a:cs typeface="微软雅黑"/>
              </a:rPr>
              <a:t>标成</a:t>
            </a:r>
            <a:r>
              <a:rPr dirty="0" sz="2400" spc="415" b="1" i="1">
                <a:solidFill>
                  <a:srgbClr val="001F5F"/>
                </a:solidFill>
                <a:latin typeface="微软雅黑"/>
                <a:cs typeface="微软雅黑"/>
              </a:rPr>
              <a:t>红色和</a:t>
            </a:r>
            <a:r>
              <a:rPr dirty="0" sz="2400" b="1" i="1">
                <a:solidFill>
                  <a:srgbClr val="001F5F"/>
                </a:solidFill>
                <a:latin typeface="微软雅黑"/>
                <a:cs typeface="微软雅黑"/>
              </a:rPr>
              <a:t>白 色的区域辐射最强， </a:t>
            </a:r>
            <a:r>
              <a:rPr dirty="0" sz="2400" spc="15" b="1" i="1">
                <a:solidFill>
                  <a:srgbClr val="001F5F"/>
                </a:solidFill>
                <a:latin typeface="微软雅黑"/>
                <a:cs typeface="微软雅黑"/>
              </a:rPr>
              <a:t>标成蓝</a:t>
            </a:r>
            <a:r>
              <a:rPr dirty="0" sz="2400" spc="20" b="1" i="1">
                <a:solidFill>
                  <a:srgbClr val="001F5F"/>
                </a:solidFill>
                <a:latin typeface="微软雅黑"/>
                <a:cs typeface="微软雅黑"/>
              </a:rPr>
              <a:t>色的区域</a:t>
            </a:r>
            <a:r>
              <a:rPr dirty="0" sz="2400" b="1" i="1">
                <a:solidFill>
                  <a:srgbClr val="001F5F"/>
                </a:solidFill>
                <a:latin typeface="微软雅黑"/>
                <a:cs typeface="微软雅黑"/>
              </a:rPr>
              <a:t>辐 射最弱。</a:t>
            </a:r>
            <a:endParaRPr sz="2400">
              <a:latin typeface="微软雅黑"/>
              <a:cs typeface="微软雅黑"/>
            </a:endParaRPr>
          </a:p>
          <a:p>
            <a:pPr marL="753745">
              <a:lnSpc>
                <a:spcPct val="100000"/>
              </a:lnSpc>
              <a:spcBef>
                <a:spcPts val="2105"/>
              </a:spcBef>
              <a:tabLst>
                <a:tab pos="4885055" algn="l"/>
              </a:tabLst>
            </a:pPr>
            <a:r>
              <a:rPr dirty="0" sz="2400" b="1" i="1">
                <a:solidFill>
                  <a:srgbClr val="001F5F"/>
                </a:solidFill>
                <a:latin typeface="微软雅黑"/>
                <a:cs typeface="微软雅黑"/>
              </a:rPr>
              <a:t>人体红外温谱图	红外卫星遥感照片</a:t>
            </a:r>
            <a:endParaRPr sz="2400">
              <a:latin typeface="微软雅黑"/>
              <a:cs typeface="微软雅黑"/>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1840" y="0"/>
            <a:ext cx="2058670" cy="634365"/>
          </a:xfrm>
          <a:prstGeom prst="rect"/>
        </p:spPr>
        <p:txBody>
          <a:bodyPr wrap="square" lIns="0" tIns="12065" rIns="0" bIns="0" rtlCol="0" vert="horz">
            <a:spAutoFit/>
          </a:bodyPr>
          <a:lstStyle/>
          <a:p>
            <a:pPr marL="12700">
              <a:lnSpc>
                <a:spcPct val="100000"/>
              </a:lnSpc>
              <a:spcBef>
                <a:spcPts val="95"/>
              </a:spcBef>
            </a:pPr>
            <a:r>
              <a:rPr dirty="0" sz="4000" i="0">
                <a:solidFill>
                  <a:srgbClr val="F1F1F1"/>
                </a:solidFill>
                <a:latin typeface="华文楷体"/>
                <a:cs typeface="华文楷体"/>
              </a:rPr>
              <a:t>高中物</a:t>
            </a:r>
            <a:r>
              <a:rPr dirty="0" sz="4000" spc="-10" i="0">
                <a:solidFill>
                  <a:srgbClr val="F1F1F1"/>
                </a:solidFill>
                <a:latin typeface="华文楷体"/>
                <a:cs typeface="华文楷体"/>
              </a:rPr>
              <a:t>理</a:t>
            </a:r>
            <a:endParaRPr sz="4000">
              <a:latin typeface="华文楷体"/>
              <a:cs typeface="华文楷体"/>
            </a:endParaRPr>
          </a:p>
        </p:txBody>
      </p:sp>
      <p:sp>
        <p:nvSpPr>
          <p:cNvPr id="3" name="object 3"/>
          <p:cNvSpPr/>
          <p:nvPr/>
        </p:nvSpPr>
        <p:spPr>
          <a:xfrm>
            <a:off x="4707635" y="1839467"/>
            <a:ext cx="7484363" cy="5018532"/>
          </a:xfrm>
          <a:prstGeom prst="rect">
            <a:avLst/>
          </a:prstGeom>
          <a:blipFill>
            <a:blip r:embed="rId2" cstate="print"/>
            <a:stretch>
              <a:fillRect/>
            </a:stretch>
          </a:blipFill>
        </p:spPr>
        <p:txBody>
          <a:bodyPr wrap="square" lIns="0" tIns="0" rIns="0" bIns="0" rtlCol="0"/>
          <a:lstStyle/>
          <a:p/>
        </p:txBody>
      </p:sp>
      <p:sp>
        <p:nvSpPr>
          <p:cNvPr id="4" name="object 4"/>
          <p:cNvSpPr txBox="1"/>
          <p:nvPr/>
        </p:nvSpPr>
        <p:spPr>
          <a:xfrm>
            <a:off x="283527" y="1028700"/>
            <a:ext cx="11524615" cy="5311140"/>
          </a:xfrm>
          <a:prstGeom prst="rect">
            <a:avLst/>
          </a:prstGeom>
        </p:spPr>
        <p:txBody>
          <a:bodyPr wrap="square" lIns="0" tIns="12700" rIns="0" bIns="0" rtlCol="0" vert="horz">
            <a:spAutoFit/>
          </a:bodyPr>
          <a:lstStyle/>
          <a:p>
            <a:pPr algn="just" marL="12700" marR="5080" indent="304800">
              <a:lnSpc>
                <a:spcPct val="100000"/>
              </a:lnSpc>
              <a:spcBef>
                <a:spcPts val="100"/>
              </a:spcBef>
            </a:pPr>
            <a:r>
              <a:rPr dirty="0" sz="2400" spc="45" b="1" i="1">
                <a:solidFill>
                  <a:srgbClr val="001F5F"/>
                </a:solidFill>
                <a:latin typeface="微软雅黑"/>
                <a:cs typeface="微软雅黑"/>
              </a:rPr>
              <a:t>卫</a:t>
            </a:r>
            <a:r>
              <a:rPr dirty="0" sz="2400" spc="50" b="1" i="1">
                <a:solidFill>
                  <a:srgbClr val="001F5F"/>
                </a:solidFill>
                <a:latin typeface="微软雅黑"/>
                <a:cs typeface="微软雅黑"/>
              </a:rPr>
              <a:t>星云图</a:t>
            </a:r>
            <a:r>
              <a:rPr dirty="0" sz="2400" spc="50">
                <a:latin typeface="微软雅黑"/>
                <a:cs typeface="微软雅黑"/>
              </a:rPr>
              <a:t>是由气象卫星拍摄到的反映地球上空云层覆盖情况和地表面特征的图像</a:t>
            </a:r>
            <a:r>
              <a:rPr dirty="0" sz="2400">
                <a:latin typeface="微软雅黑"/>
                <a:cs typeface="微软雅黑"/>
              </a:rPr>
              <a:t>。 </a:t>
            </a:r>
            <a:r>
              <a:rPr dirty="0" sz="2400" spc="45">
                <a:latin typeface="微软雅黑"/>
                <a:cs typeface="微软雅黑"/>
              </a:rPr>
              <a:t>利用卫星云图可以识别不</a:t>
            </a:r>
            <a:r>
              <a:rPr dirty="0" sz="2400" spc="50">
                <a:latin typeface="微软雅黑"/>
                <a:cs typeface="微软雅黑"/>
              </a:rPr>
              <a:t>同的天气系统，确定它们的位置，估计其强度和发展趋势</a:t>
            </a:r>
            <a:r>
              <a:rPr dirty="0" sz="2400">
                <a:latin typeface="微软雅黑"/>
                <a:cs typeface="微软雅黑"/>
              </a:rPr>
              <a:t>， 为天气预报提供依据。</a:t>
            </a:r>
            <a:endParaRPr sz="2400">
              <a:latin typeface="微软雅黑"/>
              <a:cs typeface="微软雅黑"/>
            </a:endParaRPr>
          </a:p>
          <a:p>
            <a:pPr algn="just" marL="39370" marR="7162800" indent="304800">
              <a:lnSpc>
                <a:spcPct val="100000"/>
              </a:lnSpc>
              <a:spcBef>
                <a:spcPts val="95"/>
              </a:spcBef>
            </a:pPr>
            <a:r>
              <a:rPr dirty="0" sz="2400" spc="30">
                <a:latin typeface="微软雅黑"/>
                <a:cs typeface="微软雅黑"/>
              </a:rPr>
              <a:t>若某地上空为晴空区，</a:t>
            </a:r>
            <a:r>
              <a:rPr dirty="0" sz="2400" spc="35">
                <a:latin typeface="微软雅黑"/>
                <a:cs typeface="微软雅黑"/>
              </a:rPr>
              <a:t>卫星</a:t>
            </a:r>
            <a:r>
              <a:rPr dirty="0" sz="2400">
                <a:latin typeface="微软雅黑"/>
                <a:cs typeface="微软雅黑"/>
              </a:rPr>
              <a:t>探 </a:t>
            </a:r>
            <a:r>
              <a:rPr dirty="0" sz="2400" spc="25">
                <a:latin typeface="微软雅黑"/>
                <a:cs typeface="微软雅黑"/>
              </a:rPr>
              <a:t>测的是地</a:t>
            </a:r>
            <a:r>
              <a:rPr dirty="0" sz="2400" spc="30">
                <a:latin typeface="微软雅黑"/>
                <a:cs typeface="微软雅黑"/>
              </a:rPr>
              <a:t>面辐射的红外线，表</a:t>
            </a:r>
            <a:r>
              <a:rPr dirty="0" sz="2400">
                <a:latin typeface="微软雅黑"/>
                <a:cs typeface="微软雅黑"/>
              </a:rPr>
              <a:t>现 </a:t>
            </a:r>
            <a:r>
              <a:rPr dirty="0" sz="2400" spc="25">
                <a:latin typeface="微软雅黑"/>
                <a:cs typeface="微软雅黑"/>
              </a:rPr>
              <a:t>为黑灰色</a:t>
            </a:r>
            <a:r>
              <a:rPr dirty="0" sz="2400" spc="30">
                <a:latin typeface="微软雅黑"/>
                <a:cs typeface="微软雅黑"/>
              </a:rPr>
              <a:t>；黑色越深，表示地</a:t>
            </a:r>
            <a:r>
              <a:rPr dirty="0" sz="2400">
                <a:latin typeface="微软雅黑"/>
                <a:cs typeface="微软雅黑"/>
              </a:rPr>
              <a:t>面 辐射越强，天气越晴好。</a:t>
            </a:r>
            <a:endParaRPr sz="2400">
              <a:latin typeface="微软雅黑"/>
              <a:cs typeface="微软雅黑"/>
            </a:endParaRPr>
          </a:p>
          <a:p>
            <a:pPr algn="just" marL="39370" marR="7162800" indent="304800">
              <a:lnSpc>
                <a:spcPct val="100000"/>
              </a:lnSpc>
              <a:spcBef>
                <a:spcPts val="600"/>
              </a:spcBef>
            </a:pPr>
            <a:r>
              <a:rPr dirty="0" sz="2400" spc="30">
                <a:latin typeface="微软雅黑"/>
                <a:cs typeface="微软雅黑"/>
              </a:rPr>
              <a:t>若某地上空有云雨覆盖</a:t>
            </a:r>
            <a:r>
              <a:rPr dirty="0" sz="2400" spc="35">
                <a:latin typeface="微软雅黑"/>
                <a:cs typeface="微软雅黑"/>
              </a:rPr>
              <a:t>，卫</a:t>
            </a:r>
            <a:r>
              <a:rPr dirty="0" sz="2400">
                <a:latin typeface="微软雅黑"/>
                <a:cs typeface="微软雅黑"/>
              </a:rPr>
              <a:t>星 </a:t>
            </a:r>
            <a:r>
              <a:rPr dirty="0" sz="2400" spc="25">
                <a:latin typeface="微软雅黑"/>
                <a:cs typeface="微软雅黑"/>
              </a:rPr>
              <a:t>探测的是</a:t>
            </a:r>
            <a:r>
              <a:rPr dirty="0" sz="2400" spc="30">
                <a:latin typeface="微软雅黑"/>
                <a:cs typeface="微软雅黑"/>
              </a:rPr>
              <a:t>云层顶部向太空辐射</a:t>
            </a:r>
            <a:r>
              <a:rPr dirty="0" sz="2400">
                <a:latin typeface="微软雅黑"/>
                <a:cs typeface="微软雅黑"/>
              </a:rPr>
              <a:t>的 </a:t>
            </a:r>
            <a:r>
              <a:rPr dirty="0" sz="2400" spc="25">
                <a:latin typeface="微软雅黑"/>
                <a:cs typeface="微软雅黑"/>
              </a:rPr>
              <a:t>红外线，</a:t>
            </a:r>
            <a:r>
              <a:rPr dirty="0" sz="2400" spc="30">
                <a:latin typeface="微软雅黑"/>
                <a:cs typeface="微软雅黑"/>
              </a:rPr>
              <a:t>表现为白色或灰白色</a:t>
            </a:r>
            <a:r>
              <a:rPr dirty="0" sz="2400">
                <a:latin typeface="微软雅黑"/>
                <a:cs typeface="微软雅黑"/>
              </a:rPr>
              <a:t>； </a:t>
            </a:r>
            <a:r>
              <a:rPr dirty="0" sz="2400" spc="25">
                <a:latin typeface="微软雅黑"/>
                <a:cs typeface="微软雅黑"/>
              </a:rPr>
              <a:t>颜色越白</a:t>
            </a:r>
            <a:r>
              <a:rPr dirty="0" sz="2400" spc="30">
                <a:latin typeface="微软雅黑"/>
                <a:cs typeface="微软雅黑"/>
              </a:rPr>
              <a:t>，表示地面辐射越弱</a:t>
            </a:r>
            <a:r>
              <a:rPr dirty="0" sz="2400">
                <a:latin typeface="微软雅黑"/>
                <a:cs typeface="微软雅黑"/>
              </a:rPr>
              <a:t>， 云系越密实，降雨强度越大。</a:t>
            </a:r>
            <a:endParaRPr sz="2400">
              <a:latin typeface="微软雅黑"/>
              <a:cs typeface="微软雅黑"/>
            </a:endParaRPr>
          </a:p>
          <a:p>
            <a:pPr algn="just" marL="39370" marR="7162800" indent="304800">
              <a:lnSpc>
                <a:spcPct val="100000"/>
              </a:lnSpc>
              <a:spcBef>
                <a:spcPts val="600"/>
              </a:spcBef>
            </a:pPr>
            <a:r>
              <a:rPr dirty="0" sz="2400" spc="30">
                <a:latin typeface="微软雅黑"/>
                <a:cs typeface="微软雅黑"/>
              </a:rPr>
              <a:t>晴空区与云雨区间的过</a:t>
            </a:r>
            <a:r>
              <a:rPr dirty="0" sz="2400" spc="35">
                <a:latin typeface="微软雅黑"/>
                <a:cs typeface="微软雅黑"/>
              </a:rPr>
              <a:t>渡区</a:t>
            </a:r>
            <a:r>
              <a:rPr dirty="0" sz="2400">
                <a:latin typeface="微软雅黑"/>
                <a:cs typeface="微软雅黑"/>
              </a:rPr>
              <a:t>， 有不同厚度的云而无明显降水。</a:t>
            </a:r>
            <a:endParaRPr sz="2400">
              <a:latin typeface="微软雅黑"/>
              <a:cs typeface="微软雅黑"/>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1840" y="0"/>
            <a:ext cx="2058670" cy="634365"/>
          </a:xfrm>
          <a:prstGeom prst="rect"/>
        </p:spPr>
        <p:txBody>
          <a:bodyPr wrap="square" lIns="0" tIns="12065" rIns="0" bIns="0" rtlCol="0" vert="horz">
            <a:spAutoFit/>
          </a:bodyPr>
          <a:lstStyle/>
          <a:p>
            <a:pPr marL="12700">
              <a:lnSpc>
                <a:spcPct val="100000"/>
              </a:lnSpc>
              <a:spcBef>
                <a:spcPts val="95"/>
              </a:spcBef>
            </a:pPr>
            <a:r>
              <a:rPr dirty="0" sz="4000" i="0">
                <a:solidFill>
                  <a:srgbClr val="F1F1F1"/>
                </a:solidFill>
                <a:latin typeface="华文楷体"/>
                <a:cs typeface="华文楷体"/>
              </a:rPr>
              <a:t>高中物</a:t>
            </a:r>
            <a:r>
              <a:rPr dirty="0" sz="4000" spc="-10" i="0">
                <a:solidFill>
                  <a:srgbClr val="F1F1F1"/>
                </a:solidFill>
                <a:latin typeface="华文楷体"/>
                <a:cs typeface="华文楷体"/>
              </a:rPr>
              <a:t>理</a:t>
            </a:r>
            <a:endParaRPr sz="4000">
              <a:latin typeface="华文楷体"/>
              <a:cs typeface="华文楷体"/>
            </a:endParaRPr>
          </a:p>
        </p:txBody>
      </p:sp>
      <p:sp>
        <p:nvSpPr>
          <p:cNvPr id="3" name="object 3"/>
          <p:cNvSpPr txBox="1"/>
          <p:nvPr/>
        </p:nvSpPr>
        <p:spPr>
          <a:xfrm>
            <a:off x="493077" y="934270"/>
            <a:ext cx="10743565" cy="1567180"/>
          </a:xfrm>
          <a:prstGeom prst="rect">
            <a:avLst/>
          </a:prstGeom>
        </p:spPr>
        <p:txBody>
          <a:bodyPr wrap="square" lIns="0" tIns="168910" rIns="0" bIns="0" rtlCol="0" vert="horz">
            <a:spAutoFit/>
          </a:bodyPr>
          <a:lstStyle/>
          <a:p>
            <a:pPr marL="12700">
              <a:lnSpc>
                <a:spcPct val="100000"/>
              </a:lnSpc>
              <a:spcBef>
                <a:spcPts val="1330"/>
              </a:spcBef>
            </a:pPr>
            <a:r>
              <a:rPr dirty="0" sz="2800">
                <a:latin typeface="微软雅黑"/>
                <a:cs typeface="微软雅黑"/>
              </a:rPr>
              <a:t>二</a:t>
            </a:r>
            <a:r>
              <a:rPr dirty="0" sz="2800" spc="-5">
                <a:latin typeface="微软雅黑"/>
                <a:cs typeface="微软雅黑"/>
              </a:rPr>
              <a:t>.</a:t>
            </a:r>
            <a:r>
              <a:rPr dirty="0" sz="2800">
                <a:latin typeface="微软雅黑"/>
                <a:cs typeface="微软雅黑"/>
              </a:rPr>
              <a:t>电磁波</a:t>
            </a:r>
            <a:r>
              <a:rPr dirty="0" sz="2800" spc="-5">
                <a:latin typeface="微软雅黑"/>
                <a:cs typeface="微软雅黑"/>
              </a:rPr>
              <a:t>谱</a:t>
            </a:r>
            <a:endParaRPr sz="2800">
              <a:latin typeface="微软雅黑"/>
              <a:cs typeface="微软雅黑"/>
            </a:endParaRPr>
          </a:p>
          <a:p>
            <a:pPr marL="96520">
              <a:lnSpc>
                <a:spcPct val="100000"/>
              </a:lnSpc>
              <a:spcBef>
                <a:spcPts val="1065"/>
              </a:spcBef>
            </a:pPr>
            <a:r>
              <a:rPr dirty="0" sz="2400" spc="-5">
                <a:latin typeface="微软雅黑"/>
                <a:cs typeface="微软雅黑"/>
              </a:rPr>
              <a:t>3.</a:t>
            </a:r>
            <a:r>
              <a:rPr dirty="0" sz="2400">
                <a:latin typeface="微软雅黑"/>
                <a:cs typeface="微软雅黑"/>
              </a:rPr>
              <a:t>可见光</a:t>
            </a:r>
            <a:endParaRPr sz="2400">
              <a:latin typeface="微软雅黑"/>
              <a:cs typeface="微软雅黑"/>
            </a:endParaRPr>
          </a:p>
          <a:p>
            <a:pPr marL="367030">
              <a:lnSpc>
                <a:spcPct val="100000"/>
              </a:lnSpc>
              <a:spcBef>
                <a:spcPts val="720"/>
              </a:spcBef>
            </a:pPr>
            <a:r>
              <a:rPr dirty="0" sz="2400">
                <a:latin typeface="微软雅黑"/>
                <a:cs typeface="微软雅黑"/>
              </a:rPr>
              <a:t>可见光让我们看见这个世界，也可以用于通信。人眼对</a:t>
            </a:r>
            <a:r>
              <a:rPr dirty="0" sz="2400" b="1" i="1">
                <a:solidFill>
                  <a:srgbClr val="001F5F"/>
                </a:solidFill>
                <a:latin typeface="微软雅黑"/>
                <a:cs typeface="微软雅黑"/>
              </a:rPr>
              <a:t>黄绿色</a:t>
            </a:r>
            <a:r>
              <a:rPr dirty="0" sz="2400">
                <a:latin typeface="微软雅黑"/>
                <a:cs typeface="微软雅黑"/>
              </a:rPr>
              <a:t>的光最为敏感。</a:t>
            </a:r>
            <a:endParaRPr sz="2400">
              <a:latin typeface="微软雅黑"/>
              <a:cs typeface="微软雅黑"/>
            </a:endParaRPr>
          </a:p>
        </p:txBody>
      </p:sp>
      <p:sp>
        <p:nvSpPr>
          <p:cNvPr id="4" name="object 4"/>
          <p:cNvSpPr/>
          <p:nvPr/>
        </p:nvSpPr>
        <p:spPr>
          <a:xfrm>
            <a:off x="2653283" y="2522220"/>
            <a:ext cx="6129528" cy="4082796"/>
          </a:xfrm>
          <a:prstGeom prst="rect">
            <a:avLst/>
          </a:prstGeom>
          <a:blipFill>
            <a:blip r:embed="rId2" cstate="print"/>
            <a:stretch>
              <a:fillRect/>
            </a:stretch>
          </a:blipFill>
        </p:spPr>
        <p:txBody>
          <a:bodyPr wrap="square" lIns="0" tIns="0" rIns="0" bIns="0" rtlCol="0"/>
          <a:lstStyle/>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1840" y="0"/>
            <a:ext cx="2058670" cy="634365"/>
          </a:xfrm>
          <a:prstGeom prst="rect"/>
        </p:spPr>
        <p:txBody>
          <a:bodyPr wrap="square" lIns="0" tIns="12065" rIns="0" bIns="0" rtlCol="0" vert="horz">
            <a:spAutoFit/>
          </a:bodyPr>
          <a:lstStyle/>
          <a:p>
            <a:pPr marL="12700">
              <a:lnSpc>
                <a:spcPct val="100000"/>
              </a:lnSpc>
              <a:spcBef>
                <a:spcPts val="95"/>
              </a:spcBef>
            </a:pPr>
            <a:r>
              <a:rPr dirty="0" sz="4000" i="0">
                <a:solidFill>
                  <a:srgbClr val="F1F1F1"/>
                </a:solidFill>
                <a:latin typeface="华文楷体"/>
                <a:cs typeface="华文楷体"/>
              </a:rPr>
              <a:t>高中物</a:t>
            </a:r>
            <a:r>
              <a:rPr dirty="0" sz="4000" spc="-10" i="0">
                <a:solidFill>
                  <a:srgbClr val="F1F1F1"/>
                </a:solidFill>
                <a:latin typeface="华文楷体"/>
                <a:cs typeface="华文楷体"/>
              </a:rPr>
              <a:t>理</a:t>
            </a:r>
            <a:endParaRPr sz="4000">
              <a:latin typeface="华文楷体"/>
              <a:cs typeface="华文楷体"/>
            </a:endParaRPr>
          </a:p>
        </p:txBody>
      </p:sp>
      <p:sp>
        <p:nvSpPr>
          <p:cNvPr id="3" name="object 3"/>
          <p:cNvSpPr/>
          <p:nvPr/>
        </p:nvSpPr>
        <p:spPr>
          <a:xfrm>
            <a:off x="381000" y="4367784"/>
            <a:ext cx="2773680" cy="2410968"/>
          </a:xfrm>
          <a:prstGeom prst="rect">
            <a:avLst/>
          </a:prstGeom>
          <a:blipFill>
            <a:blip r:embed="rId2" cstate="print"/>
            <a:stretch>
              <a:fillRect/>
            </a:stretch>
          </a:blipFill>
        </p:spPr>
        <p:txBody>
          <a:bodyPr wrap="square" lIns="0" tIns="0" rIns="0" bIns="0" rtlCol="0"/>
          <a:lstStyle/>
          <a:p/>
        </p:txBody>
      </p:sp>
      <p:sp>
        <p:nvSpPr>
          <p:cNvPr id="4" name="object 4"/>
          <p:cNvSpPr txBox="1"/>
          <p:nvPr/>
        </p:nvSpPr>
        <p:spPr>
          <a:xfrm>
            <a:off x="740422" y="6283985"/>
            <a:ext cx="1854200" cy="391160"/>
          </a:xfrm>
          <a:prstGeom prst="rect">
            <a:avLst/>
          </a:prstGeom>
        </p:spPr>
        <p:txBody>
          <a:bodyPr wrap="square" lIns="0" tIns="12700" rIns="0" bIns="0" rtlCol="0" vert="horz">
            <a:spAutoFit/>
          </a:bodyPr>
          <a:lstStyle/>
          <a:p>
            <a:pPr marL="12700">
              <a:lnSpc>
                <a:spcPct val="100000"/>
              </a:lnSpc>
              <a:spcBef>
                <a:spcPts val="100"/>
              </a:spcBef>
            </a:pPr>
            <a:r>
              <a:rPr dirty="0" sz="2400" b="1" i="1">
                <a:solidFill>
                  <a:srgbClr val="001F5F"/>
                </a:solidFill>
                <a:latin typeface="微软雅黑"/>
                <a:cs typeface="微软雅黑"/>
              </a:rPr>
              <a:t>紫外线消毒灯</a:t>
            </a:r>
            <a:endParaRPr sz="2400">
              <a:latin typeface="微软雅黑"/>
              <a:cs typeface="微软雅黑"/>
            </a:endParaRPr>
          </a:p>
        </p:txBody>
      </p:sp>
      <p:sp>
        <p:nvSpPr>
          <p:cNvPr id="5" name="object 5"/>
          <p:cNvSpPr/>
          <p:nvPr/>
        </p:nvSpPr>
        <p:spPr>
          <a:xfrm>
            <a:off x="3121151" y="4501896"/>
            <a:ext cx="4351020" cy="1789176"/>
          </a:xfrm>
          <a:prstGeom prst="rect">
            <a:avLst/>
          </a:prstGeom>
          <a:blipFill>
            <a:blip r:embed="rId3" cstate="print"/>
            <a:stretch>
              <a:fillRect/>
            </a:stretch>
          </a:blipFill>
        </p:spPr>
        <p:txBody>
          <a:bodyPr wrap="square" lIns="0" tIns="0" rIns="0" bIns="0" rtlCol="0"/>
          <a:lstStyle/>
          <a:p/>
        </p:txBody>
      </p:sp>
      <p:sp>
        <p:nvSpPr>
          <p:cNvPr id="6" name="object 6"/>
          <p:cNvSpPr txBox="1"/>
          <p:nvPr/>
        </p:nvSpPr>
        <p:spPr>
          <a:xfrm>
            <a:off x="3115894" y="6295275"/>
            <a:ext cx="2159000" cy="391160"/>
          </a:xfrm>
          <a:prstGeom prst="rect">
            <a:avLst/>
          </a:prstGeom>
        </p:spPr>
        <p:txBody>
          <a:bodyPr wrap="square" lIns="0" tIns="12700" rIns="0" bIns="0" rtlCol="0" vert="horz">
            <a:spAutoFit/>
          </a:bodyPr>
          <a:lstStyle/>
          <a:p>
            <a:pPr marL="12700">
              <a:lnSpc>
                <a:spcPct val="100000"/>
              </a:lnSpc>
              <a:spcBef>
                <a:spcPts val="100"/>
              </a:spcBef>
            </a:pPr>
            <a:r>
              <a:rPr dirty="0" sz="2400" b="1" i="1">
                <a:solidFill>
                  <a:srgbClr val="001F5F"/>
                </a:solidFill>
                <a:latin typeface="微软雅黑"/>
                <a:cs typeface="微软雅黑"/>
              </a:rPr>
              <a:t>蜜蜂看见的葵花</a:t>
            </a:r>
            <a:endParaRPr sz="2400">
              <a:latin typeface="微软雅黑"/>
              <a:cs typeface="微软雅黑"/>
            </a:endParaRPr>
          </a:p>
        </p:txBody>
      </p:sp>
      <p:sp>
        <p:nvSpPr>
          <p:cNvPr id="7" name="object 7"/>
          <p:cNvSpPr txBox="1"/>
          <p:nvPr/>
        </p:nvSpPr>
        <p:spPr>
          <a:xfrm>
            <a:off x="5521909" y="6295275"/>
            <a:ext cx="2159000" cy="391160"/>
          </a:xfrm>
          <a:prstGeom prst="rect">
            <a:avLst/>
          </a:prstGeom>
        </p:spPr>
        <p:txBody>
          <a:bodyPr wrap="square" lIns="0" tIns="12700" rIns="0" bIns="0" rtlCol="0" vert="horz">
            <a:spAutoFit/>
          </a:bodyPr>
          <a:lstStyle/>
          <a:p>
            <a:pPr marL="12700">
              <a:lnSpc>
                <a:spcPct val="100000"/>
              </a:lnSpc>
              <a:spcBef>
                <a:spcPts val="100"/>
              </a:spcBef>
            </a:pPr>
            <a:r>
              <a:rPr dirty="0" sz="2400" b="1" i="1">
                <a:solidFill>
                  <a:srgbClr val="001F5F"/>
                </a:solidFill>
                <a:latin typeface="微软雅黑"/>
                <a:cs typeface="微软雅黑"/>
              </a:rPr>
              <a:t>人类看见的葵花</a:t>
            </a:r>
            <a:endParaRPr sz="2400">
              <a:latin typeface="微软雅黑"/>
              <a:cs typeface="微软雅黑"/>
            </a:endParaRPr>
          </a:p>
        </p:txBody>
      </p:sp>
      <p:sp>
        <p:nvSpPr>
          <p:cNvPr id="8" name="object 8"/>
          <p:cNvSpPr/>
          <p:nvPr/>
        </p:nvSpPr>
        <p:spPr>
          <a:xfrm>
            <a:off x="8342376" y="4447032"/>
            <a:ext cx="2982468" cy="1844039"/>
          </a:xfrm>
          <a:prstGeom prst="rect">
            <a:avLst/>
          </a:prstGeom>
          <a:blipFill>
            <a:blip r:embed="rId4" cstate="print"/>
            <a:stretch>
              <a:fillRect/>
            </a:stretch>
          </a:blipFill>
        </p:spPr>
        <p:txBody>
          <a:bodyPr wrap="square" lIns="0" tIns="0" rIns="0" bIns="0" rtlCol="0"/>
          <a:lstStyle/>
          <a:p/>
        </p:txBody>
      </p:sp>
      <p:sp>
        <p:nvSpPr>
          <p:cNvPr id="9" name="object 9"/>
          <p:cNvSpPr txBox="1"/>
          <p:nvPr/>
        </p:nvSpPr>
        <p:spPr>
          <a:xfrm>
            <a:off x="8103437" y="6295275"/>
            <a:ext cx="3683000" cy="391160"/>
          </a:xfrm>
          <a:prstGeom prst="rect">
            <a:avLst/>
          </a:prstGeom>
        </p:spPr>
        <p:txBody>
          <a:bodyPr wrap="square" lIns="0" tIns="12700" rIns="0" bIns="0" rtlCol="0" vert="horz">
            <a:spAutoFit/>
          </a:bodyPr>
          <a:lstStyle/>
          <a:p>
            <a:pPr marL="12700">
              <a:lnSpc>
                <a:spcPct val="100000"/>
              </a:lnSpc>
              <a:spcBef>
                <a:spcPts val="100"/>
              </a:spcBef>
            </a:pPr>
            <a:r>
              <a:rPr dirty="0" sz="2400" b="1" i="1">
                <a:solidFill>
                  <a:srgbClr val="001F5F"/>
                </a:solidFill>
                <a:latin typeface="微软雅黑"/>
                <a:cs typeface="微软雅黑"/>
              </a:rPr>
              <a:t>紫外线照射下牙齿发出荧光</a:t>
            </a:r>
            <a:endParaRPr sz="2400">
              <a:latin typeface="微软雅黑"/>
              <a:cs typeface="微软雅黑"/>
            </a:endParaRPr>
          </a:p>
        </p:txBody>
      </p:sp>
      <p:sp>
        <p:nvSpPr>
          <p:cNvPr id="10" name="object 10"/>
          <p:cNvSpPr txBox="1"/>
          <p:nvPr/>
        </p:nvSpPr>
        <p:spPr>
          <a:xfrm>
            <a:off x="493077" y="961360"/>
            <a:ext cx="11145520" cy="3496310"/>
          </a:xfrm>
          <a:prstGeom prst="rect">
            <a:avLst/>
          </a:prstGeom>
        </p:spPr>
        <p:txBody>
          <a:bodyPr wrap="square" lIns="0" tIns="78740" rIns="0" bIns="0" rtlCol="0" vert="horz">
            <a:spAutoFit/>
          </a:bodyPr>
          <a:lstStyle/>
          <a:p>
            <a:pPr marL="12700">
              <a:lnSpc>
                <a:spcPct val="100000"/>
              </a:lnSpc>
              <a:spcBef>
                <a:spcPts val="620"/>
              </a:spcBef>
            </a:pPr>
            <a:r>
              <a:rPr dirty="0" sz="2800">
                <a:latin typeface="微软雅黑"/>
                <a:cs typeface="微软雅黑"/>
              </a:rPr>
              <a:t>二</a:t>
            </a:r>
            <a:r>
              <a:rPr dirty="0" sz="2800" spc="-5">
                <a:latin typeface="微软雅黑"/>
                <a:cs typeface="微软雅黑"/>
              </a:rPr>
              <a:t>.</a:t>
            </a:r>
            <a:r>
              <a:rPr dirty="0" sz="2800">
                <a:latin typeface="微软雅黑"/>
                <a:cs typeface="微软雅黑"/>
              </a:rPr>
              <a:t>电磁波</a:t>
            </a:r>
            <a:r>
              <a:rPr dirty="0" sz="2800" spc="-5">
                <a:latin typeface="微软雅黑"/>
                <a:cs typeface="微软雅黑"/>
              </a:rPr>
              <a:t>谱</a:t>
            </a:r>
            <a:endParaRPr sz="2800">
              <a:latin typeface="微软雅黑"/>
              <a:cs typeface="微软雅黑"/>
            </a:endParaRPr>
          </a:p>
          <a:p>
            <a:pPr marL="82550">
              <a:lnSpc>
                <a:spcPct val="100000"/>
              </a:lnSpc>
              <a:spcBef>
                <a:spcPts val="450"/>
              </a:spcBef>
            </a:pPr>
            <a:r>
              <a:rPr dirty="0" sz="2400" spc="-5">
                <a:latin typeface="微软雅黑"/>
                <a:cs typeface="微软雅黑"/>
              </a:rPr>
              <a:t>4.</a:t>
            </a:r>
            <a:r>
              <a:rPr dirty="0" sz="2400">
                <a:latin typeface="微软雅黑"/>
                <a:cs typeface="微软雅黑"/>
              </a:rPr>
              <a:t>紫外线</a:t>
            </a:r>
            <a:endParaRPr sz="2400">
              <a:latin typeface="微软雅黑"/>
              <a:cs typeface="微软雅黑"/>
            </a:endParaRPr>
          </a:p>
          <a:p>
            <a:pPr marL="443230">
              <a:lnSpc>
                <a:spcPct val="100000"/>
              </a:lnSpc>
              <a:spcBef>
                <a:spcPts val="919"/>
              </a:spcBef>
            </a:pPr>
            <a:r>
              <a:rPr dirty="0" sz="2200">
                <a:latin typeface="微软雅黑"/>
                <a:cs typeface="微软雅黑"/>
              </a:rPr>
              <a:t>波长在</a:t>
            </a:r>
            <a:r>
              <a:rPr dirty="0" sz="2200" spc="-5">
                <a:latin typeface="Times New Roman"/>
                <a:cs typeface="Times New Roman"/>
              </a:rPr>
              <a:t>10nm~400nm</a:t>
            </a:r>
            <a:r>
              <a:rPr dirty="0" sz="2200">
                <a:latin typeface="微软雅黑"/>
                <a:cs typeface="微软雅黑"/>
              </a:rPr>
              <a:t>之间的电磁波为紫外线，是不可见光</a:t>
            </a:r>
            <a:r>
              <a:rPr dirty="0" sz="2200" spc="-5">
                <a:latin typeface="微软雅黑"/>
                <a:cs typeface="微软雅黑"/>
              </a:rPr>
              <a:t>。</a:t>
            </a:r>
            <a:endParaRPr sz="2200">
              <a:latin typeface="微软雅黑"/>
              <a:cs typeface="微软雅黑"/>
            </a:endParaRPr>
          </a:p>
          <a:p>
            <a:pPr marL="82550" marR="74930" indent="349250">
              <a:lnSpc>
                <a:spcPct val="125000"/>
              </a:lnSpc>
              <a:spcBef>
                <a:spcPts val="60"/>
              </a:spcBef>
            </a:pPr>
            <a:r>
              <a:rPr dirty="0" sz="2200">
                <a:latin typeface="微软雅黑"/>
                <a:cs typeface="微软雅黑"/>
              </a:rPr>
              <a:t>紫外线具有</a:t>
            </a:r>
            <a:r>
              <a:rPr dirty="0" sz="2200" b="1" i="1">
                <a:solidFill>
                  <a:srgbClr val="001F5F"/>
                </a:solidFill>
                <a:latin typeface="微软雅黑"/>
                <a:cs typeface="微软雅黑"/>
              </a:rPr>
              <a:t>较高的能量</a:t>
            </a:r>
            <a:r>
              <a:rPr dirty="0" sz="2200">
                <a:latin typeface="微软雅黑"/>
                <a:cs typeface="微软雅黑"/>
              </a:rPr>
              <a:t>，足以破坏</a:t>
            </a:r>
            <a:r>
              <a:rPr dirty="0" sz="2200" spc="5">
                <a:latin typeface="微软雅黑"/>
                <a:cs typeface="微软雅黑"/>
              </a:rPr>
              <a:t>细胞核内的物质，可以用于</a:t>
            </a:r>
            <a:r>
              <a:rPr dirty="0" sz="2200" spc="5" b="1" i="1">
                <a:solidFill>
                  <a:srgbClr val="001F5F"/>
                </a:solidFill>
                <a:latin typeface="微软雅黑"/>
                <a:cs typeface="微软雅黑"/>
              </a:rPr>
              <a:t>杀菌消毒。</a:t>
            </a:r>
            <a:r>
              <a:rPr dirty="0" sz="2200" spc="5">
                <a:latin typeface="微软雅黑"/>
                <a:cs typeface="微软雅黑"/>
              </a:rPr>
              <a:t>有些昆虫能</a:t>
            </a:r>
            <a:r>
              <a:rPr dirty="0" sz="2200" spc="-5">
                <a:latin typeface="微软雅黑"/>
                <a:cs typeface="微软雅黑"/>
              </a:rPr>
              <a:t>看 </a:t>
            </a:r>
            <a:r>
              <a:rPr dirty="0" sz="2200">
                <a:latin typeface="微软雅黑"/>
                <a:cs typeface="微软雅黑"/>
              </a:rPr>
              <a:t>见紫外线，</a:t>
            </a:r>
            <a:r>
              <a:rPr dirty="0" sz="2200" b="1" i="1">
                <a:solidFill>
                  <a:srgbClr val="001F5F"/>
                </a:solidFill>
                <a:latin typeface="微软雅黑"/>
                <a:cs typeface="微软雅黑"/>
              </a:rPr>
              <a:t>黑光灯</a:t>
            </a:r>
            <a:r>
              <a:rPr dirty="0" sz="2200">
                <a:latin typeface="微软雅黑"/>
                <a:cs typeface="微软雅黑"/>
              </a:rPr>
              <a:t>就是利用昆虫的趋光性诱杀害虫</a:t>
            </a:r>
            <a:r>
              <a:rPr dirty="0" sz="2200" spc="-5">
                <a:latin typeface="微软雅黑"/>
                <a:cs typeface="微软雅黑"/>
              </a:rPr>
              <a:t>。</a:t>
            </a:r>
            <a:endParaRPr sz="2200">
              <a:latin typeface="微软雅黑"/>
              <a:cs typeface="微软雅黑"/>
            </a:endParaRPr>
          </a:p>
          <a:p>
            <a:pPr marL="82550" marR="75565" indent="349250">
              <a:lnSpc>
                <a:spcPct val="125000"/>
              </a:lnSpc>
            </a:pPr>
            <a:r>
              <a:rPr dirty="0" sz="2200" spc="15">
                <a:latin typeface="微软雅黑"/>
                <a:cs typeface="微软雅黑"/>
              </a:rPr>
              <a:t>太阳光里</a:t>
            </a:r>
            <a:r>
              <a:rPr dirty="0" sz="2200" spc="20">
                <a:latin typeface="微软雅黑"/>
                <a:cs typeface="微软雅黑"/>
              </a:rPr>
              <a:t>有许多紫外线，人体接受适量照射，</a:t>
            </a:r>
            <a:r>
              <a:rPr dirty="0" sz="2200" spc="20" b="1" i="1">
                <a:solidFill>
                  <a:srgbClr val="001F5F"/>
                </a:solidFill>
                <a:latin typeface="微软雅黑"/>
                <a:cs typeface="微软雅黑"/>
              </a:rPr>
              <a:t>有利于合成维生素</a:t>
            </a:r>
            <a:r>
              <a:rPr dirty="0" sz="2200" spc="15" b="1">
                <a:solidFill>
                  <a:srgbClr val="001F5F"/>
                </a:solidFill>
                <a:latin typeface="Times New Roman"/>
                <a:cs typeface="Times New Roman"/>
              </a:rPr>
              <a:t>D</a:t>
            </a:r>
            <a:r>
              <a:rPr dirty="0" sz="2200" spc="20">
                <a:latin typeface="微软雅黑"/>
                <a:cs typeface="微软雅黑"/>
              </a:rPr>
              <a:t>，促进钙的吸收。</a:t>
            </a:r>
            <a:r>
              <a:rPr dirty="0" sz="2200" spc="-5">
                <a:latin typeface="微软雅黑"/>
                <a:cs typeface="微软雅黑"/>
              </a:rPr>
              <a:t>过 </a:t>
            </a:r>
            <a:r>
              <a:rPr dirty="0" sz="2200">
                <a:latin typeface="微软雅黑"/>
                <a:cs typeface="微软雅黑"/>
              </a:rPr>
              <a:t>量的紫外线照射会伤害眼睛和皮肤，甚至诱发皮肤癌。大气层中的臭氧层能吸收紫外线</a:t>
            </a:r>
            <a:r>
              <a:rPr dirty="0" sz="2200" spc="-5">
                <a:latin typeface="微软雅黑"/>
                <a:cs typeface="微软雅黑"/>
              </a:rPr>
              <a:t>。</a:t>
            </a:r>
            <a:endParaRPr sz="2200">
              <a:latin typeface="微软雅黑"/>
              <a:cs typeface="微软雅黑"/>
            </a:endParaRPr>
          </a:p>
          <a:p>
            <a:pPr marL="515620">
              <a:lnSpc>
                <a:spcPct val="100000"/>
              </a:lnSpc>
              <a:spcBef>
                <a:spcPts val="660"/>
              </a:spcBef>
            </a:pPr>
            <a:r>
              <a:rPr dirty="0" sz="2200">
                <a:latin typeface="微软雅黑"/>
                <a:cs typeface="微软雅黑"/>
              </a:rPr>
              <a:t>紫外线有</a:t>
            </a:r>
            <a:r>
              <a:rPr dirty="0" sz="2200" b="1" i="1">
                <a:solidFill>
                  <a:srgbClr val="001F5F"/>
                </a:solidFill>
                <a:latin typeface="微软雅黑"/>
                <a:cs typeface="微软雅黑"/>
              </a:rPr>
              <a:t>荧光作用</a:t>
            </a:r>
            <a:r>
              <a:rPr dirty="0" sz="2200">
                <a:latin typeface="微软雅黑"/>
                <a:cs typeface="微软雅黑"/>
              </a:rPr>
              <a:t>，有些物质在紫外线照射下会发出荧光，应用于</a:t>
            </a:r>
            <a:r>
              <a:rPr dirty="0" sz="2200" b="1" i="1">
                <a:solidFill>
                  <a:srgbClr val="001F5F"/>
                </a:solidFill>
                <a:latin typeface="微软雅黑"/>
                <a:cs typeface="微软雅黑"/>
              </a:rPr>
              <a:t>日光灯</a:t>
            </a:r>
            <a:r>
              <a:rPr dirty="0" sz="2200">
                <a:latin typeface="微软雅黑"/>
                <a:cs typeface="微软雅黑"/>
              </a:rPr>
              <a:t>和</a:t>
            </a:r>
            <a:r>
              <a:rPr dirty="0" sz="2200" b="1" i="1">
                <a:solidFill>
                  <a:srgbClr val="001F5F"/>
                </a:solidFill>
                <a:latin typeface="微软雅黑"/>
                <a:cs typeface="微软雅黑"/>
              </a:rPr>
              <a:t>防伪措施</a:t>
            </a:r>
            <a:r>
              <a:rPr dirty="0" sz="2200" spc="-5">
                <a:latin typeface="微软雅黑"/>
                <a:cs typeface="微软雅黑"/>
              </a:rPr>
              <a:t>。</a:t>
            </a:r>
            <a:endParaRPr sz="2200">
              <a:latin typeface="微软雅黑"/>
              <a:cs typeface="微软雅黑"/>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1840" y="0"/>
            <a:ext cx="2058670" cy="634365"/>
          </a:xfrm>
          <a:prstGeom prst="rect"/>
        </p:spPr>
        <p:txBody>
          <a:bodyPr wrap="square" lIns="0" tIns="12065" rIns="0" bIns="0" rtlCol="0" vert="horz">
            <a:spAutoFit/>
          </a:bodyPr>
          <a:lstStyle/>
          <a:p>
            <a:pPr marL="12700">
              <a:lnSpc>
                <a:spcPct val="100000"/>
              </a:lnSpc>
              <a:spcBef>
                <a:spcPts val="95"/>
              </a:spcBef>
            </a:pPr>
            <a:r>
              <a:rPr dirty="0" sz="4000" i="0">
                <a:solidFill>
                  <a:srgbClr val="F1F1F1"/>
                </a:solidFill>
                <a:latin typeface="华文楷体"/>
                <a:cs typeface="华文楷体"/>
              </a:rPr>
              <a:t>高中物</a:t>
            </a:r>
            <a:r>
              <a:rPr dirty="0" sz="4000" spc="-10" i="0">
                <a:solidFill>
                  <a:srgbClr val="F1F1F1"/>
                </a:solidFill>
                <a:latin typeface="华文楷体"/>
                <a:cs typeface="华文楷体"/>
              </a:rPr>
              <a:t>理</a:t>
            </a:r>
            <a:endParaRPr sz="4000">
              <a:latin typeface="华文楷体"/>
              <a:cs typeface="华文楷体"/>
            </a:endParaRPr>
          </a:p>
        </p:txBody>
      </p:sp>
      <p:sp>
        <p:nvSpPr>
          <p:cNvPr id="3" name="object 3"/>
          <p:cNvSpPr txBox="1"/>
          <p:nvPr/>
        </p:nvSpPr>
        <p:spPr>
          <a:xfrm>
            <a:off x="493077" y="868626"/>
            <a:ext cx="11130280" cy="2879090"/>
          </a:xfrm>
          <a:prstGeom prst="rect">
            <a:avLst/>
          </a:prstGeom>
        </p:spPr>
        <p:txBody>
          <a:bodyPr wrap="square" lIns="0" tIns="123825" rIns="0" bIns="0" rtlCol="0" vert="horz">
            <a:spAutoFit/>
          </a:bodyPr>
          <a:lstStyle/>
          <a:p>
            <a:pPr marL="12700">
              <a:lnSpc>
                <a:spcPct val="100000"/>
              </a:lnSpc>
              <a:spcBef>
                <a:spcPts val="975"/>
              </a:spcBef>
            </a:pPr>
            <a:r>
              <a:rPr dirty="0" sz="2800">
                <a:latin typeface="微软雅黑"/>
                <a:cs typeface="微软雅黑"/>
              </a:rPr>
              <a:t>二</a:t>
            </a:r>
            <a:r>
              <a:rPr dirty="0" sz="2800" spc="-5">
                <a:latin typeface="微软雅黑"/>
                <a:cs typeface="微软雅黑"/>
              </a:rPr>
              <a:t>.</a:t>
            </a:r>
            <a:r>
              <a:rPr dirty="0" sz="2800">
                <a:latin typeface="微软雅黑"/>
                <a:cs typeface="微软雅黑"/>
              </a:rPr>
              <a:t>电磁波</a:t>
            </a:r>
            <a:r>
              <a:rPr dirty="0" sz="2800" spc="-5">
                <a:latin typeface="微软雅黑"/>
                <a:cs typeface="微软雅黑"/>
              </a:rPr>
              <a:t>谱</a:t>
            </a:r>
            <a:endParaRPr sz="2800">
              <a:latin typeface="微软雅黑"/>
              <a:cs typeface="微软雅黑"/>
            </a:endParaRPr>
          </a:p>
          <a:p>
            <a:pPr marL="86360">
              <a:lnSpc>
                <a:spcPct val="100000"/>
              </a:lnSpc>
              <a:spcBef>
                <a:spcPts val="755"/>
              </a:spcBef>
            </a:pPr>
            <a:r>
              <a:rPr dirty="0" sz="2400" spc="-5">
                <a:latin typeface="Times New Roman"/>
                <a:cs typeface="Times New Roman"/>
              </a:rPr>
              <a:t>5</a:t>
            </a:r>
            <a:r>
              <a:rPr dirty="0" sz="2200" spc="-5">
                <a:latin typeface="Times New Roman"/>
                <a:cs typeface="Times New Roman"/>
              </a:rPr>
              <a:t>. X</a:t>
            </a:r>
            <a:r>
              <a:rPr dirty="0" sz="2200">
                <a:latin typeface="微软雅黑"/>
                <a:cs typeface="微软雅黑"/>
              </a:rPr>
              <a:t>射线和</a:t>
            </a:r>
            <a:r>
              <a:rPr dirty="0" sz="2200" spc="-5" b="1" i="1">
                <a:latin typeface="Times New Roman"/>
                <a:cs typeface="Times New Roman"/>
              </a:rPr>
              <a:t>γ</a:t>
            </a:r>
            <a:r>
              <a:rPr dirty="0" sz="2200">
                <a:latin typeface="微软雅黑"/>
                <a:cs typeface="微软雅黑"/>
              </a:rPr>
              <a:t>射</a:t>
            </a:r>
            <a:r>
              <a:rPr dirty="0" sz="2200" spc="-5">
                <a:latin typeface="微软雅黑"/>
                <a:cs typeface="微软雅黑"/>
              </a:rPr>
              <a:t>线</a:t>
            </a:r>
            <a:endParaRPr sz="2200">
              <a:latin typeface="微软雅黑"/>
              <a:cs typeface="微软雅黑"/>
            </a:endParaRPr>
          </a:p>
          <a:p>
            <a:pPr marL="365760">
              <a:lnSpc>
                <a:spcPct val="100000"/>
              </a:lnSpc>
              <a:spcBef>
                <a:spcPts val="200"/>
              </a:spcBef>
            </a:pPr>
            <a:r>
              <a:rPr dirty="0" sz="2200">
                <a:latin typeface="微软雅黑"/>
                <a:cs typeface="微软雅黑"/>
              </a:rPr>
              <a:t>波长比紫外线更短的电磁波是</a:t>
            </a:r>
            <a:r>
              <a:rPr dirty="0" sz="2200" spc="-5">
                <a:latin typeface="Times New Roman"/>
                <a:cs typeface="Times New Roman"/>
              </a:rPr>
              <a:t>X</a:t>
            </a:r>
            <a:r>
              <a:rPr dirty="0" sz="2200">
                <a:latin typeface="微软雅黑"/>
                <a:cs typeface="微软雅黑"/>
              </a:rPr>
              <a:t>射线和</a:t>
            </a:r>
            <a:r>
              <a:rPr dirty="0" sz="2200" spc="-5" b="1" i="1">
                <a:latin typeface="Times New Roman"/>
                <a:cs typeface="Times New Roman"/>
              </a:rPr>
              <a:t>γ</a:t>
            </a:r>
            <a:r>
              <a:rPr dirty="0" sz="2200">
                <a:latin typeface="微软雅黑"/>
                <a:cs typeface="微软雅黑"/>
              </a:rPr>
              <a:t>射线，</a:t>
            </a:r>
            <a:r>
              <a:rPr dirty="0" sz="2200" b="1" i="1">
                <a:solidFill>
                  <a:srgbClr val="001F5F"/>
                </a:solidFill>
                <a:latin typeface="微软雅黑"/>
                <a:cs typeface="微软雅黑"/>
              </a:rPr>
              <a:t>这两种射线能量更大</a:t>
            </a:r>
            <a:r>
              <a:rPr dirty="0" sz="2200" spc="-5">
                <a:latin typeface="微软雅黑"/>
                <a:cs typeface="微软雅黑"/>
              </a:rPr>
              <a:t>。</a:t>
            </a:r>
            <a:endParaRPr sz="2200">
              <a:latin typeface="微软雅黑"/>
              <a:cs typeface="微软雅黑"/>
            </a:endParaRPr>
          </a:p>
          <a:p>
            <a:pPr marL="86360" marR="5080" indent="289560">
              <a:lnSpc>
                <a:spcPct val="100000"/>
              </a:lnSpc>
              <a:spcBef>
                <a:spcPts val="600"/>
              </a:spcBef>
            </a:pPr>
            <a:r>
              <a:rPr dirty="0" sz="2200">
                <a:latin typeface="微软雅黑"/>
                <a:cs typeface="微软雅黑"/>
              </a:rPr>
              <a:t>高速电子流撞击固体表面可以产生</a:t>
            </a:r>
            <a:r>
              <a:rPr dirty="0" sz="2200" spc="-5">
                <a:latin typeface="Times New Roman"/>
                <a:cs typeface="Times New Roman"/>
              </a:rPr>
              <a:t>X</a:t>
            </a:r>
            <a:r>
              <a:rPr dirty="0" sz="2200">
                <a:latin typeface="微软雅黑"/>
                <a:cs typeface="微软雅黑"/>
              </a:rPr>
              <a:t>射线。</a:t>
            </a:r>
            <a:r>
              <a:rPr dirty="0" sz="2200" spc="-5">
                <a:latin typeface="Times New Roman"/>
                <a:cs typeface="Times New Roman"/>
              </a:rPr>
              <a:t>X</a:t>
            </a:r>
            <a:r>
              <a:rPr dirty="0" sz="2200">
                <a:latin typeface="微软雅黑"/>
                <a:cs typeface="微软雅黑"/>
              </a:rPr>
              <a:t>射线能够穿透物质，用于</a:t>
            </a:r>
            <a:r>
              <a:rPr dirty="0" sz="2200" b="1" i="1">
                <a:solidFill>
                  <a:srgbClr val="001F5F"/>
                </a:solidFill>
                <a:latin typeface="微软雅黑"/>
                <a:cs typeface="微软雅黑"/>
              </a:rPr>
              <a:t>人体透视</a:t>
            </a:r>
            <a:r>
              <a:rPr dirty="0" sz="2200">
                <a:latin typeface="微软雅黑"/>
                <a:cs typeface="微软雅黑"/>
              </a:rPr>
              <a:t>和机场</a:t>
            </a:r>
            <a:r>
              <a:rPr dirty="0" sz="2200" spc="-5">
                <a:latin typeface="微软雅黑"/>
                <a:cs typeface="微软雅黑"/>
              </a:rPr>
              <a:t>、 </a:t>
            </a:r>
            <a:r>
              <a:rPr dirty="0" sz="2200">
                <a:latin typeface="微软雅黑"/>
                <a:cs typeface="微软雅黑"/>
              </a:rPr>
              <a:t>车站的安检设备。</a:t>
            </a:r>
            <a:r>
              <a:rPr dirty="0" sz="2200" spc="-5">
                <a:latin typeface="Times New Roman"/>
                <a:cs typeface="Times New Roman"/>
              </a:rPr>
              <a:t>X</a:t>
            </a:r>
            <a:r>
              <a:rPr dirty="0" sz="2200">
                <a:latin typeface="微软雅黑"/>
                <a:cs typeface="微软雅黑"/>
              </a:rPr>
              <a:t>射线对生命物质有较强作用，过量的</a:t>
            </a:r>
            <a:r>
              <a:rPr dirty="0" sz="2200" spc="-5">
                <a:latin typeface="Times New Roman"/>
                <a:cs typeface="Times New Roman"/>
              </a:rPr>
              <a:t>X</a:t>
            </a:r>
            <a:r>
              <a:rPr dirty="0" sz="2200">
                <a:latin typeface="微软雅黑"/>
                <a:cs typeface="微软雅黑"/>
              </a:rPr>
              <a:t>射线照射会对人体造成伤害</a:t>
            </a:r>
            <a:r>
              <a:rPr dirty="0" sz="2200" spc="-5">
                <a:latin typeface="微软雅黑"/>
                <a:cs typeface="微软雅黑"/>
              </a:rPr>
              <a:t>。</a:t>
            </a:r>
            <a:endParaRPr sz="2200">
              <a:latin typeface="微软雅黑"/>
              <a:cs typeface="微软雅黑"/>
            </a:endParaRPr>
          </a:p>
          <a:p>
            <a:pPr marL="86360" marR="56515" indent="279400">
              <a:lnSpc>
                <a:spcPct val="100000"/>
              </a:lnSpc>
              <a:spcBef>
                <a:spcPts val="600"/>
              </a:spcBef>
            </a:pPr>
            <a:r>
              <a:rPr dirty="0" sz="2200" spc="40">
                <a:latin typeface="微软雅黑"/>
                <a:cs typeface="微软雅黑"/>
              </a:rPr>
              <a:t>与</a:t>
            </a:r>
            <a:r>
              <a:rPr dirty="0" sz="2200" spc="35">
                <a:latin typeface="Times New Roman"/>
                <a:cs typeface="Times New Roman"/>
              </a:rPr>
              <a:t>X</a:t>
            </a:r>
            <a:r>
              <a:rPr dirty="0" sz="2200" spc="40">
                <a:latin typeface="微软雅黑"/>
                <a:cs typeface="微软雅黑"/>
              </a:rPr>
              <a:t>射线相比，</a:t>
            </a:r>
            <a:r>
              <a:rPr dirty="0" sz="2200" spc="35" b="1" i="1">
                <a:latin typeface="Times New Roman"/>
                <a:cs typeface="Times New Roman"/>
              </a:rPr>
              <a:t>γ</a:t>
            </a:r>
            <a:r>
              <a:rPr dirty="0" sz="2200" spc="40">
                <a:latin typeface="微软雅黑"/>
                <a:cs typeface="微软雅黑"/>
              </a:rPr>
              <a:t>射线的波长更</a:t>
            </a:r>
            <a:r>
              <a:rPr dirty="0" sz="2200" spc="45">
                <a:latin typeface="微软雅黑"/>
                <a:cs typeface="微软雅黑"/>
              </a:rPr>
              <a:t>短、能量更大。</a:t>
            </a:r>
            <a:r>
              <a:rPr dirty="0" sz="2200" spc="40" b="1" i="1">
                <a:latin typeface="Times New Roman"/>
                <a:cs typeface="Times New Roman"/>
              </a:rPr>
              <a:t>γ</a:t>
            </a:r>
            <a:r>
              <a:rPr dirty="0" sz="2200" spc="45">
                <a:latin typeface="微软雅黑"/>
                <a:cs typeface="微软雅黑"/>
              </a:rPr>
              <a:t>射线能破坏生命物质。在医学上用于</a:t>
            </a:r>
            <a:r>
              <a:rPr dirty="0" sz="2200" spc="-5">
                <a:latin typeface="微软雅黑"/>
                <a:cs typeface="微软雅黑"/>
              </a:rPr>
              <a:t>摧 </a:t>
            </a:r>
            <a:r>
              <a:rPr dirty="0" sz="2200">
                <a:latin typeface="微软雅黑"/>
                <a:cs typeface="微软雅黑"/>
              </a:rPr>
              <a:t>毁病变的癌细胞。</a:t>
            </a:r>
            <a:r>
              <a:rPr dirty="0" sz="2200" spc="-5" b="1" i="1">
                <a:latin typeface="Times New Roman"/>
                <a:cs typeface="Times New Roman"/>
              </a:rPr>
              <a:t>γ</a:t>
            </a:r>
            <a:r>
              <a:rPr dirty="0" sz="2200">
                <a:latin typeface="微软雅黑"/>
                <a:cs typeface="微软雅黑"/>
              </a:rPr>
              <a:t>射线的穿透能力很强，可用于</a:t>
            </a:r>
            <a:r>
              <a:rPr dirty="0" sz="2200" b="1" i="1">
                <a:solidFill>
                  <a:srgbClr val="001F5F"/>
                </a:solidFill>
                <a:latin typeface="微软雅黑"/>
                <a:cs typeface="微软雅黑"/>
              </a:rPr>
              <a:t>金属探伤</a:t>
            </a:r>
            <a:r>
              <a:rPr dirty="0" sz="2200" spc="-5">
                <a:latin typeface="微软雅黑"/>
                <a:cs typeface="微软雅黑"/>
              </a:rPr>
              <a:t>。</a:t>
            </a:r>
            <a:endParaRPr sz="2200">
              <a:latin typeface="微软雅黑"/>
              <a:cs typeface="微软雅黑"/>
            </a:endParaRPr>
          </a:p>
        </p:txBody>
      </p:sp>
      <p:sp>
        <p:nvSpPr>
          <p:cNvPr id="4" name="object 4"/>
          <p:cNvSpPr/>
          <p:nvPr/>
        </p:nvSpPr>
        <p:spPr>
          <a:xfrm>
            <a:off x="1327403" y="3971544"/>
            <a:ext cx="3630167" cy="2159508"/>
          </a:xfrm>
          <a:prstGeom prst="rect">
            <a:avLst/>
          </a:prstGeom>
          <a:blipFill>
            <a:blip r:embed="rId2" cstate="print"/>
            <a:stretch>
              <a:fillRect/>
            </a:stretch>
          </a:blipFill>
        </p:spPr>
        <p:txBody>
          <a:bodyPr wrap="square" lIns="0" tIns="0" rIns="0" bIns="0" rtlCol="0"/>
          <a:lstStyle/>
          <a:p/>
        </p:txBody>
      </p:sp>
      <p:sp>
        <p:nvSpPr>
          <p:cNvPr id="5" name="object 5"/>
          <p:cNvSpPr/>
          <p:nvPr/>
        </p:nvSpPr>
        <p:spPr>
          <a:xfrm>
            <a:off x="6289547" y="3947159"/>
            <a:ext cx="3602736" cy="2159508"/>
          </a:xfrm>
          <a:prstGeom prst="rect">
            <a:avLst/>
          </a:prstGeom>
          <a:blipFill>
            <a:blip r:embed="rId3" cstate="print"/>
            <a:stretch>
              <a:fillRect/>
            </a:stretch>
          </a:blipFill>
        </p:spPr>
        <p:txBody>
          <a:bodyPr wrap="square" lIns="0" tIns="0" rIns="0" bIns="0" rtlCol="0"/>
          <a:lstStyle/>
          <a:p/>
        </p:txBody>
      </p:sp>
      <p:sp>
        <p:nvSpPr>
          <p:cNvPr id="6" name="object 6"/>
          <p:cNvSpPr txBox="1"/>
          <p:nvPr/>
        </p:nvSpPr>
        <p:spPr>
          <a:xfrm>
            <a:off x="1765554" y="6221742"/>
            <a:ext cx="2684145" cy="391160"/>
          </a:xfrm>
          <a:prstGeom prst="rect">
            <a:avLst/>
          </a:prstGeom>
        </p:spPr>
        <p:txBody>
          <a:bodyPr wrap="square" lIns="0" tIns="12700" rIns="0" bIns="0" rtlCol="0" vert="horz">
            <a:spAutoFit/>
          </a:bodyPr>
          <a:lstStyle/>
          <a:p>
            <a:pPr marL="12700">
              <a:lnSpc>
                <a:spcPct val="100000"/>
              </a:lnSpc>
              <a:spcBef>
                <a:spcPts val="100"/>
              </a:spcBef>
            </a:pPr>
            <a:r>
              <a:rPr dirty="0" sz="2400" b="1" i="1">
                <a:solidFill>
                  <a:srgbClr val="001F5F"/>
                </a:solidFill>
                <a:latin typeface="微软雅黑"/>
                <a:cs typeface="微软雅黑"/>
              </a:rPr>
              <a:t>人手的</a:t>
            </a:r>
            <a:r>
              <a:rPr dirty="0" sz="2400" b="1">
                <a:solidFill>
                  <a:srgbClr val="001F5F"/>
                </a:solidFill>
                <a:latin typeface="Times New Roman"/>
                <a:cs typeface="Times New Roman"/>
              </a:rPr>
              <a:t>X</a:t>
            </a:r>
            <a:r>
              <a:rPr dirty="0" sz="2400" b="1" i="1">
                <a:solidFill>
                  <a:srgbClr val="001F5F"/>
                </a:solidFill>
                <a:latin typeface="微软雅黑"/>
                <a:cs typeface="微软雅黑"/>
              </a:rPr>
              <a:t>射线透视片</a:t>
            </a:r>
            <a:endParaRPr sz="2400">
              <a:latin typeface="微软雅黑"/>
              <a:cs typeface="微软雅黑"/>
            </a:endParaRPr>
          </a:p>
        </p:txBody>
      </p:sp>
      <p:sp>
        <p:nvSpPr>
          <p:cNvPr id="7" name="object 7"/>
          <p:cNvSpPr txBox="1"/>
          <p:nvPr/>
        </p:nvSpPr>
        <p:spPr>
          <a:xfrm>
            <a:off x="6786498" y="6221742"/>
            <a:ext cx="3200400" cy="391160"/>
          </a:xfrm>
          <a:prstGeom prst="rect">
            <a:avLst/>
          </a:prstGeom>
        </p:spPr>
        <p:txBody>
          <a:bodyPr wrap="square" lIns="0" tIns="12700" rIns="0" bIns="0" rtlCol="0" vert="horz">
            <a:spAutoFit/>
          </a:bodyPr>
          <a:lstStyle/>
          <a:p>
            <a:pPr marL="12700">
              <a:lnSpc>
                <a:spcPct val="100000"/>
              </a:lnSpc>
              <a:spcBef>
                <a:spcPts val="100"/>
              </a:spcBef>
            </a:pPr>
            <a:r>
              <a:rPr dirty="0" sz="2400" b="1" i="1">
                <a:solidFill>
                  <a:srgbClr val="001F5F"/>
                </a:solidFill>
                <a:latin typeface="微软雅黑"/>
                <a:cs typeface="微软雅黑"/>
              </a:rPr>
              <a:t>利用</a:t>
            </a:r>
            <a:r>
              <a:rPr dirty="0" sz="2400" b="1" i="1">
                <a:solidFill>
                  <a:srgbClr val="001F5F"/>
                </a:solidFill>
                <a:latin typeface="Times New Roman"/>
                <a:cs typeface="Times New Roman"/>
              </a:rPr>
              <a:t>γ</a:t>
            </a:r>
            <a:r>
              <a:rPr dirty="0" sz="2400" b="1" i="1">
                <a:solidFill>
                  <a:srgbClr val="001F5F"/>
                </a:solidFill>
                <a:latin typeface="微软雅黑"/>
                <a:cs typeface="微软雅黑"/>
              </a:rPr>
              <a:t>射线进行放射治疗</a:t>
            </a:r>
            <a:endParaRPr sz="2400">
              <a:latin typeface="微软雅黑"/>
              <a:cs typeface="微软雅黑"/>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1840" y="0"/>
            <a:ext cx="2058670" cy="634365"/>
          </a:xfrm>
          <a:prstGeom prst="rect"/>
        </p:spPr>
        <p:txBody>
          <a:bodyPr wrap="square" lIns="0" tIns="12065" rIns="0" bIns="0" rtlCol="0" vert="horz">
            <a:spAutoFit/>
          </a:bodyPr>
          <a:lstStyle/>
          <a:p>
            <a:pPr marL="12700">
              <a:lnSpc>
                <a:spcPct val="100000"/>
              </a:lnSpc>
              <a:spcBef>
                <a:spcPts val="95"/>
              </a:spcBef>
            </a:pPr>
            <a:r>
              <a:rPr dirty="0" sz="4000" i="0">
                <a:solidFill>
                  <a:srgbClr val="F1F1F1"/>
                </a:solidFill>
                <a:latin typeface="华文楷体"/>
                <a:cs typeface="华文楷体"/>
              </a:rPr>
              <a:t>高中物</a:t>
            </a:r>
            <a:r>
              <a:rPr dirty="0" sz="4000" spc="-10" i="0">
                <a:solidFill>
                  <a:srgbClr val="F1F1F1"/>
                </a:solidFill>
                <a:latin typeface="华文楷体"/>
                <a:cs typeface="华文楷体"/>
              </a:rPr>
              <a:t>理</a:t>
            </a:r>
            <a:endParaRPr sz="4000">
              <a:latin typeface="华文楷体"/>
              <a:cs typeface="华文楷体"/>
            </a:endParaRPr>
          </a:p>
        </p:txBody>
      </p:sp>
      <p:sp>
        <p:nvSpPr>
          <p:cNvPr id="3" name="object 3"/>
          <p:cNvSpPr/>
          <p:nvPr/>
        </p:nvSpPr>
        <p:spPr>
          <a:xfrm>
            <a:off x="929639" y="2270760"/>
            <a:ext cx="9240012" cy="4587240"/>
          </a:xfrm>
          <a:prstGeom prst="rect">
            <a:avLst/>
          </a:prstGeom>
          <a:blipFill>
            <a:blip r:embed="rId2" cstate="print"/>
            <a:stretch>
              <a:fillRect/>
            </a:stretch>
          </a:blipFill>
        </p:spPr>
        <p:txBody>
          <a:bodyPr wrap="square" lIns="0" tIns="0" rIns="0" bIns="0" rtlCol="0"/>
          <a:lstStyle/>
          <a:p/>
        </p:txBody>
      </p:sp>
      <p:sp>
        <p:nvSpPr>
          <p:cNvPr id="4" name="object 4"/>
          <p:cNvSpPr txBox="1"/>
          <p:nvPr/>
        </p:nvSpPr>
        <p:spPr>
          <a:xfrm>
            <a:off x="493077" y="857508"/>
            <a:ext cx="11502390" cy="3091180"/>
          </a:xfrm>
          <a:prstGeom prst="rect">
            <a:avLst/>
          </a:prstGeom>
        </p:spPr>
        <p:txBody>
          <a:bodyPr wrap="square" lIns="0" tIns="150495" rIns="0" bIns="0" rtlCol="0" vert="horz">
            <a:spAutoFit/>
          </a:bodyPr>
          <a:lstStyle/>
          <a:p>
            <a:pPr marL="12700">
              <a:lnSpc>
                <a:spcPct val="100000"/>
              </a:lnSpc>
              <a:spcBef>
                <a:spcPts val="1185"/>
              </a:spcBef>
            </a:pPr>
            <a:r>
              <a:rPr dirty="0" sz="2800">
                <a:latin typeface="微软雅黑"/>
                <a:cs typeface="微软雅黑"/>
              </a:rPr>
              <a:t>二</a:t>
            </a:r>
            <a:r>
              <a:rPr dirty="0" sz="2800" spc="-5">
                <a:latin typeface="微软雅黑"/>
                <a:cs typeface="微软雅黑"/>
              </a:rPr>
              <a:t>.</a:t>
            </a:r>
            <a:r>
              <a:rPr dirty="0" sz="2800">
                <a:latin typeface="微软雅黑"/>
                <a:cs typeface="微软雅黑"/>
              </a:rPr>
              <a:t>电磁波</a:t>
            </a:r>
            <a:r>
              <a:rPr dirty="0" sz="2800" spc="-5">
                <a:latin typeface="微软雅黑"/>
                <a:cs typeface="微软雅黑"/>
              </a:rPr>
              <a:t>谱</a:t>
            </a:r>
            <a:endParaRPr sz="2800">
              <a:latin typeface="微软雅黑"/>
              <a:cs typeface="微软雅黑"/>
            </a:endParaRPr>
          </a:p>
          <a:p>
            <a:pPr marL="96520">
              <a:lnSpc>
                <a:spcPct val="100000"/>
              </a:lnSpc>
              <a:spcBef>
                <a:spcPts val="940"/>
              </a:spcBef>
            </a:pPr>
            <a:r>
              <a:rPr dirty="0" sz="2400" spc="-5">
                <a:latin typeface="微软雅黑"/>
                <a:cs typeface="微软雅黑"/>
              </a:rPr>
              <a:t>6.</a:t>
            </a:r>
            <a:r>
              <a:rPr dirty="0" sz="2400">
                <a:latin typeface="微软雅黑"/>
                <a:cs typeface="微软雅黑"/>
              </a:rPr>
              <a:t>太阳辐射</a:t>
            </a:r>
            <a:endParaRPr sz="2400">
              <a:latin typeface="微软雅黑"/>
              <a:cs typeface="微软雅黑"/>
            </a:endParaRPr>
          </a:p>
          <a:p>
            <a:pPr marL="457200">
              <a:lnSpc>
                <a:spcPct val="100000"/>
              </a:lnSpc>
              <a:spcBef>
                <a:spcPts val="320"/>
              </a:spcBef>
            </a:pPr>
            <a:r>
              <a:rPr dirty="0" sz="2200">
                <a:latin typeface="微软雅黑"/>
                <a:cs typeface="微软雅黑"/>
              </a:rPr>
              <a:t>太阳辐射的能量集中在可见光、红外线、紫外线三个区域，黄、绿光附近辐射最强</a:t>
            </a:r>
            <a:r>
              <a:rPr dirty="0" sz="2200" spc="-5">
                <a:latin typeface="微软雅黑"/>
                <a:cs typeface="微软雅黑"/>
              </a:rPr>
              <a:t>。</a:t>
            </a:r>
            <a:endParaRPr sz="2200">
              <a:latin typeface="微软雅黑"/>
              <a:cs typeface="微软雅黑"/>
            </a:endParaRPr>
          </a:p>
          <a:p>
            <a:pPr marL="6833870">
              <a:lnSpc>
                <a:spcPts val="2860"/>
              </a:lnSpc>
              <a:spcBef>
                <a:spcPts val="470"/>
              </a:spcBef>
            </a:pPr>
            <a:r>
              <a:rPr dirty="0" sz="2400" b="1" i="1">
                <a:solidFill>
                  <a:srgbClr val="001F5F"/>
                </a:solidFill>
                <a:latin typeface="微软雅黑"/>
                <a:cs typeface="微软雅黑"/>
              </a:rPr>
              <a:t>（人眼对黄绿色的光最为敏感）</a:t>
            </a:r>
            <a:endParaRPr sz="2400">
              <a:latin typeface="微软雅黑"/>
              <a:cs typeface="微软雅黑"/>
            </a:endParaRPr>
          </a:p>
          <a:p>
            <a:pPr algn="r" marR="1021080">
              <a:lnSpc>
                <a:spcPts val="4780"/>
              </a:lnSpc>
            </a:pPr>
            <a:r>
              <a:rPr dirty="0" sz="4000" b="1" i="1">
                <a:solidFill>
                  <a:srgbClr val="006FC0"/>
                </a:solidFill>
                <a:latin typeface="微软雅黑"/>
                <a:cs typeface="微软雅黑"/>
              </a:rPr>
              <a:t>巧合</a:t>
            </a:r>
            <a:r>
              <a:rPr dirty="0" sz="4000" spc="-5" b="1" i="1">
                <a:solidFill>
                  <a:srgbClr val="006FC0"/>
                </a:solidFill>
                <a:latin typeface="微软雅黑"/>
                <a:cs typeface="微软雅黑"/>
              </a:rPr>
              <a:t>？</a:t>
            </a:r>
            <a:endParaRPr sz="4000">
              <a:latin typeface="微软雅黑"/>
              <a:cs typeface="微软雅黑"/>
            </a:endParaRPr>
          </a:p>
          <a:p>
            <a:pPr algn="r" marR="5080">
              <a:lnSpc>
                <a:spcPct val="100000"/>
              </a:lnSpc>
            </a:pPr>
            <a:r>
              <a:rPr dirty="0" sz="4000" b="1" i="1">
                <a:solidFill>
                  <a:srgbClr val="006FC0"/>
                </a:solidFill>
                <a:latin typeface="微软雅黑"/>
                <a:cs typeface="微软雅黑"/>
              </a:rPr>
              <a:t>生物进化</a:t>
            </a:r>
            <a:r>
              <a:rPr dirty="0" sz="4000" spc="-5" b="1" i="1">
                <a:solidFill>
                  <a:srgbClr val="006FC0"/>
                </a:solidFill>
                <a:latin typeface="微软雅黑"/>
                <a:cs typeface="微软雅黑"/>
              </a:rPr>
              <a:t>？</a:t>
            </a:r>
            <a:endParaRPr sz="4000">
              <a:latin typeface="微软雅黑"/>
              <a:cs typeface="微软雅黑"/>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1840" y="0"/>
            <a:ext cx="2058670" cy="634365"/>
          </a:xfrm>
          <a:prstGeom prst="rect"/>
        </p:spPr>
        <p:txBody>
          <a:bodyPr wrap="square" lIns="0" tIns="12065" rIns="0" bIns="0" rtlCol="0" vert="horz">
            <a:spAutoFit/>
          </a:bodyPr>
          <a:lstStyle/>
          <a:p>
            <a:pPr marL="12700">
              <a:lnSpc>
                <a:spcPct val="100000"/>
              </a:lnSpc>
              <a:spcBef>
                <a:spcPts val="95"/>
              </a:spcBef>
            </a:pPr>
            <a:r>
              <a:rPr dirty="0" sz="4000" i="0">
                <a:solidFill>
                  <a:srgbClr val="F1F1F1"/>
                </a:solidFill>
                <a:latin typeface="华文楷体"/>
                <a:cs typeface="华文楷体"/>
              </a:rPr>
              <a:t>高中物</a:t>
            </a:r>
            <a:r>
              <a:rPr dirty="0" sz="4000" spc="-10" i="0">
                <a:solidFill>
                  <a:srgbClr val="F1F1F1"/>
                </a:solidFill>
                <a:latin typeface="华文楷体"/>
                <a:cs typeface="华文楷体"/>
              </a:rPr>
              <a:t>理</a:t>
            </a:r>
            <a:endParaRPr sz="4000">
              <a:latin typeface="华文楷体"/>
              <a:cs typeface="华文楷体"/>
            </a:endParaRPr>
          </a:p>
        </p:txBody>
      </p:sp>
      <p:sp>
        <p:nvSpPr>
          <p:cNvPr id="3" name="object 3"/>
          <p:cNvSpPr txBox="1"/>
          <p:nvPr/>
        </p:nvSpPr>
        <p:spPr>
          <a:xfrm>
            <a:off x="493077" y="927378"/>
            <a:ext cx="11189970" cy="2437130"/>
          </a:xfrm>
          <a:prstGeom prst="rect">
            <a:avLst/>
          </a:prstGeom>
        </p:spPr>
        <p:txBody>
          <a:bodyPr wrap="square" lIns="0" tIns="161925" rIns="0" bIns="0" rtlCol="0" vert="horz">
            <a:spAutoFit/>
          </a:bodyPr>
          <a:lstStyle/>
          <a:p>
            <a:pPr marL="12700">
              <a:lnSpc>
                <a:spcPct val="100000"/>
              </a:lnSpc>
              <a:spcBef>
                <a:spcPts val="1275"/>
              </a:spcBef>
            </a:pPr>
            <a:r>
              <a:rPr dirty="0" sz="2800">
                <a:latin typeface="微软雅黑"/>
                <a:cs typeface="微软雅黑"/>
              </a:rPr>
              <a:t>三</a:t>
            </a:r>
            <a:r>
              <a:rPr dirty="0" sz="2800" spc="-5">
                <a:latin typeface="微软雅黑"/>
                <a:cs typeface="微软雅黑"/>
              </a:rPr>
              <a:t>.</a:t>
            </a:r>
            <a:r>
              <a:rPr dirty="0" sz="2800">
                <a:latin typeface="微软雅黑"/>
                <a:cs typeface="微软雅黑"/>
              </a:rPr>
              <a:t>电磁辐射的危害与防</a:t>
            </a:r>
            <a:r>
              <a:rPr dirty="0" sz="2800" spc="-5">
                <a:latin typeface="微软雅黑"/>
                <a:cs typeface="微软雅黑"/>
              </a:rPr>
              <a:t>护</a:t>
            </a:r>
            <a:endParaRPr sz="2800">
              <a:latin typeface="微软雅黑"/>
              <a:cs typeface="微软雅黑"/>
            </a:endParaRPr>
          </a:p>
          <a:p>
            <a:pPr marL="285750" indent="-252729">
              <a:lnSpc>
                <a:spcPct val="100000"/>
              </a:lnSpc>
              <a:spcBef>
                <a:spcPts val="1010"/>
              </a:spcBef>
              <a:buSzPct val="95833"/>
              <a:buAutoNum type="arabicPeriod"/>
              <a:tabLst>
                <a:tab pos="286385" algn="l"/>
              </a:tabLst>
            </a:pPr>
            <a:r>
              <a:rPr dirty="0" sz="2400">
                <a:latin typeface="微软雅黑"/>
                <a:cs typeface="微软雅黑"/>
              </a:rPr>
              <a:t>电磁辐射的来源</a:t>
            </a:r>
            <a:endParaRPr sz="2400">
              <a:latin typeface="微软雅黑"/>
              <a:cs typeface="微软雅黑"/>
            </a:endParaRPr>
          </a:p>
          <a:p>
            <a:pPr marL="33020" marR="5080" indent="360680">
              <a:lnSpc>
                <a:spcPct val="100000"/>
              </a:lnSpc>
              <a:spcBef>
                <a:spcPts val="720"/>
              </a:spcBef>
            </a:pPr>
            <a:r>
              <a:rPr dirty="0" sz="2400" spc="25">
                <a:latin typeface="微软雅黑"/>
                <a:cs typeface="微软雅黑"/>
              </a:rPr>
              <a:t>计算机、无线宽带网、移动电话、电视机、微波炉、</a:t>
            </a:r>
            <a:r>
              <a:rPr dirty="0" sz="2400" spc="30">
                <a:latin typeface="微软雅黑"/>
                <a:cs typeface="微软雅黑"/>
              </a:rPr>
              <a:t>电热毯、电冰箱、无线电</a:t>
            </a:r>
            <a:r>
              <a:rPr dirty="0" sz="2400">
                <a:latin typeface="微软雅黑"/>
                <a:cs typeface="微软雅黑"/>
              </a:rPr>
              <a:t>波 发射塔、高压电线、医疗放射性物质、磁暴现象</a:t>
            </a:r>
            <a:r>
              <a:rPr dirty="0" sz="2400" spc="-5">
                <a:latin typeface="微软雅黑"/>
                <a:cs typeface="微软雅黑"/>
              </a:rPr>
              <a:t>……</a:t>
            </a:r>
            <a:endParaRPr sz="2400">
              <a:latin typeface="微软雅黑"/>
              <a:cs typeface="微软雅黑"/>
            </a:endParaRPr>
          </a:p>
          <a:p>
            <a:pPr marL="285750" indent="-252729">
              <a:lnSpc>
                <a:spcPct val="100000"/>
              </a:lnSpc>
              <a:spcBef>
                <a:spcPts val="1200"/>
              </a:spcBef>
              <a:buSzPct val="95833"/>
              <a:buAutoNum type="arabicPeriod" startAt="2"/>
              <a:tabLst>
                <a:tab pos="286385" algn="l"/>
              </a:tabLst>
            </a:pPr>
            <a:r>
              <a:rPr dirty="0" sz="2400">
                <a:latin typeface="微软雅黑"/>
                <a:cs typeface="微软雅黑"/>
              </a:rPr>
              <a:t>电磁辐射的危害：电磁干扰、电磁辐射对人体的危害</a:t>
            </a:r>
            <a:endParaRPr sz="2400">
              <a:latin typeface="微软雅黑"/>
              <a:cs typeface="微软雅黑"/>
            </a:endParaRPr>
          </a:p>
        </p:txBody>
      </p:sp>
      <p:graphicFrame>
        <p:nvGraphicFramePr>
          <p:cNvPr id="4" name="object 4"/>
          <p:cNvGraphicFramePr>
            <a:graphicFrameLocks noGrp="1"/>
          </p:cNvGraphicFramePr>
          <p:nvPr/>
        </p:nvGraphicFramePr>
        <p:xfrm>
          <a:off x="1157287" y="3554412"/>
          <a:ext cx="8147050" cy="2573020"/>
        </p:xfrm>
        <a:graphic>
          <a:graphicData uri="http://schemas.openxmlformats.org/drawingml/2006/table">
            <a:tbl>
              <a:tblPr firstRow="1" bandRow="1">
                <a:tableStyleId>{2D5ABB26-0587-4C30-8999-92F81FD0307C}</a:tableStyleId>
              </a:tblPr>
              <a:tblGrid>
                <a:gridCol w="2334895"/>
                <a:gridCol w="5793105"/>
              </a:tblGrid>
              <a:tr h="457200">
                <a:tc>
                  <a:txBody>
                    <a:bodyPr/>
                    <a:lstStyle/>
                    <a:p>
                      <a:pPr marL="405130">
                        <a:lnSpc>
                          <a:spcPct val="100000"/>
                        </a:lnSpc>
                        <a:spcBef>
                          <a:spcPts val="300"/>
                        </a:spcBef>
                      </a:pPr>
                      <a:r>
                        <a:rPr dirty="0" sz="2400" b="1" i="1">
                          <a:solidFill>
                            <a:srgbClr val="FFFFFF"/>
                          </a:solidFill>
                          <a:latin typeface="微软雅黑"/>
                          <a:cs typeface="微软雅黑"/>
                        </a:rPr>
                        <a:t>电磁波种类</a:t>
                      </a:r>
                      <a:endParaRPr sz="2400">
                        <a:latin typeface="微软雅黑"/>
                        <a:cs typeface="微软雅黑"/>
                      </a:endParaRPr>
                    </a:p>
                  </a:txBody>
                  <a:tcPr marL="0" marR="0" marB="0" marT="3810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4"/>
                    </a:solidFill>
                  </a:tcPr>
                </a:tc>
                <a:tc>
                  <a:txBody>
                    <a:bodyPr/>
                    <a:lstStyle/>
                    <a:p>
                      <a:pPr algn="ctr">
                        <a:lnSpc>
                          <a:spcPct val="100000"/>
                        </a:lnSpc>
                        <a:spcBef>
                          <a:spcPts val="300"/>
                        </a:spcBef>
                      </a:pPr>
                      <a:r>
                        <a:rPr dirty="0" sz="2400" b="1" i="1">
                          <a:solidFill>
                            <a:srgbClr val="FFFFFF"/>
                          </a:solidFill>
                          <a:latin typeface="微软雅黑"/>
                          <a:cs typeface="微软雅黑"/>
                        </a:rPr>
                        <a:t>对人体的危害</a:t>
                      </a:r>
                      <a:endParaRPr sz="2400">
                        <a:latin typeface="微软雅黑"/>
                        <a:cs typeface="微软雅黑"/>
                      </a:endParaRPr>
                    </a:p>
                  </a:txBody>
                  <a:tcPr marL="0" marR="0" marB="0" marT="3810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4"/>
                    </a:solidFill>
                  </a:tcPr>
                </a:tc>
              </a:tr>
              <a:tr h="822960">
                <a:tc>
                  <a:txBody>
                    <a:bodyPr/>
                    <a:lstStyle/>
                    <a:p>
                      <a:pPr marL="91440">
                        <a:lnSpc>
                          <a:spcPct val="100000"/>
                        </a:lnSpc>
                        <a:spcBef>
                          <a:spcPts val="1740"/>
                        </a:spcBef>
                      </a:pPr>
                      <a:r>
                        <a:rPr dirty="0" sz="2400">
                          <a:latin typeface="微软雅黑"/>
                          <a:cs typeface="微软雅黑"/>
                        </a:rPr>
                        <a:t>红外线、微波</a:t>
                      </a:r>
                      <a:endParaRPr sz="2400">
                        <a:latin typeface="微软雅黑"/>
                        <a:cs typeface="微软雅黑"/>
                      </a:endParaRPr>
                    </a:p>
                  </a:txBody>
                  <a:tcPr marL="0" marR="0" marB="0" marT="22098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2DEEE"/>
                    </a:solidFill>
                  </a:tcPr>
                </a:tc>
                <a:tc>
                  <a:txBody>
                    <a:bodyPr/>
                    <a:lstStyle/>
                    <a:p>
                      <a:pPr marL="90805">
                        <a:lnSpc>
                          <a:spcPct val="100000"/>
                        </a:lnSpc>
                        <a:spcBef>
                          <a:spcPts val="300"/>
                        </a:spcBef>
                      </a:pPr>
                      <a:r>
                        <a:rPr dirty="0" sz="2400">
                          <a:latin typeface="微软雅黑"/>
                          <a:cs typeface="微软雅黑"/>
                        </a:rPr>
                        <a:t>破坏皮肤表皮细胞或皮下细胞</a:t>
                      </a:r>
                      <a:endParaRPr sz="2400">
                        <a:latin typeface="微软雅黑"/>
                        <a:cs typeface="微软雅黑"/>
                      </a:endParaRPr>
                    </a:p>
                    <a:p>
                      <a:pPr marL="90805">
                        <a:lnSpc>
                          <a:spcPct val="100000"/>
                        </a:lnSpc>
                      </a:pPr>
                      <a:r>
                        <a:rPr dirty="0" sz="2400">
                          <a:latin typeface="微软雅黑"/>
                          <a:cs typeface="微软雅黑"/>
                        </a:rPr>
                        <a:t>灼伤眼睛，视网膜、角膜损伤，白内障</a:t>
                      </a:r>
                      <a:endParaRPr sz="2400">
                        <a:latin typeface="微软雅黑"/>
                        <a:cs typeface="微软雅黑"/>
                      </a:endParaRPr>
                    </a:p>
                  </a:txBody>
                  <a:tcPr marL="0" marR="0" marB="0" marT="3810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2DEEE"/>
                    </a:solidFill>
                  </a:tcPr>
                </a:tc>
              </a:tr>
              <a:tr h="822960">
                <a:tc>
                  <a:txBody>
                    <a:bodyPr/>
                    <a:lstStyle/>
                    <a:p>
                      <a:pPr marL="91440">
                        <a:lnSpc>
                          <a:spcPct val="100000"/>
                        </a:lnSpc>
                        <a:spcBef>
                          <a:spcPts val="1740"/>
                        </a:spcBef>
                      </a:pPr>
                      <a:r>
                        <a:rPr dirty="0" sz="2400">
                          <a:latin typeface="微软雅黑"/>
                          <a:cs typeface="微软雅黑"/>
                        </a:rPr>
                        <a:t>紫外线</a:t>
                      </a:r>
                      <a:endParaRPr sz="2400">
                        <a:latin typeface="微软雅黑"/>
                        <a:cs typeface="微软雅黑"/>
                      </a:endParaRPr>
                    </a:p>
                  </a:txBody>
                  <a:tcPr marL="0" marR="0" marB="0" marT="22098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marL="90805" marR="513080">
                        <a:lnSpc>
                          <a:spcPct val="100000"/>
                        </a:lnSpc>
                        <a:spcBef>
                          <a:spcPts val="300"/>
                        </a:spcBef>
                      </a:pPr>
                      <a:r>
                        <a:rPr dirty="0" sz="2400">
                          <a:latin typeface="微软雅黑"/>
                          <a:cs typeface="微软雅黑"/>
                        </a:rPr>
                        <a:t>灼伤眼睛，视网膜、角膜损伤，白内障 皮肤癌</a:t>
                      </a:r>
                      <a:endParaRPr sz="2400">
                        <a:latin typeface="微软雅黑"/>
                        <a:cs typeface="微软雅黑"/>
                      </a:endParaRPr>
                    </a:p>
                  </a:txBody>
                  <a:tcPr marL="0" marR="0" marB="0" marT="3810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r>
              <a:tr h="457200">
                <a:tc>
                  <a:txBody>
                    <a:bodyPr/>
                    <a:lstStyle/>
                    <a:p>
                      <a:pPr marL="91440">
                        <a:lnSpc>
                          <a:spcPct val="100000"/>
                        </a:lnSpc>
                        <a:spcBef>
                          <a:spcPts val="300"/>
                        </a:spcBef>
                      </a:pPr>
                      <a:r>
                        <a:rPr dirty="0" sz="2400">
                          <a:latin typeface="Times New Roman"/>
                          <a:cs typeface="Times New Roman"/>
                        </a:rPr>
                        <a:t>X</a:t>
                      </a:r>
                      <a:r>
                        <a:rPr dirty="0" sz="2400">
                          <a:latin typeface="微软雅黑"/>
                          <a:cs typeface="微软雅黑"/>
                        </a:rPr>
                        <a:t>射线和</a:t>
                      </a:r>
                      <a:r>
                        <a:rPr dirty="0" sz="2400" b="1" i="1">
                          <a:latin typeface="Times New Roman"/>
                          <a:cs typeface="Times New Roman"/>
                        </a:rPr>
                        <a:t>γ</a:t>
                      </a:r>
                      <a:r>
                        <a:rPr dirty="0" sz="2400">
                          <a:latin typeface="微软雅黑"/>
                          <a:cs typeface="微软雅黑"/>
                        </a:rPr>
                        <a:t>射线</a:t>
                      </a:r>
                      <a:endParaRPr sz="2400">
                        <a:latin typeface="微软雅黑"/>
                        <a:cs typeface="微软雅黑"/>
                      </a:endParaRPr>
                    </a:p>
                  </a:txBody>
                  <a:tcPr marL="0" marR="0" marB="0" marT="3810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DEEE"/>
                    </a:solidFill>
                  </a:tcPr>
                </a:tc>
                <a:tc>
                  <a:txBody>
                    <a:bodyPr/>
                    <a:lstStyle/>
                    <a:p>
                      <a:pPr marL="90805">
                        <a:lnSpc>
                          <a:spcPct val="100000"/>
                        </a:lnSpc>
                        <a:spcBef>
                          <a:spcPts val="300"/>
                        </a:spcBef>
                      </a:pPr>
                      <a:r>
                        <a:rPr dirty="0" sz="2400">
                          <a:latin typeface="微软雅黑"/>
                          <a:cs typeface="微软雅黑"/>
                        </a:rPr>
                        <a:t>基因突变、癌变</a:t>
                      </a:r>
                      <a:endParaRPr sz="2400">
                        <a:latin typeface="微软雅黑"/>
                        <a:cs typeface="微软雅黑"/>
                      </a:endParaRPr>
                    </a:p>
                  </a:txBody>
                  <a:tcPr marL="0" marR="0" marB="0" marT="3810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DEEE"/>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1840" y="0"/>
            <a:ext cx="2058670" cy="634365"/>
          </a:xfrm>
          <a:prstGeom prst="rect"/>
        </p:spPr>
        <p:txBody>
          <a:bodyPr wrap="square" lIns="0" tIns="12065" rIns="0" bIns="0" rtlCol="0" vert="horz">
            <a:spAutoFit/>
          </a:bodyPr>
          <a:lstStyle/>
          <a:p>
            <a:pPr marL="12700">
              <a:lnSpc>
                <a:spcPct val="100000"/>
              </a:lnSpc>
              <a:spcBef>
                <a:spcPts val="95"/>
              </a:spcBef>
            </a:pPr>
            <a:r>
              <a:rPr dirty="0" sz="4000" i="0">
                <a:solidFill>
                  <a:srgbClr val="F1F1F1"/>
                </a:solidFill>
                <a:latin typeface="华文楷体"/>
                <a:cs typeface="华文楷体"/>
              </a:rPr>
              <a:t>高中物</a:t>
            </a:r>
            <a:r>
              <a:rPr dirty="0" sz="4000" spc="-10" i="0">
                <a:solidFill>
                  <a:srgbClr val="F1F1F1"/>
                </a:solidFill>
                <a:latin typeface="华文楷体"/>
                <a:cs typeface="华文楷体"/>
              </a:rPr>
              <a:t>理</a:t>
            </a:r>
            <a:endParaRPr sz="4000">
              <a:latin typeface="华文楷体"/>
              <a:cs typeface="华文楷体"/>
            </a:endParaRPr>
          </a:p>
        </p:txBody>
      </p:sp>
      <p:sp>
        <p:nvSpPr>
          <p:cNvPr id="3" name="object 3"/>
          <p:cNvSpPr txBox="1"/>
          <p:nvPr/>
        </p:nvSpPr>
        <p:spPr>
          <a:xfrm>
            <a:off x="5771515" y="2488882"/>
            <a:ext cx="4534535" cy="331470"/>
          </a:xfrm>
          <a:prstGeom prst="rect">
            <a:avLst/>
          </a:prstGeom>
        </p:spPr>
        <p:txBody>
          <a:bodyPr wrap="square" lIns="0" tIns="13335" rIns="0" bIns="0" rtlCol="0" vert="horz">
            <a:spAutoFit/>
          </a:bodyPr>
          <a:lstStyle/>
          <a:p>
            <a:pPr marL="12700">
              <a:lnSpc>
                <a:spcPct val="100000"/>
              </a:lnSpc>
              <a:spcBef>
                <a:spcPts val="105"/>
              </a:spcBef>
            </a:pPr>
            <a:r>
              <a:rPr dirty="0" sz="2000">
                <a:latin typeface="微软雅黑"/>
                <a:cs typeface="微软雅黑"/>
              </a:rPr>
              <a:t>*</a:t>
            </a:r>
            <a:r>
              <a:rPr dirty="0" sz="2000" spc="-90">
                <a:latin typeface="微软雅黑"/>
                <a:cs typeface="微软雅黑"/>
              </a:rPr>
              <a:t> </a:t>
            </a:r>
            <a:r>
              <a:rPr dirty="0" sz="2000">
                <a:latin typeface="微软雅黑"/>
                <a:cs typeface="微软雅黑"/>
              </a:rPr>
              <a:t>不要过于集中摆放，卧室少摆放电器</a:t>
            </a:r>
            <a:r>
              <a:rPr dirty="0" sz="2000" spc="5">
                <a:latin typeface="微软雅黑"/>
                <a:cs typeface="微软雅黑"/>
              </a:rPr>
              <a:t>；</a:t>
            </a:r>
            <a:endParaRPr sz="2000">
              <a:latin typeface="微软雅黑"/>
              <a:cs typeface="微软雅黑"/>
            </a:endParaRPr>
          </a:p>
        </p:txBody>
      </p:sp>
      <p:sp>
        <p:nvSpPr>
          <p:cNvPr id="4" name="object 4"/>
          <p:cNvSpPr txBox="1"/>
          <p:nvPr/>
        </p:nvSpPr>
        <p:spPr>
          <a:xfrm>
            <a:off x="493077" y="1008221"/>
            <a:ext cx="4855210" cy="2633345"/>
          </a:xfrm>
          <a:prstGeom prst="rect">
            <a:avLst/>
          </a:prstGeom>
        </p:spPr>
        <p:txBody>
          <a:bodyPr wrap="square" lIns="0" tIns="95250" rIns="0" bIns="0" rtlCol="0" vert="horz">
            <a:spAutoFit/>
          </a:bodyPr>
          <a:lstStyle/>
          <a:p>
            <a:pPr marL="12700">
              <a:lnSpc>
                <a:spcPct val="100000"/>
              </a:lnSpc>
              <a:spcBef>
                <a:spcPts val="750"/>
              </a:spcBef>
            </a:pPr>
            <a:r>
              <a:rPr dirty="0" sz="2800">
                <a:latin typeface="微软雅黑"/>
                <a:cs typeface="微软雅黑"/>
              </a:rPr>
              <a:t>三</a:t>
            </a:r>
            <a:r>
              <a:rPr dirty="0" sz="2800" spc="-5">
                <a:latin typeface="微软雅黑"/>
                <a:cs typeface="微软雅黑"/>
              </a:rPr>
              <a:t>.</a:t>
            </a:r>
            <a:r>
              <a:rPr dirty="0" sz="2800">
                <a:latin typeface="微软雅黑"/>
                <a:cs typeface="微软雅黑"/>
              </a:rPr>
              <a:t>电磁辐射的危害与防</a:t>
            </a:r>
            <a:r>
              <a:rPr dirty="0" sz="2800" spc="-5">
                <a:latin typeface="微软雅黑"/>
                <a:cs typeface="微软雅黑"/>
              </a:rPr>
              <a:t>护</a:t>
            </a:r>
            <a:endParaRPr sz="2800">
              <a:latin typeface="微软雅黑"/>
              <a:cs typeface="微软雅黑"/>
            </a:endParaRPr>
          </a:p>
          <a:p>
            <a:pPr marL="33020">
              <a:lnSpc>
                <a:spcPct val="100000"/>
              </a:lnSpc>
              <a:spcBef>
                <a:spcPts val="560"/>
              </a:spcBef>
            </a:pPr>
            <a:r>
              <a:rPr dirty="0" sz="2400" spc="-5">
                <a:latin typeface="微软雅黑"/>
                <a:cs typeface="微软雅黑"/>
              </a:rPr>
              <a:t>3.</a:t>
            </a:r>
            <a:r>
              <a:rPr dirty="0" sz="2400">
                <a:latin typeface="微软雅黑"/>
                <a:cs typeface="微软雅黑"/>
              </a:rPr>
              <a:t>减小或避免电磁辐射危害的方法</a:t>
            </a:r>
            <a:endParaRPr sz="2400">
              <a:latin typeface="微软雅黑"/>
              <a:cs typeface="微软雅黑"/>
            </a:endParaRPr>
          </a:p>
          <a:p>
            <a:pPr marL="821690" indent="-788670">
              <a:lnSpc>
                <a:spcPct val="100000"/>
              </a:lnSpc>
              <a:spcBef>
                <a:spcPts val="720"/>
              </a:spcBef>
              <a:buSzPct val="95833"/>
              <a:buAutoNum type="arabicPlain"/>
              <a:tabLst>
                <a:tab pos="822325" algn="l"/>
              </a:tabLst>
            </a:pPr>
            <a:r>
              <a:rPr dirty="0" sz="2400">
                <a:latin typeface="微软雅黑"/>
                <a:cs typeface="微软雅黑"/>
              </a:rPr>
              <a:t>正确摆放和使用家用电器</a:t>
            </a:r>
            <a:endParaRPr sz="2400">
              <a:latin typeface="微软雅黑"/>
              <a:cs typeface="微软雅黑"/>
            </a:endParaRPr>
          </a:p>
          <a:p>
            <a:pPr lvl="1" marL="523240" indent="-190500">
              <a:lnSpc>
                <a:spcPct val="100000"/>
              </a:lnSpc>
              <a:spcBef>
                <a:spcPts val="610"/>
              </a:spcBef>
              <a:buChar char="*"/>
              <a:tabLst>
                <a:tab pos="523875" algn="l"/>
              </a:tabLst>
            </a:pPr>
            <a:r>
              <a:rPr dirty="0" sz="2000">
                <a:latin typeface="微软雅黑"/>
                <a:cs typeface="微软雅黑"/>
              </a:rPr>
              <a:t>家用电器的电磁辐射量符合国家标准</a:t>
            </a:r>
            <a:r>
              <a:rPr dirty="0" sz="2000" spc="5">
                <a:latin typeface="微软雅黑"/>
                <a:cs typeface="微软雅黑"/>
              </a:rPr>
              <a:t>；</a:t>
            </a:r>
            <a:endParaRPr sz="2000">
              <a:latin typeface="微软雅黑"/>
              <a:cs typeface="微软雅黑"/>
            </a:endParaRPr>
          </a:p>
          <a:p>
            <a:pPr lvl="1" marL="523240" indent="-190500">
              <a:lnSpc>
                <a:spcPct val="100000"/>
              </a:lnSpc>
              <a:spcBef>
                <a:spcPts val="600"/>
              </a:spcBef>
              <a:buClr>
                <a:srgbClr val="000000"/>
              </a:buClr>
              <a:buFont typeface="΢"/>
              <a:buChar char="*"/>
              <a:tabLst>
                <a:tab pos="523875" algn="l"/>
              </a:tabLst>
            </a:pPr>
            <a:r>
              <a:rPr dirty="0" sz="2000" b="1" i="1">
                <a:solidFill>
                  <a:srgbClr val="001F5F"/>
                </a:solidFill>
                <a:latin typeface="微软雅黑"/>
                <a:cs typeface="微软雅黑"/>
              </a:rPr>
              <a:t>人体与电器之间保持适当距离</a:t>
            </a:r>
            <a:r>
              <a:rPr dirty="0" sz="2000" spc="-5">
                <a:latin typeface="微软雅黑"/>
                <a:cs typeface="微软雅黑"/>
              </a:rPr>
              <a:t>……</a:t>
            </a:r>
            <a:endParaRPr sz="2000">
              <a:latin typeface="微软雅黑"/>
              <a:cs typeface="微软雅黑"/>
            </a:endParaRPr>
          </a:p>
          <a:p>
            <a:pPr marL="821690" indent="-788670">
              <a:lnSpc>
                <a:spcPct val="100000"/>
              </a:lnSpc>
              <a:spcBef>
                <a:spcPts val="590"/>
              </a:spcBef>
              <a:buSzPct val="95833"/>
              <a:buAutoNum type="arabicPlain"/>
              <a:tabLst>
                <a:tab pos="822325" algn="l"/>
              </a:tabLst>
            </a:pPr>
            <a:r>
              <a:rPr dirty="0" sz="2400">
                <a:latin typeface="微软雅黑"/>
                <a:cs typeface="微软雅黑"/>
              </a:rPr>
              <a:t>电磁屏蔽</a:t>
            </a:r>
            <a:endParaRPr sz="2400">
              <a:latin typeface="微软雅黑"/>
              <a:cs typeface="微软雅黑"/>
            </a:endParaRPr>
          </a:p>
        </p:txBody>
      </p:sp>
      <p:sp>
        <p:nvSpPr>
          <p:cNvPr id="5" name="object 5"/>
          <p:cNvSpPr txBox="1"/>
          <p:nvPr/>
        </p:nvSpPr>
        <p:spPr>
          <a:xfrm>
            <a:off x="874394" y="3742372"/>
            <a:ext cx="9678035" cy="331470"/>
          </a:xfrm>
          <a:prstGeom prst="rect">
            <a:avLst/>
          </a:prstGeom>
        </p:spPr>
        <p:txBody>
          <a:bodyPr wrap="square" lIns="0" tIns="13335" rIns="0" bIns="0" rtlCol="0" vert="horz">
            <a:spAutoFit/>
          </a:bodyPr>
          <a:lstStyle/>
          <a:p>
            <a:pPr marL="12700">
              <a:lnSpc>
                <a:spcPct val="100000"/>
              </a:lnSpc>
              <a:spcBef>
                <a:spcPts val="105"/>
              </a:spcBef>
            </a:pPr>
            <a:r>
              <a:rPr dirty="0" sz="2000">
                <a:latin typeface="微软雅黑"/>
                <a:cs typeface="微软雅黑"/>
              </a:rPr>
              <a:t>利用导电性能和导磁性能好的</a:t>
            </a:r>
            <a:r>
              <a:rPr dirty="0" sz="2000" b="1" i="1">
                <a:solidFill>
                  <a:srgbClr val="001F5F"/>
                </a:solidFill>
                <a:latin typeface="微软雅黑"/>
                <a:cs typeface="微软雅黑"/>
              </a:rPr>
              <a:t>金属板、金属网</a:t>
            </a:r>
            <a:r>
              <a:rPr dirty="0" sz="2000">
                <a:latin typeface="微软雅黑"/>
                <a:cs typeface="微软雅黑"/>
              </a:rPr>
              <a:t>，通过</a:t>
            </a:r>
            <a:r>
              <a:rPr dirty="0" sz="2000" b="1" i="1">
                <a:solidFill>
                  <a:srgbClr val="001F5F"/>
                </a:solidFill>
                <a:latin typeface="微软雅黑"/>
                <a:cs typeface="微软雅黑"/>
              </a:rPr>
              <a:t>反射和吸收</a:t>
            </a:r>
            <a:r>
              <a:rPr dirty="0" sz="2000">
                <a:latin typeface="微软雅黑"/>
                <a:cs typeface="微软雅黑"/>
              </a:rPr>
              <a:t>来阻隔电磁波的传播</a:t>
            </a:r>
            <a:r>
              <a:rPr dirty="0" sz="2000" spc="5">
                <a:latin typeface="微软雅黑"/>
                <a:cs typeface="微软雅黑"/>
              </a:rPr>
              <a:t>。</a:t>
            </a:r>
            <a:endParaRPr sz="2000">
              <a:latin typeface="微软雅黑"/>
              <a:cs typeface="微软雅黑"/>
            </a:endParaRPr>
          </a:p>
        </p:txBody>
      </p:sp>
      <p:sp>
        <p:nvSpPr>
          <p:cNvPr id="6" name="object 6"/>
          <p:cNvSpPr/>
          <p:nvPr/>
        </p:nvSpPr>
        <p:spPr>
          <a:xfrm>
            <a:off x="2307335" y="4117847"/>
            <a:ext cx="6489192" cy="2551176"/>
          </a:xfrm>
          <a:prstGeom prst="rect">
            <a:avLst/>
          </a:prstGeom>
          <a:blipFill>
            <a:blip r:embed="rId2" cstate="print"/>
            <a:stretch>
              <a:fillRect/>
            </a:stretch>
          </a:blipFill>
        </p:spPr>
        <p:txBody>
          <a:bodyPr wrap="square" lIns="0" tIns="0" rIns="0" bIns="0" rtlCol="0"/>
          <a:lstStyle/>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1840" y="0"/>
            <a:ext cx="2058670" cy="634365"/>
          </a:xfrm>
          <a:prstGeom prst="rect"/>
        </p:spPr>
        <p:txBody>
          <a:bodyPr wrap="square" lIns="0" tIns="12065" rIns="0" bIns="0" rtlCol="0" vert="horz">
            <a:spAutoFit/>
          </a:bodyPr>
          <a:lstStyle/>
          <a:p>
            <a:pPr marL="12700">
              <a:lnSpc>
                <a:spcPct val="100000"/>
              </a:lnSpc>
              <a:spcBef>
                <a:spcPts val="95"/>
              </a:spcBef>
            </a:pPr>
            <a:r>
              <a:rPr dirty="0" sz="4000" i="0">
                <a:solidFill>
                  <a:srgbClr val="F1F1F1"/>
                </a:solidFill>
                <a:latin typeface="华文楷体"/>
                <a:cs typeface="华文楷体"/>
              </a:rPr>
              <a:t>高中物</a:t>
            </a:r>
            <a:r>
              <a:rPr dirty="0" sz="4000" spc="-10" i="0">
                <a:solidFill>
                  <a:srgbClr val="F1F1F1"/>
                </a:solidFill>
                <a:latin typeface="华文楷体"/>
                <a:cs typeface="华文楷体"/>
              </a:rPr>
              <a:t>理</a:t>
            </a:r>
            <a:endParaRPr sz="4000">
              <a:latin typeface="华文楷体"/>
              <a:cs typeface="华文楷体"/>
            </a:endParaRPr>
          </a:p>
        </p:txBody>
      </p:sp>
      <p:sp>
        <p:nvSpPr>
          <p:cNvPr id="3" name="object 3"/>
          <p:cNvSpPr txBox="1"/>
          <p:nvPr/>
        </p:nvSpPr>
        <p:spPr>
          <a:xfrm>
            <a:off x="649287" y="1130617"/>
            <a:ext cx="10630535" cy="2251075"/>
          </a:xfrm>
          <a:prstGeom prst="rect">
            <a:avLst/>
          </a:prstGeom>
        </p:spPr>
        <p:txBody>
          <a:bodyPr wrap="square" lIns="0" tIns="101600" rIns="0" bIns="0" rtlCol="0" vert="horz">
            <a:spAutoFit/>
          </a:bodyPr>
          <a:lstStyle/>
          <a:p>
            <a:pPr marL="12700">
              <a:lnSpc>
                <a:spcPct val="100000"/>
              </a:lnSpc>
              <a:spcBef>
                <a:spcPts val="800"/>
              </a:spcBef>
            </a:pPr>
            <a:r>
              <a:rPr dirty="0" sz="2400">
                <a:latin typeface="微软雅黑"/>
                <a:cs typeface="微软雅黑"/>
              </a:rPr>
              <a:t>例题</a:t>
            </a:r>
            <a:r>
              <a:rPr dirty="0" sz="2400">
                <a:latin typeface="Times New Roman"/>
                <a:cs typeface="Times New Roman"/>
              </a:rPr>
              <a:t>.</a:t>
            </a:r>
            <a:r>
              <a:rPr dirty="0" sz="2400">
                <a:latin typeface="微软雅黑"/>
                <a:cs typeface="微软雅黑"/>
              </a:rPr>
              <a:t>关于各种电磁波的性质比较，下列说法中正确的有</a:t>
            </a:r>
            <a:endParaRPr sz="2400">
              <a:latin typeface="微软雅黑"/>
              <a:cs typeface="微软雅黑"/>
            </a:endParaRPr>
          </a:p>
          <a:p>
            <a:pPr marL="415925" indent="-297180">
              <a:lnSpc>
                <a:spcPct val="100000"/>
              </a:lnSpc>
              <a:spcBef>
                <a:spcPts val="700"/>
              </a:spcBef>
              <a:buSzPct val="95833"/>
              <a:buFont typeface="Times New Roman"/>
              <a:buAutoNum type="alphaUcPeriod"/>
              <a:tabLst>
                <a:tab pos="415925" algn="l"/>
              </a:tabLst>
            </a:pPr>
            <a:r>
              <a:rPr dirty="0" sz="2400">
                <a:latin typeface="微软雅黑"/>
                <a:cs typeface="微软雅黑"/>
              </a:rPr>
              <a:t>由于红外线的波长比可见光长，所以比可见光更容易发生干涉、衍射</a:t>
            </a:r>
            <a:endParaRPr sz="2400">
              <a:latin typeface="微软雅黑"/>
              <a:cs typeface="微软雅黑"/>
            </a:endParaRPr>
          </a:p>
          <a:p>
            <a:pPr marL="415925" indent="-280035">
              <a:lnSpc>
                <a:spcPct val="100000"/>
              </a:lnSpc>
              <a:spcBef>
                <a:spcPts val="575"/>
              </a:spcBef>
              <a:buSzPct val="95833"/>
              <a:buFont typeface="Times New Roman"/>
              <a:buAutoNum type="alphaUcPeriod"/>
              <a:tabLst>
                <a:tab pos="415925" algn="l"/>
              </a:tabLst>
            </a:pPr>
            <a:r>
              <a:rPr dirty="0" sz="2400">
                <a:latin typeface="微软雅黑"/>
                <a:cs typeface="微软雅黑"/>
              </a:rPr>
              <a:t>由于</a:t>
            </a:r>
            <a:r>
              <a:rPr dirty="0" sz="2400" b="1" i="1">
                <a:latin typeface="Times New Roman"/>
                <a:cs typeface="Times New Roman"/>
              </a:rPr>
              <a:t>γ</a:t>
            </a:r>
            <a:r>
              <a:rPr dirty="0" sz="2400">
                <a:latin typeface="微软雅黑"/>
                <a:cs typeface="微软雅黑"/>
              </a:rPr>
              <a:t>射线的波长太短了，所以根本无法发生干涉、衍射</a:t>
            </a:r>
            <a:endParaRPr sz="2400">
              <a:latin typeface="微软雅黑"/>
              <a:cs typeface="微软雅黑"/>
            </a:endParaRPr>
          </a:p>
          <a:p>
            <a:pPr marL="415925" indent="-280035">
              <a:lnSpc>
                <a:spcPct val="100000"/>
              </a:lnSpc>
              <a:spcBef>
                <a:spcPts val="575"/>
              </a:spcBef>
              <a:buSzPct val="95833"/>
              <a:buFont typeface="Times New Roman"/>
              <a:buAutoNum type="alphaUcPeriod"/>
              <a:tabLst>
                <a:tab pos="415925" algn="l"/>
              </a:tabLst>
            </a:pPr>
            <a:r>
              <a:rPr dirty="0" sz="2400">
                <a:latin typeface="微软雅黑"/>
                <a:cs typeface="微软雅黑"/>
              </a:rPr>
              <a:t>在电磁波谱中，任何两种相邻的电磁波都有重叠的部分</a:t>
            </a:r>
            <a:endParaRPr sz="2400">
              <a:latin typeface="微软雅黑"/>
              <a:cs typeface="微软雅黑"/>
            </a:endParaRPr>
          </a:p>
          <a:p>
            <a:pPr marL="433070" indent="-297180">
              <a:lnSpc>
                <a:spcPct val="100000"/>
              </a:lnSpc>
              <a:spcBef>
                <a:spcPts val="575"/>
              </a:spcBef>
              <a:buSzPct val="95833"/>
              <a:buFont typeface="Times New Roman"/>
              <a:buAutoNum type="alphaUcPeriod"/>
              <a:tabLst>
                <a:tab pos="433070" algn="l"/>
              </a:tabLst>
            </a:pPr>
            <a:r>
              <a:rPr dirty="0" sz="2400" b="1" i="1">
                <a:latin typeface="Times New Roman"/>
                <a:cs typeface="Times New Roman"/>
              </a:rPr>
              <a:t>γ</a:t>
            </a:r>
            <a:r>
              <a:rPr dirty="0" sz="2400">
                <a:latin typeface="微软雅黑"/>
                <a:cs typeface="微软雅黑"/>
              </a:rPr>
              <a:t>射线的穿透能力最强，所以最适于用来透视人体，检查骨骼和其它病变情况</a:t>
            </a:r>
            <a:endParaRPr sz="2400">
              <a:latin typeface="微软雅黑"/>
              <a:cs typeface="微软雅黑"/>
            </a:endParaRPr>
          </a:p>
        </p:txBody>
      </p:sp>
      <p:sp>
        <p:nvSpPr>
          <p:cNvPr id="4" name="object 4"/>
          <p:cNvSpPr txBox="1"/>
          <p:nvPr/>
        </p:nvSpPr>
        <p:spPr>
          <a:xfrm>
            <a:off x="820102" y="5795962"/>
            <a:ext cx="1160145" cy="391160"/>
          </a:xfrm>
          <a:prstGeom prst="rect">
            <a:avLst/>
          </a:prstGeom>
        </p:spPr>
        <p:txBody>
          <a:bodyPr wrap="square" lIns="0" tIns="12700" rIns="0" bIns="0" rtlCol="0" vert="horz">
            <a:spAutoFit/>
          </a:bodyPr>
          <a:lstStyle/>
          <a:p>
            <a:pPr marL="12700">
              <a:lnSpc>
                <a:spcPct val="100000"/>
              </a:lnSpc>
              <a:spcBef>
                <a:spcPts val="100"/>
              </a:spcBef>
            </a:pPr>
            <a:r>
              <a:rPr dirty="0" sz="2400">
                <a:latin typeface="微软雅黑"/>
                <a:cs typeface="微软雅黑"/>
              </a:rPr>
              <a:t>答案：</a:t>
            </a:r>
            <a:r>
              <a:rPr dirty="0" sz="2400">
                <a:latin typeface="Times New Roman"/>
                <a:cs typeface="Times New Roman"/>
              </a:rPr>
              <a:t>A</a:t>
            </a:r>
            <a:endParaRPr sz="2400">
              <a:latin typeface="Times New Roman"/>
              <a:cs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1840" y="0"/>
            <a:ext cx="2058670" cy="634365"/>
          </a:xfrm>
          <a:prstGeom prst="rect"/>
        </p:spPr>
        <p:txBody>
          <a:bodyPr wrap="square" lIns="0" tIns="12065" rIns="0" bIns="0" rtlCol="0" vert="horz">
            <a:spAutoFit/>
          </a:bodyPr>
          <a:lstStyle/>
          <a:p>
            <a:pPr marL="12700">
              <a:lnSpc>
                <a:spcPct val="100000"/>
              </a:lnSpc>
              <a:spcBef>
                <a:spcPts val="95"/>
              </a:spcBef>
            </a:pPr>
            <a:r>
              <a:rPr dirty="0" sz="4000" i="0">
                <a:solidFill>
                  <a:srgbClr val="F1F1F1"/>
                </a:solidFill>
                <a:latin typeface="华文楷体"/>
                <a:cs typeface="华文楷体"/>
              </a:rPr>
              <a:t>高中物</a:t>
            </a:r>
            <a:r>
              <a:rPr dirty="0" sz="4000" spc="-10" i="0">
                <a:solidFill>
                  <a:srgbClr val="F1F1F1"/>
                </a:solidFill>
                <a:latin typeface="华文楷体"/>
                <a:cs typeface="华文楷体"/>
              </a:rPr>
              <a:t>理</a:t>
            </a:r>
            <a:endParaRPr sz="4000">
              <a:latin typeface="华文楷体"/>
              <a:cs typeface="华文楷体"/>
            </a:endParaRPr>
          </a:p>
        </p:txBody>
      </p:sp>
      <p:sp>
        <p:nvSpPr>
          <p:cNvPr id="3" name="object 3"/>
          <p:cNvSpPr txBox="1"/>
          <p:nvPr/>
        </p:nvSpPr>
        <p:spPr>
          <a:xfrm>
            <a:off x="421640" y="1142047"/>
            <a:ext cx="11684000" cy="2658110"/>
          </a:xfrm>
          <a:prstGeom prst="rect">
            <a:avLst/>
          </a:prstGeom>
        </p:spPr>
        <p:txBody>
          <a:bodyPr wrap="square" lIns="0" tIns="85725" rIns="0" bIns="0" rtlCol="0" vert="horz">
            <a:spAutoFit/>
          </a:bodyPr>
          <a:lstStyle/>
          <a:p>
            <a:pPr marL="12700">
              <a:lnSpc>
                <a:spcPct val="100000"/>
              </a:lnSpc>
              <a:spcBef>
                <a:spcPts val="675"/>
              </a:spcBef>
            </a:pPr>
            <a:r>
              <a:rPr dirty="0" sz="2400">
                <a:latin typeface="微软雅黑"/>
                <a:cs typeface="微软雅黑"/>
              </a:rPr>
              <a:t>例题</a:t>
            </a:r>
            <a:r>
              <a:rPr dirty="0" sz="2400">
                <a:latin typeface="Times New Roman"/>
                <a:cs typeface="Times New Roman"/>
              </a:rPr>
              <a:t>.</a:t>
            </a:r>
            <a:r>
              <a:rPr dirty="0" sz="2400">
                <a:latin typeface="微软雅黑"/>
                <a:cs typeface="微软雅黑"/>
              </a:rPr>
              <a:t>电磁波在日常生活和生产中有大量应用。下列应用中，各是利用了哪一种电磁波？</a:t>
            </a:r>
            <a:endParaRPr sz="2400">
              <a:latin typeface="微软雅黑"/>
              <a:cs typeface="微软雅黑"/>
            </a:endParaRPr>
          </a:p>
          <a:p>
            <a:pPr marL="317500">
              <a:lnSpc>
                <a:spcPct val="100000"/>
              </a:lnSpc>
              <a:spcBef>
                <a:spcPts val="575"/>
              </a:spcBef>
              <a:tabLst>
                <a:tab pos="5574665" algn="l"/>
              </a:tabLst>
            </a:pPr>
            <a:r>
              <a:rPr dirty="0" sz="2400">
                <a:latin typeface="微软雅黑"/>
                <a:cs typeface="微软雅黑"/>
              </a:rPr>
              <a:t>⑴</a:t>
            </a:r>
            <a:r>
              <a:rPr dirty="0" sz="2400" spc="-114">
                <a:latin typeface="微软雅黑"/>
                <a:cs typeface="微软雅黑"/>
              </a:rPr>
              <a:t> </a:t>
            </a:r>
            <a:r>
              <a:rPr dirty="0" sz="2400">
                <a:latin typeface="微软雅黑"/>
                <a:cs typeface="微软雅黑"/>
              </a:rPr>
              <a:t>控制电视、空调的遥控器</a:t>
            </a:r>
            <a:r>
              <a:rPr dirty="0" u="sng" sz="2400">
                <a:uFill>
                  <a:solidFill>
                    <a:srgbClr val="000000"/>
                  </a:solidFill>
                </a:uFill>
                <a:latin typeface="微软雅黑"/>
                <a:cs typeface="微软雅黑"/>
              </a:rPr>
              <a:t> 	</a:t>
            </a:r>
            <a:r>
              <a:rPr dirty="0" sz="2400">
                <a:latin typeface="微软雅黑"/>
                <a:cs typeface="微软雅黑"/>
              </a:rPr>
              <a:t>；</a:t>
            </a:r>
            <a:endParaRPr sz="2400">
              <a:latin typeface="微软雅黑"/>
              <a:cs typeface="微软雅黑"/>
            </a:endParaRPr>
          </a:p>
          <a:p>
            <a:pPr marL="317500">
              <a:lnSpc>
                <a:spcPct val="100000"/>
              </a:lnSpc>
              <a:spcBef>
                <a:spcPts val="575"/>
              </a:spcBef>
              <a:tabLst>
                <a:tab pos="7555865" algn="l"/>
              </a:tabLst>
            </a:pPr>
            <a:r>
              <a:rPr dirty="0" sz="2400">
                <a:latin typeface="微软雅黑"/>
                <a:cs typeface="微软雅黑"/>
              </a:rPr>
              <a:t>⑵</a:t>
            </a:r>
            <a:r>
              <a:rPr dirty="0" sz="2400" spc="-114">
                <a:latin typeface="微软雅黑"/>
                <a:cs typeface="微软雅黑"/>
              </a:rPr>
              <a:t> </a:t>
            </a:r>
            <a:r>
              <a:rPr dirty="0" sz="2400">
                <a:latin typeface="微软雅黑"/>
                <a:cs typeface="微软雅黑"/>
              </a:rPr>
              <a:t>银行和商店用来鉴别大额钞票真伪的验钞机</a:t>
            </a:r>
            <a:r>
              <a:rPr dirty="0" u="sng" sz="2400">
                <a:uFill>
                  <a:solidFill>
                    <a:srgbClr val="000000"/>
                  </a:solidFill>
                </a:uFill>
                <a:latin typeface="微软雅黑"/>
                <a:cs typeface="微软雅黑"/>
              </a:rPr>
              <a:t> 	</a:t>
            </a:r>
            <a:r>
              <a:rPr dirty="0" sz="2400">
                <a:latin typeface="微软雅黑"/>
                <a:cs typeface="微软雅黑"/>
              </a:rPr>
              <a:t>；</a:t>
            </a:r>
            <a:endParaRPr sz="2400">
              <a:latin typeface="微软雅黑"/>
              <a:cs typeface="微软雅黑"/>
            </a:endParaRPr>
          </a:p>
          <a:p>
            <a:pPr marL="317500">
              <a:lnSpc>
                <a:spcPct val="100000"/>
              </a:lnSpc>
              <a:spcBef>
                <a:spcPts val="575"/>
              </a:spcBef>
              <a:tabLst>
                <a:tab pos="4965065" algn="l"/>
              </a:tabLst>
            </a:pPr>
            <a:r>
              <a:rPr dirty="0" sz="2400">
                <a:latin typeface="微软雅黑"/>
                <a:cs typeface="微软雅黑"/>
              </a:rPr>
              <a:t>⑶</a:t>
            </a:r>
            <a:r>
              <a:rPr dirty="0" sz="2400" spc="-114">
                <a:latin typeface="微软雅黑"/>
                <a:cs typeface="微软雅黑"/>
              </a:rPr>
              <a:t> </a:t>
            </a:r>
            <a:r>
              <a:rPr dirty="0" sz="2400">
                <a:latin typeface="微软雅黑"/>
                <a:cs typeface="微软雅黑"/>
              </a:rPr>
              <a:t>手机通话使用的电磁波</a:t>
            </a:r>
            <a:r>
              <a:rPr dirty="0" u="sng" sz="2400">
                <a:uFill>
                  <a:solidFill>
                    <a:srgbClr val="000000"/>
                  </a:solidFill>
                </a:uFill>
                <a:latin typeface="微软雅黑"/>
                <a:cs typeface="微软雅黑"/>
              </a:rPr>
              <a:t> 	</a:t>
            </a:r>
            <a:r>
              <a:rPr dirty="0" sz="2400">
                <a:latin typeface="微软雅黑"/>
                <a:cs typeface="微软雅黑"/>
              </a:rPr>
              <a:t>；</a:t>
            </a:r>
            <a:endParaRPr sz="2400">
              <a:latin typeface="微软雅黑"/>
              <a:cs typeface="微软雅黑"/>
            </a:endParaRPr>
          </a:p>
          <a:p>
            <a:pPr marL="317500">
              <a:lnSpc>
                <a:spcPct val="100000"/>
              </a:lnSpc>
              <a:spcBef>
                <a:spcPts val="575"/>
              </a:spcBef>
              <a:tabLst>
                <a:tab pos="7860665" algn="l"/>
              </a:tabLst>
            </a:pPr>
            <a:r>
              <a:rPr dirty="0" sz="2400">
                <a:latin typeface="微软雅黑"/>
                <a:cs typeface="微软雅黑"/>
              </a:rPr>
              <a:t>⑷</a:t>
            </a:r>
            <a:r>
              <a:rPr dirty="0" sz="2400" spc="-114">
                <a:latin typeface="微软雅黑"/>
                <a:cs typeface="微软雅黑"/>
              </a:rPr>
              <a:t> </a:t>
            </a:r>
            <a:r>
              <a:rPr dirty="0" sz="2400">
                <a:latin typeface="微软雅黑"/>
                <a:cs typeface="微软雅黑"/>
              </a:rPr>
              <a:t>汽车厂造出的新车喷漆后进入烘干车间烘干</a:t>
            </a:r>
            <a:r>
              <a:rPr dirty="0" u="sng" sz="2400">
                <a:uFill>
                  <a:solidFill>
                    <a:srgbClr val="000000"/>
                  </a:solidFill>
                </a:uFill>
                <a:latin typeface="微软雅黑"/>
                <a:cs typeface="微软雅黑"/>
              </a:rPr>
              <a:t> 	</a:t>
            </a:r>
            <a:r>
              <a:rPr dirty="0" sz="2400">
                <a:latin typeface="微软雅黑"/>
                <a:cs typeface="微软雅黑"/>
              </a:rPr>
              <a:t>；</a:t>
            </a:r>
            <a:endParaRPr sz="2400">
              <a:latin typeface="微软雅黑"/>
              <a:cs typeface="微软雅黑"/>
            </a:endParaRPr>
          </a:p>
          <a:p>
            <a:pPr marL="317500">
              <a:lnSpc>
                <a:spcPct val="100000"/>
              </a:lnSpc>
              <a:spcBef>
                <a:spcPts val="575"/>
              </a:spcBef>
              <a:tabLst>
                <a:tab pos="7555865" algn="l"/>
              </a:tabLst>
            </a:pPr>
            <a:r>
              <a:rPr dirty="0" sz="2400">
                <a:latin typeface="微软雅黑"/>
                <a:cs typeface="微软雅黑"/>
              </a:rPr>
              <a:t>⑸</a:t>
            </a:r>
            <a:r>
              <a:rPr dirty="0" sz="2400" spc="-114">
                <a:latin typeface="微软雅黑"/>
                <a:cs typeface="微软雅黑"/>
              </a:rPr>
              <a:t> </a:t>
            </a:r>
            <a:r>
              <a:rPr dirty="0" sz="2400">
                <a:latin typeface="微软雅黑"/>
                <a:cs typeface="微软雅黑"/>
              </a:rPr>
              <a:t>机场、车站用来检查旅客行李包的透视仪</a:t>
            </a:r>
            <a:r>
              <a:rPr dirty="0" u="sng" sz="2400">
                <a:uFill>
                  <a:solidFill>
                    <a:srgbClr val="000000"/>
                  </a:solidFill>
                </a:uFill>
                <a:latin typeface="微软雅黑"/>
                <a:cs typeface="微软雅黑"/>
              </a:rPr>
              <a:t> 	</a:t>
            </a:r>
            <a:r>
              <a:rPr dirty="0" sz="2400">
                <a:latin typeface="微软雅黑"/>
                <a:cs typeface="微软雅黑"/>
              </a:rPr>
              <a:t>。</a:t>
            </a:r>
            <a:endParaRPr sz="2400">
              <a:latin typeface="微软雅黑"/>
              <a:cs typeface="微软雅黑"/>
            </a:endParaRPr>
          </a:p>
        </p:txBody>
      </p:sp>
      <p:sp>
        <p:nvSpPr>
          <p:cNvPr id="4" name="object 4"/>
          <p:cNvSpPr txBox="1"/>
          <p:nvPr/>
        </p:nvSpPr>
        <p:spPr>
          <a:xfrm>
            <a:off x="488315" y="5873750"/>
            <a:ext cx="8940800" cy="391160"/>
          </a:xfrm>
          <a:prstGeom prst="rect">
            <a:avLst/>
          </a:prstGeom>
        </p:spPr>
        <p:txBody>
          <a:bodyPr wrap="square" lIns="0" tIns="12700" rIns="0" bIns="0" rtlCol="0" vert="horz">
            <a:spAutoFit/>
          </a:bodyPr>
          <a:lstStyle/>
          <a:p>
            <a:pPr marL="12700">
              <a:lnSpc>
                <a:spcPct val="100000"/>
              </a:lnSpc>
              <a:spcBef>
                <a:spcPts val="100"/>
              </a:spcBef>
            </a:pPr>
            <a:r>
              <a:rPr dirty="0" sz="2400">
                <a:latin typeface="微软雅黑"/>
                <a:cs typeface="微软雅黑"/>
              </a:rPr>
              <a:t>答案：⑴红外线，⑵紫外线，⑶无线电波，⑷红外线，⑸伦琴射线</a:t>
            </a:r>
            <a:r>
              <a:rPr dirty="0" sz="2400">
                <a:latin typeface="Times New Roman"/>
                <a:cs typeface="Times New Roman"/>
              </a:rPr>
              <a:t>.</a:t>
            </a:r>
            <a:endParaRPr sz="2400">
              <a:latin typeface="Times New Roman"/>
              <a:cs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1840" y="0"/>
            <a:ext cx="2058670" cy="634365"/>
          </a:xfrm>
          <a:prstGeom prst="rect"/>
        </p:spPr>
        <p:txBody>
          <a:bodyPr wrap="square" lIns="0" tIns="12065" rIns="0" bIns="0" rtlCol="0" vert="horz">
            <a:spAutoFit/>
          </a:bodyPr>
          <a:lstStyle/>
          <a:p>
            <a:pPr marL="12700">
              <a:lnSpc>
                <a:spcPct val="100000"/>
              </a:lnSpc>
              <a:spcBef>
                <a:spcPts val="95"/>
              </a:spcBef>
            </a:pPr>
            <a:r>
              <a:rPr dirty="0" sz="4000" i="0">
                <a:solidFill>
                  <a:srgbClr val="F1F1F1"/>
                </a:solidFill>
                <a:latin typeface="华文楷体"/>
                <a:cs typeface="华文楷体"/>
              </a:rPr>
              <a:t>高中物</a:t>
            </a:r>
            <a:r>
              <a:rPr dirty="0" sz="4000" spc="-10" i="0">
                <a:solidFill>
                  <a:srgbClr val="F1F1F1"/>
                </a:solidFill>
                <a:latin typeface="华文楷体"/>
                <a:cs typeface="华文楷体"/>
              </a:rPr>
              <a:t>理</a:t>
            </a:r>
            <a:endParaRPr sz="4000">
              <a:latin typeface="华文楷体"/>
              <a:cs typeface="华文楷体"/>
            </a:endParaRPr>
          </a:p>
        </p:txBody>
      </p:sp>
      <p:sp>
        <p:nvSpPr>
          <p:cNvPr id="3" name="object 3"/>
          <p:cNvSpPr txBox="1"/>
          <p:nvPr/>
        </p:nvSpPr>
        <p:spPr>
          <a:xfrm>
            <a:off x="410527" y="1088072"/>
            <a:ext cx="11365865" cy="2219325"/>
          </a:xfrm>
          <a:prstGeom prst="rect">
            <a:avLst/>
          </a:prstGeom>
        </p:spPr>
        <p:txBody>
          <a:bodyPr wrap="square" lIns="0" tIns="12700" rIns="0" bIns="0" rtlCol="0" vert="horz">
            <a:spAutoFit/>
          </a:bodyPr>
          <a:lstStyle/>
          <a:p>
            <a:pPr algn="just" marL="12700" marR="5080" indent="304800">
              <a:lnSpc>
                <a:spcPct val="120000"/>
              </a:lnSpc>
              <a:spcBef>
                <a:spcPts val="100"/>
              </a:spcBef>
            </a:pPr>
            <a:r>
              <a:rPr dirty="0" sz="2400">
                <a:latin typeface="微软雅黑"/>
                <a:cs typeface="微软雅黑"/>
              </a:rPr>
              <a:t>例题</a:t>
            </a:r>
            <a:r>
              <a:rPr dirty="0" sz="2400">
                <a:latin typeface="Times New Roman"/>
                <a:cs typeface="Times New Roman"/>
              </a:rPr>
              <a:t>.</a:t>
            </a:r>
            <a:r>
              <a:rPr dirty="0" sz="2400">
                <a:latin typeface="微软雅黑"/>
                <a:cs typeface="微软雅黑"/>
              </a:rPr>
              <a:t>太阳表面温度约为</a:t>
            </a:r>
            <a:r>
              <a:rPr dirty="0" sz="2400">
                <a:latin typeface="Times New Roman"/>
                <a:cs typeface="Times New Roman"/>
              </a:rPr>
              <a:t>6000K</a:t>
            </a:r>
            <a:r>
              <a:rPr dirty="0" sz="2400">
                <a:latin typeface="微软雅黑"/>
                <a:cs typeface="微软雅黑"/>
              </a:rPr>
              <a:t>，主要发出可见光。人体温度约为</a:t>
            </a:r>
            <a:r>
              <a:rPr dirty="0" sz="2400">
                <a:latin typeface="Times New Roman"/>
                <a:cs typeface="Times New Roman"/>
              </a:rPr>
              <a:t>310K</a:t>
            </a:r>
            <a:r>
              <a:rPr dirty="0" sz="2400" spc="5">
                <a:latin typeface="微软雅黑"/>
                <a:cs typeface="微软雅黑"/>
              </a:rPr>
              <a:t>，主要发出</a:t>
            </a:r>
            <a:r>
              <a:rPr dirty="0" sz="2400">
                <a:latin typeface="微软雅黑"/>
                <a:cs typeface="微软雅黑"/>
              </a:rPr>
              <a:t>红 </a:t>
            </a:r>
            <a:r>
              <a:rPr dirty="0" sz="2400" spc="45">
                <a:latin typeface="微软雅黑"/>
                <a:cs typeface="微软雅黑"/>
              </a:rPr>
              <a:t>外线。宇宙</a:t>
            </a:r>
            <a:r>
              <a:rPr dirty="0" sz="2400" spc="50">
                <a:latin typeface="微软雅黑"/>
                <a:cs typeface="微软雅黑"/>
              </a:rPr>
              <a:t>空间的温度约为</a:t>
            </a:r>
            <a:r>
              <a:rPr dirty="0" sz="2400" spc="50">
                <a:latin typeface="Times New Roman"/>
                <a:cs typeface="Times New Roman"/>
              </a:rPr>
              <a:t>3K</a:t>
            </a:r>
            <a:r>
              <a:rPr dirty="0" sz="2400" spc="50">
                <a:latin typeface="微软雅黑"/>
                <a:cs typeface="微软雅黑"/>
              </a:rPr>
              <a:t>，所发出的辐射称为“</a:t>
            </a:r>
            <a:r>
              <a:rPr dirty="0" sz="2400" spc="50">
                <a:latin typeface="Times New Roman"/>
                <a:cs typeface="Times New Roman"/>
              </a:rPr>
              <a:t>3K</a:t>
            </a:r>
            <a:r>
              <a:rPr dirty="0" sz="2400" spc="50">
                <a:latin typeface="微软雅黑"/>
                <a:cs typeface="微软雅黑"/>
              </a:rPr>
              <a:t>背景辐射”，它是宇宙“</a:t>
            </a:r>
            <a:r>
              <a:rPr dirty="0" sz="2400">
                <a:latin typeface="微软雅黑"/>
                <a:cs typeface="微软雅黑"/>
              </a:rPr>
              <a:t>大 </a:t>
            </a:r>
            <a:r>
              <a:rPr dirty="0" sz="2400" spc="65">
                <a:latin typeface="微软雅黑"/>
                <a:cs typeface="微软雅黑"/>
              </a:rPr>
              <a:t>爆炸”之初在空间上保留下的余热。若要进行“</a:t>
            </a:r>
            <a:r>
              <a:rPr dirty="0" sz="2400" spc="65">
                <a:latin typeface="Times New Roman"/>
                <a:cs typeface="Times New Roman"/>
              </a:rPr>
              <a:t>3K</a:t>
            </a:r>
            <a:r>
              <a:rPr dirty="0" sz="2400" spc="65">
                <a:latin typeface="微软雅黑"/>
                <a:cs typeface="微软雅黑"/>
              </a:rPr>
              <a:t>背景辐射”的观测，</a:t>
            </a:r>
            <a:r>
              <a:rPr dirty="0" sz="2400" spc="70">
                <a:latin typeface="微软雅黑"/>
                <a:cs typeface="微软雅黑"/>
              </a:rPr>
              <a:t>应该选择</a:t>
            </a:r>
            <a:r>
              <a:rPr dirty="0" sz="2400">
                <a:latin typeface="微软雅黑"/>
                <a:cs typeface="微软雅黑"/>
              </a:rPr>
              <a:t>下 列哪一个波段</a:t>
            </a:r>
            <a:endParaRPr sz="2400">
              <a:latin typeface="微软雅黑"/>
              <a:cs typeface="微软雅黑"/>
            </a:endParaRPr>
          </a:p>
          <a:p>
            <a:pPr marL="528955">
              <a:lnSpc>
                <a:spcPct val="100000"/>
              </a:lnSpc>
              <a:spcBef>
                <a:spcPts val="575"/>
              </a:spcBef>
              <a:tabLst>
                <a:tab pos="3034665" algn="l"/>
                <a:tab pos="5295265" algn="l"/>
                <a:tab pos="7852409" algn="l"/>
              </a:tabLst>
            </a:pPr>
            <a:r>
              <a:rPr dirty="0" sz="2400">
                <a:latin typeface="Times New Roman"/>
                <a:cs typeface="Times New Roman"/>
              </a:rPr>
              <a:t>A</a:t>
            </a:r>
            <a:r>
              <a:rPr dirty="0" sz="2400">
                <a:latin typeface="微软雅黑"/>
                <a:cs typeface="微软雅黑"/>
              </a:rPr>
              <a:t>．无线电波	</a:t>
            </a:r>
            <a:r>
              <a:rPr dirty="0" sz="2400" spc="-5">
                <a:latin typeface="Times New Roman"/>
                <a:cs typeface="Times New Roman"/>
              </a:rPr>
              <a:t>B</a:t>
            </a:r>
            <a:r>
              <a:rPr dirty="0" sz="2400" spc="-5">
                <a:latin typeface="微软雅黑"/>
                <a:cs typeface="微软雅黑"/>
              </a:rPr>
              <a:t>．</a:t>
            </a:r>
            <a:r>
              <a:rPr dirty="0" sz="2400">
                <a:latin typeface="微软雅黑"/>
                <a:cs typeface="微软雅黑"/>
              </a:rPr>
              <a:t>紫外线	</a:t>
            </a:r>
            <a:r>
              <a:rPr dirty="0" sz="2400" spc="-5">
                <a:latin typeface="Times New Roman"/>
                <a:cs typeface="Times New Roman"/>
              </a:rPr>
              <a:t>C</a:t>
            </a:r>
            <a:r>
              <a:rPr dirty="0" sz="2400" spc="-5">
                <a:latin typeface="微软雅黑"/>
                <a:cs typeface="微软雅黑"/>
              </a:rPr>
              <a:t>．</a:t>
            </a:r>
            <a:r>
              <a:rPr dirty="0" sz="2400" spc="-5">
                <a:latin typeface="Times New Roman"/>
                <a:cs typeface="Times New Roman"/>
              </a:rPr>
              <a:t>X</a:t>
            </a:r>
            <a:r>
              <a:rPr dirty="0" sz="2400">
                <a:latin typeface="微软雅黑"/>
                <a:cs typeface="微软雅黑"/>
              </a:rPr>
              <a:t>射线	</a:t>
            </a:r>
            <a:r>
              <a:rPr dirty="0" sz="2400">
                <a:latin typeface="Times New Roman"/>
                <a:cs typeface="Times New Roman"/>
              </a:rPr>
              <a:t>D</a:t>
            </a:r>
            <a:r>
              <a:rPr dirty="0" sz="2400">
                <a:latin typeface="微软雅黑"/>
                <a:cs typeface="微软雅黑"/>
              </a:rPr>
              <a:t>．</a:t>
            </a:r>
            <a:r>
              <a:rPr dirty="0" sz="2400" b="1" i="1">
                <a:latin typeface="Times New Roman"/>
                <a:cs typeface="Times New Roman"/>
              </a:rPr>
              <a:t>γ</a:t>
            </a:r>
            <a:r>
              <a:rPr dirty="0" sz="2400">
                <a:latin typeface="微软雅黑"/>
                <a:cs typeface="微软雅黑"/>
              </a:rPr>
              <a:t>射线</a:t>
            </a:r>
            <a:endParaRPr sz="2400">
              <a:latin typeface="微软雅黑"/>
              <a:cs typeface="微软雅黑"/>
            </a:endParaRPr>
          </a:p>
        </p:txBody>
      </p:sp>
      <p:sp>
        <p:nvSpPr>
          <p:cNvPr id="4" name="object 4"/>
          <p:cNvSpPr txBox="1"/>
          <p:nvPr/>
        </p:nvSpPr>
        <p:spPr>
          <a:xfrm>
            <a:off x="820102" y="5795962"/>
            <a:ext cx="1160145" cy="391160"/>
          </a:xfrm>
          <a:prstGeom prst="rect">
            <a:avLst/>
          </a:prstGeom>
        </p:spPr>
        <p:txBody>
          <a:bodyPr wrap="square" lIns="0" tIns="12700" rIns="0" bIns="0" rtlCol="0" vert="horz">
            <a:spAutoFit/>
          </a:bodyPr>
          <a:lstStyle/>
          <a:p>
            <a:pPr marL="12700">
              <a:lnSpc>
                <a:spcPct val="100000"/>
              </a:lnSpc>
              <a:spcBef>
                <a:spcPts val="100"/>
              </a:spcBef>
            </a:pPr>
            <a:r>
              <a:rPr dirty="0" sz="2400">
                <a:latin typeface="微软雅黑"/>
                <a:cs typeface="微软雅黑"/>
              </a:rPr>
              <a:t>答案：</a:t>
            </a:r>
            <a:r>
              <a:rPr dirty="0" sz="2400">
                <a:latin typeface="Times New Roman"/>
                <a:cs typeface="Times New Roman"/>
              </a:rPr>
              <a:t>A</a:t>
            </a:r>
            <a:endParaRPr sz="2400">
              <a:latin typeface="Times New Roman"/>
              <a:cs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1840" y="0"/>
            <a:ext cx="2058670" cy="634365"/>
          </a:xfrm>
          <a:prstGeom prst="rect"/>
        </p:spPr>
        <p:txBody>
          <a:bodyPr wrap="square" lIns="0" tIns="12065" rIns="0" bIns="0" rtlCol="0" vert="horz">
            <a:spAutoFit/>
          </a:bodyPr>
          <a:lstStyle/>
          <a:p>
            <a:pPr marL="12700">
              <a:lnSpc>
                <a:spcPct val="100000"/>
              </a:lnSpc>
              <a:spcBef>
                <a:spcPts val="95"/>
              </a:spcBef>
            </a:pPr>
            <a:r>
              <a:rPr dirty="0" sz="4000" i="0">
                <a:solidFill>
                  <a:srgbClr val="F1F1F1"/>
                </a:solidFill>
                <a:latin typeface="华文楷体"/>
                <a:cs typeface="华文楷体"/>
              </a:rPr>
              <a:t>高中物</a:t>
            </a:r>
            <a:r>
              <a:rPr dirty="0" sz="4000" spc="-10" i="0">
                <a:solidFill>
                  <a:srgbClr val="F1F1F1"/>
                </a:solidFill>
                <a:latin typeface="华文楷体"/>
                <a:cs typeface="华文楷体"/>
              </a:rPr>
              <a:t>理</a:t>
            </a:r>
            <a:endParaRPr sz="4000">
              <a:latin typeface="华文楷体"/>
              <a:cs typeface="华文楷体"/>
            </a:endParaRPr>
          </a:p>
        </p:txBody>
      </p:sp>
      <p:sp>
        <p:nvSpPr>
          <p:cNvPr id="3" name="object 3"/>
          <p:cNvSpPr txBox="1"/>
          <p:nvPr/>
        </p:nvSpPr>
        <p:spPr>
          <a:xfrm>
            <a:off x="559752" y="1147762"/>
            <a:ext cx="5551805" cy="4415790"/>
          </a:xfrm>
          <a:prstGeom prst="rect">
            <a:avLst/>
          </a:prstGeom>
        </p:spPr>
        <p:txBody>
          <a:bodyPr wrap="square" lIns="0" tIns="13335" rIns="0" bIns="0" rtlCol="0" vert="horz">
            <a:spAutoFit/>
          </a:bodyPr>
          <a:lstStyle/>
          <a:p>
            <a:pPr marL="12700">
              <a:lnSpc>
                <a:spcPct val="100000"/>
              </a:lnSpc>
              <a:spcBef>
                <a:spcPts val="105"/>
              </a:spcBef>
              <a:tabLst>
                <a:tab pos="3912235" algn="l"/>
              </a:tabLst>
            </a:pPr>
            <a:r>
              <a:rPr dirty="0" sz="3200" b="1" i="1">
                <a:latin typeface="微软雅黑"/>
                <a:cs typeface="微软雅黑"/>
              </a:rPr>
              <a:t>总结：电磁波的应</a:t>
            </a:r>
            <a:r>
              <a:rPr dirty="0" sz="3200" spc="5" b="1" i="1">
                <a:latin typeface="微软雅黑"/>
                <a:cs typeface="微软雅黑"/>
              </a:rPr>
              <a:t>用</a:t>
            </a:r>
            <a:r>
              <a:rPr dirty="0" sz="3200" b="1" i="1">
                <a:latin typeface="微软雅黑"/>
                <a:cs typeface="微软雅黑"/>
              </a:rPr>
              <a:t>	</a:t>
            </a:r>
            <a:r>
              <a:rPr dirty="0" sz="3200" b="1" i="1">
                <a:latin typeface="微软雅黑"/>
                <a:cs typeface="微软雅黑"/>
              </a:rPr>
              <a:t>电磁波</a:t>
            </a:r>
            <a:r>
              <a:rPr dirty="0" sz="3200" spc="5" b="1" i="1">
                <a:latin typeface="微软雅黑"/>
                <a:cs typeface="微软雅黑"/>
              </a:rPr>
              <a:t>谱</a:t>
            </a:r>
            <a:endParaRPr sz="3200">
              <a:latin typeface="微软雅黑"/>
              <a:cs typeface="微软雅黑"/>
            </a:endParaRPr>
          </a:p>
          <a:p>
            <a:pPr>
              <a:lnSpc>
                <a:spcPct val="100000"/>
              </a:lnSpc>
            </a:pPr>
            <a:endParaRPr sz="3650">
              <a:latin typeface="Times New Roman"/>
              <a:cs typeface="Times New Roman"/>
            </a:endParaRPr>
          </a:p>
          <a:p>
            <a:pPr marL="1076960" indent="-336550">
              <a:lnSpc>
                <a:spcPct val="100000"/>
              </a:lnSpc>
              <a:buSzPct val="96875"/>
              <a:buAutoNum type="arabicPeriod"/>
              <a:tabLst>
                <a:tab pos="1077595" algn="l"/>
              </a:tabLst>
            </a:pPr>
            <a:r>
              <a:rPr dirty="0" sz="3200">
                <a:latin typeface="微软雅黑"/>
                <a:cs typeface="微软雅黑"/>
              </a:rPr>
              <a:t>电磁波的应</a:t>
            </a:r>
            <a:r>
              <a:rPr dirty="0" sz="3200" spc="5">
                <a:latin typeface="微软雅黑"/>
                <a:cs typeface="微软雅黑"/>
              </a:rPr>
              <a:t>用</a:t>
            </a:r>
            <a:endParaRPr sz="3200">
              <a:latin typeface="微软雅黑"/>
              <a:cs typeface="微软雅黑"/>
            </a:endParaRPr>
          </a:p>
          <a:p>
            <a:pPr marL="972819">
              <a:lnSpc>
                <a:spcPct val="100000"/>
              </a:lnSpc>
              <a:spcBef>
                <a:spcPts val="1400"/>
              </a:spcBef>
            </a:pPr>
            <a:r>
              <a:rPr dirty="0" sz="2400">
                <a:latin typeface="微软雅黑"/>
                <a:cs typeface="微软雅黑"/>
              </a:rPr>
              <a:t>*</a:t>
            </a:r>
            <a:r>
              <a:rPr dirty="0" sz="2400" spc="-10">
                <a:latin typeface="微软雅黑"/>
                <a:cs typeface="微软雅黑"/>
              </a:rPr>
              <a:t> </a:t>
            </a:r>
            <a:r>
              <a:rPr dirty="0" sz="2400">
                <a:latin typeface="微软雅黑"/>
                <a:cs typeface="微软雅黑"/>
              </a:rPr>
              <a:t>电磁波的传递</a:t>
            </a:r>
            <a:endParaRPr sz="2400">
              <a:latin typeface="微软雅黑"/>
              <a:cs typeface="微软雅黑"/>
            </a:endParaRPr>
          </a:p>
          <a:p>
            <a:pPr lvl="1" marL="1143000" indent="-228600">
              <a:lnSpc>
                <a:spcPct val="100000"/>
              </a:lnSpc>
              <a:spcBef>
                <a:spcPts val="780"/>
              </a:spcBef>
              <a:buChar char="*"/>
              <a:tabLst>
                <a:tab pos="1143000" algn="l"/>
              </a:tabLst>
            </a:pPr>
            <a:r>
              <a:rPr dirty="0" sz="2400">
                <a:latin typeface="微软雅黑"/>
                <a:cs typeface="微软雅黑"/>
              </a:rPr>
              <a:t>电视、雷达的工作原理</a:t>
            </a:r>
            <a:endParaRPr sz="2400">
              <a:latin typeface="微软雅黑"/>
              <a:cs typeface="微软雅黑"/>
            </a:endParaRPr>
          </a:p>
          <a:p>
            <a:pPr marL="1069340" indent="-336550">
              <a:lnSpc>
                <a:spcPct val="100000"/>
              </a:lnSpc>
              <a:spcBef>
                <a:spcPts val="1780"/>
              </a:spcBef>
              <a:buSzPct val="96875"/>
              <a:buAutoNum type="arabicPeriod" startAt="2"/>
              <a:tabLst>
                <a:tab pos="1069975" algn="l"/>
              </a:tabLst>
            </a:pPr>
            <a:r>
              <a:rPr dirty="0" sz="3200">
                <a:latin typeface="微软雅黑"/>
                <a:cs typeface="微软雅黑"/>
              </a:rPr>
              <a:t>电磁波</a:t>
            </a:r>
            <a:r>
              <a:rPr dirty="0" sz="3200" spc="5">
                <a:latin typeface="微软雅黑"/>
                <a:cs typeface="微软雅黑"/>
              </a:rPr>
              <a:t>谱</a:t>
            </a:r>
            <a:endParaRPr sz="3200">
              <a:latin typeface="微软雅黑"/>
              <a:cs typeface="微软雅黑"/>
            </a:endParaRPr>
          </a:p>
          <a:p>
            <a:pPr lvl="1" marL="1143000" indent="-228600">
              <a:lnSpc>
                <a:spcPct val="100000"/>
              </a:lnSpc>
              <a:spcBef>
                <a:spcPts val="620"/>
              </a:spcBef>
              <a:buChar char="*"/>
              <a:tabLst>
                <a:tab pos="1143000" algn="l"/>
              </a:tabLst>
            </a:pPr>
            <a:r>
              <a:rPr dirty="0" sz="2400">
                <a:latin typeface="微软雅黑"/>
                <a:cs typeface="微软雅黑"/>
              </a:rPr>
              <a:t>各种电磁波的性质与应用</a:t>
            </a:r>
            <a:endParaRPr sz="2400">
              <a:latin typeface="微软雅黑"/>
              <a:cs typeface="微软雅黑"/>
            </a:endParaRPr>
          </a:p>
          <a:p>
            <a:pPr marL="1069340" indent="-336550">
              <a:lnSpc>
                <a:spcPct val="100000"/>
              </a:lnSpc>
              <a:spcBef>
                <a:spcPts val="1780"/>
              </a:spcBef>
              <a:buSzPct val="96875"/>
              <a:buAutoNum type="arabicPeriod" startAt="2"/>
              <a:tabLst>
                <a:tab pos="1069975" algn="l"/>
              </a:tabLst>
            </a:pPr>
            <a:r>
              <a:rPr dirty="0" sz="3200">
                <a:latin typeface="微软雅黑"/>
                <a:cs typeface="微软雅黑"/>
              </a:rPr>
              <a:t>电磁辐射的危害与防</a:t>
            </a:r>
            <a:r>
              <a:rPr dirty="0" sz="3200" spc="5">
                <a:latin typeface="微软雅黑"/>
                <a:cs typeface="微软雅黑"/>
              </a:rPr>
              <a:t>护</a:t>
            </a:r>
            <a:endParaRPr sz="3200">
              <a:latin typeface="微软雅黑"/>
              <a:cs typeface="微软雅黑"/>
            </a:endParaRPr>
          </a:p>
        </p:txBody>
      </p:sp>
      <p:sp>
        <p:nvSpPr>
          <p:cNvPr id="4" name="object 4"/>
          <p:cNvSpPr/>
          <p:nvPr/>
        </p:nvSpPr>
        <p:spPr>
          <a:xfrm>
            <a:off x="7123176" y="582168"/>
            <a:ext cx="2580131" cy="6246876"/>
          </a:xfrm>
          <a:prstGeom prst="rect">
            <a:avLst/>
          </a:prstGeom>
          <a:blipFill>
            <a:blip r:embed="rId2" cstate="print"/>
            <a:stretch>
              <a:fillRect/>
            </a:stretch>
          </a:blipFill>
        </p:spPr>
        <p:txBody>
          <a:bodyPr wrap="square" lIns="0" tIns="0" rIns="0" bIns="0" rtlCol="0"/>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On-screen Show (4:3)</PresentationFormat>
  <ScaleCrop>false</ScaleCrop>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2025-04-20T12:06:35Z</dcterms:created>
  <dcterms:modified xsi:type="dcterms:W3CDTF">2025-04-20T12:06:35Z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2023-10-17T00:00:00Z</vt:filetime>
  </property>
  <property fmtid="{D5CDD505-2E9C-101B-9397-08002B2CF9AE}" pid="3" name="Creator">
    <vt:lpwstr>WPS 演示</vt:lpwstr>
  </property>
  <property fmtid="{D5CDD505-2E9C-101B-9397-08002B2CF9AE}" pid="4" name="LastSaved">
    <vt:filetime>2025-04-20T00:00:00Z</vt:filetime>
  </property>
</Properties>
</file>